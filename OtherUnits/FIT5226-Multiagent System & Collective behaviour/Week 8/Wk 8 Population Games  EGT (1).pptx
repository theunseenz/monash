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Lst>
  <p:notesMasterIdLst>
    <p:notesMasterId r:id="rId63"/>
  </p:notesMasterIdLst>
  <p:sldIdLst>
    <p:sldId id="343" r:id="rId3"/>
    <p:sldId id="348" r:id="rId4"/>
    <p:sldId id="349" r:id="rId5"/>
    <p:sldId id="258" r:id="rId6"/>
    <p:sldId id="259" r:id="rId7"/>
    <p:sldId id="260" r:id="rId8"/>
    <p:sldId id="261" r:id="rId9"/>
    <p:sldId id="262" r:id="rId10"/>
    <p:sldId id="263" r:id="rId11"/>
    <p:sldId id="344"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345" r:id="rId25"/>
    <p:sldId id="346" r:id="rId26"/>
    <p:sldId id="347"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FD5F4"/>
    <a:srgbClr val="B9E0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710" autoAdjust="0"/>
  </p:normalViewPr>
  <p:slideViewPr>
    <p:cSldViewPr>
      <p:cViewPr varScale="1">
        <p:scale>
          <a:sx n="55" d="100"/>
          <a:sy n="55" d="100"/>
        </p:scale>
        <p:origin x="2170" y="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757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Monotonic_functio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en.wikipedia.org/wiki/Monotonic_function"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97013" y="1198563"/>
            <a:ext cx="4321175" cy="3241675"/>
          </a:xfrm>
          <a:prstGeom prst="rect">
            <a:avLst/>
          </a:prstGeom>
          <a:noFill/>
          <a:ln w="12700">
            <a:solidFill>
              <a:prstClr val="black"/>
            </a:solidFill>
          </a:ln>
        </p:spPr>
      </p:sp>
      <p:sp>
        <p:nvSpPr>
          <p:cNvPr id="3" name="Notes Placeholder 2"/>
          <p:cNvSpPr>
            <a:spLocks noGrp="1"/>
          </p:cNvSpPr>
          <p:nvPr>
            <p:ph type="body" idx="1"/>
          </p:nvPr>
        </p:nvSpPr>
        <p:spPr>
          <a:xfrm>
            <a:off x="731521" y="4620580"/>
            <a:ext cx="5852160" cy="3780472"/>
          </a:xfrm>
          <a:prstGeom prst="rect">
            <a:avLst/>
          </a:prstGeom>
        </p:spPr>
        <p:txBody>
          <a:bodyPr lIns="96661" tIns="48331" rIns="96661" bIns="48331"/>
          <a:lstStyle/>
          <a:p>
            <a:endParaRPr lang="en-US"/>
          </a:p>
        </p:txBody>
      </p:sp>
    </p:spTree>
    <p:extLst>
      <p:ext uri="{BB962C8B-B14F-4D97-AF65-F5344CB8AC3E}">
        <p14:creationId xmlns:p14="http://schemas.microsoft.com/office/powerpoint/2010/main" val="2253426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extLst>
      <p:ext uri="{BB962C8B-B14F-4D97-AF65-F5344CB8AC3E}">
        <p14:creationId xmlns:p14="http://schemas.microsoft.com/office/powerpoint/2010/main" val="1711598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sz="1800" dirty="0">
                    <a:effectLst/>
                    <a:latin typeface="Calibri" panose="020F0502020204030204" pitchFamily="34" charset="0"/>
                  </a:rPr>
                  <a:t>Consider a traffic net where two players originate at point O and need to get to point T. Suppose that node O is connected to node T via two paths: O-A-T and O-B-T, where A is a little closer than B (i.e. A is more likely to be chosen by each player), as in the picture at the right. </a:t>
                </a:r>
              </a:p>
              <a:p>
                <a:r>
                  <a:rPr lang="en-US" sz="1800" dirty="0">
                    <a:effectLst/>
                    <a:latin typeface="Calibri" panose="020F0502020204030204" pitchFamily="34" charset="0"/>
                  </a:rPr>
                  <a:t>The roads from both connection points to T get easily congested, meaning the more players pass through a point, the greater the delay of each player becomes, so having both players go through the same connection point causes extra delay. Formally, the delay in each of AT and BT when </a:t>
                </a:r>
                <a14:m>
                  <m:oMath xmlns:m="http://schemas.openxmlformats.org/officeDocument/2006/math">
                    <m:r>
                      <a:rPr lang="en-US" sz="1800" b="0" i="1" smtClean="0">
                        <a:effectLst/>
                        <a:latin typeface="Cambria Math" panose="02040503050406030204" pitchFamily="18" charset="0"/>
                      </a:rPr>
                      <m:t>𝑥</m:t>
                    </m:r>
                  </m:oMath>
                </a14:m>
                <a:r>
                  <a:rPr lang="en-US" sz="1800" dirty="0">
                    <a:effectLst/>
                    <a:latin typeface="Calibri" panose="020F0502020204030204" pitchFamily="34" charset="0"/>
                  </a:rPr>
                  <a:t> players go there is </a:t>
                </a:r>
                <a14:m>
                  <m:oMath xmlns:m="http://schemas.openxmlformats.org/officeDocument/2006/math">
                    <m:sSup>
                      <m:sSupPr>
                        <m:ctrlPr>
                          <a:rPr lang="en-US" sz="1800" b="0" i="1" smtClean="0">
                            <a:effectLst/>
                            <a:latin typeface="Cambria Math" panose="02040503050406030204" pitchFamily="18" charset="0"/>
                          </a:rPr>
                        </m:ctrlPr>
                      </m:sSupPr>
                      <m:e>
                        <m:r>
                          <a:rPr lang="en-US" sz="1800" b="0" i="1" smtClean="0">
                            <a:effectLst/>
                            <a:latin typeface="Cambria Math" panose="02040503050406030204" pitchFamily="18" charset="0"/>
                          </a:rPr>
                          <m:t>𝑥</m:t>
                        </m:r>
                      </m:e>
                      <m:sup>
                        <m:r>
                          <a:rPr lang="en-US" sz="1800" b="0" i="1" smtClean="0">
                            <a:effectLst/>
                            <a:latin typeface="Cambria Math" panose="02040503050406030204" pitchFamily="18" charset="0"/>
                          </a:rPr>
                          <m:t>2</m:t>
                        </m:r>
                      </m:sup>
                    </m:sSup>
                  </m:oMath>
                </a14:m>
                <a:r>
                  <a:rPr lang="en-US" sz="1800" dirty="0">
                    <a:effectLst/>
                    <a:latin typeface="Calibri" panose="020F0502020204030204" pitchFamily="34" charset="0"/>
                  </a:rPr>
                  <a:t>.</a:t>
                </a:r>
              </a:p>
              <a:p>
                <a:r>
                  <a:rPr lang="en-US" sz="1800" dirty="0">
                    <a:effectLst/>
                    <a:latin typeface="Calibri" panose="020F0502020204030204" pitchFamily="34" charset="0"/>
                  </a:rPr>
                  <a:t>Good outcome in this game will be for the two players to "coordinate" and pass through different connection points. Can such outcome be achieved? The following matrix expresses the costs of the players in terms of delays depending on their choices:</a:t>
                </a:r>
                <a:endParaRPr lang="en-US" dirty="0"/>
              </a:p>
            </p:txBody>
          </p:sp>
        </mc:Choice>
        <mc:Fallback xmlns="">
          <p:sp>
            <p:nvSpPr>
              <p:cNvPr id="2" name="Notes Placeholder"/>
              <p:cNvSpPr>
                <a:spLocks noGrp="1"/>
              </p:cNvSpPr>
              <p:nvPr>
                <p:ph type="body" idx="1"/>
              </p:nvPr>
            </p:nvSpPr>
            <p:spPr/>
            <p:txBody>
              <a:bodyPr>
                <a:normAutofit fontScale="25000" lnSpcReduction="20000"/>
              </a:bodyPr>
              <a:lstStyle/>
              <a:p>
                <a:r>
                  <a:rPr lang="en-US" sz="1800" dirty="0">
                    <a:effectLst/>
                    <a:latin typeface="Calibri" panose="020F0502020204030204" pitchFamily="34" charset="0"/>
                  </a:rPr>
                  <a:t>Consider a traffic net where two players originate at point O and need to get to point T. Suppose that node O is connected to node T via two paths: O-A-T and O-B-T, where A is a little closer than B (i.e. A is more likely to be chosen by each player), as in the picture at the right. </a:t>
                </a:r>
              </a:p>
              <a:p>
                <a:r>
                  <a:rPr lang="en-US" sz="1800" dirty="0">
                    <a:effectLst/>
                    <a:latin typeface="Calibri" panose="020F0502020204030204" pitchFamily="34" charset="0"/>
                  </a:rPr>
                  <a:t>The roads from both connection points to T get easily congested, meaning the more players pass through a point, the greater the delay of each player becomes, so having both players go through the same connection point causes extra delay. Formally, the delay in each of AT and BT when </a:t>
                </a:r>
                <a:r>
                  <a:rPr lang="en-US" sz="1800" b="0" i="0">
                    <a:effectLst/>
                    <a:latin typeface="Cambria Math" panose="02040503050406030204" pitchFamily="18" charset="0"/>
                  </a:rPr>
                  <a:t>𝑥</a:t>
                </a:r>
                <a:r>
                  <a:rPr lang="en-US" sz="1800" dirty="0">
                    <a:effectLst/>
                    <a:latin typeface="Calibri" panose="020F0502020204030204" pitchFamily="34" charset="0"/>
                  </a:rPr>
                  <a:t> players go there is </a:t>
                </a:r>
                <a:r>
                  <a:rPr lang="en-US" sz="1800" b="0" i="0">
                    <a:effectLst/>
                    <a:latin typeface="Cambria Math" panose="02040503050406030204" pitchFamily="18" charset="0"/>
                  </a:rPr>
                  <a:t>𝑥^2</a:t>
                </a:r>
                <a:r>
                  <a:rPr lang="en-US" sz="1800" dirty="0">
                    <a:effectLst/>
                    <a:latin typeface="Calibri" panose="020F0502020204030204" pitchFamily="34" charset="0"/>
                  </a:rPr>
                  <a:t>.</a:t>
                </a:r>
              </a:p>
              <a:p>
                <a:r>
                  <a:rPr lang="en-US" sz="1800" dirty="0">
                    <a:effectLst/>
                    <a:latin typeface="Calibri" panose="020F0502020204030204" pitchFamily="34" charset="0"/>
                  </a:rPr>
                  <a:t>Good outcome in this game will be for the two players to "coordinate" and pass through different connection points. Can such outcome be achieved? The following matrix expresses the costs of the players in terms of delays depending on their choices:</a:t>
                </a:r>
                <a:endParaRPr lang="en-US" dirty="0"/>
              </a:p>
            </p:txBody>
          </p:sp>
        </mc:Fallback>
      </mc:AlternateContent>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pPr algn="l"/>
                <a:r>
                  <a:rPr lang="en-US" b="0" i="0" dirty="0">
                    <a:solidFill>
                      <a:srgbClr val="202122"/>
                    </a:solidFill>
                    <a:effectLst/>
                    <a:latin typeface="Arial" panose="020B0604020202020204" pitchFamily="34" charset="0"/>
                  </a:rPr>
                  <a:t>The basic definition of a CG has the following components.</a:t>
                </a:r>
              </a:p>
              <a:p>
                <a:pPr algn="l">
                  <a:buFont typeface="Arial" panose="020B0604020202020204" pitchFamily="34" charset="0"/>
                  <a:buChar char="•"/>
                </a:pPr>
                <a:r>
                  <a:rPr lang="en-US" b="0" i="0" dirty="0">
                    <a:solidFill>
                      <a:srgbClr val="202122"/>
                    </a:solidFill>
                    <a:effectLst/>
                    <a:latin typeface="Arial" panose="020B0604020202020204" pitchFamily="34" charset="0"/>
                  </a:rPr>
                  <a:t>A base set </a:t>
                </a:r>
                <a14:m>
                  <m:oMath xmlns:m="http://schemas.openxmlformats.org/officeDocument/2006/math">
                    <m:r>
                      <a:rPr lang="en-US" b="0" i="1" smtClean="0">
                        <a:solidFill>
                          <a:srgbClr val="202122"/>
                        </a:solidFill>
                        <a:effectLst/>
                        <a:latin typeface="Cambria Math" panose="02040503050406030204" pitchFamily="18" charset="0"/>
                      </a:rPr>
                      <m:t>𝐸</m:t>
                    </m:r>
                  </m:oMath>
                </a14:m>
                <a:r>
                  <a:rPr lang="en-US" b="0" i="0" dirty="0">
                    <a:solidFill>
                      <a:srgbClr val="202122"/>
                    </a:solidFill>
                    <a:effectLst/>
                    <a:latin typeface="Arial" panose="020B0604020202020204" pitchFamily="34" charset="0"/>
                  </a:rPr>
                  <a:t> of congestible elements (also called </a:t>
                </a:r>
                <a:r>
                  <a:rPr lang="en-US" b="0" i="1" dirty="0">
                    <a:solidFill>
                      <a:srgbClr val="202122"/>
                    </a:solidFill>
                    <a:effectLst/>
                    <a:latin typeface="Arial" panose="020B0604020202020204" pitchFamily="34" charset="0"/>
                  </a:rPr>
                  <a:t>resources</a:t>
                </a:r>
                <a:r>
                  <a:rPr lang="en-US" b="0" i="0" dirty="0">
                    <a:solidFill>
                      <a:srgbClr val="202122"/>
                    </a:solidFill>
                    <a:effectLst/>
                    <a:latin typeface="Arial" panose="020B0604020202020204" pitchFamily="34" charset="0"/>
                  </a:rPr>
                  <a:t> or </a:t>
                </a:r>
                <a:r>
                  <a:rPr lang="en-US" b="0" i="1" dirty="0">
                    <a:solidFill>
                      <a:srgbClr val="202122"/>
                    </a:solidFill>
                    <a:effectLst/>
                    <a:latin typeface="Arial" panose="020B0604020202020204" pitchFamily="34" charset="0"/>
                  </a:rPr>
                  <a:t>factors</a:t>
                </a:r>
                <a:r>
                  <a:rPr lang="en-US" b="0" i="0" dirty="0">
                    <a:solidFill>
                      <a:srgbClr val="202122"/>
                    </a:solidFill>
                    <a:effectLst/>
                    <a:latin typeface="Arial" panose="020B0604020202020204" pitchFamily="34" charset="0"/>
                  </a:rPr>
                  <a:t>). In the above example, </a:t>
                </a:r>
                <a14:m>
                  <m:oMath xmlns:m="http://schemas.openxmlformats.org/officeDocument/2006/math">
                    <m:r>
                      <a:rPr lang="en-US" b="0" i="1" smtClean="0">
                        <a:solidFill>
                          <a:srgbClr val="202122"/>
                        </a:solidFill>
                        <a:effectLst/>
                        <a:latin typeface="Cambria Math" panose="02040503050406030204" pitchFamily="18" charset="0"/>
                      </a:rPr>
                      <m:t>𝐸</m:t>
                    </m:r>
                  </m:oMath>
                </a14:m>
                <a:r>
                  <a:rPr lang="en-US" b="0" i="0" dirty="0">
                    <a:solidFill>
                      <a:srgbClr val="202122"/>
                    </a:solidFill>
                    <a:effectLst/>
                    <a:latin typeface="Arial" panose="020B0604020202020204" pitchFamily="34" charset="0"/>
                  </a:rPr>
                  <a:t> is the set of roads (</a:t>
                </a:r>
                <a14:m>
                  <m:oMath xmlns:m="http://schemas.openxmlformats.org/officeDocument/2006/math">
                    <m:r>
                      <a:rPr lang="en-US" b="0" i="1" smtClean="0">
                        <a:solidFill>
                          <a:srgbClr val="202122"/>
                        </a:solidFill>
                        <a:effectLst/>
                        <a:latin typeface="Cambria Math" panose="02040503050406030204" pitchFamily="18" charset="0"/>
                      </a:rPr>
                      <m:t>𝑂𝐴</m:t>
                    </m:r>
                    <m:r>
                      <a:rPr lang="en-US" b="0" i="1" smtClean="0">
                        <a:solidFill>
                          <a:srgbClr val="202122"/>
                        </a:solidFill>
                        <a:effectLst/>
                        <a:latin typeface="Cambria Math" panose="02040503050406030204" pitchFamily="18" charset="0"/>
                      </a:rPr>
                      <m:t>, </m:t>
                    </m:r>
                    <m:r>
                      <a:rPr lang="en-US" b="0" i="1" smtClean="0">
                        <a:solidFill>
                          <a:srgbClr val="202122"/>
                        </a:solidFill>
                        <a:effectLst/>
                        <a:latin typeface="Cambria Math" panose="02040503050406030204" pitchFamily="18" charset="0"/>
                      </a:rPr>
                      <m:t>𝐴𝑇</m:t>
                    </m:r>
                    <m:r>
                      <a:rPr lang="en-US" b="0" i="1" smtClean="0">
                        <a:solidFill>
                          <a:srgbClr val="202122"/>
                        </a:solidFill>
                        <a:effectLst/>
                        <a:latin typeface="Cambria Math" panose="02040503050406030204" pitchFamily="18" charset="0"/>
                      </a:rPr>
                      <m:t>, </m:t>
                    </m:r>
                    <m:r>
                      <a:rPr lang="en-US" b="0" i="1" smtClean="0">
                        <a:solidFill>
                          <a:srgbClr val="202122"/>
                        </a:solidFill>
                        <a:effectLst/>
                        <a:latin typeface="Cambria Math" panose="02040503050406030204" pitchFamily="18" charset="0"/>
                      </a:rPr>
                      <m:t>𝑂𝐵</m:t>
                    </m:r>
                  </m:oMath>
                </a14:m>
                <a:r>
                  <a:rPr lang="en-US" b="0" i="0" dirty="0">
                    <a:solidFill>
                      <a:srgbClr val="202122"/>
                    </a:solidFill>
                    <a:effectLst/>
                    <a:latin typeface="Arial" panose="020B0604020202020204" pitchFamily="34" charset="0"/>
                  </a:rPr>
                  <a:t>, and </a:t>
                </a:r>
                <a14:m>
                  <m:oMath xmlns:m="http://schemas.openxmlformats.org/officeDocument/2006/math">
                    <m:r>
                      <a:rPr lang="en-US" b="0" i="1" smtClean="0">
                        <a:solidFill>
                          <a:srgbClr val="202122"/>
                        </a:solidFill>
                        <a:effectLst/>
                        <a:latin typeface="Cambria Math" panose="02040503050406030204" pitchFamily="18" charset="0"/>
                      </a:rPr>
                      <m:t>𝐵𝑇</m:t>
                    </m:r>
                  </m:oMath>
                </a14:m>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A set of </a:t>
                </a:r>
                <a14:m>
                  <m:oMath xmlns:m="http://schemas.openxmlformats.org/officeDocument/2006/math">
                    <m:r>
                      <a:rPr lang="en-US" b="0" i="1" smtClean="0">
                        <a:solidFill>
                          <a:srgbClr val="202122"/>
                        </a:solidFill>
                        <a:effectLst/>
                        <a:latin typeface="Cambria Math" panose="02040503050406030204" pitchFamily="18" charset="0"/>
                      </a:rPr>
                      <m:t>𝑛</m:t>
                    </m:r>
                  </m:oMath>
                </a14:m>
                <a:r>
                  <a:rPr lang="en-US" b="0" i="0" dirty="0">
                    <a:solidFill>
                      <a:srgbClr val="202122"/>
                    </a:solidFill>
                    <a:effectLst/>
                    <a:latin typeface="Arial" panose="020B0604020202020204" pitchFamily="34" charset="0"/>
                  </a:rPr>
                  <a:t> players. In the above example </a:t>
                </a:r>
                <a14:m>
                  <m:oMath xmlns:m="http://schemas.openxmlformats.org/officeDocument/2006/math">
                    <m:r>
                      <a:rPr lang="en-US" b="0" i="1" smtClean="0">
                        <a:solidFill>
                          <a:srgbClr val="202122"/>
                        </a:solidFill>
                        <a:effectLst/>
                        <a:latin typeface="Cambria Math" panose="02040503050406030204" pitchFamily="18" charset="0"/>
                      </a:rPr>
                      <m:t>𝑛</m:t>
                    </m:r>
                  </m:oMath>
                </a14:m>
                <a:r>
                  <a:rPr lang="en-US" b="0" i="0" dirty="0">
                    <a:solidFill>
                      <a:srgbClr val="202122"/>
                    </a:solidFill>
                    <a:effectLst/>
                    <a:latin typeface="Arial" panose="020B0604020202020204" pitchFamily="34" charset="0"/>
                  </a:rPr>
                  <a:t>=2.</a:t>
                </a:r>
              </a:p>
              <a:p>
                <a:pPr algn="l">
                  <a:buFont typeface="Arial" panose="020B0604020202020204" pitchFamily="34" charset="0"/>
                  <a:buChar char="•"/>
                </a:pPr>
                <a:r>
                  <a:rPr lang="en-US" b="0" i="0" dirty="0">
                    <a:solidFill>
                      <a:srgbClr val="202122"/>
                    </a:solidFill>
                    <a:effectLst/>
                    <a:latin typeface="Arial" panose="020B0604020202020204" pitchFamily="34" charset="0"/>
                  </a:rPr>
                  <a:t>A finite set of strategies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𝑆</m:t>
                        </m:r>
                      </m:e>
                      <m:sub>
                        <m:r>
                          <a:rPr lang="en-US" b="0" i="1" smtClean="0">
                            <a:solidFill>
                              <a:srgbClr val="202122"/>
                            </a:solidFill>
                            <a:effectLst/>
                            <a:latin typeface="Cambria Math" panose="02040503050406030204" pitchFamily="18" charset="0"/>
                          </a:rPr>
                          <m:t>𝑖</m:t>
                        </m:r>
                      </m:sub>
                    </m:sSub>
                  </m:oMath>
                </a14:m>
                <a:r>
                  <a:rPr lang="en-US" b="0" i="0" dirty="0">
                    <a:solidFill>
                      <a:srgbClr val="202122"/>
                    </a:solidFill>
                    <a:effectLst/>
                    <a:latin typeface="Arial" panose="020B0604020202020204" pitchFamily="34" charset="0"/>
                  </a:rPr>
                  <a:t> for each player, where each strategy </a:t>
                </a:r>
                <a14:m>
                  <m:oMath xmlns:m="http://schemas.openxmlformats.org/officeDocument/2006/math">
                    <m:r>
                      <a:rPr lang="en-US" b="0" i="1" smtClean="0">
                        <a:solidFill>
                          <a:srgbClr val="202122"/>
                        </a:solidFill>
                        <a:effectLst/>
                        <a:latin typeface="Cambria Math" panose="02040503050406030204" pitchFamily="18" charset="0"/>
                      </a:rPr>
                      <m:t>𝑃</m:t>
                    </m:r>
                    <m:r>
                      <a:rPr lang="en-US" b="0" i="1" smtClean="0">
                        <a:solidFill>
                          <a:srgbClr val="202122"/>
                        </a:solidFill>
                        <a:effectLst/>
                        <a:latin typeface="Cambria Math" panose="02040503050406030204" pitchFamily="18" charset="0"/>
                      </a:rPr>
                      <m:t>∈</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𝑆</m:t>
                        </m:r>
                      </m:e>
                      <m:sub>
                        <m:r>
                          <a:rPr lang="en-US" b="0" i="1" smtClean="0">
                            <a:solidFill>
                              <a:srgbClr val="202122"/>
                            </a:solidFill>
                            <a:effectLst/>
                            <a:latin typeface="Cambria Math" panose="02040503050406030204" pitchFamily="18" charset="0"/>
                          </a:rPr>
                          <m:t>𝑖</m:t>
                        </m:r>
                      </m:sub>
                    </m:sSub>
                  </m:oMath>
                </a14:m>
                <a:r>
                  <a:rPr lang="en-US" b="0" i="0" dirty="0">
                    <a:solidFill>
                      <a:srgbClr val="202122"/>
                    </a:solidFill>
                    <a:effectLst/>
                    <a:latin typeface="Arial" panose="020B0604020202020204" pitchFamily="34" charset="0"/>
                  </a:rPr>
                  <a:t> is a subset of </a:t>
                </a:r>
                <a14:m>
                  <m:oMath xmlns:m="http://schemas.openxmlformats.org/officeDocument/2006/math">
                    <m:r>
                      <a:rPr lang="en-US" b="0" i="1" smtClean="0">
                        <a:solidFill>
                          <a:srgbClr val="202122"/>
                        </a:solidFill>
                        <a:effectLst/>
                        <a:latin typeface="Cambria Math" panose="02040503050406030204" pitchFamily="18" charset="0"/>
                      </a:rPr>
                      <m:t>𝐸</m:t>
                    </m:r>
                  </m:oMath>
                </a14:m>
                <a:r>
                  <a:rPr lang="en-US" b="0" i="0" dirty="0">
                    <a:solidFill>
                      <a:srgbClr val="202122"/>
                    </a:solidFill>
                    <a:effectLst/>
                    <a:latin typeface="Arial" panose="020B0604020202020204" pitchFamily="34" charset="0"/>
                  </a:rPr>
                  <a:t>.</a:t>
                </a:r>
              </a:p>
              <a:p>
                <a:pPr marL="742950" lvl="1" indent="-285750" algn="l">
                  <a:buFont typeface="Arial" panose="020B0604020202020204" pitchFamily="34" charset="0"/>
                  <a:buChar char="•"/>
                </a:pPr>
                <a:r>
                  <a:rPr lang="en-US" b="0" i="0" dirty="0">
                    <a:solidFill>
                      <a:srgbClr val="202122"/>
                    </a:solidFill>
                    <a:effectLst/>
                    <a:latin typeface="Arial" panose="020B0604020202020204" pitchFamily="34" charset="0"/>
                  </a:rPr>
                  <a:t>In the above example, both players have the same set of strategies: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𝑆</m:t>
                        </m:r>
                      </m:e>
                      <m:sub>
                        <m:r>
                          <a:rPr lang="en-US" b="0" i="1" smtClean="0">
                            <a:solidFill>
                              <a:srgbClr val="202122"/>
                            </a:solidFill>
                            <a:effectLst/>
                            <a:latin typeface="Cambria Math" panose="02040503050406030204" pitchFamily="18" charset="0"/>
                          </a:rPr>
                          <m:t>1</m:t>
                        </m:r>
                      </m:sub>
                    </m:sSub>
                    <m:r>
                      <a:rPr lang="en-US" b="0" i="1" smtClean="0">
                        <a:solidFill>
                          <a:srgbClr val="202122"/>
                        </a:solidFill>
                        <a:effectLst/>
                        <a:latin typeface="Cambria Math" panose="02040503050406030204" pitchFamily="18" charset="0"/>
                      </a:rPr>
                      <m:t>=</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𝑆</m:t>
                        </m:r>
                      </m:e>
                      <m:sub>
                        <m:r>
                          <a:rPr lang="en-US" b="0" i="1" smtClean="0">
                            <a:solidFill>
                              <a:srgbClr val="202122"/>
                            </a:solidFill>
                            <a:effectLst/>
                            <a:latin typeface="Cambria Math" panose="02040503050406030204" pitchFamily="18" charset="0"/>
                          </a:rPr>
                          <m:t>2</m:t>
                        </m:r>
                      </m:sub>
                    </m:sSub>
                    <m:r>
                      <a:rPr lang="en-US" b="0" i="1" smtClean="0">
                        <a:solidFill>
                          <a:srgbClr val="202122"/>
                        </a:solidFill>
                        <a:effectLst/>
                        <a:latin typeface="Cambria Math" panose="02040503050406030204" pitchFamily="18" charset="0"/>
                      </a:rPr>
                      <m:t>=</m:t>
                    </m:r>
                    <m:d>
                      <m:dPr>
                        <m:begChr m:val="{"/>
                        <m:endChr m:val="}"/>
                        <m:ctrlPr>
                          <a:rPr lang="en-US" b="0" i="1" smtClean="0">
                            <a:solidFill>
                              <a:srgbClr val="202122"/>
                            </a:solidFill>
                            <a:effectLst/>
                            <a:latin typeface="Cambria Math" panose="02040503050406030204" pitchFamily="18" charset="0"/>
                          </a:rPr>
                        </m:ctrlPr>
                      </m:dPr>
                      <m:e>
                        <m:d>
                          <m:dPr>
                            <m:begChr m:val="{"/>
                            <m:endChr m:val="}"/>
                            <m:ctrlPr>
                              <a:rPr lang="en-US" b="0" i="1" smtClean="0">
                                <a:solidFill>
                                  <a:srgbClr val="202122"/>
                                </a:solidFill>
                                <a:effectLst/>
                                <a:latin typeface="Cambria Math" panose="02040503050406030204" pitchFamily="18" charset="0"/>
                              </a:rPr>
                            </m:ctrlPr>
                          </m:dPr>
                          <m:e>
                            <m:r>
                              <a:rPr lang="en-US" b="0" i="1" smtClean="0">
                                <a:solidFill>
                                  <a:srgbClr val="202122"/>
                                </a:solidFill>
                                <a:effectLst/>
                                <a:latin typeface="Cambria Math" panose="02040503050406030204" pitchFamily="18" charset="0"/>
                              </a:rPr>
                              <m:t>𝑂𝐴</m:t>
                            </m:r>
                            <m:r>
                              <a:rPr lang="en-US" b="0" i="1" smtClean="0">
                                <a:solidFill>
                                  <a:srgbClr val="202122"/>
                                </a:solidFill>
                                <a:effectLst/>
                                <a:latin typeface="Cambria Math" panose="02040503050406030204" pitchFamily="18" charset="0"/>
                              </a:rPr>
                              <m:t>, </m:t>
                            </m:r>
                            <m:r>
                              <a:rPr lang="en-US" b="0" i="1" smtClean="0">
                                <a:solidFill>
                                  <a:srgbClr val="202122"/>
                                </a:solidFill>
                                <a:effectLst/>
                                <a:latin typeface="Cambria Math" panose="02040503050406030204" pitchFamily="18" charset="0"/>
                              </a:rPr>
                              <m:t>𝐴𝑇</m:t>
                            </m:r>
                          </m:e>
                        </m:d>
                        <m:r>
                          <a:rPr lang="en-US" b="0" i="1" smtClean="0">
                            <a:solidFill>
                              <a:srgbClr val="202122"/>
                            </a:solidFill>
                            <a:effectLst/>
                            <a:latin typeface="Cambria Math" panose="02040503050406030204" pitchFamily="18" charset="0"/>
                          </a:rPr>
                          <m:t>, </m:t>
                        </m:r>
                        <m:d>
                          <m:dPr>
                            <m:begChr m:val="{"/>
                            <m:endChr m:val="}"/>
                            <m:ctrlPr>
                              <a:rPr lang="en-US" b="0" i="1" smtClean="0">
                                <a:solidFill>
                                  <a:srgbClr val="202122"/>
                                </a:solidFill>
                                <a:effectLst/>
                                <a:latin typeface="Cambria Math" panose="02040503050406030204" pitchFamily="18" charset="0"/>
                              </a:rPr>
                            </m:ctrlPr>
                          </m:dPr>
                          <m:e>
                            <m:r>
                              <a:rPr lang="en-US" b="0" i="1" smtClean="0">
                                <a:solidFill>
                                  <a:srgbClr val="202122"/>
                                </a:solidFill>
                                <a:effectLst/>
                                <a:latin typeface="Cambria Math" panose="02040503050406030204" pitchFamily="18" charset="0"/>
                              </a:rPr>
                              <m:t>𝑂𝐵</m:t>
                            </m:r>
                            <m:r>
                              <a:rPr lang="en-US" b="0" i="1" smtClean="0">
                                <a:solidFill>
                                  <a:srgbClr val="202122"/>
                                </a:solidFill>
                                <a:effectLst/>
                                <a:latin typeface="Cambria Math" panose="02040503050406030204" pitchFamily="18" charset="0"/>
                              </a:rPr>
                              <m:t>, </m:t>
                            </m:r>
                            <m:r>
                              <a:rPr lang="en-US" b="0" i="1" smtClean="0">
                                <a:solidFill>
                                  <a:srgbClr val="202122"/>
                                </a:solidFill>
                                <a:effectLst/>
                                <a:latin typeface="Cambria Math" panose="02040503050406030204" pitchFamily="18" charset="0"/>
                              </a:rPr>
                              <m:t>𝐵𝑇</m:t>
                            </m:r>
                          </m:e>
                        </m:d>
                      </m:e>
                    </m:d>
                  </m:oMath>
                </a14:m>
                <a:r>
                  <a:rPr lang="en-US" b="0" i="0" dirty="0">
                    <a:solidFill>
                      <a:srgbClr val="202122"/>
                    </a:solidFill>
                    <a:effectLst/>
                    <a:latin typeface="Arial" panose="020B0604020202020204" pitchFamily="34" charset="0"/>
                  </a:rPr>
                  <a:t>. CGs in which all players have the same set of strategies are called </a:t>
                </a:r>
                <a:r>
                  <a:rPr lang="en-US" b="1" i="0" dirty="0">
                    <a:solidFill>
                      <a:srgbClr val="202122"/>
                    </a:solidFill>
                    <a:effectLst/>
                    <a:latin typeface="Arial" panose="020B0604020202020204" pitchFamily="34" charset="0"/>
                  </a:rPr>
                  <a:t>symmetric CGs</a:t>
                </a:r>
                <a:r>
                  <a:rPr lang="en-US" b="0" i="0" dirty="0">
                    <a:solidFill>
                      <a:srgbClr val="202122"/>
                    </a:solidFill>
                    <a:effectLst/>
                    <a:latin typeface="Arial" panose="020B0604020202020204" pitchFamily="34" charset="0"/>
                  </a:rPr>
                  <a:t>. In general, different players may have different sets, for example, if each player has a different source and/or a different target. Such CGs are called </a:t>
                </a:r>
                <a:r>
                  <a:rPr lang="en-US" b="1" i="0" dirty="0">
                    <a:solidFill>
                      <a:srgbClr val="202122"/>
                    </a:solidFill>
                    <a:effectLst/>
                    <a:latin typeface="Arial" panose="020B0604020202020204" pitchFamily="34" charset="0"/>
                  </a:rPr>
                  <a:t>asymmetric</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CGs</a:t>
                </a:r>
                <a:r>
                  <a:rPr lang="en-US" b="0" i="0" dirty="0">
                    <a:solidFill>
                      <a:srgbClr val="202122"/>
                    </a:solidFill>
                    <a:effectLst/>
                    <a:latin typeface="Arial" panose="020B0604020202020204" pitchFamily="34" charset="0"/>
                  </a:rPr>
                  <a:t>.</a:t>
                </a:r>
              </a:p>
              <a:p>
                <a:pPr marL="742950" lvl="1" indent="-285750" algn="l">
                  <a:buFont typeface="Arial" panose="020B0604020202020204" pitchFamily="34" charset="0"/>
                  <a:buChar char="•"/>
                </a:pPr>
                <a:r>
                  <a:rPr lang="en-US" b="0" i="0" dirty="0">
                    <a:solidFill>
                      <a:srgbClr val="202122"/>
                    </a:solidFill>
                    <a:effectLst/>
                    <a:latin typeface="Arial" panose="020B0604020202020204" pitchFamily="34" charset="0"/>
                  </a:rPr>
                  <a:t>In general, a strategy can be any subset of </a:t>
                </a:r>
                <a14:m>
                  <m:oMath xmlns:m="http://schemas.openxmlformats.org/officeDocument/2006/math">
                    <m:r>
                      <a:rPr lang="en-US" b="0" i="1" smtClean="0">
                        <a:solidFill>
                          <a:srgbClr val="202122"/>
                        </a:solidFill>
                        <a:effectLst/>
                        <a:latin typeface="Cambria Math" panose="02040503050406030204" pitchFamily="18" charset="0"/>
                      </a:rPr>
                      <m:t>𝐸</m:t>
                    </m:r>
                  </m:oMath>
                </a14:m>
                <a:r>
                  <a:rPr lang="en-US" b="0" i="0" dirty="0">
                    <a:solidFill>
                      <a:srgbClr val="202122"/>
                    </a:solidFill>
                    <a:effectLst/>
                    <a:latin typeface="Arial" panose="020B0604020202020204" pitchFamily="34" charset="0"/>
                  </a:rPr>
                  <a:t>. CGs in which a strategy can only be a path in a given graph (as in the above example) are called </a:t>
                </a:r>
                <a:r>
                  <a:rPr lang="en-US" b="1" i="0" dirty="0">
                    <a:solidFill>
                      <a:srgbClr val="202122"/>
                    </a:solidFill>
                    <a:effectLst/>
                    <a:latin typeface="Arial" panose="020B0604020202020204" pitchFamily="34" charset="0"/>
                  </a:rPr>
                  <a:t>network CGs</a:t>
                </a:r>
                <a:r>
                  <a:rPr lang="en-US" b="0" i="0" dirty="0">
                    <a:solidFill>
                      <a:srgbClr val="202122"/>
                    </a:solidFill>
                    <a:effectLst/>
                    <a:latin typeface="Arial" panose="020B0604020202020204" pitchFamily="34" charset="0"/>
                  </a:rPr>
                  <a:t>. CGs in which a strategy can only be a single resource are called </a:t>
                </a:r>
                <a:r>
                  <a:rPr lang="en-US" b="1" i="0" dirty="0">
                    <a:solidFill>
                      <a:srgbClr val="202122"/>
                    </a:solidFill>
                    <a:effectLst/>
                    <a:latin typeface="Arial" panose="020B0604020202020204" pitchFamily="34" charset="0"/>
                  </a:rPr>
                  <a:t>singleton CGs</a:t>
                </a:r>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For each element </a:t>
                </a:r>
                <a14:m>
                  <m:oMath xmlns:m="http://schemas.openxmlformats.org/officeDocument/2006/math">
                    <m:r>
                      <a:rPr lang="en-US" b="0" i="1" smtClean="0">
                        <a:solidFill>
                          <a:srgbClr val="202122"/>
                        </a:solidFill>
                        <a:effectLst/>
                        <a:latin typeface="Cambria Math" panose="02040503050406030204" pitchFamily="18" charset="0"/>
                      </a:rPr>
                      <m:t>𝑒</m:t>
                    </m:r>
                    <m:r>
                      <a:rPr lang="en-US" b="0" i="1" smtClean="0">
                        <a:solidFill>
                          <a:srgbClr val="202122"/>
                        </a:solidFill>
                        <a:effectLst/>
                        <a:latin typeface="Cambria Math" panose="02040503050406030204" pitchFamily="18" charset="0"/>
                      </a:rPr>
                      <m:t>∈</m:t>
                    </m:r>
                    <m:r>
                      <a:rPr lang="en-US" b="0" i="1" smtClean="0">
                        <a:solidFill>
                          <a:srgbClr val="202122"/>
                        </a:solidFill>
                        <a:effectLst/>
                        <a:latin typeface="Cambria Math" panose="02040503050406030204" pitchFamily="18" charset="0"/>
                      </a:rPr>
                      <m:t>𝐸</m:t>
                    </m:r>
                  </m:oMath>
                </a14:m>
                <a:r>
                  <a:rPr lang="en-US" b="0" i="0" dirty="0">
                    <a:solidFill>
                      <a:srgbClr val="202122"/>
                    </a:solidFill>
                    <a:effectLst/>
                    <a:latin typeface="Arial" panose="020B0604020202020204" pitchFamily="34" charset="0"/>
                  </a:rPr>
                  <a:t> and a vector of strategies </a:t>
                </a:r>
                <a14:m>
                  <m:oMath xmlns:m="http://schemas.openxmlformats.org/officeDocument/2006/math">
                    <m:d>
                      <m:dPr>
                        <m:ctrlPr>
                          <a:rPr lang="en-US" b="0" i="1" smtClean="0">
                            <a:solidFill>
                              <a:srgbClr val="202122"/>
                            </a:solidFill>
                            <a:effectLst/>
                            <a:latin typeface="Cambria Math" panose="02040503050406030204" pitchFamily="18" charset="0"/>
                          </a:rPr>
                        </m:ctrlPr>
                      </m:dPr>
                      <m:e>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1</m:t>
                            </m:r>
                          </m:sub>
                        </m:sSub>
                        <m:r>
                          <a:rPr lang="en-US" b="0" i="1" smtClean="0">
                            <a:solidFill>
                              <a:srgbClr val="202122"/>
                            </a:solidFill>
                            <a:effectLst/>
                            <a:latin typeface="Cambria Math" panose="02040503050406030204" pitchFamily="18" charset="0"/>
                          </a:rPr>
                          <m:t>, </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2</m:t>
                            </m:r>
                          </m:sub>
                        </m:sSub>
                        <m:r>
                          <a:rPr lang="en-US" b="0" i="1" smtClean="0">
                            <a:solidFill>
                              <a:srgbClr val="202122"/>
                            </a:solidFill>
                            <a:effectLst/>
                            <a:latin typeface="Cambria Math" panose="02040503050406030204" pitchFamily="18" charset="0"/>
                          </a:rPr>
                          <m:t>, …, </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𝑛</m:t>
                            </m:r>
                          </m:sub>
                        </m:sSub>
                      </m:e>
                    </m:d>
                  </m:oMath>
                </a14:m>
                <a:r>
                  <a:rPr lang="en-US" b="0" i="0" dirty="0">
                    <a:solidFill>
                      <a:srgbClr val="202122"/>
                    </a:solidFill>
                    <a:effectLst/>
                    <a:latin typeface="Arial" panose="020B0604020202020204" pitchFamily="34" charset="0"/>
                  </a:rPr>
                  <a:t>, the </a:t>
                </a:r>
                <a:r>
                  <a:rPr lang="en-US" b="0" i="1" dirty="0">
                    <a:solidFill>
                      <a:srgbClr val="202122"/>
                    </a:solidFill>
                    <a:effectLst/>
                    <a:latin typeface="Arial" panose="020B0604020202020204" pitchFamily="34" charset="0"/>
                  </a:rPr>
                  <a:t>load</a:t>
                </a:r>
                <a:r>
                  <a:rPr lang="en-US" b="0" i="0" dirty="0">
                    <a:solidFill>
                      <a:srgbClr val="202122"/>
                    </a:solidFill>
                    <a:effectLst/>
                    <a:latin typeface="Arial" panose="020B0604020202020204" pitchFamily="34" charset="0"/>
                  </a:rPr>
                  <a:t> is defined as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𝑥</m:t>
                        </m:r>
                      </m:e>
                      <m:sub>
                        <m:r>
                          <a:rPr lang="en-US" b="0" i="1" smtClean="0">
                            <a:solidFill>
                              <a:srgbClr val="202122"/>
                            </a:solidFill>
                            <a:effectLst/>
                            <a:latin typeface="Cambria Math" panose="02040503050406030204" pitchFamily="18" charset="0"/>
                          </a:rPr>
                          <m:t>𝑒</m:t>
                        </m:r>
                      </m:sub>
                    </m:sSub>
                    <m:r>
                      <a:rPr lang="en-US" b="0" i="1" smtClean="0">
                        <a:solidFill>
                          <a:srgbClr val="202122"/>
                        </a:solidFill>
                        <a:effectLst/>
                        <a:latin typeface="Cambria Math" panose="02040503050406030204" pitchFamily="18" charset="0"/>
                      </a:rPr>
                      <m:t>=#</m:t>
                    </m:r>
                    <m:d>
                      <m:dPr>
                        <m:begChr m:val="{"/>
                        <m:endChr m:val="}"/>
                        <m:ctrlPr>
                          <a:rPr lang="en-US" b="0" i="1" smtClean="0">
                            <a:solidFill>
                              <a:srgbClr val="202122"/>
                            </a:solidFill>
                            <a:effectLst/>
                            <a:latin typeface="Cambria Math" panose="02040503050406030204" pitchFamily="18" charset="0"/>
                          </a:rPr>
                        </m:ctrlPr>
                      </m:dPr>
                      <m:e>
                        <m:r>
                          <a:rPr lang="en-US" b="0" i="1" smtClean="0">
                            <a:solidFill>
                              <a:srgbClr val="202122"/>
                            </a:solidFill>
                            <a:effectLst/>
                            <a:latin typeface="Cambria Math" panose="02040503050406030204" pitchFamily="18" charset="0"/>
                          </a:rPr>
                          <m:t>𝑖</m:t>
                        </m:r>
                        <m:r>
                          <a:rPr lang="en-US" b="0" i="1" smtClean="0">
                            <a:solidFill>
                              <a:srgbClr val="202122"/>
                            </a:solidFill>
                            <a:effectLst/>
                            <a:latin typeface="Cambria Math" panose="02040503050406030204" pitchFamily="18" charset="0"/>
                          </a:rPr>
                          <m:t>:</m:t>
                        </m:r>
                        <m:r>
                          <a:rPr lang="en-US" b="0" i="1" smtClean="0">
                            <a:solidFill>
                              <a:srgbClr val="202122"/>
                            </a:solidFill>
                            <a:effectLst/>
                            <a:latin typeface="Cambria Math" panose="02040503050406030204" pitchFamily="18" charset="0"/>
                          </a:rPr>
                          <m:t>𝑒</m:t>
                        </m:r>
                        <m:r>
                          <a:rPr lang="en-US" b="0" i="1" smtClean="0">
                            <a:solidFill>
                              <a:srgbClr val="202122"/>
                            </a:solidFill>
                            <a:effectLst/>
                            <a:latin typeface="Cambria Math" panose="02040503050406030204" pitchFamily="18" charset="0"/>
                          </a:rPr>
                          <m:t>∈</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𝑖</m:t>
                            </m:r>
                          </m:sub>
                        </m:sSub>
                      </m:e>
                    </m:d>
                  </m:oMath>
                </a14:m>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For each element </a:t>
                </a:r>
                <a14:m>
                  <m:oMath xmlns:m="http://schemas.openxmlformats.org/officeDocument/2006/math">
                    <m:r>
                      <a:rPr lang="en-US" b="0" i="1" smtClean="0">
                        <a:solidFill>
                          <a:srgbClr val="202122"/>
                        </a:solidFill>
                        <a:effectLst/>
                        <a:latin typeface="Cambria Math" panose="02040503050406030204" pitchFamily="18" charset="0"/>
                      </a:rPr>
                      <m:t>𝑒</m:t>
                    </m:r>
                    <m:r>
                      <a:rPr lang="en-US" b="0" i="1" smtClean="0">
                        <a:solidFill>
                          <a:srgbClr val="202122"/>
                        </a:solidFill>
                        <a:effectLst/>
                        <a:latin typeface="Cambria Math" panose="02040503050406030204" pitchFamily="18" charset="0"/>
                      </a:rPr>
                      <m:t>∈</m:t>
                    </m:r>
                    <m:r>
                      <a:rPr lang="en-US" b="0" i="1" smtClean="0">
                        <a:solidFill>
                          <a:srgbClr val="202122"/>
                        </a:solidFill>
                        <a:effectLst/>
                        <a:latin typeface="Cambria Math" panose="02040503050406030204" pitchFamily="18" charset="0"/>
                      </a:rPr>
                      <m:t>𝐸</m:t>
                    </m:r>
                  </m:oMath>
                </a14:m>
                <a:r>
                  <a:rPr lang="en-US" b="0" i="0" dirty="0">
                    <a:solidFill>
                      <a:srgbClr val="202122"/>
                    </a:solidFill>
                    <a:effectLst/>
                    <a:latin typeface="Arial" panose="020B0604020202020204" pitchFamily="34" charset="0"/>
                  </a:rPr>
                  <a:t> there is a </a:t>
                </a:r>
                <a:r>
                  <a:rPr lang="en-US" b="1" i="0" dirty="0">
                    <a:solidFill>
                      <a:srgbClr val="202122"/>
                    </a:solidFill>
                    <a:effectLst/>
                    <a:latin typeface="Arial" panose="020B0604020202020204" pitchFamily="34" charset="0"/>
                  </a:rPr>
                  <a:t>delay function</a:t>
                </a:r>
                <a:r>
                  <a:rPr lang="en-US" b="0" i="0" dirty="0">
                    <a:solidFill>
                      <a:srgbClr val="202122"/>
                    </a:solidFill>
                    <a:effectLst/>
                    <a:latin typeface="Arial" panose="020B0604020202020204" pitchFamily="34" charset="0"/>
                  </a:rPr>
                  <a:t>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𝑑</m:t>
                        </m:r>
                      </m:e>
                      <m:sub>
                        <m:r>
                          <a:rPr lang="en-US" b="0" i="1" smtClean="0">
                            <a:solidFill>
                              <a:srgbClr val="202122"/>
                            </a:solidFill>
                            <a:effectLst/>
                            <a:latin typeface="Cambria Math" panose="02040503050406030204" pitchFamily="18" charset="0"/>
                          </a:rPr>
                          <m:t>𝑒</m:t>
                        </m:r>
                      </m:sub>
                    </m:sSub>
                    <m:r>
                      <a:rPr lang="en-US" b="0" i="1" smtClean="0">
                        <a:solidFill>
                          <a:srgbClr val="202122"/>
                        </a:solidFill>
                        <a:effectLst/>
                        <a:latin typeface="Cambria Math" panose="02040503050406030204" pitchFamily="18" charset="0"/>
                      </a:rPr>
                      <m:t>:</m:t>
                    </m:r>
                    <m:r>
                      <a:rPr lang="en-US" b="0" i="1" smtClean="0">
                        <a:solidFill>
                          <a:srgbClr val="202122"/>
                        </a:solidFill>
                        <a:effectLst/>
                        <a:latin typeface="Cambria Math" panose="02040503050406030204" pitchFamily="18" charset="0"/>
                        <a:ea typeface="Cambria Math" panose="02040503050406030204" pitchFamily="18" charset="0"/>
                      </a:rPr>
                      <m:t>ℕ</m:t>
                    </m:r>
                  </m:oMath>
                </a14:m>
                <a:r>
                  <a:rPr lang="en-US" b="0" i="0" dirty="0">
                    <a:solidFill>
                      <a:srgbClr val="202122"/>
                    </a:solidFill>
                    <a:effectLst/>
                    <a:latin typeface="Arial" panose="020B0604020202020204" pitchFamily="34" charset="0"/>
                  </a:rPr>
                  <a:t>⟶</a:t>
                </a:r>
                <a14:m>
                  <m:oMath xmlns:m="http://schemas.openxmlformats.org/officeDocument/2006/math">
                    <m:r>
                      <a:rPr lang="en-US" b="0" i="1" dirty="0" smtClean="0">
                        <a:solidFill>
                          <a:srgbClr val="202122"/>
                        </a:solidFill>
                        <a:effectLst/>
                        <a:latin typeface="Cambria Math" panose="02040503050406030204" pitchFamily="18" charset="0"/>
                        <a:ea typeface="Cambria Math" panose="02040503050406030204" pitchFamily="18" charset="0"/>
                      </a:rPr>
                      <m:t>ℝ</m:t>
                    </m:r>
                  </m:oMath>
                </a14:m>
                <a:r>
                  <a:rPr lang="en-US" b="0" i="0" dirty="0">
                    <a:solidFill>
                      <a:srgbClr val="202122"/>
                    </a:solidFill>
                    <a:effectLst/>
                    <a:latin typeface="Arial" panose="020B0604020202020204" pitchFamily="34" charset="0"/>
                  </a:rPr>
                  <a:t> (also called </a:t>
                </a:r>
                <a:r>
                  <a:rPr lang="en-US" b="1" i="0" dirty="0">
                    <a:solidFill>
                      <a:srgbClr val="202122"/>
                    </a:solidFill>
                    <a:effectLst/>
                    <a:latin typeface="Arial" panose="020B0604020202020204" pitchFamily="34" charset="0"/>
                  </a:rPr>
                  <a:t>latency function</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cost function</a:t>
                </a:r>
                <a:r>
                  <a:rPr lang="en-US" b="0" i="0" dirty="0">
                    <a:solidFill>
                      <a:srgbClr val="202122"/>
                    </a:solidFill>
                    <a:effectLst/>
                    <a:latin typeface="Arial" panose="020B0604020202020204" pitchFamily="34" charset="0"/>
                  </a:rPr>
                  <a:t>). Given a vector of strategies, the delay on </a:t>
                </a:r>
                <a14:m>
                  <m:oMath xmlns:m="http://schemas.openxmlformats.org/officeDocument/2006/math">
                    <m:r>
                      <a:rPr lang="en-US" b="0" i="1" smtClean="0">
                        <a:solidFill>
                          <a:srgbClr val="202122"/>
                        </a:solidFill>
                        <a:effectLst/>
                        <a:latin typeface="Cambria Math" panose="02040503050406030204" pitchFamily="18" charset="0"/>
                      </a:rPr>
                      <m:t>𝑒</m:t>
                    </m:r>
                  </m:oMath>
                </a14:m>
                <a:r>
                  <a:rPr lang="en-US" b="0" i="0" dirty="0">
                    <a:solidFill>
                      <a:srgbClr val="202122"/>
                    </a:solidFill>
                    <a:effectLst/>
                    <a:latin typeface="Arial" panose="020B0604020202020204" pitchFamily="34" charset="0"/>
                  </a:rPr>
                  <a:t> is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𝑑</m:t>
                        </m:r>
                      </m:e>
                      <m:sub>
                        <m:r>
                          <a:rPr lang="en-US" b="0" i="1" smtClean="0">
                            <a:solidFill>
                              <a:srgbClr val="202122"/>
                            </a:solidFill>
                            <a:effectLst/>
                            <a:latin typeface="Cambria Math" panose="02040503050406030204" pitchFamily="18" charset="0"/>
                          </a:rPr>
                          <m:t>𝑒</m:t>
                        </m:r>
                      </m:sub>
                    </m:sSub>
                    <m:d>
                      <m:dPr>
                        <m:ctrlPr>
                          <a:rPr lang="en-US" b="0" i="1" smtClean="0">
                            <a:solidFill>
                              <a:srgbClr val="202122"/>
                            </a:solidFill>
                            <a:effectLst/>
                            <a:latin typeface="Cambria Math" panose="02040503050406030204" pitchFamily="18" charset="0"/>
                          </a:rPr>
                        </m:ctrlPr>
                      </m:dPr>
                      <m:e>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𝑥</m:t>
                            </m:r>
                          </m:e>
                          <m:sub>
                            <m:r>
                              <a:rPr lang="en-US" b="0" i="1" smtClean="0">
                                <a:solidFill>
                                  <a:srgbClr val="202122"/>
                                </a:solidFill>
                                <a:effectLst/>
                                <a:latin typeface="Cambria Math" panose="02040503050406030204" pitchFamily="18" charset="0"/>
                              </a:rPr>
                              <m:t>𝑒</m:t>
                            </m:r>
                          </m:sub>
                        </m:sSub>
                      </m:e>
                    </m:d>
                  </m:oMath>
                </a14:m>
                <a:r>
                  <a:rPr lang="en-US" b="0" i="0" dirty="0">
                    <a:solidFill>
                      <a:srgbClr val="202122"/>
                    </a:solidFill>
                    <a:effectLst/>
                    <a:latin typeface="Arial" panose="020B0604020202020204" pitchFamily="34" charset="0"/>
                  </a:rPr>
                  <a:t>. Each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𝑑</m:t>
                        </m:r>
                      </m:e>
                      <m:sub>
                        <m:r>
                          <a:rPr lang="en-US" b="0" i="1" smtClean="0">
                            <a:solidFill>
                              <a:srgbClr val="202122"/>
                            </a:solidFill>
                            <a:effectLst/>
                            <a:latin typeface="Cambria Math" panose="02040503050406030204" pitchFamily="18" charset="0"/>
                          </a:rPr>
                          <m:t>𝑒</m:t>
                        </m:r>
                      </m:sub>
                    </m:sSub>
                  </m:oMath>
                </a14:m>
                <a:r>
                  <a:rPr lang="en-US" b="0" i="0" dirty="0">
                    <a:solidFill>
                      <a:srgbClr val="202122"/>
                    </a:solidFill>
                    <a:effectLst/>
                    <a:latin typeface="Arial" panose="020B0604020202020204" pitchFamily="34" charset="0"/>
                  </a:rPr>
                  <a:t> is assumed to be positive and </a:t>
                </a:r>
                <a:r>
                  <a:rPr lang="en-US" b="0" i="0" u="none" strike="noStrike" dirty="0">
                    <a:solidFill>
                      <a:srgbClr val="3366CC"/>
                    </a:solidFill>
                    <a:effectLst/>
                    <a:latin typeface="Arial" panose="020B0604020202020204" pitchFamily="34" charset="0"/>
                    <a:hlinkClick r:id="rId3" tooltip="Monotonic function"/>
                  </a:rPr>
                  <a:t>monotone increasing</a:t>
                </a:r>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Given a strategy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𝑖</m:t>
                        </m:r>
                      </m:sub>
                    </m:sSub>
                  </m:oMath>
                </a14:m>
                <a:r>
                  <a:rPr lang="en-US" b="0" i="0" dirty="0">
                    <a:solidFill>
                      <a:srgbClr val="202122"/>
                    </a:solidFill>
                    <a:effectLst/>
                    <a:latin typeface="Arial" panose="020B0604020202020204" pitchFamily="34" charset="0"/>
                  </a:rPr>
                  <a:t>, player </a:t>
                </a:r>
                <a14:m>
                  <m:oMath xmlns:m="http://schemas.openxmlformats.org/officeDocument/2006/math">
                    <m:r>
                      <a:rPr lang="en-US" b="0" i="1" smtClean="0">
                        <a:solidFill>
                          <a:srgbClr val="202122"/>
                        </a:solidFill>
                        <a:effectLst/>
                        <a:latin typeface="Cambria Math" panose="02040503050406030204" pitchFamily="18" charset="0"/>
                      </a:rPr>
                      <m:t>𝑖</m:t>
                    </m:r>
                  </m:oMath>
                </a14:m>
                <a:r>
                  <a:rPr lang="en-US" b="0" i="0" dirty="0">
                    <a:solidFill>
                      <a:srgbClr val="202122"/>
                    </a:solidFill>
                    <a:effectLst/>
                    <a:latin typeface="Arial" panose="020B0604020202020204" pitchFamily="34" charset="0"/>
                  </a:rPr>
                  <a:t> experiences delay </a:t>
                </a:r>
                <a14:m>
                  <m:oMath xmlns:m="http://schemas.openxmlformats.org/officeDocument/2006/math">
                    <m:nary>
                      <m:naryPr>
                        <m:chr m:val="∑"/>
                        <m:limLoc m:val="subSup"/>
                        <m:supHide m:val="on"/>
                        <m:ctrlPr>
                          <a:rPr lang="en-US" b="0" i="1" smtClean="0">
                            <a:solidFill>
                              <a:srgbClr val="202122"/>
                            </a:solidFill>
                            <a:effectLst/>
                            <a:latin typeface="Cambria Math" panose="02040503050406030204" pitchFamily="18" charset="0"/>
                          </a:rPr>
                        </m:ctrlPr>
                      </m:naryPr>
                      <m:sub>
                        <m:r>
                          <m:rPr>
                            <m:brk m:alnAt="9"/>
                          </m:rPr>
                          <a:rPr lang="en-US" b="0" i="1" smtClean="0">
                            <a:solidFill>
                              <a:srgbClr val="202122"/>
                            </a:solidFill>
                            <a:effectLst/>
                            <a:latin typeface="Cambria Math" panose="02040503050406030204" pitchFamily="18" charset="0"/>
                          </a:rPr>
                          <m:t>𝑒</m:t>
                        </m:r>
                        <m:r>
                          <a:rPr lang="en-US" b="0" i="1" smtClean="0">
                            <a:solidFill>
                              <a:srgbClr val="202122"/>
                            </a:solidFill>
                            <a:effectLst/>
                            <a:latin typeface="Cambria Math" panose="02040503050406030204" pitchFamily="18" charset="0"/>
                          </a:rPr>
                          <m:t>∈</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𝑖</m:t>
                            </m:r>
                          </m:sub>
                        </m:sSub>
                      </m:sub>
                      <m:sup/>
                      <m:e>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𝑑</m:t>
                            </m:r>
                          </m:e>
                          <m:sub>
                            <m:r>
                              <a:rPr lang="en-US" b="0" i="1" smtClean="0">
                                <a:solidFill>
                                  <a:srgbClr val="202122"/>
                                </a:solidFill>
                                <a:effectLst/>
                                <a:latin typeface="Cambria Math" panose="02040503050406030204" pitchFamily="18" charset="0"/>
                              </a:rPr>
                              <m:t>𝑒</m:t>
                            </m:r>
                          </m:sub>
                        </m:sSub>
                        <m:d>
                          <m:dPr>
                            <m:ctrlPr>
                              <a:rPr lang="en-US" b="0" i="1" smtClean="0">
                                <a:solidFill>
                                  <a:srgbClr val="202122"/>
                                </a:solidFill>
                                <a:effectLst/>
                                <a:latin typeface="Cambria Math" panose="02040503050406030204" pitchFamily="18" charset="0"/>
                              </a:rPr>
                            </m:ctrlPr>
                          </m:dPr>
                          <m:e>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𝑥</m:t>
                                </m:r>
                              </m:e>
                              <m:sub>
                                <m:r>
                                  <a:rPr lang="en-US" b="0" i="1" smtClean="0">
                                    <a:solidFill>
                                      <a:srgbClr val="202122"/>
                                    </a:solidFill>
                                    <a:effectLst/>
                                    <a:latin typeface="Cambria Math" panose="02040503050406030204" pitchFamily="18" charset="0"/>
                                  </a:rPr>
                                  <m:t>𝑒</m:t>
                                </m:r>
                              </m:sub>
                            </m:sSub>
                          </m:e>
                        </m:d>
                      </m:e>
                    </m:nary>
                  </m:oMath>
                </a14:m>
                <a:r>
                  <a:rPr lang="en-US" b="0" i="0" dirty="0">
                    <a:solidFill>
                      <a:srgbClr val="202122"/>
                    </a:solidFill>
                    <a:effectLst/>
                    <a:latin typeface="Arial" panose="020B0604020202020204" pitchFamily="34" charset="0"/>
                  </a:rPr>
                  <a:t>; each player wants to minimize his delay.</a:t>
                </a:r>
              </a:p>
              <a:p>
                <a:pPr algn="l">
                  <a:buFont typeface="Arial" panose="020B0604020202020204" pitchFamily="34" charset="0"/>
                  <a:buChar char="•"/>
                </a:pPr>
                <a:r>
                  <a:rPr lang="en-US" b="0" i="0" dirty="0">
                    <a:solidFill>
                      <a:srgbClr val="202122"/>
                    </a:solidFill>
                    <a:effectLst/>
                    <a:latin typeface="Arial" panose="020B0604020202020204" pitchFamily="34" charset="0"/>
                  </a:rPr>
                  <a:t>A </a:t>
                </a:r>
                <a:r>
                  <a:rPr lang="en-US" b="0" i="1" dirty="0">
                    <a:solidFill>
                      <a:srgbClr val="202122"/>
                    </a:solidFill>
                    <a:effectLst/>
                    <a:latin typeface="Arial" panose="020B0604020202020204" pitchFamily="34" charset="0"/>
                  </a:rPr>
                  <a:t>Nash equilibrium</a:t>
                </a:r>
                <a:r>
                  <a:rPr lang="en-US" b="0" i="0" dirty="0">
                    <a:solidFill>
                      <a:srgbClr val="202122"/>
                    </a:solidFill>
                    <a:effectLst/>
                    <a:latin typeface="Arial" panose="020B0604020202020204" pitchFamily="34" charset="0"/>
                  </a:rPr>
                  <a:t> is a vector of strategies </a:t>
                </a:r>
                <a14:m>
                  <m:oMath xmlns:m="http://schemas.openxmlformats.org/officeDocument/2006/math">
                    <m:d>
                      <m:dPr>
                        <m:ctrlPr>
                          <a:rPr lang="en-US" b="0" i="1" smtClean="0">
                            <a:solidFill>
                              <a:srgbClr val="202122"/>
                            </a:solidFill>
                            <a:effectLst/>
                            <a:latin typeface="Cambria Math" panose="02040503050406030204" pitchFamily="18" charset="0"/>
                          </a:rPr>
                        </m:ctrlPr>
                      </m:dPr>
                      <m:e>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1</m:t>
                            </m:r>
                          </m:sub>
                        </m:sSub>
                        <m:r>
                          <a:rPr lang="en-US" b="0" i="1" smtClean="0">
                            <a:solidFill>
                              <a:srgbClr val="202122"/>
                            </a:solidFill>
                            <a:effectLst/>
                            <a:latin typeface="Cambria Math" panose="02040503050406030204" pitchFamily="18" charset="0"/>
                          </a:rPr>
                          <m:t>, </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2</m:t>
                            </m:r>
                          </m:sub>
                        </m:sSub>
                        <m:r>
                          <a:rPr lang="en-US" b="0" i="1" smtClean="0">
                            <a:solidFill>
                              <a:srgbClr val="202122"/>
                            </a:solidFill>
                            <a:effectLst/>
                            <a:latin typeface="Cambria Math" panose="02040503050406030204" pitchFamily="18" charset="0"/>
                          </a:rPr>
                          <m:t>,…, </m:t>
                        </m:r>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𝑛</m:t>
                            </m:r>
                          </m:sub>
                        </m:sSub>
                      </m:e>
                    </m:d>
                  </m:oMath>
                </a14:m>
                <a:r>
                  <a:rPr lang="en-US" b="0" i="0" dirty="0">
                    <a:solidFill>
                      <a:srgbClr val="202122"/>
                    </a:solidFill>
                    <a:effectLst/>
                    <a:latin typeface="Arial" panose="020B0604020202020204" pitchFamily="34" charset="0"/>
                  </a:rPr>
                  <a:t> such that, for each player </a:t>
                </a:r>
                <a14:m>
                  <m:oMath xmlns:m="http://schemas.openxmlformats.org/officeDocument/2006/math">
                    <m:r>
                      <a:rPr lang="en-US" b="0" i="1" smtClean="0">
                        <a:solidFill>
                          <a:srgbClr val="202122"/>
                        </a:solidFill>
                        <a:effectLst/>
                        <a:latin typeface="Cambria Math" panose="02040503050406030204" pitchFamily="18" charset="0"/>
                      </a:rPr>
                      <m:t>𝑖</m:t>
                    </m:r>
                  </m:oMath>
                </a14:m>
                <a:r>
                  <a:rPr lang="en-US" b="0" i="0" dirty="0">
                    <a:solidFill>
                      <a:srgbClr val="202122"/>
                    </a:solidFill>
                    <a:effectLst/>
                    <a:latin typeface="Arial" panose="020B0604020202020204" pitchFamily="34" charset="0"/>
                  </a:rPr>
                  <a:t>, replacing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𝑃</m:t>
                        </m:r>
                      </m:e>
                      <m:sub>
                        <m:r>
                          <a:rPr lang="en-US" b="0" i="1" smtClean="0">
                            <a:solidFill>
                              <a:srgbClr val="202122"/>
                            </a:solidFill>
                            <a:effectLst/>
                            <a:latin typeface="Cambria Math" panose="02040503050406030204" pitchFamily="18" charset="0"/>
                          </a:rPr>
                          <m:t>𝑖</m:t>
                        </m:r>
                      </m:sub>
                    </m:sSub>
                  </m:oMath>
                </a14:m>
                <a:r>
                  <a:rPr lang="en-US" b="0" i="0" dirty="0">
                    <a:solidFill>
                      <a:srgbClr val="202122"/>
                    </a:solidFill>
                    <a:effectLst/>
                    <a:latin typeface="Arial" panose="020B0604020202020204" pitchFamily="34" charset="0"/>
                  </a:rPr>
                  <a:t> with a different strategy </a:t>
                </a:r>
                <a14:m>
                  <m:oMath xmlns:m="http://schemas.openxmlformats.org/officeDocument/2006/math">
                    <m:sSub>
                      <m:sSubPr>
                        <m:ctrlPr>
                          <a:rPr lang="en-US" b="0" i="1" smtClean="0">
                            <a:solidFill>
                              <a:srgbClr val="202122"/>
                            </a:solidFill>
                            <a:effectLst/>
                            <a:latin typeface="Cambria Math" panose="02040503050406030204" pitchFamily="18" charset="0"/>
                          </a:rPr>
                        </m:ctrlPr>
                      </m:sSubPr>
                      <m:e>
                        <m:r>
                          <a:rPr lang="en-US" b="0" i="1" smtClean="0">
                            <a:solidFill>
                              <a:srgbClr val="202122"/>
                            </a:solidFill>
                            <a:effectLst/>
                            <a:latin typeface="Cambria Math" panose="02040503050406030204" pitchFamily="18" charset="0"/>
                          </a:rPr>
                          <m:t>𝑄</m:t>
                        </m:r>
                      </m:e>
                      <m:sub>
                        <m:r>
                          <a:rPr lang="en-US" b="0" i="1" smtClean="0">
                            <a:solidFill>
                              <a:srgbClr val="202122"/>
                            </a:solidFill>
                            <a:effectLst/>
                            <a:latin typeface="Cambria Math" panose="02040503050406030204" pitchFamily="18" charset="0"/>
                          </a:rPr>
                          <m:t>𝑖</m:t>
                        </m:r>
                      </m:sub>
                    </m:sSub>
                  </m:oMath>
                </a14:m>
                <a:r>
                  <a:rPr lang="en-US" b="0" i="0" dirty="0">
                    <a:solidFill>
                      <a:srgbClr val="202122"/>
                    </a:solidFill>
                    <a:effectLst/>
                    <a:latin typeface="Arial" panose="020B0604020202020204" pitchFamily="34" charset="0"/>
                  </a:rPr>
                  <a:t> would not decrease the delay experienced by </a:t>
                </a:r>
                <a14:m>
                  <m:oMath xmlns:m="http://schemas.openxmlformats.org/officeDocument/2006/math">
                    <m:r>
                      <a:rPr lang="en-US" b="0" i="1" smtClean="0">
                        <a:solidFill>
                          <a:srgbClr val="202122"/>
                        </a:solidFill>
                        <a:effectLst/>
                        <a:latin typeface="Cambria Math" panose="02040503050406030204" pitchFamily="18" charset="0"/>
                      </a:rPr>
                      <m:t>𝑖</m:t>
                    </m:r>
                  </m:oMath>
                </a14:m>
                <a:r>
                  <a:rPr lang="en-US" b="0" i="0" dirty="0">
                    <a:solidFill>
                      <a:srgbClr val="202122"/>
                    </a:solidFill>
                    <a:effectLst/>
                    <a:latin typeface="Arial" panose="020B0604020202020204" pitchFamily="34" charset="0"/>
                  </a:rPr>
                  <a:t>.</a:t>
                </a:r>
              </a:p>
              <a:p>
                <a:endParaRPr dirty="0"/>
              </a:p>
            </p:txBody>
          </p:sp>
        </mc:Choice>
        <mc:Fallback xmlns="">
          <p:sp>
            <p:nvSpPr>
              <p:cNvPr id="2" name="Notes Placeholder"/>
              <p:cNvSpPr>
                <a:spLocks noGrp="1"/>
              </p:cNvSpPr>
              <p:nvPr>
                <p:ph type="body" idx="1"/>
              </p:nvPr>
            </p:nvSpPr>
            <p:spPr/>
            <p:txBody>
              <a:bodyPr>
                <a:normAutofit fontScale="25000" lnSpcReduction="20000"/>
              </a:bodyPr>
              <a:lstStyle/>
              <a:p>
                <a:pPr algn="l"/>
                <a:r>
                  <a:rPr lang="en-US" b="0" i="0" dirty="0">
                    <a:solidFill>
                      <a:srgbClr val="202122"/>
                    </a:solidFill>
                    <a:effectLst/>
                    <a:latin typeface="Arial" panose="020B0604020202020204" pitchFamily="34" charset="0"/>
                  </a:rPr>
                  <a:t>The basic definition of a CG has the following components.</a:t>
                </a:r>
              </a:p>
              <a:p>
                <a:pPr algn="l">
                  <a:buFont typeface="Arial" panose="020B0604020202020204" pitchFamily="34" charset="0"/>
                  <a:buChar char="•"/>
                </a:pPr>
                <a:r>
                  <a:rPr lang="en-US" b="0" i="0" dirty="0">
                    <a:solidFill>
                      <a:srgbClr val="202122"/>
                    </a:solidFill>
                    <a:effectLst/>
                    <a:latin typeface="Arial" panose="020B0604020202020204" pitchFamily="34" charset="0"/>
                  </a:rPr>
                  <a:t>A base set </a:t>
                </a:r>
                <a:r>
                  <a:rPr lang="en-US" b="0" i="0">
                    <a:solidFill>
                      <a:srgbClr val="202122"/>
                    </a:solidFill>
                    <a:effectLst/>
                    <a:latin typeface="Cambria Math" panose="02040503050406030204" pitchFamily="18" charset="0"/>
                  </a:rPr>
                  <a:t>𝐸</a:t>
                </a:r>
                <a:r>
                  <a:rPr lang="en-US" b="0" i="0" dirty="0">
                    <a:solidFill>
                      <a:srgbClr val="202122"/>
                    </a:solidFill>
                    <a:effectLst/>
                    <a:latin typeface="Arial" panose="020B0604020202020204" pitchFamily="34" charset="0"/>
                  </a:rPr>
                  <a:t> of congestible elements (also called </a:t>
                </a:r>
                <a:r>
                  <a:rPr lang="en-US" b="0" i="1" dirty="0">
                    <a:solidFill>
                      <a:srgbClr val="202122"/>
                    </a:solidFill>
                    <a:effectLst/>
                    <a:latin typeface="Arial" panose="020B0604020202020204" pitchFamily="34" charset="0"/>
                  </a:rPr>
                  <a:t>resources</a:t>
                </a:r>
                <a:r>
                  <a:rPr lang="en-US" b="0" i="0" dirty="0">
                    <a:solidFill>
                      <a:srgbClr val="202122"/>
                    </a:solidFill>
                    <a:effectLst/>
                    <a:latin typeface="Arial" panose="020B0604020202020204" pitchFamily="34" charset="0"/>
                  </a:rPr>
                  <a:t> or </a:t>
                </a:r>
                <a:r>
                  <a:rPr lang="en-US" b="0" i="1" dirty="0">
                    <a:solidFill>
                      <a:srgbClr val="202122"/>
                    </a:solidFill>
                    <a:effectLst/>
                    <a:latin typeface="Arial" panose="020B0604020202020204" pitchFamily="34" charset="0"/>
                  </a:rPr>
                  <a:t>factors</a:t>
                </a:r>
                <a:r>
                  <a:rPr lang="en-US" b="0" i="0" dirty="0">
                    <a:solidFill>
                      <a:srgbClr val="202122"/>
                    </a:solidFill>
                    <a:effectLst/>
                    <a:latin typeface="Arial" panose="020B0604020202020204" pitchFamily="34" charset="0"/>
                  </a:rPr>
                  <a:t>). In the above example, </a:t>
                </a:r>
                <a:r>
                  <a:rPr lang="en-US" b="0" i="0">
                    <a:solidFill>
                      <a:srgbClr val="202122"/>
                    </a:solidFill>
                    <a:effectLst/>
                    <a:latin typeface="Cambria Math" panose="02040503050406030204" pitchFamily="18" charset="0"/>
                  </a:rPr>
                  <a:t>𝐸</a:t>
                </a:r>
                <a:r>
                  <a:rPr lang="en-US" b="0" i="0" dirty="0">
                    <a:solidFill>
                      <a:srgbClr val="202122"/>
                    </a:solidFill>
                    <a:effectLst/>
                    <a:latin typeface="Arial" panose="020B0604020202020204" pitchFamily="34" charset="0"/>
                  </a:rPr>
                  <a:t> is the set of roads (</a:t>
                </a:r>
                <a:r>
                  <a:rPr lang="en-US" b="0" i="0">
                    <a:solidFill>
                      <a:srgbClr val="202122"/>
                    </a:solidFill>
                    <a:effectLst/>
                    <a:latin typeface="Cambria Math" panose="02040503050406030204" pitchFamily="18" charset="0"/>
                  </a:rPr>
                  <a:t>𝑂𝐴, 𝐴𝑇, 𝑂𝐵</a:t>
                </a:r>
                <a:r>
                  <a:rPr lang="en-US" b="0" i="0" dirty="0">
                    <a:solidFill>
                      <a:srgbClr val="202122"/>
                    </a:solidFill>
                    <a:effectLst/>
                    <a:latin typeface="Arial" panose="020B0604020202020204" pitchFamily="34" charset="0"/>
                  </a:rPr>
                  <a:t>, and </a:t>
                </a:r>
                <a:r>
                  <a:rPr lang="en-US" b="0" i="0">
                    <a:solidFill>
                      <a:srgbClr val="202122"/>
                    </a:solidFill>
                    <a:effectLst/>
                    <a:latin typeface="Cambria Math" panose="02040503050406030204" pitchFamily="18" charset="0"/>
                  </a:rPr>
                  <a:t>𝐵𝑇</a:t>
                </a:r>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A set of </a:t>
                </a:r>
                <a:r>
                  <a:rPr lang="en-US" b="0" i="0">
                    <a:solidFill>
                      <a:srgbClr val="202122"/>
                    </a:solidFill>
                    <a:effectLst/>
                    <a:latin typeface="Cambria Math" panose="02040503050406030204" pitchFamily="18" charset="0"/>
                  </a:rPr>
                  <a:t>𝑛</a:t>
                </a:r>
                <a:r>
                  <a:rPr lang="en-US" b="0" i="0" dirty="0">
                    <a:solidFill>
                      <a:srgbClr val="202122"/>
                    </a:solidFill>
                    <a:effectLst/>
                    <a:latin typeface="Arial" panose="020B0604020202020204" pitchFamily="34" charset="0"/>
                  </a:rPr>
                  <a:t> players. In the above example </a:t>
                </a:r>
                <a:r>
                  <a:rPr lang="en-US" b="0" i="0">
                    <a:solidFill>
                      <a:srgbClr val="202122"/>
                    </a:solidFill>
                    <a:effectLst/>
                    <a:latin typeface="Cambria Math" panose="02040503050406030204" pitchFamily="18" charset="0"/>
                  </a:rPr>
                  <a:t>𝑛</a:t>
                </a:r>
                <a:r>
                  <a:rPr lang="en-US" b="0" i="0" dirty="0">
                    <a:solidFill>
                      <a:srgbClr val="202122"/>
                    </a:solidFill>
                    <a:effectLst/>
                    <a:latin typeface="Arial" panose="020B0604020202020204" pitchFamily="34" charset="0"/>
                  </a:rPr>
                  <a:t>=2.</a:t>
                </a:r>
              </a:p>
              <a:p>
                <a:pPr algn="l">
                  <a:buFont typeface="Arial" panose="020B0604020202020204" pitchFamily="34" charset="0"/>
                  <a:buChar char="•"/>
                </a:pPr>
                <a:r>
                  <a:rPr lang="en-US" b="0" i="0" dirty="0">
                    <a:solidFill>
                      <a:srgbClr val="202122"/>
                    </a:solidFill>
                    <a:effectLst/>
                    <a:latin typeface="Arial" panose="020B0604020202020204" pitchFamily="34" charset="0"/>
                  </a:rPr>
                  <a:t>A finite set of strategies </a:t>
                </a:r>
                <a:r>
                  <a:rPr lang="en-US" b="0" i="0">
                    <a:solidFill>
                      <a:srgbClr val="202122"/>
                    </a:solidFill>
                    <a:effectLst/>
                    <a:latin typeface="Cambria Math" panose="02040503050406030204" pitchFamily="18" charset="0"/>
                  </a:rPr>
                  <a:t>𝑆_𝑖</a:t>
                </a:r>
                <a:r>
                  <a:rPr lang="en-US" b="0" i="0" dirty="0">
                    <a:solidFill>
                      <a:srgbClr val="202122"/>
                    </a:solidFill>
                    <a:effectLst/>
                    <a:latin typeface="Arial" panose="020B0604020202020204" pitchFamily="34" charset="0"/>
                  </a:rPr>
                  <a:t> for each player, where each strategy </a:t>
                </a:r>
                <a:r>
                  <a:rPr lang="en-US" b="0" i="0">
                    <a:solidFill>
                      <a:srgbClr val="202122"/>
                    </a:solidFill>
                    <a:effectLst/>
                    <a:latin typeface="Cambria Math" panose="02040503050406030204" pitchFamily="18" charset="0"/>
                  </a:rPr>
                  <a:t>𝑃∈𝑆_𝑖</a:t>
                </a:r>
                <a:r>
                  <a:rPr lang="en-US" b="0" i="0" dirty="0">
                    <a:solidFill>
                      <a:srgbClr val="202122"/>
                    </a:solidFill>
                    <a:effectLst/>
                    <a:latin typeface="Arial" panose="020B0604020202020204" pitchFamily="34" charset="0"/>
                  </a:rPr>
                  <a:t> is a subset of </a:t>
                </a:r>
                <a:r>
                  <a:rPr lang="en-US" b="0" i="0">
                    <a:solidFill>
                      <a:srgbClr val="202122"/>
                    </a:solidFill>
                    <a:effectLst/>
                    <a:latin typeface="Cambria Math" panose="02040503050406030204" pitchFamily="18" charset="0"/>
                  </a:rPr>
                  <a:t>𝐸</a:t>
                </a:r>
                <a:r>
                  <a:rPr lang="en-US" b="0" i="0" dirty="0">
                    <a:solidFill>
                      <a:srgbClr val="202122"/>
                    </a:solidFill>
                    <a:effectLst/>
                    <a:latin typeface="Arial" panose="020B0604020202020204" pitchFamily="34" charset="0"/>
                  </a:rPr>
                  <a:t>.</a:t>
                </a:r>
              </a:p>
              <a:p>
                <a:pPr marL="742950" lvl="1" indent="-285750" algn="l">
                  <a:buFont typeface="Arial" panose="020B0604020202020204" pitchFamily="34" charset="0"/>
                  <a:buChar char="•"/>
                </a:pPr>
                <a:r>
                  <a:rPr lang="en-US" b="0" i="0" dirty="0">
                    <a:solidFill>
                      <a:srgbClr val="202122"/>
                    </a:solidFill>
                    <a:effectLst/>
                    <a:latin typeface="Arial" panose="020B0604020202020204" pitchFamily="34" charset="0"/>
                  </a:rPr>
                  <a:t>In the above example, both players have the same set of strategies: </a:t>
                </a:r>
                <a:r>
                  <a:rPr lang="en-US" b="0" i="0">
                    <a:solidFill>
                      <a:srgbClr val="202122"/>
                    </a:solidFill>
                    <a:effectLst/>
                    <a:latin typeface="Cambria Math" panose="02040503050406030204" pitchFamily="18" charset="0"/>
                  </a:rPr>
                  <a:t>𝑆_1=𝑆_2={{𝑂𝐴, 𝐴𝑇}, {𝑂𝐵, 𝐵𝑇}}</a:t>
                </a:r>
                <a:r>
                  <a:rPr lang="en-US" b="0" i="0" dirty="0">
                    <a:solidFill>
                      <a:srgbClr val="202122"/>
                    </a:solidFill>
                    <a:effectLst/>
                    <a:latin typeface="Arial" panose="020B0604020202020204" pitchFamily="34" charset="0"/>
                  </a:rPr>
                  <a:t>. CGs in which all players have the same set of strategies are called </a:t>
                </a:r>
                <a:r>
                  <a:rPr lang="en-US" b="1" i="0" dirty="0">
                    <a:solidFill>
                      <a:srgbClr val="202122"/>
                    </a:solidFill>
                    <a:effectLst/>
                    <a:latin typeface="Arial" panose="020B0604020202020204" pitchFamily="34" charset="0"/>
                  </a:rPr>
                  <a:t>symmetric CGs</a:t>
                </a:r>
                <a:r>
                  <a:rPr lang="en-US" b="0" i="0" dirty="0">
                    <a:solidFill>
                      <a:srgbClr val="202122"/>
                    </a:solidFill>
                    <a:effectLst/>
                    <a:latin typeface="Arial" panose="020B0604020202020204" pitchFamily="34" charset="0"/>
                  </a:rPr>
                  <a:t>. In general, different players may have different sets, for example, if each player has a different source and/or a different target. Such CGs are called </a:t>
                </a:r>
                <a:r>
                  <a:rPr lang="en-US" b="1" i="0" dirty="0">
                    <a:solidFill>
                      <a:srgbClr val="202122"/>
                    </a:solidFill>
                    <a:effectLst/>
                    <a:latin typeface="Arial" panose="020B0604020202020204" pitchFamily="34" charset="0"/>
                  </a:rPr>
                  <a:t>asymmetric</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CGs</a:t>
                </a:r>
                <a:r>
                  <a:rPr lang="en-US" b="0" i="0" dirty="0">
                    <a:solidFill>
                      <a:srgbClr val="202122"/>
                    </a:solidFill>
                    <a:effectLst/>
                    <a:latin typeface="Arial" panose="020B0604020202020204" pitchFamily="34" charset="0"/>
                  </a:rPr>
                  <a:t>.</a:t>
                </a:r>
              </a:p>
              <a:p>
                <a:pPr marL="742950" lvl="1" indent="-285750" algn="l">
                  <a:buFont typeface="Arial" panose="020B0604020202020204" pitchFamily="34" charset="0"/>
                  <a:buChar char="•"/>
                </a:pPr>
                <a:r>
                  <a:rPr lang="en-US" b="0" i="0" dirty="0">
                    <a:solidFill>
                      <a:srgbClr val="202122"/>
                    </a:solidFill>
                    <a:effectLst/>
                    <a:latin typeface="Arial" panose="020B0604020202020204" pitchFamily="34" charset="0"/>
                  </a:rPr>
                  <a:t>In general, a strategy can be any subset of </a:t>
                </a:r>
                <a:r>
                  <a:rPr lang="en-US" b="0" i="0">
                    <a:solidFill>
                      <a:srgbClr val="202122"/>
                    </a:solidFill>
                    <a:effectLst/>
                    <a:latin typeface="Cambria Math" panose="02040503050406030204" pitchFamily="18" charset="0"/>
                  </a:rPr>
                  <a:t>𝐸</a:t>
                </a:r>
                <a:r>
                  <a:rPr lang="en-US" b="0" i="0" dirty="0">
                    <a:solidFill>
                      <a:srgbClr val="202122"/>
                    </a:solidFill>
                    <a:effectLst/>
                    <a:latin typeface="Arial" panose="020B0604020202020204" pitchFamily="34" charset="0"/>
                  </a:rPr>
                  <a:t>. CGs in which a strategy can only be a path in a given graph (as in the above example) are called </a:t>
                </a:r>
                <a:r>
                  <a:rPr lang="en-US" b="1" i="0" dirty="0">
                    <a:solidFill>
                      <a:srgbClr val="202122"/>
                    </a:solidFill>
                    <a:effectLst/>
                    <a:latin typeface="Arial" panose="020B0604020202020204" pitchFamily="34" charset="0"/>
                  </a:rPr>
                  <a:t>network CGs</a:t>
                </a:r>
                <a:r>
                  <a:rPr lang="en-US" b="0" i="0" dirty="0">
                    <a:solidFill>
                      <a:srgbClr val="202122"/>
                    </a:solidFill>
                    <a:effectLst/>
                    <a:latin typeface="Arial" panose="020B0604020202020204" pitchFamily="34" charset="0"/>
                  </a:rPr>
                  <a:t>. CGs in which a strategy can only be a single resource are called </a:t>
                </a:r>
                <a:r>
                  <a:rPr lang="en-US" b="1" i="0" dirty="0">
                    <a:solidFill>
                      <a:srgbClr val="202122"/>
                    </a:solidFill>
                    <a:effectLst/>
                    <a:latin typeface="Arial" panose="020B0604020202020204" pitchFamily="34" charset="0"/>
                  </a:rPr>
                  <a:t>singleton CGs</a:t>
                </a:r>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For each element </a:t>
                </a:r>
                <a:r>
                  <a:rPr lang="en-US" b="0" i="0">
                    <a:solidFill>
                      <a:srgbClr val="202122"/>
                    </a:solidFill>
                    <a:effectLst/>
                    <a:latin typeface="Cambria Math" panose="02040503050406030204" pitchFamily="18" charset="0"/>
                  </a:rPr>
                  <a:t>𝑒∈𝐸</a:t>
                </a:r>
                <a:r>
                  <a:rPr lang="en-US" b="0" i="0" dirty="0">
                    <a:solidFill>
                      <a:srgbClr val="202122"/>
                    </a:solidFill>
                    <a:effectLst/>
                    <a:latin typeface="Arial" panose="020B0604020202020204" pitchFamily="34" charset="0"/>
                  </a:rPr>
                  <a:t> and a vector of strategies </a:t>
                </a:r>
                <a:r>
                  <a:rPr lang="en-US" b="0" i="0">
                    <a:solidFill>
                      <a:srgbClr val="202122"/>
                    </a:solidFill>
                    <a:effectLst/>
                    <a:latin typeface="Cambria Math" panose="02040503050406030204" pitchFamily="18" charset="0"/>
                  </a:rPr>
                  <a:t>(𝑃_1, 𝑃_2, …, 𝑃_𝑛 )</a:t>
                </a:r>
                <a:r>
                  <a:rPr lang="en-US" b="0" i="0" dirty="0">
                    <a:solidFill>
                      <a:srgbClr val="202122"/>
                    </a:solidFill>
                    <a:effectLst/>
                    <a:latin typeface="Arial" panose="020B0604020202020204" pitchFamily="34" charset="0"/>
                  </a:rPr>
                  <a:t>, the </a:t>
                </a:r>
                <a:r>
                  <a:rPr lang="en-US" b="0" i="1" dirty="0">
                    <a:solidFill>
                      <a:srgbClr val="202122"/>
                    </a:solidFill>
                    <a:effectLst/>
                    <a:latin typeface="Arial" panose="020B0604020202020204" pitchFamily="34" charset="0"/>
                  </a:rPr>
                  <a:t>load</a:t>
                </a:r>
                <a:r>
                  <a:rPr lang="en-US" b="0" i="0" dirty="0">
                    <a:solidFill>
                      <a:srgbClr val="202122"/>
                    </a:solidFill>
                    <a:effectLst/>
                    <a:latin typeface="Arial" panose="020B0604020202020204" pitchFamily="34" charset="0"/>
                  </a:rPr>
                  <a:t> is defined as </a:t>
                </a:r>
                <a:r>
                  <a:rPr lang="en-US" b="0" i="0">
                    <a:solidFill>
                      <a:srgbClr val="202122"/>
                    </a:solidFill>
                    <a:effectLst/>
                    <a:latin typeface="Cambria Math" panose="02040503050406030204" pitchFamily="18" charset="0"/>
                  </a:rPr>
                  <a:t>𝑥_𝑒=#{𝑖:𝑒∈𝑃_𝑖 }</a:t>
                </a:r>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For each element </a:t>
                </a:r>
                <a:r>
                  <a:rPr lang="en-US" b="0" i="0">
                    <a:solidFill>
                      <a:srgbClr val="202122"/>
                    </a:solidFill>
                    <a:effectLst/>
                    <a:latin typeface="Cambria Math" panose="02040503050406030204" pitchFamily="18" charset="0"/>
                  </a:rPr>
                  <a:t>𝑒∈𝐸</a:t>
                </a:r>
                <a:r>
                  <a:rPr lang="en-US" b="0" i="0" dirty="0">
                    <a:solidFill>
                      <a:srgbClr val="202122"/>
                    </a:solidFill>
                    <a:effectLst/>
                    <a:latin typeface="Arial" panose="020B0604020202020204" pitchFamily="34" charset="0"/>
                  </a:rPr>
                  <a:t> there is a </a:t>
                </a:r>
                <a:r>
                  <a:rPr lang="en-US" b="1" i="0" dirty="0">
                    <a:solidFill>
                      <a:srgbClr val="202122"/>
                    </a:solidFill>
                    <a:effectLst/>
                    <a:latin typeface="Arial" panose="020B0604020202020204" pitchFamily="34" charset="0"/>
                  </a:rPr>
                  <a:t>delay function</a:t>
                </a:r>
                <a:r>
                  <a:rPr lang="en-US" b="0" i="0" dirty="0">
                    <a:solidFill>
                      <a:srgbClr val="202122"/>
                    </a:solidFill>
                    <a:effectLst/>
                    <a:latin typeface="Arial" panose="020B0604020202020204" pitchFamily="34" charset="0"/>
                  </a:rPr>
                  <a:t> </a:t>
                </a:r>
                <a:r>
                  <a:rPr lang="en-US" b="0" i="0">
                    <a:solidFill>
                      <a:srgbClr val="202122"/>
                    </a:solidFill>
                    <a:effectLst/>
                    <a:latin typeface="Cambria Math" panose="02040503050406030204" pitchFamily="18" charset="0"/>
                  </a:rPr>
                  <a:t>𝑑_𝑒:</a:t>
                </a:r>
                <a:r>
                  <a:rPr lang="en-US" b="0" i="0">
                    <a:solidFill>
                      <a:srgbClr val="202122"/>
                    </a:solidFill>
                    <a:effectLst/>
                    <a:latin typeface="Cambria Math" panose="02040503050406030204" pitchFamily="18" charset="0"/>
                    <a:ea typeface="Cambria Math" panose="02040503050406030204" pitchFamily="18" charset="0"/>
                  </a:rPr>
                  <a:t>ℕ</a:t>
                </a:r>
                <a:r>
                  <a:rPr lang="en-US" b="0" i="0" dirty="0">
                    <a:solidFill>
                      <a:srgbClr val="202122"/>
                    </a:solidFill>
                    <a:effectLst/>
                    <a:latin typeface="Arial" panose="020B0604020202020204" pitchFamily="34" charset="0"/>
                  </a:rPr>
                  <a:t>⟶</a:t>
                </a:r>
                <a:r>
                  <a:rPr lang="en-US" b="0" i="0" dirty="0">
                    <a:solidFill>
                      <a:srgbClr val="202122"/>
                    </a:solidFill>
                    <a:effectLst/>
                    <a:latin typeface="Cambria Math" panose="02040503050406030204" pitchFamily="18" charset="0"/>
                    <a:ea typeface="Cambria Math" panose="02040503050406030204" pitchFamily="18" charset="0"/>
                  </a:rPr>
                  <a:t>ℝ</a:t>
                </a:r>
                <a:r>
                  <a:rPr lang="en-US" b="0" i="0" dirty="0">
                    <a:solidFill>
                      <a:srgbClr val="202122"/>
                    </a:solidFill>
                    <a:effectLst/>
                    <a:latin typeface="Arial" panose="020B0604020202020204" pitchFamily="34" charset="0"/>
                  </a:rPr>
                  <a:t> (also called </a:t>
                </a:r>
                <a:r>
                  <a:rPr lang="en-US" b="1" i="0" dirty="0">
                    <a:solidFill>
                      <a:srgbClr val="202122"/>
                    </a:solidFill>
                    <a:effectLst/>
                    <a:latin typeface="Arial" panose="020B0604020202020204" pitchFamily="34" charset="0"/>
                  </a:rPr>
                  <a:t>latency function</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cost function</a:t>
                </a:r>
                <a:r>
                  <a:rPr lang="en-US" b="0" i="0" dirty="0">
                    <a:solidFill>
                      <a:srgbClr val="202122"/>
                    </a:solidFill>
                    <a:effectLst/>
                    <a:latin typeface="Arial" panose="020B0604020202020204" pitchFamily="34" charset="0"/>
                  </a:rPr>
                  <a:t>). Given a vector of strategies, the delay on </a:t>
                </a:r>
                <a:r>
                  <a:rPr lang="en-US" b="0" i="0">
                    <a:solidFill>
                      <a:srgbClr val="202122"/>
                    </a:solidFill>
                    <a:effectLst/>
                    <a:latin typeface="Cambria Math" panose="02040503050406030204" pitchFamily="18" charset="0"/>
                  </a:rPr>
                  <a:t>𝑒</a:t>
                </a:r>
                <a:r>
                  <a:rPr lang="en-US" b="0" i="0" dirty="0">
                    <a:solidFill>
                      <a:srgbClr val="202122"/>
                    </a:solidFill>
                    <a:effectLst/>
                    <a:latin typeface="Arial" panose="020B0604020202020204" pitchFamily="34" charset="0"/>
                  </a:rPr>
                  <a:t> is </a:t>
                </a:r>
                <a:r>
                  <a:rPr lang="en-US" b="0" i="0">
                    <a:solidFill>
                      <a:srgbClr val="202122"/>
                    </a:solidFill>
                    <a:effectLst/>
                    <a:latin typeface="Cambria Math" panose="02040503050406030204" pitchFamily="18" charset="0"/>
                  </a:rPr>
                  <a:t>𝑑_𝑒 (𝑥_𝑒 )</a:t>
                </a:r>
                <a:r>
                  <a:rPr lang="en-US" b="0" i="0" dirty="0">
                    <a:solidFill>
                      <a:srgbClr val="202122"/>
                    </a:solidFill>
                    <a:effectLst/>
                    <a:latin typeface="Arial" panose="020B0604020202020204" pitchFamily="34" charset="0"/>
                  </a:rPr>
                  <a:t>. Each </a:t>
                </a:r>
                <a:r>
                  <a:rPr lang="en-US" b="0" i="0">
                    <a:solidFill>
                      <a:srgbClr val="202122"/>
                    </a:solidFill>
                    <a:effectLst/>
                    <a:latin typeface="Cambria Math" panose="02040503050406030204" pitchFamily="18" charset="0"/>
                  </a:rPr>
                  <a:t>𝑑_𝑒</a:t>
                </a:r>
                <a:r>
                  <a:rPr lang="en-US" b="0" i="0" dirty="0">
                    <a:solidFill>
                      <a:srgbClr val="202122"/>
                    </a:solidFill>
                    <a:effectLst/>
                    <a:latin typeface="Arial" panose="020B0604020202020204" pitchFamily="34" charset="0"/>
                  </a:rPr>
                  <a:t> is assumed to be positive and </a:t>
                </a:r>
                <a:r>
                  <a:rPr lang="en-US" b="0" i="0" u="none" strike="noStrike" dirty="0">
                    <a:solidFill>
                      <a:srgbClr val="3366CC"/>
                    </a:solidFill>
                    <a:effectLst/>
                    <a:latin typeface="Arial" panose="020B0604020202020204" pitchFamily="34" charset="0"/>
                    <a:hlinkClick r:id="rId4" tooltip="Monotonic function"/>
                  </a:rPr>
                  <a:t>monotone increasing</a:t>
                </a:r>
                <a:r>
                  <a:rPr lang="en-US" b="0" i="0" dirty="0">
                    <a:solidFill>
                      <a:srgbClr val="202122"/>
                    </a:solidFill>
                    <a:effectLst/>
                    <a:latin typeface="Arial" panose="020B0604020202020204" pitchFamily="34" charset="0"/>
                  </a:rPr>
                  <a:t>.</a:t>
                </a:r>
              </a:p>
              <a:p>
                <a:pPr algn="l">
                  <a:buFont typeface="Arial" panose="020B0604020202020204" pitchFamily="34" charset="0"/>
                  <a:buChar char="•"/>
                </a:pPr>
                <a:r>
                  <a:rPr lang="en-US" b="0" i="0" dirty="0">
                    <a:solidFill>
                      <a:srgbClr val="202122"/>
                    </a:solidFill>
                    <a:effectLst/>
                    <a:latin typeface="Arial" panose="020B0604020202020204" pitchFamily="34" charset="0"/>
                  </a:rPr>
                  <a:t>Given a strategy </a:t>
                </a:r>
                <a:r>
                  <a:rPr lang="en-US" b="0" i="0">
                    <a:solidFill>
                      <a:srgbClr val="202122"/>
                    </a:solidFill>
                    <a:effectLst/>
                    <a:latin typeface="Cambria Math" panose="02040503050406030204" pitchFamily="18" charset="0"/>
                  </a:rPr>
                  <a:t>𝑃_𝑖</a:t>
                </a:r>
                <a:r>
                  <a:rPr lang="en-US" b="0" i="0" dirty="0">
                    <a:solidFill>
                      <a:srgbClr val="202122"/>
                    </a:solidFill>
                    <a:effectLst/>
                    <a:latin typeface="Arial" panose="020B0604020202020204" pitchFamily="34" charset="0"/>
                  </a:rPr>
                  <a:t>, player </a:t>
                </a:r>
                <a:r>
                  <a:rPr lang="en-US" b="0" i="0">
                    <a:solidFill>
                      <a:srgbClr val="202122"/>
                    </a:solidFill>
                    <a:effectLst/>
                    <a:latin typeface="Cambria Math" panose="02040503050406030204" pitchFamily="18" charset="0"/>
                  </a:rPr>
                  <a:t>𝑖</a:t>
                </a:r>
                <a:r>
                  <a:rPr lang="en-US" b="0" i="0" dirty="0">
                    <a:solidFill>
                      <a:srgbClr val="202122"/>
                    </a:solidFill>
                    <a:effectLst/>
                    <a:latin typeface="Arial" panose="020B0604020202020204" pitchFamily="34" charset="0"/>
                  </a:rPr>
                  <a:t> experiences delay </a:t>
                </a:r>
                <a:r>
                  <a:rPr lang="en-US" b="0" i="0">
                    <a:solidFill>
                      <a:srgbClr val="202122"/>
                    </a:solidFill>
                    <a:effectLst/>
                    <a:latin typeface="Cambria Math" panose="02040503050406030204" pitchFamily="18" charset="0"/>
                  </a:rPr>
                  <a:t>∑10_(𝑒∈𝑃_𝑖)▒〖𝑑_𝑒 (𝑥_𝑒 ) 〗</a:t>
                </a:r>
                <a:r>
                  <a:rPr lang="en-US" b="0" i="0" dirty="0">
                    <a:solidFill>
                      <a:srgbClr val="202122"/>
                    </a:solidFill>
                    <a:effectLst/>
                    <a:latin typeface="Arial" panose="020B0604020202020204" pitchFamily="34" charset="0"/>
                  </a:rPr>
                  <a:t>; each player wants to minimize his delay.</a:t>
                </a:r>
              </a:p>
              <a:p>
                <a:pPr algn="l">
                  <a:buFont typeface="Arial" panose="020B0604020202020204" pitchFamily="34" charset="0"/>
                  <a:buChar char="•"/>
                </a:pPr>
                <a:r>
                  <a:rPr lang="en-US" b="0" i="0" dirty="0">
                    <a:solidFill>
                      <a:srgbClr val="202122"/>
                    </a:solidFill>
                    <a:effectLst/>
                    <a:latin typeface="Arial" panose="020B0604020202020204" pitchFamily="34" charset="0"/>
                  </a:rPr>
                  <a:t>A </a:t>
                </a:r>
                <a:r>
                  <a:rPr lang="en-US" b="0" i="1" dirty="0">
                    <a:solidFill>
                      <a:srgbClr val="202122"/>
                    </a:solidFill>
                    <a:effectLst/>
                    <a:latin typeface="Arial" panose="020B0604020202020204" pitchFamily="34" charset="0"/>
                  </a:rPr>
                  <a:t>Nash equilibrium</a:t>
                </a:r>
                <a:r>
                  <a:rPr lang="en-US" b="0" i="0" dirty="0">
                    <a:solidFill>
                      <a:srgbClr val="202122"/>
                    </a:solidFill>
                    <a:effectLst/>
                    <a:latin typeface="Arial" panose="020B0604020202020204" pitchFamily="34" charset="0"/>
                  </a:rPr>
                  <a:t> is a vector of strategies </a:t>
                </a:r>
                <a:r>
                  <a:rPr lang="en-US" b="0" i="0">
                    <a:solidFill>
                      <a:srgbClr val="202122"/>
                    </a:solidFill>
                    <a:effectLst/>
                    <a:latin typeface="Cambria Math" panose="02040503050406030204" pitchFamily="18" charset="0"/>
                  </a:rPr>
                  <a:t>(𝑃_1, 𝑃_2,…, 𝑃_𝑛 )</a:t>
                </a:r>
                <a:r>
                  <a:rPr lang="en-US" b="0" i="0" dirty="0">
                    <a:solidFill>
                      <a:srgbClr val="202122"/>
                    </a:solidFill>
                    <a:effectLst/>
                    <a:latin typeface="Arial" panose="020B0604020202020204" pitchFamily="34" charset="0"/>
                  </a:rPr>
                  <a:t> such that, for each player </a:t>
                </a:r>
                <a:r>
                  <a:rPr lang="en-US" b="0" i="0">
                    <a:solidFill>
                      <a:srgbClr val="202122"/>
                    </a:solidFill>
                    <a:effectLst/>
                    <a:latin typeface="Cambria Math" panose="02040503050406030204" pitchFamily="18" charset="0"/>
                  </a:rPr>
                  <a:t>𝑖</a:t>
                </a:r>
                <a:r>
                  <a:rPr lang="en-US" b="0" i="0" dirty="0">
                    <a:solidFill>
                      <a:srgbClr val="202122"/>
                    </a:solidFill>
                    <a:effectLst/>
                    <a:latin typeface="Arial" panose="020B0604020202020204" pitchFamily="34" charset="0"/>
                  </a:rPr>
                  <a:t>, replacing </a:t>
                </a:r>
                <a:r>
                  <a:rPr lang="en-US" b="0" i="0">
                    <a:solidFill>
                      <a:srgbClr val="202122"/>
                    </a:solidFill>
                    <a:effectLst/>
                    <a:latin typeface="Cambria Math" panose="02040503050406030204" pitchFamily="18" charset="0"/>
                  </a:rPr>
                  <a:t>𝑃_𝑖</a:t>
                </a:r>
                <a:r>
                  <a:rPr lang="en-US" b="0" i="0" dirty="0">
                    <a:solidFill>
                      <a:srgbClr val="202122"/>
                    </a:solidFill>
                    <a:effectLst/>
                    <a:latin typeface="Arial" panose="020B0604020202020204" pitchFamily="34" charset="0"/>
                  </a:rPr>
                  <a:t> with a different strategy </a:t>
                </a:r>
                <a:r>
                  <a:rPr lang="en-US" b="0" i="0">
                    <a:solidFill>
                      <a:srgbClr val="202122"/>
                    </a:solidFill>
                    <a:effectLst/>
                    <a:latin typeface="Cambria Math" panose="02040503050406030204" pitchFamily="18" charset="0"/>
                  </a:rPr>
                  <a:t>𝑄_𝑖</a:t>
                </a:r>
                <a:r>
                  <a:rPr lang="en-US" b="0" i="0" dirty="0">
                    <a:solidFill>
                      <a:srgbClr val="202122"/>
                    </a:solidFill>
                    <a:effectLst/>
                    <a:latin typeface="Arial" panose="020B0604020202020204" pitchFamily="34" charset="0"/>
                  </a:rPr>
                  <a:t> would not decrease the delay experienced by </a:t>
                </a:r>
                <a:r>
                  <a:rPr lang="en-US" b="0" i="0">
                    <a:solidFill>
                      <a:srgbClr val="202122"/>
                    </a:solidFill>
                    <a:effectLst/>
                    <a:latin typeface="Cambria Math" panose="02040503050406030204" pitchFamily="18" charset="0"/>
                  </a:rPr>
                  <a:t>𝑖</a:t>
                </a:r>
                <a:r>
                  <a:rPr lang="en-US" b="0" i="0" dirty="0">
                    <a:solidFill>
                      <a:srgbClr val="202122"/>
                    </a:solidFill>
                    <a:effectLst/>
                    <a:latin typeface="Arial" panose="020B0604020202020204" pitchFamily="34" charset="0"/>
                  </a:rPr>
                  <a:t>.</a:t>
                </a:r>
              </a:p>
              <a:p>
                <a:endParaRPr dirty="0"/>
              </a:p>
            </p:txBody>
          </p:sp>
        </mc:Fallback>
      </mc:AlternateContent>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Population games are a class of games that are played in large populations where all players are considered indistinguishable. In these games, each player selects a strategy from the same set of available strategies, and the only aspect that matters is the proportion of the population that chooses each strategy.</a:t>
            </a:r>
          </a:p>
          <a:p>
            <a:pPr algn="l"/>
            <a:r>
              <a:rPr lang="en-US" b="0" i="0" dirty="0">
                <a:solidFill>
                  <a:srgbClr val="FFFFFF"/>
                </a:solidFill>
                <a:effectLst/>
                <a:latin typeface="Söhne"/>
              </a:rPr>
              <a:t>Key characteristics of population games include:</a:t>
            </a:r>
          </a:p>
          <a:p>
            <a:pPr algn="l">
              <a:buFont typeface="+mj-lt"/>
              <a:buAutoNum type="arabicPeriod"/>
            </a:pPr>
            <a:r>
              <a:rPr lang="en-US" b="1" i="0" dirty="0">
                <a:solidFill>
                  <a:srgbClr val="FFFFFF"/>
                </a:solidFill>
                <a:effectLst/>
                <a:latin typeface="Söhne"/>
              </a:rPr>
              <a:t>Indistinguishable Players</a:t>
            </a:r>
            <a:r>
              <a:rPr lang="en-US" b="0" i="0" dirty="0">
                <a:solidFill>
                  <a:srgbClr val="FFFFFF"/>
                </a:solidFill>
                <a:effectLst/>
                <a:latin typeface="Söhne"/>
              </a:rPr>
              <a:t>: In population games, individual players are treated as indistinguishable entities. This means that there is no distinction between individual players, and the focus is on the aggregate behavior of the population as a whole.</a:t>
            </a:r>
          </a:p>
          <a:p>
            <a:pPr algn="l">
              <a:buFont typeface="+mj-lt"/>
              <a:buAutoNum type="arabicPeriod"/>
            </a:pPr>
            <a:r>
              <a:rPr lang="en-US" b="1" i="0" dirty="0">
                <a:solidFill>
                  <a:srgbClr val="FFFFFF"/>
                </a:solidFill>
                <a:effectLst/>
                <a:latin typeface="Söhne"/>
              </a:rPr>
              <a:t>Uniform Strategy Sets</a:t>
            </a:r>
            <a:r>
              <a:rPr lang="en-US" b="0" i="0" dirty="0">
                <a:solidFill>
                  <a:srgbClr val="FFFFFF"/>
                </a:solidFill>
                <a:effectLst/>
                <a:latin typeface="Söhne"/>
              </a:rPr>
              <a:t>: All players in the population have access to the same set of strategies. There is no differentiation in strategy options among individual players.</a:t>
            </a:r>
          </a:p>
          <a:p>
            <a:pPr algn="l">
              <a:buFont typeface="+mj-lt"/>
              <a:buAutoNum type="arabicPeriod"/>
            </a:pPr>
            <a:r>
              <a:rPr lang="en-US" b="1" i="0" dirty="0">
                <a:solidFill>
                  <a:srgbClr val="FFFFFF"/>
                </a:solidFill>
                <a:effectLst/>
                <a:latin typeface="Söhne"/>
              </a:rPr>
              <a:t>Proportional Representation</a:t>
            </a:r>
            <a:r>
              <a:rPr lang="en-US" b="0" i="0" dirty="0">
                <a:solidFill>
                  <a:srgbClr val="FFFFFF"/>
                </a:solidFill>
                <a:effectLst/>
                <a:latin typeface="Söhne"/>
              </a:rPr>
              <a:t>: The outcome of the game depends on the proportion of the population that adopts each strategy. It doesn't matter which specific individuals choose which strategy; what matters is the relative frequency of each strategy in the population.</a:t>
            </a:r>
          </a:p>
          <a:p>
            <a:pPr algn="l">
              <a:buFont typeface="+mj-lt"/>
              <a:buAutoNum type="arabicPeriod"/>
            </a:pPr>
            <a:r>
              <a:rPr lang="en-US" b="1" i="0" dirty="0">
                <a:solidFill>
                  <a:srgbClr val="FFFFFF"/>
                </a:solidFill>
                <a:effectLst/>
                <a:latin typeface="Söhne"/>
              </a:rPr>
              <a:t>Aggregate Behavior</a:t>
            </a:r>
            <a:r>
              <a:rPr lang="en-US" b="0" i="0" dirty="0">
                <a:solidFill>
                  <a:srgbClr val="FFFFFF"/>
                </a:solidFill>
                <a:effectLst/>
                <a:latin typeface="Söhne"/>
              </a:rPr>
              <a:t>: Population games are concerned with the collective or aggregate behavior of the population. This approach simplifies the analysis by considering how the distribution of strategies changes over time without delving into individual-level interactions.</a:t>
            </a:r>
          </a:p>
          <a:p>
            <a:pPr algn="l"/>
            <a:r>
              <a:rPr lang="en-US" b="0" i="0" dirty="0">
                <a:solidFill>
                  <a:srgbClr val="FFFFFF"/>
                </a:solidFill>
                <a:effectLst/>
                <a:latin typeface="Söhne"/>
              </a:rPr>
              <a:t>Regarding your observation, you are correct that congestion games are a specific type of population game. Congestion games are often used to model scenarios where multiple users or agents share limited resources, such as network bandwidth or transportation routes. In congestion games, the strategies represent choices of routes or resources, and the payoff for each player depends on the congestion level of their chosen option, which, in turn, is influenced by the choices made by the entire population.</a:t>
            </a:r>
          </a:p>
          <a:p>
            <a:pPr algn="l"/>
            <a:r>
              <a:rPr lang="en-US" b="0" i="0" dirty="0">
                <a:solidFill>
                  <a:srgbClr val="FFFFFF"/>
                </a:solidFill>
                <a:effectLst/>
                <a:latin typeface="Söhne"/>
              </a:rPr>
              <a:t>Overall, population games are a valuable framework for studying situations where individual interactions are too numerous to analyze on an individual basis, and instead, the focus is on understanding the aggregate behavior and dynamics of large populations of indistinguishable players making strategic choices.</a:t>
            </a:r>
          </a:p>
          <a:p>
            <a:br>
              <a:rPr lang="en-US" b="0" i="0" dirty="0">
                <a:solidFill>
                  <a:srgbClr val="FFFFFF"/>
                </a:solidFill>
                <a:effectLst/>
                <a:latin typeface="Söhne"/>
              </a:rPr>
            </a:b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buFont typeface="+mj-lt"/>
              <a:buNone/>
            </a:pPr>
            <a:r>
              <a:rPr lang="en-US" b="0" i="0" dirty="0">
                <a:solidFill>
                  <a:srgbClr val="D1D5DB"/>
                </a:solidFill>
                <a:effectLst/>
                <a:latin typeface="Söhne"/>
              </a:rPr>
              <a:t>Many congestion games are also potential games</a:t>
            </a:r>
          </a:p>
          <a:p>
            <a:pPr algn="l">
              <a:buFont typeface="+mj-lt"/>
              <a:buNone/>
            </a:pPr>
            <a:endParaRPr lang="en-US" b="1" i="0" dirty="0">
              <a:solidFill>
                <a:srgbClr val="FFFFFF"/>
              </a:solidFill>
              <a:effectLst/>
              <a:latin typeface="Söhne"/>
            </a:endParaRPr>
          </a:p>
          <a:p>
            <a:pPr algn="l">
              <a:buFont typeface="+mj-lt"/>
              <a:buAutoNum type="arabicPeriod"/>
            </a:pPr>
            <a:r>
              <a:rPr lang="en-US" b="1" i="0" dirty="0">
                <a:solidFill>
                  <a:srgbClr val="FFFFFF"/>
                </a:solidFill>
                <a:effectLst/>
                <a:latin typeface="Söhne"/>
              </a:rPr>
              <a:t>Game G = (N, A, u)</a:t>
            </a:r>
            <a:r>
              <a:rPr lang="en-US" b="0" i="0" dirty="0">
                <a:solidFill>
                  <a:srgbClr val="FFFFFF"/>
                </a:solidFill>
                <a:effectLst/>
                <a:latin typeface="Söhne"/>
              </a:rPr>
              <a:t>:</a:t>
            </a:r>
          </a:p>
          <a:p>
            <a:pPr marL="742950" lvl="1" indent="-285750" algn="l">
              <a:buFont typeface="+mj-lt"/>
              <a:buAutoNum type="arabicPeriod"/>
            </a:pPr>
            <a:r>
              <a:rPr lang="en-US" b="0" i="0" dirty="0">
                <a:solidFill>
                  <a:srgbClr val="FFFFFF"/>
                </a:solidFill>
                <a:effectLst/>
                <a:latin typeface="Söhne"/>
              </a:rPr>
              <a:t>N: The set of players (agents) in the game.</a:t>
            </a:r>
          </a:p>
          <a:p>
            <a:pPr marL="742950" lvl="1" indent="-285750" algn="l">
              <a:buFont typeface="+mj-lt"/>
              <a:buAutoNum type="arabicPeriod"/>
            </a:pPr>
            <a:r>
              <a:rPr lang="en-US" b="0" i="0" dirty="0">
                <a:solidFill>
                  <a:srgbClr val="FFFFFF"/>
                </a:solidFill>
                <a:effectLst/>
                <a:latin typeface="Söhne"/>
              </a:rPr>
              <a:t>A: The set of action profiles, where each player can choose an action from their respective action set.</a:t>
            </a:r>
          </a:p>
          <a:p>
            <a:pPr marL="742950" lvl="1" indent="-285750" algn="l">
              <a:buFont typeface="+mj-lt"/>
              <a:buAutoNum type="arabicPeriod"/>
            </a:pPr>
            <a:r>
              <a:rPr lang="en-US" b="0" i="0" dirty="0">
                <a:solidFill>
                  <a:srgbClr val="FFFFFF"/>
                </a:solidFill>
                <a:effectLst/>
                <a:latin typeface="Söhne"/>
              </a:rPr>
              <a:t>u: The utility function that maps action profiles to payoffs for each player, indicating how each player's payoff depends on the chosen actions of all players.</a:t>
            </a:r>
          </a:p>
          <a:p>
            <a:pPr algn="l">
              <a:buFont typeface="+mj-lt"/>
              <a:buAutoNum type="arabicPeriod"/>
            </a:pPr>
            <a:r>
              <a:rPr lang="en-US" b="1" i="0" dirty="0">
                <a:solidFill>
                  <a:srgbClr val="FFFFFF"/>
                </a:solidFill>
                <a:effectLst/>
                <a:latin typeface="Söhne"/>
              </a:rPr>
              <a:t>Potential Function P : A ↦ ℝ</a:t>
            </a:r>
            <a:r>
              <a:rPr lang="en-US" b="0" i="0" dirty="0">
                <a:solidFill>
                  <a:srgbClr val="FFFFFF"/>
                </a:solidFill>
                <a:effectLst/>
                <a:latin typeface="Söhne"/>
              </a:rPr>
              <a:t>:</a:t>
            </a:r>
          </a:p>
          <a:p>
            <a:pPr marL="742950" lvl="1" indent="-285750" algn="l">
              <a:buFont typeface="+mj-lt"/>
              <a:buAutoNum type="arabicPeriod"/>
            </a:pPr>
            <a:r>
              <a:rPr lang="en-US" b="0" i="0" dirty="0">
                <a:solidFill>
                  <a:srgbClr val="FFFFFF"/>
                </a:solidFill>
                <a:effectLst/>
                <a:latin typeface="Söhne"/>
              </a:rPr>
              <a:t>P is a function that maps action profiles (combinations of actions chosen by all players) to real numbers (ℝ). It is a single function that characterizes the potential of different action profiles in the game.</a:t>
            </a:r>
          </a:p>
          <a:p>
            <a:pPr algn="l"/>
            <a:endParaRPr lang="en-US" b="0" i="0" dirty="0">
              <a:solidFill>
                <a:srgbClr val="FFFFFF"/>
              </a:solidFill>
              <a:effectLst/>
              <a:latin typeface="Söhne"/>
            </a:endParaRPr>
          </a:p>
          <a:p>
            <a:pPr algn="l"/>
            <a:r>
              <a:rPr lang="en-US" b="0" i="0" dirty="0">
                <a:solidFill>
                  <a:srgbClr val="FFFFFF"/>
                </a:solidFill>
                <a:effectLst/>
                <a:latin typeface="Söhne"/>
              </a:rPr>
              <a:t>The condition for a game G to be a potential game is as follows:</a:t>
            </a:r>
          </a:p>
          <a:p>
            <a:pPr algn="l">
              <a:buFont typeface="Arial" panose="020B0604020202020204" pitchFamily="34" charset="0"/>
              <a:buChar char="•"/>
            </a:pPr>
            <a:r>
              <a:rPr lang="en-US" b="0" i="0" dirty="0">
                <a:solidFill>
                  <a:srgbClr val="FFFFFF"/>
                </a:solidFill>
                <a:effectLst/>
                <a:latin typeface="Söhne"/>
              </a:rPr>
              <a:t>For all players i ∈ ℕ (i.e., for each player individually),</a:t>
            </a:r>
          </a:p>
          <a:p>
            <a:pPr algn="l">
              <a:buFont typeface="Arial" panose="020B0604020202020204" pitchFamily="34" charset="0"/>
              <a:buChar char="•"/>
            </a:pPr>
            <a:r>
              <a:rPr lang="en-US" b="0" i="0" dirty="0">
                <a:solidFill>
                  <a:srgbClr val="FFFFFF"/>
                </a:solidFill>
                <a:effectLst/>
                <a:latin typeface="Söhne"/>
              </a:rPr>
              <a:t>For all actions ai and ai′ in the action set Ai of player i,</a:t>
            </a:r>
          </a:p>
          <a:p>
            <a:pPr algn="l">
              <a:buFont typeface="Arial" panose="020B0604020202020204" pitchFamily="34" charset="0"/>
              <a:buChar char="•"/>
            </a:pPr>
            <a:r>
              <a:rPr lang="en-US" b="0" i="0" dirty="0">
                <a:solidFill>
                  <a:srgbClr val="FFFFFF"/>
                </a:solidFill>
                <a:effectLst/>
                <a:latin typeface="Söhne"/>
              </a:rPr>
              <a:t>For all action profiles a−i in the action profile set A−i (representing the actions of all other players except player i),</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The condition essentially states that for each player i, for any two actions ai and ai′ that player i can take (while keeping the actions of other players fixed), the difference in the utility that player i obtains from choosing ai and ai′ is equal to the difference in the potential function values associated with ai and ai′.</a:t>
            </a:r>
          </a:p>
          <a:p>
            <a:pPr algn="l"/>
            <a:endParaRPr lang="en-US" b="0" i="0" dirty="0">
              <a:solidFill>
                <a:srgbClr val="FFFFFF"/>
              </a:solidFill>
              <a:effectLst/>
              <a:latin typeface="Söhne"/>
            </a:endParaRPr>
          </a:p>
          <a:p>
            <a:pPr algn="l"/>
            <a:r>
              <a:rPr lang="en-US" b="0" i="0" dirty="0">
                <a:solidFill>
                  <a:srgbClr val="FFFFFF"/>
                </a:solidFill>
                <a:effectLst/>
                <a:latin typeface="Söhne"/>
              </a:rPr>
              <a:t>In simpler terms, in a potential game, changes in player i's utility caused by their own action choices are mirrored by corresponding changes in the potential function. This property suggests a certain level of structure and consistency in the game's utility function, making it amenable to analysis and solution techniques specific to potential games.</a:t>
            </a:r>
          </a:p>
          <a:p>
            <a:pPr algn="l"/>
            <a:endParaRPr lang="en-US" b="0" i="0" dirty="0">
              <a:solidFill>
                <a:srgbClr val="FFFFFF"/>
              </a:solidFill>
              <a:effectLst/>
              <a:latin typeface="Söhne"/>
            </a:endParaRPr>
          </a:p>
          <a:p>
            <a:pPr algn="l"/>
            <a:r>
              <a:rPr lang="en-US" b="0" i="0" dirty="0">
                <a:solidFill>
                  <a:srgbClr val="FFFFFF"/>
                </a:solidFill>
                <a:effectLst/>
                <a:latin typeface="Söhne"/>
              </a:rPr>
              <a:t>Potential games are of interest in game theory due to their mathematical properties, which can simplify the analysis of equilibria. Specifically, potential games have the property that pure Nash equilibria coincide with global optima of the potential function. This property can facilitate the study and solution of such games.</a:t>
            </a:r>
          </a:p>
          <a:p>
            <a:br>
              <a:rPr lang="en-US" b="0" i="0" dirty="0">
                <a:solidFill>
                  <a:srgbClr val="FFFFFF"/>
                </a:solidFill>
                <a:effectLst/>
                <a:latin typeface="Söhne"/>
              </a:rPr>
            </a:b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term "Myopic Best-Response" is a concept in game theory, particularly in the context of repeated or dynamic games. It refers to a player's strategy of responding to the current situation without considering the long-term consequences or without trying to optimize their overall performance.</a:t>
            </a:r>
          </a:p>
          <a:p>
            <a:pPr algn="l"/>
            <a:r>
              <a:rPr lang="en-US" b="0" i="0" dirty="0">
                <a:solidFill>
                  <a:srgbClr val="FFFFFF"/>
                </a:solidFill>
                <a:effectLst/>
                <a:latin typeface="Söhne"/>
              </a:rPr>
              <a:t>Here's a more detailed explanation:</a:t>
            </a:r>
          </a:p>
          <a:p>
            <a:pPr algn="l">
              <a:buFont typeface="+mj-lt"/>
              <a:buAutoNum type="arabicPeriod"/>
            </a:pPr>
            <a:r>
              <a:rPr lang="en-US" b="1" i="0" dirty="0">
                <a:solidFill>
                  <a:srgbClr val="FFFFFF"/>
                </a:solidFill>
                <a:effectLst/>
                <a:latin typeface="Söhne"/>
              </a:rPr>
              <a:t>Myopic Strategy</a:t>
            </a:r>
            <a:r>
              <a:rPr lang="en-US" b="0" i="0" dirty="0">
                <a:solidFill>
                  <a:srgbClr val="FFFFFF"/>
                </a:solidFill>
                <a:effectLst/>
                <a:latin typeface="Söhne"/>
              </a:rPr>
              <a:t>: When a player employs a myopic best-response strategy, they make decisions solely based on their current information, immediate payoff, or the actions of other players in the current round or stage of the game. They do not consider how their current decision might impact future rounds or the overall outcome of the game.</a:t>
            </a:r>
          </a:p>
          <a:p>
            <a:pPr algn="l">
              <a:buFont typeface="+mj-lt"/>
              <a:buAutoNum type="arabicPeriod"/>
            </a:pPr>
            <a:r>
              <a:rPr lang="en-US" b="1" i="0" dirty="0">
                <a:solidFill>
                  <a:srgbClr val="FFFFFF"/>
                </a:solidFill>
                <a:effectLst/>
                <a:latin typeface="Söhne"/>
              </a:rPr>
              <a:t>Immediate Optimization</a:t>
            </a:r>
            <a:r>
              <a:rPr lang="en-US" b="0" i="0" dirty="0">
                <a:solidFill>
                  <a:srgbClr val="FFFFFF"/>
                </a:solidFill>
                <a:effectLst/>
                <a:latin typeface="Söhne"/>
              </a:rPr>
              <a:t>: The myopic best-response strategy is focused on immediate optimization. Players using this strategy aim to maximize their payoff or utility in the current round without taking into account the possibility of better outcomes in the future.</a:t>
            </a:r>
          </a:p>
          <a:p>
            <a:pPr algn="l">
              <a:buFont typeface="+mj-lt"/>
              <a:buAutoNum type="arabicPeriod"/>
            </a:pPr>
            <a:r>
              <a:rPr lang="en-US" b="1" i="0" dirty="0">
                <a:solidFill>
                  <a:srgbClr val="FFFFFF"/>
                </a:solidFill>
                <a:effectLst/>
                <a:latin typeface="Söhne"/>
              </a:rPr>
              <a:t>Limited Rationality</a:t>
            </a:r>
            <a:r>
              <a:rPr lang="en-US" b="0" i="0" dirty="0">
                <a:solidFill>
                  <a:srgbClr val="FFFFFF"/>
                </a:solidFill>
                <a:effectLst/>
                <a:latin typeface="Söhne"/>
              </a:rPr>
              <a:t>: Myopic best-response strategies are often associated with bounded rationality, where players have limited computational resources or cognitive abilities. Instead of solving complex optimization problems, they simplify their decision-making by responding to the most recent information.</a:t>
            </a:r>
          </a:p>
          <a:p>
            <a:pPr algn="l">
              <a:buFont typeface="+mj-lt"/>
              <a:buAutoNum type="arabicPeriod"/>
            </a:pPr>
            <a:r>
              <a:rPr lang="en-US" b="1" i="0" dirty="0">
                <a:solidFill>
                  <a:srgbClr val="FFFFFF"/>
                </a:solidFill>
                <a:effectLst/>
                <a:latin typeface="Söhne"/>
              </a:rPr>
              <a:t>Example</a:t>
            </a:r>
            <a:r>
              <a:rPr lang="en-US" b="0" i="0" dirty="0">
                <a:solidFill>
                  <a:srgbClr val="FFFFFF"/>
                </a:solidFill>
                <a:effectLst/>
                <a:latin typeface="Söhne"/>
              </a:rPr>
              <a:t>: In repeated games, a player employing a myopic best-response strategy might choose actions in each round that maximize their immediate gain, even if such actions lead to suboptimal long-term outcomes. They do not engage in strategic planning or consider how their actions might affect the behavior of other players in future rounds.</a:t>
            </a:r>
          </a:p>
          <a:p>
            <a:pPr algn="l"/>
            <a:r>
              <a:rPr lang="en-US" b="0" i="0" dirty="0">
                <a:solidFill>
                  <a:srgbClr val="FFFFFF"/>
                </a:solidFill>
                <a:effectLst/>
                <a:latin typeface="Söhne"/>
              </a:rPr>
              <a:t>It's important to note that myopic best-response strategies are not always the best approach, especially in games with repeated interactions or where long-term planning can lead to more favorable outcomes. In some cases, players may use myopic strategies due to computational limitations or a lack of information about the long-term consequences of their actions.</a:t>
            </a:r>
          </a:p>
          <a:p>
            <a:pPr algn="l"/>
            <a:r>
              <a:rPr lang="en-US" b="0" i="0" dirty="0">
                <a:solidFill>
                  <a:srgbClr val="FFFFFF"/>
                </a:solidFill>
                <a:effectLst/>
                <a:latin typeface="Söhne"/>
              </a:rPr>
              <a:t>In contrast to myopic strategies, other players may adopt more sophisticated strategies, such as tit-for-tat in repeated games, which involve considering the history of interactions and making decisions based on both current and past information. These strategies aim for better overall outcomes but may require more complex decision-making processes.</a:t>
            </a:r>
          </a:p>
          <a:p>
            <a:br>
              <a:rPr lang="en-US" b="0" i="0" dirty="0">
                <a:solidFill>
                  <a:srgbClr val="FFFFFF"/>
                </a:solidFill>
                <a:effectLst/>
                <a:latin typeface="Söhne"/>
              </a:rPr>
            </a:b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Just conclude the Nash AB and BA are pro-social (good for the group)</a:t>
            </a:r>
            <a:endParaRPr dirty="0"/>
          </a:p>
        </p:txBody>
      </p:sp>
    </p:spTree>
    <p:extLst>
      <p:ext uri="{BB962C8B-B14F-4D97-AF65-F5344CB8AC3E}">
        <p14:creationId xmlns:p14="http://schemas.microsoft.com/office/powerpoint/2010/main" val="2229641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b="1" i="1" dirty="0">
                    <a:latin typeface="Cambria Math" panose="02040503050406030204" pitchFamily="18" charset="0"/>
                  </a:rPr>
                  <a:t>Left</a:t>
                </a:r>
                <a:r>
                  <a:rPr lang="en-US" b="0" i="1" dirty="0">
                    <a:latin typeface="Cambria Math" panose="02040503050406030204" pitchFamily="18" charset="0"/>
                  </a:rPr>
                  <a:t>: </a:t>
                </a: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100</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100</m:t>
                        </m:r>
                      </m:den>
                    </m:f>
                    <m:r>
                      <a:rPr lang="en-US" b="0" i="1" smtClean="0">
                        <a:latin typeface="Cambria Math" panose="02040503050406030204" pitchFamily="18" charset="0"/>
                      </a:rPr>
                      <m:t>=</m:t>
                    </m:r>
                    <m:r>
                      <a:rPr lang="en-US" b="0" i="1" smtClean="0">
                        <a:latin typeface="Cambria Math" panose="02040503050406030204" pitchFamily="18" charset="0"/>
                      </a:rPr>
                      <m:t>45</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100</m:t>
                        </m:r>
                      </m:den>
                    </m:f>
                  </m:oMath>
                </a14:m>
                <a:r>
                  <a:rPr lang="en-US" b="0" i="1" dirty="0">
                    <a:latin typeface="Cambria Math" panose="02040503050406030204" pitchFamily="18" charset="0"/>
                  </a:rPr>
                  <a:t> </a:t>
                </a:r>
              </a:p>
              <a:p>
                <a:endParaRPr lang="en-US" b="0" i="1" dirty="0">
                  <a:latin typeface="Cambria Math" panose="02040503050406030204" pitchFamily="18" charset="0"/>
                </a:endParaRP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𝑥</m:t>
                        </m:r>
                      </m:num>
                      <m:den>
                        <m:r>
                          <a:rPr lang="en-US" b="0" i="1" smtClean="0">
                            <a:latin typeface="Cambria Math" panose="02040503050406030204" pitchFamily="18" charset="0"/>
                          </a:rPr>
                          <m:t>100</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4500</m:t>
                        </m:r>
                        <m:r>
                          <a:rPr lang="en-US" b="0" i="1" smtClean="0">
                            <a:latin typeface="Cambria Math" panose="02040503050406030204" pitchFamily="18" charset="0"/>
                          </a:rPr>
                          <m:t>+</m:t>
                        </m:r>
                        <m:r>
                          <a:rPr lang="en-US" b="0" i="1" smtClean="0">
                            <a:latin typeface="Cambria Math" panose="02040503050406030204" pitchFamily="18" charset="0"/>
                          </a:rPr>
                          <m:t>𝑥</m:t>
                        </m:r>
                      </m:num>
                      <m:den>
                        <m:r>
                          <a:rPr lang="en-US" b="0" i="1" smtClean="0">
                            <a:latin typeface="Cambria Math" panose="02040503050406030204" pitchFamily="18" charset="0"/>
                          </a:rPr>
                          <m:t>100</m:t>
                        </m:r>
                      </m:den>
                    </m:f>
                  </m:oMath>
                </a14:m>
                <a:r>
                  <a:rPr lang="en-US" dirty="0"/>
                  <a:t> </a:t>
                </a:r>
              </a:p>
              <a:p>
                <a:endParaRPr lang="en-US" dirty="0"/>
              </a:p>
              <a:p>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4500</m:t>
                    </m:r>
                    <m:r>
                      <a:rPr lang="en-US" b="0" i="1" smtClean="0">
                        <a:latin typeface="Cambria Math" panose="02040503050406030204" pitchFamily="18" charset="0"/>
                      </a:rPr>
                      <m:t>+</m:t>
                    </m:r>
                    <m:r>
                      <a:rPr lang="en-US" b="0" i="1" smtClean="0">
                        <a:latin typeface="Cambria Math" panose="02040503050406030204" pitchFamily="18" charset="0"/>
                      </a:rPr>
                      <m:t>𝑥</m:t>
                    </m:r>
                  </m:oMath>
                </a14:m>
                <a:r>
                  <a:rPr lang="en-US" dirty="0"/>
                  <a:t> </a:t>
                </a:r>
              </a:p>
              <a:p>
                <a:endParaRPr lang="en-US" dirty="0"/>
              </a:p>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4500</m:t>
                    </m:r>
                  </m:oMath>
                </a14:m>
                <a:r>
                  <a:rPr lang="en-US" dirty="0"/>
                  <a:t> </a:t>
                </a:r>
              </a:p>
              <a:p>
                <a:r>
                  <a:rPr lang="en-US" dirty="0"/>
                  <a:t>-------------------------- to find equilibrium</a:t>
                </a:r>
              </a:p>
              <a:p>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num>
                      <m:den>
                        <m:r>
                          <a:rPr lang="en-US" b="0" i="1" smtClean="0">
                            <a:latin typeface="Cambria Math" panose="02040503050406030204" pitchFamily="18" charset="0"/>
                          </a:rPr>
                          <m:t>100</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num>
                      <m:den>
                        <m:r>
                          <a:rPr lang="en-US" b="0" i="1" smtClean="0">
                            <a:latin typeface="Cambria Math" panose="02040503050406030204" pitchFamily="18" charset="0"/>
                          </a:rPr>
                          <m:t>100</m:t>
                        </m:r>
                      </m:den>
                    </m:f>
                    <m:r>
                      <a:rPr lang="en-US" b="0" i="1" smtClean="0">
                        <a:latin typeface="Cambria Math" panose="02040503050406030204" pitchFamily="18" charset="0"/>
                      </a:rPr>
                      <m:t>=</m:t>
                    </m:r>
                    <m:r>
                      <a:rPr lang="en-US" b="0" i="1" smtClean="0">
                        <a:latin typeface="Cambria Math" panose="02040503050406030204" pitchFamily="18" charset="0"/>
                      </a:rPr>
                      <m:t>45</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num>
                      <m:den>
                        <m:r>
                          <a:rPr lang="en-US" b="0" i="1" smtClean="0">
                            <a:latin typeface="Cambria Math" panose="02040503050406030204" pitchFamily="18" charset="0"/>
                          </a:rPr>
                          <m:t>100</m:t>
                        </m:r>
                      </m:den>
                    </m:f>
                  </m:oMath>
                </a14:m>
                <a:r>
                  <a:rPr lang="en-US" b="0" i="1" dirty="0">
                    <a:latin typeface="Cambria Math" panose="02040503050406030204" pitchFamily="18" charset="0"/>
                  </a:rPr>
                  <a:t> </a:t>
                </a:r>
              </a:p>
              <a:p>
                <a:endParaRPr lang="en-US" b="0" i="1" dirty="0">
                  <a:latin typeface="Cambria Math" panose="02040503050406030204" pitchFamily="18" charset="0"/>
                </a:endParaRP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num>
                      <m:den>
                        <m:r>
                          <a:rPr lang="en-US" b="0" i="1" smtClean="0">
                            <a:latin typeface="Cambria Math" panose="02040503050406030204" pitchFamily="18" charset="0"/>
                          </a:rPr>
                          <m:t>100</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4500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num>
                      <m:den>
                        <m:r>
                          <a:rPr lang="en-US" b="0" i="1" smtClean="0">
                            <a:latin typeface="Cambria Math" panose="02040503050406030204" pitchFamily="18" charset="0"/>
                          </a:rPr>
                          <m:t>100</m:t>
                        </m:r>
                      </m:den>
                    </m:f>
                  </m:oMath>
                </a14:m>
                <a:r>
                  <a:rPr lang="en-US" dirty="0"/>
                  <a:t> </a:t>
                </a:r>
              </a:p>
              <a:p>
                <a:endParaRPr lang="en-US" dirty="0"/>
              </a:p>
              <a:p>
                <a14:m>
                  <m:oMath xmlns:m="http://schemas.openxmlformats.org/officeDocument/2006/math">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4500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a:p>
                <a:endParaRPr lang="en-US" dirty="0"/>
              </a:p>
              <a:p>
                <a:r>
                  <a:rPr lang="en-US" dirty="0"/>
                  <a:t>We have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4000</m:t>
                    </m:r>
                  </m:oMath>
                </a14:m>
                <a:r>
                  <a:rPr lang="en-US" dirty="0"/>
                  <a:t>,</a:t>
                </a:r>
              </a:p>
              <a:p>
                <a:endParaRPr lang="en-US" dirty="0"/>
              </a:p>
              <a:p>
                <a14:m>
                  <m:oMath xmlns:m="http://schemas.openxmlformats.org/officeDocument/2006/math">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4500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=&gt; </a:t>
                </a:r>
                <a14:m>
                  <m:oMath xmlns:m="http://schemas.openxmlformats.org/officeDocument/2006/math">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4500</m:t>
                    </m:r>
                    <m:r>
                      <a:rPr lang="en-US" b="0" i="1" smtClean="0">
                        <a:latin typeface="Cambria Math" panose="02040503050406030204" pitchFamily="18" charset="0"/>
                      </a:rPr>
                      <m:t>+</m:t>
                    </m:r>
                    <m:r>
                      <a:rPr lang="en-US" b="0" i="1" smtClean="0">
                        <a:latin typeface="Cambria Math" panose="02040503050406030204" pitchFamily="18" charset="0"/>
                      </a:rPr>
                      <m:t>4000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=&gt;</a:t>
                </a:r>
                <a:r>
                  <a:rPr lang="en-US" baseline="0" dirty="0"/>
                  <a:t> </a:t>
                </a:r>
                <a14:m>
                  <m:oMath xmlns:m="http://schemas.openxmlformats.org/officeDocument/2006/math">
                    <m:sSub>
                      <m:sSubPr>
                        <m:ctrlPr>
                          <a:rPr lang="en-US" b="0" i="1" baseline="0" smtClean="0">
                            <a:latin typeface="Cambria Math" panose="02040503050406030204" pitchFamily="18" charset="0"/>
                          </a:rPr>
                        </m:ctrlPr>
                      </m:sSubPr>
                      <m:e>
                        <m:r>
                          <a:rPr lang="en-US" b="0" i="1" baseline="0" smtClean="0">
                            <a:latin typeface="Cambria Math" panose="02040503050406030204" pitchFamily="18" charset="0"/>
                          </a:rPr>
                          <m:t>𝑥</m:t>
                        </m:r>
                      </m:e>
                      <m:sub>
                        <m:r>
                          <a:rPr lang="en-US" b="0" i="1" baseline="0" smtClean="0">
                            <a:latin typeface="Cambria Math" panose="02040503050406030204" pitchFamily="18" charset="0"/>
                          </a:rPr>
                          <m:t>1</m:t>
                        </m:r>
                      </m:sub>
                    </m:sSub>
                    <m:r>
                      <a:rPr lang="en-US" b="0" i="1" baseline="0" smtClean="0">
                        <a:latin typeface="Cambria Math" panose="02040503050406030204" pitchFamily="18" charset="0"/>
                      </a:rPr>
                      <m:t>=</m:t>
                    </m:r>
                    <m:r>
                      <a:rPr lang="en-US" b="0" i="1" baseline="0" smtClean="0">
                        <a:latin typeface="Cambria Math" panose="02040503050406030204" pitchFamily="18" charset="0"/>
                      </a:rPr>
                      <m:t>2833</m:t>
                    </m:r>
                    <m:r>
                      <a:rPr lang="en-US" b="0" i="1" baseline="0" smtClean="0">
                        <a:latin typeface="Cambria Math" panose="02040503050406030204" pitchFamily="18" charset="0"/>
                      </a:rPr>
                      <m:t>.</m:t>
                    </m:r>
                    <m:r>
                      <a:rPr lang="en-US" b="0" i="1" baseline="0" smtClean="0">
                        <a:latin typeface="Cambria Math" panose="02040503050406030204" pitchFamily="18" charset="0"/>
                      </a:rPr>
                      <m:t>33</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1166</m:t>
                    </m:r>
                    <m:r>
                      <a:rPr lang="en-US" b="0" i="1" smtClean="0">
                        <a:latin typeface="Cambria Math" panose="02040503050406030204" pitchFamily="18" charset="0"/>
                      </a:rPr>
                      <m:t>.</m:t>
                    </m:r>
                    <m:r>
                      <a:rPr lang="en-US" b="0" i="1" smtClean="0">
                        <a:latin typeface="Cambria Math" panose="02040503050406030204" pitchFamily="18" charset="0"/>
                      </a:rPr>
                      <m:t>67</m:t>
                    </m:r>
                  </m:oMath>
                </a14:m>
                <a:endParaRPr lang="en-US" dirty="0"/>
              </a:p>
              <a:p>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b="1" i="1" dirty="0">
                    <a:latin typeface="Cambria Math" panose="02040503050406030204" pitchFamily="18" charset="0"/>
                  </a:rPr>
                  <a:t>Left</a:t>
                </a:r>
                <a:r>
                  <a:rPr lang="en-US" b="0" i="1" dirty="0">
                    <a:latin typeface="Cambria Math" panose="02040503050406030204" pitchFamily="18" charset="0"/>
                  </a:rPr>
                  <a:t>: </a:t>
                </a:r>
              </a:p>
              <a:p>
                <a:r>
                  <a:rPr lang="en-US" b="0" i="0">
                    <a:latin typeface="Cambria Math" panose="02040503050406030204" pitchFamily="18" charset="0"/>
                  </a:rPr>
                  <a:t>𝑥/100+𝑥/100=45+𝑥/100</a:t>
                </a:r>
                <a:r>
                  <a:rPr lang="en-US" b="0" i="1" dirty="0">
                    <a:latin typeface="Cambria Math" panose="02040503050406030204" pitchFamily="18" charset="0"/>
                  </a:rPr>
                  <a:t> </a:t>
                </a:r>
              </a:p>
              <a:p>
                <a:endParaRPr lang="en-US" b="0" i="1" dirty="0">
                  <a:latin typeface="Cambria Math" panose="02040503050406030204" pitchFamily="18" charset="0"/>
                </a:endParaRPr>
              </a:p>
              <a:p>
                <a:r>
                  <a:rPr lang="en-US" b="0" i="0">
                    <a:latin typeface="Cambria Math" panose="02040503050406030204" pitchFamily="18" charset="0"/>
                  </a:rPr>
                  <a:t>2𝑥/100=(4500+𝑥)/100</a:t>
                </a:r>
                <a:r>
                  <a:rPr lang="en-US" dirty="0"/>
                  <a:t> </a:t>
                </a:r>
              </a:p>
              <a:p>
                <a:endParaRPr lang="en-US" dirty="0"/>
              </a:p>
              <a:p>
                <a:r>
                  <a:rPr lang="en-US" b="0" i="0">
                    <a:latin typeface="Cambria Math" panose="02040503050406030204" pitchFamily="18" charset="0"/>
                  </a:rPr>
                  <a:t>2𝑥=4500+𝑥</a:t>
                </a:r>
                <a:r>
                  <a:rPr lang="en-US" dirty="0"/>
                  <a:t> </a:t>
                </a:r>
              </a:p>
              <a:p>
                <a:endParaRPr lang="en-US" dirty="0"/>
              </a:p>
              <a:p>
                <a:r>
                  <a:rPr lang="en-US" b="0" i="0">
                    <a:latin typeface="Cambria Math" panose="02040503050406030204" pitchFamily="18" charset="0"/>
                  </a:rPr>
                  <a:t>𝑥=4500</a:t>
                </a:r>
                <a:r>
                  <a:rPr lang="en-US" dirty="0"/>
                  <a:t> </a:t>
                </a:r>
              </a:p>
              <a:p>
                <a:r>
                  <a:rPr lang="en-US" dirty="0"/>
                  <a:t>-------------------------- to find equilibrium</a:t>
                </a:r>
              </a:p>
              <a:p>
                <a:r>
                  <a:rPr lang="en-US" b="0" i="0">
                    <a:latin typeface="Cambria Math" panose="02040503050406030204" pitchFamily="18" charset="0"/>
                  </a:rPr>
                  <a:t>𝑥_1/100+𝑥_1/100=45+𝑥_2/100</a:t>
                </a:r>
                <a:r>
                  <a:rPr lang="en-US" b="0" i="1" dirty="0">
                    <a:latin typeface="Cambria Math" panose="02040503050406030204" pitchFamily="18" charset="0"/>
                  </a:rPr>
                  <a:t> </a:t>
                </a:r>
              </a:p>
              <a:p>
                <a:endParaRPr lang="en-US" b="0" i="1" dirty="0">
                  <a:latin typeface="Cambria Math" panose="02040503050406030204" pitchFamily="18" charset="0"/>
                </a:endParaRPr>
              </a:p>
              <a:p>
                <a:r>
                  <a:rPr lang="en-US" b="0" i="0">
                    <a:latin typeface="Cambria Math" panose="02040503050406030204" pitchFamily="18" charset="0"/>
                  </a:rPr>
                  <a:t>(2𝑥_1)/100=(4500+𝑥_2)/100</a:t>
                </a:r>
                <a:r>
                  <a:rPr lang="en-US" dirty="0"/>
                  <a:t> </a:t>
                </a:r>
              </a:p>
              <a:p>
                <a:endParaRPr lang="en-US" dirty="0"/>
              </a:p>
              <a:p>
                <a:r>
                  <a:rPr lang="en-US" b="0" i="0">
                    <a:latin typeface="Cambria Math" panose="02040503050406030204" pitchFamily="18" charset="0"/>
                  </a:rPr>
                  <a:t>2𝑥_1=4500+𝑥_2</a:t>
                </a:r>
                <a:r>
                  <a:rPr lang="en-US" dirty="0"/>
                  <a:t> ,</a:t>
                </a:r>
              </a:p>
              <a:p>
                <a:endParaRPr lang="en-US" dirty="0"/>
              </a:p>
              <a:p>
                <a:r>
                  <a:rPr lang="en-US" dirty="0"/>
                  <a:t>We have </a:t>
                </a:r>
                <a:r>
                  <a:rPr lang="en-US" b="0" i="0">
                    <a:latin typeface="Cambria Math" panose="02040503050406030204" pitchFamily="18" charset="0"/>
                  </a:rPr>
                  <a:t>𝑥_1+𝑥_2=4000</a:t>
                </a:r>
                <a:r>
                  <a:rPr lang="en-US" dirty="0"/>
                  <a:t>,</a:t>
                </a:r>
              </a:p>
              <a:p>
                <a:endParaRPr lang="en-US" dirty="0"/>
              </a:p>
              <a:p>
                <a:r>
                  <a:rPr lang="en-US" b="0" i="0">
                    <a:latin typeface="Cambria Math" panose="02040503050406030204" pitchFamily="18" charset="0"/>
                  </a:rPr>
                  <a:t>2𝑥_1=4500+𝑥_2</a:t>
                </a:r>
                <a:r>
                  <a:rPr lang="en-US" dirty="0"/>
                  <a:t> =&gt; </a:t>
                </a:r>
                <a:r>
                  <a:rPr lang="en-US" b="0" i="0">
                    <a:latin typeface="Cambria Math" panose="02040503050406030204" pitchFamily="18" charset="0"/>
                  </a:rPr>
                  <a:t>2𝑥_1=4500+4000−𝑥_1</a:t>
                </a:r>
                <a:r>
                  <a:rPr lang="en-US" dirty="0"/>
                  <a:t> =&gt;</a:t>
                </a:r>
                <a:r>
                  <a:rPr lang="en-US" baseline="0" dirty="0"/>
                  <a:t> </a:t>
                </a:r>
                <a:r>
                  <a:rPr lang="en-US" b="0" i="0" baseline="0">
                    <a:latin typeface="Cambria Math" panose="02040503050406030204" pitchFamily="18" charset="0"/>
                  </a:rPr>
                  <a:t>𝑥_1=2833.33</a:t>
                </a:r>
                <a:r>
                  <a:rPr lang="en-US" dirty="0"/>
                  <a:t>, </a:t>
                </a:r>
                <a:r>
                  <a:rPr lang="en-US" b="0" i="0">
                    <a:latin typeface="Cambria Math" panose="02040503050406030204" pitchFamily="18" charset="0"/>
                  </a:rPr>
                  <a:t>𝑥_2=1166.67</a:t>
                </a:r>
                <a:endParaRPr lang="en-US" dirty="0"/>
              </a:p>
              <a:p>
                <a:endParaRPr dirty="0"/>
              </a:p>
            </p:txBody>
          </p:sp>
        </mc:Fallback>
      </mc:AlternateContent>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Applying reinforcement learning (RL) in a population of agents to study how they learn to play together is a valuable approach to understanding the dynamics of learning and cooperation in population games. Here's how RL can be adapted for population games and what happens when it's applied:</a:t>
            </a:r>
          </a:p>
          <a:p>
            <a:pPr algn="l">
              <a:buFont typeface="+mj-lt"/>
              <a:buAutoNum type="arabicPeriod"/>
            </a:pPr>
            <a:r>
              <a:rPr lang="en-US" b="1" i="0" dirty="0">
                <a:solidFill>
                  <a:srgbClr val="FFFFFF"/>
                </a:solidFill>
                <a:effectLst/>
                <a:latin typeface="Söhne"/>
              </a:rPr>
              <a:t>Individual Learning</a:t>
            </a:r>
            <a:r>
              <a:rPr lang="en-US" b="0" i="0" dirty="0">
                <a:solidFill>
                  <a:srgbClr val="FFFFFF"/>
                </a:solidFill>
                <a:effectLst/>
                <a:latin typeface="Söhne"/>
              </a:rPr>
              <a:t>: In traditional reinforcement learning, individual agents learn to make decisions by interacting with their environment. Each agent maintains its own policy (strategy) and updates it based on its own experiences and rewards. These policies can be learned using techniques like Q-learning or policy gradients.</a:t>
            </a:r>
          </a:p>
          <a:p>
            <a:pPr algn="l">
              <a:buFont typeface="+mj-lt"/>
              <a:buAutoNum type="arabicPeriod"/>
            </a:pPr>
            <a:r>
              <a:rPr lang="en-US" b="1" i="0" dirty="0">
                <a:solidFill>
                  <a:srgbClr val="FFFFFF"/>
                </a:solidFill>
                <a:effectLst/>
                <a:latin typeface="Söhne"/>
              </a:rPr>
              <a:t>Population-Based Reinforcement Learning</a:t>
            </a:r>
            <a:r>
              <a:rPr lang="en-US" b="0" i="0" dirty="0">
                <a:solidFill>
                  <a:srgbClr val="FFFFFF"/>
                </a:solidFill>
                <a:effectLst/>
                <a:latin typeface="Söhne"/>
              </a:rPr>
              <a:t>: To apply RL to a population of agents in population games, you can consider each agent as an independent learner. Agents continue to make strategic decisions and update their policies based on their experiences. However, in the context of a population game, an agent's rewards may depend not only on its own actions but also on the actions and strategies of other agents in the population.</a:t>
            </a:r>
          </a:p>
          <a:p>
            <a:pPr algn="l">
              <a:buFont typeface="+mj-lt"/>
              <a:buAutoNum type="arabicPeriod"/>
            </a:pPr>
            <a:r>
              <a:rPr lang="en-US" b="1" i="0" dirty="0">
                <a:solidFill>
                  <a:srgbClr val="FFFFFF"/>
                </a:solidFill>
                <a:effectLst/>
                <a:latin typeface="Söhne"/>
              </a:rPr>
              <a:t>Interactions and Rewards</a:t>
            </a:r>
            <a:r>
              <a:rPr lang="en-US" b="0" i="0" dirty="0">
                <a:solidFill>
                  <a:srgbClr val="FFFFFF"/>
                </a:solidFill>
                <a:effectLst/>
                <a:latin typeface="Söhne"/>
              </a:rPr>
              <a:t>: In a population game, the reward or payoff for each agent is typically a function of the entire population's strategies and their interactions. This means that an agent's reward is influenced by the choices made by others in the population. For example, in a congestion game, the payoff for choosing a particular route depends on the congestion level of that route, which is influenced by the choices of other agents.</a:t>
            </a:r>
          </a:p>
          <a:p>
            <a:pPr algn="l">
              <a:buFont typeface="+mj-lt"/>
              <a:buAutoNum type="arabicPeriod"/>
            </a:pPr>
            <a:r>
              <a:rPr lang="en-US" b="1" i="0" dirty="0">
                <a:solidFill>
                  <a:srgbClr val="FFFFFF"/>
                </a:solidFill>
                <a:effectLst/>
                <a:latin typeface="Söhne"/>
              </a:rPr>
              <a:t>Cooperative and Competitive Learning</a:t>
            </a:r>
            <a:r>
              <a:rPr lang="en-US" b="0" i="0" dirty="0">
                <a:solidFill>
                  <a:srgbClr val="FFFFFF"/>
                </a:solidFill>
                <a:effectLst/>
                <a:latin typeface="Söhne"/>
              </a:rPr>
              <a:t>: RL in a population of agents can lead to various outcomes, depending on the nature of the game. Agents may learn to cooperate and coordinate their strategies for mutual benefit, or they may compete and adopt strategies to gain an advantage over others. The learning dynamics can result in the emergence of Nash equilibria or other stable states, depending on the specific game and learning algorithms used.</a:t>
            </a:r>
          </a:p>
          <a:p>
            <a:pPr algn="l">
              <a:buFont typeface="+mj-lt"/>
              <a:buAutoNum type="arabicPeriod"/>
            </a:pPr>
            <a:r>
              <a:rPr lang="en-US" b="1" i="0" dirty="0">
                <a:solidFill>
                  <a:srgbClr val="FFFFFF"/>
                </a:solidFill>
                <a:effectLst/>
                <a:latin typeface="Söhne"/>
              </a:rPr>
              <a:t>Exploration and Exploitation</a:t>
            </a:r>
            <a:r>
              <a:rPr lang="en-US" b="0" i="0" dirty="0">
                <a:solidFill>
                  <a:srgbClr val="FFFFFF"/>
                </a:solidFill>
                <a:effectLst/>
                <a:latin typeface="Söhne"/>
              </a:rPr>
              <a:t>: Agents in a population game must balance exploration (trying new strategies) and exploitation (sticking with strategies that have yielded high rewards). The exploration-exploitation trade-off is a fundamental aspect of RL and can influence how agents learn to play together in population games.</a:t>
            </a:r>
          </a:p>
          <a:p>
            <a:pPr algn="l">
              <a:buFont typeface="+mj-lt"/>
              <a:buAutoNum type="arabicPeriod"/>
            </a:pPr>
            <a:r>
              <a:rPr lang="en-US" b="1" i="0" dirty="0">
                <a:solidFill>
                  <a:srgbClr val="FFFFFF"/>
                </a:solidFill>
                <a:effectLst/>
                <a:latin typeface="Söhne"/>
              </a:rPr>
              <a:t>Convergence and Equilibrium</a:t>
            </a:r>
            <a:r>
              <a:rPr lang="en-US" b="0" i="0" dirty="0">
                <a:solidFill>
                  <a:srgbClr val="FFFFFF"/>
                </a:solidFill>
                <a:effectLst/>
                <a:latin typeface="Söhne"/>
              </a:rPr>
              <a:t>: The application of RL in a population of agents can lead to various learning dynamics, including convergence to Nash equilibria, cyclic behavior, or even the emergence of new cooperative strategies. The stability and convergence properties of these learning dynamics depend on the specifics of the game and the RL algorithms used.</a:t>
            </a:r>
          </a:p>
          <a:p>
            <a:pPr algn="l"/>
            <a:r>
              <a:rPr lang="en-US" b="0" i="0" dirty="0">
                <a:solidFill>
                  <a:srgbClr val="FFFFFF"/>
                </a:solidFill>
                <a:effectLst/>
                <a:latin typeface="Söhne"/>
              </a:rPr>
              <a:t>In summary, applying reinforcement learning to study learning in population games provides a flexible and powerful framework for exploring how agents adapt and coordinate their strategies in large populations. It allows for the investigation of various learning dynamics, cooperative and competitive behaviors, and the emergence of equilibrium states in complex social and strategic interactions. The outcomes can provide insights into how populations of agents learn to play together and adapt to changing environments.</a:t>
            </a:r>
          </a:p>
          <a:p>
            <a:br>
              <a:rPr lang="en-US" b="0" i="0" dirty="0">
                <a:solidFill>
                  <a:srgbClr val="FFFFFF"/>
                </a:solidFill>
                <a:effectLst/>
                <a:latin typeface="Söhne"/>
              </a:rPr>
            </a:b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equations represent an update rule in a cross-learning or reinforcement learning context, where agents are adapting their strategies over time based on their past experiences and interactions with others. Let's break down the equations:</a:t>
                </a:r>
              </a:p>
              <a:p>
                <a:pPr algn="l"/>
                <a:endParaRPr lang="en-US" b="0" i="0" dirty="0">
                  <a:solidFill>
                    <a:srgbClr val="FFFFFF"/>
                  </a:solidFill>
                  <a:effectLst/>
                  <a:latin typeface="Söhne"/>
                </a:endParaRPr>
              </a:p>
              <a:p>
                <a:pPr algn="l"/>
                <a:r>
                  <a:rPr lang="en-US" b="0" i="0" dirty="0">
                    <a:solidFill>
                      <a:srgbClr val="FFFFFF"/>
                    </a:solidFill>
                    <a:effectLst/>
                    <a:latin typeface="Söhne"/>
                  </a:rPr>
                  <a:t>In the equations:</a:t>
                </a:r>
              </a:p>
              <a:p>
                <a:pPr marL="171450" indent="-171450" algn="l">
                  <a:buFont typeface="Arial" panose="020B0604020202020204" pitchFamily="34" charset="0"/>
                  <a:buChar char="•"/>
                </a:pPr>
                <a14:m>
                  <m:oMath xmlns:m="http://schemas.openxmlformats.org/officeDocument/2006/math">
                    <m:sSub>
                      <m:sSubPr>
                        <m:ctrlPr>
                          <a:rPr lang="en-US" b="0" i="1" dirty="0" smtClean="0">
                            <a:solidFill>
                              <a:srgbClr val="FFFFFF"/>
                            </a:solidFill>
                            <a:effectLst/>
                            <a:latin typeface="Cambria Math" panose="02040503050406030204" pitchFamily="18" charset="0"/>
                          </a:rPr>
                        </m:ctrlPr>
                      </m:sSubPr>
                      <m:e>
                        <m:r>
                          <a:rPr lang="en-US" b="0" i="1" dirty="0" smtClean="0">
                            <a:solidFill>
                              <a:srgbClr val="FFFFFF"/>
                            </a:solidFill>
                            <a:effectLst/>
                            <a:latin typeface="Cambria Math" panose="02040503050406030204" pitchFamily="18" charset="0"/>
                          </a:rPr>
                          <m:t>𝑃</m:t>
                        </m:r>
                      </m:e>
                      <m:sub>
                        <m:r>
                          <a:rPr lang="en-US" b="0" i="1" dirty="0" smtClean="0">
                            <a:solidFill>
                              <a:srgbClr val="FFFFFF"/>
                            </a:solidFill>
                            <a:effectLst/>
                            <a:latin typeface="Cambria Math" panose="02040503050406030204" pitchFamily="18" charset="0"/>
                          </a:rPr>
                          <m:t>𝑗</m:t>
                        </m:r>
                      </m:sub>
                    </m:sSub>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𝑛</m:t>
                    </m:r>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1</m:t>
                    </m:r>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represents the updated strategy or probability of action j at time n+1.</a:t>
                </a:r>
              </a:p>
              <a:p>
                <a:pPr marL="171450" indent="-171450" algn="l">
                  <a:buFont typeface="Arial" panose="020B0604020202020204" pitchFamily="34" charset="0"/>
                  <a:buChar char="•"/>
                </a:pPr>
                <a14:m>
                  <m:oMath xmlns:m="http://schemas.openxmlformats.org/officeDocument/2006/math">
                    <m:sSub>
                      <m:sSubPr>
                        <m:ctrlPr>
                          <a:rPr lang="en-US" b="0" i="1" dirty="0" smtClean="0">
                            <a:solidFill>
                              <a:srgbClr val="FFFFFF"/>
                            </a:solidFill>
                            <a:effectLst/>
                            <a:latin typeface="Cambria Math" panose="02040503050406030204" pitchFamily="18" charset="0"/>
                          </a:rPr>
                        </m:ctrlPr>
                      </m:sSubPr>
                      <m:e>
                        <m:r>
                          <a:rPr lang="en-US" b="0" i="1" dirty="0" smtClean="0">
                            <a:solidFill>
                              <a:srgbClr val="FFFFFF"/>
                            </a:solidFill>
                            <a:effectLst/>
                            <a:latin typeface="Cambria Math" panose="02040503050406030204" pitchFamily="18" charset="0"/>
                          </a:rPr>
                          <m:t>𝑃</m:t>
                        </m:r>
                      </m:e>
                      <m:sub>
                        <m:sSup>
                          <m:sSupPr>
                            <m:ctrlPr>
                              <a:rPr lang="en-US" b="0" i="1" dirty="0" smtClean="0">
                                <a:solidFill>
                                  <a:srgbClr val="FFFFFF"/>
                                </a:solidFill>
                                <a:effectLst/>
                                <a:latin typeface="Cambria Math" panose="02040503050406030204" pitchFamily="18" charset="0"/>
                              </a:rPr>
                            </m:ctrlPr>
                          </m:sSupPr>
                          <m:e>
                            <m:r>
                              <a:rPr lang="en-US" b="0" i="1" dirty="0" smtClean="0">
                                <a:solidFill>
                                  <a:srgbClr val="FFFFFF"/>
                                </a:solidFill>
                                <a:effectLst/>
                                <a:latin typeface="Cambria Math" panose="02040503050406030204" pitchFamily="18" charset="0"/>
                              </a:rPr>
                              <m:t>𝑗</m:t>
                            </m:r>
                          </m:e>
                          <m:sup>
                            <m:r>
                              <a:rPr lang="en-US" b="0" i="1" dirty="0" smtClean="0">
                                <a:solidFill>
                                  <a:srgbClr val="FFFFFF"/>
                                </a:solidFill>
                                <a:effectLst/>
                                <a:latin typeface="Cambria Math" panose="02040503050406030204" pitchFamily="18" charset="0"/>
                              </a:rPr>
                              <m:t>′</m:t>
                            </m:r>
                          </m:sup>
                        </m:sSup>
                      </m:sub>
                    </m:sSub>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𝑛</m:t>
                    </m:r>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1</m:t>
                    </m:r>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represents the updated probability of action j' at time n+1, where j' is any action other than j.</a:t>
                </a:r>
              </a:p>
              <a:p>
                <a:pPr marL="171450" indent="-171450" algn="l">
                  <a:buFont typeface="Arial" panose="020B0604020202020204" pitchFamily="34" charset="0"/>
                  <a:buChar char="•"/>
                </a:pPr>
                <a14:m>
                  <m:oMath xmlns:m="http://schemas.openxmlformats.org/officeDocument/2006/math">
                    <m:sSubSup>
                      <m:sSubSupPr>
                        <m:ctrlPr>
                          <a:rPr lang="en-US" b="0" i="1" dirty="0" smtClean="0">
                            <a:solidFill>
                              <a:srgbClr val="FFFFFF"/>
                            </a:solidFill>
                            <a:effectLst/>
                            <a:latin typeface="Cambria Math" panose="02040503050406030204" pitchFamily="18" charset="0"/>
                          </a:rPr>
                        </m:ctrlPr>
                      </m:sSubSupPr>
                      <m:e>
                        <m:r>
                          <a:rPr lang="en-US" b="0" i="1" dirty="0" smtClean="0">
                            <a:solidFill>
                              <a:srgbClr val="FFFFFF"/>
                            </a:solidFill>
                            <a:effectLst/>
                            <a:latin typeface="Cambria Math" panose="02040503050406030204" pitchFamily="18" charset="0"/>
                          </a:rPr>
                          <m:t>𝑈</m:t>
                        </m:r>
                      </m:e>
                      <m:sub>
                        <m:r>
                          <a:rPr lang="en-US" b="0" i="1" dirty="0" smtClean="0">
                            <a:solidFill>
                              <a:srgbClr val="FFFFFF"/>
                            </a:solidFill>
                            <a:effectLst/>
                            <a:latin typeface="Cambria Math" panose="02040503050406030204" pitchFamily="18" charset="0"/>
                          </a:rPr>
                          <m:t>𝑗𝑘</m:t>
                        </m:r>
                      </m:sub>
                      <m:sup>
                        <m:r>
                          <a:rPr lang="en-US" b="0" i="1" dirty="0" smtClean="0">
                            <a:solidFill>
                              <a:srgbClr val="FFFFFF"/>
                            </a:solidFill>
                            <a:effectLst/>
                            <a:latin typeface="Cambria Math" panose="02040503050406030204" pitchFamily="18" charset="0"/>
                          </a:rPr>
                          <m:t>𝑅</m:t>
                        </m:r>
                      </m:sup>
                    </m:sSubSup>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is a utility associated with the interaction between action j and k at time n for player R.</a:t>
                </a:r>
              </a:p>
              <a:p>
                <a:pPr marL="171450" indent="-171450" algn="l">
                  <a:buFont typeface="Arial" panose="020B0604020202020204" pitchFamily="34" charset="0"/>
                  <a:buChar char="•"/>
                </a:pPr>
                <a14:m>
                  <m:oMath xmlns:m="http://schemas.openxmlformats.org/officeDocument/2006/math">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1</m:t>
                    </m:r>
                    <m:r>
                      <a:rPr lang="en-US" b="0" i="1" dirty="0" smtClean="0">
                        <a:solidFill>
                          <a:srgbClr val="FFFFFF"/>
                        </a:solidFill>
                        <a:effectLst/>
                        <a:latin typeface="Cambria Math" panose="02040503050406030204" pitchFamily="18" charset="0"/>
                      </a:rPr>
                      <m:t>−</m:t>
                    </m:r>
                    <m:sSubSup>
                      <m:sSubSupPr>
                        <m:ctrlPr>
                          <a:rPr lang="en-US" b="0" i="1" dirty="0" smtClean="0">
                            <a:solidFill>
                              <a:srgbClr val="FFFFFF"/>
                            </a:solidFill>
                            <a:effectLst/>
                            <a:latin typeface="Cambria Math" panose="02040503050406030204" pitchFamily="18" charset="0"/>
                          </a:rPr>
                        </m:ctrlPr>
                      </m:sSubSupPr>
                      <m:e>
                        <m:r>
                          <a:rPr lang="en-US" b="0" i="1" dirty="0" smtClean="0">
                            <a:solidFill>
                              <a:srgbClr val="FFFFFF"/>
                            </a:solidFill>
                            <a:effectLst/>
                            <a:latin typeface="Cambria Math" panose="02040503050406030204" pitchFamily="18" charset="0"/>
                          </a:rPr>
                          <m:t>𝑈</m:t>
                        </m:r>
                      </m:e>
                      <m:sub>
                        <m:r>
                          <a:rPr lang="en-US" b="0" i="1" dirty="0" smtClean="0">
                            <a:solidFill>
                              <a:srgbClr val="FFFFFF"/>
                            </a:solidFill>
                            <a:effectLst/>
                            <a:latin typeface="Cambria Math" panose="02040503050406030204" pitchFamily="18" charset="0"/>
                          </a:rPr>
                          <m:t>𝑗𝑘</m:t>
                        </m:r>
                      </m:sub>
                      <m:sup>
                        <m:r>
                          <a:rPr lang="en-US" b="0" i="1" dirty="0" smtClean="0">
                            <a:solidFill>
                              <a:srgbClr val="FFFFFF"/>
                            </a:solidFill>
                            <a:effectLst/>
                            <a:latin typeface="Cambria Math" panose="02040503050406030204" pitchFamily="18" charset="0"/>
                          </a:rPr>
                          <m:t>𝑅</m:t>
                        </m:r>
                      </m:sup>
                    </m:sSubSup>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represents the complementary probability of not receiving the utility value (reinforcement signal).</a:t>
                </a:r>
              </a:p>
              <a:p>
                <a:pPr marL="0" indent="0" algn="l">
                  <a:buFont typeface="Arial" panose="020B0604020202020204" pitchFamily="34" charset="0"/>
                  <a:buNone/>
                </a:pPr>
                <a:endParaRPr lang="en-US" b="0" i="0" dirty="0">
                  <a:solidFill>
                    <a:srgbClr val="FFFFFF"/>
                  </a:solidFill>
                  <a:effectLst/>
                  <a:latin typeface="Söhne"/>
                </a:endParaRPr>
              </a:p>
              <a:p>
                <a:pPr algn="l"/>
                <a:r>
                  <a:rPr lang="en-US" b="0" i="0" dirty="0">
                    <a:solidFill>
                      <a:srgbClr val="FFFFFF"/>
                    </a:solidFill>
                    <a:effectLst/>
                    <a:latin typeface="Söhne"/>
                  </a:rPr>
                  <a:t>Here's an interpretation of these equations:</a:t>
                </a:r>
              </a:p>
              <a:p>
                <a:pPr algn="l">
                  <a:buFont typeface="+mj-lt"/>
                  <a:buAutoNum type="arabicPeriod"/>
                </a:pPr>
                <a:r>
                  <a:rPr lang="en-US" b="1" i="0" dirty="0">
                    <a:solidFill>
                      <a:srgbClr val="FFFFFF"/>
                    </a:solidFill>
                    <a:effectLst/>
                    <a:latin typeface="Söhne"/>
                  </a:rPr>
                  <a:t>Update for Agent j </a:t>
                </a:r>
                <a14:m>
                  <m:oMath xmlns:m="http://schemas.openxmlformats.org/officeDocument/2006/math">
                    <m:r>
                      <a:rPr lang="en-US" b="1" i="1" dirty="0" smtClean="0">
                        <a:solidFill>
                          <a:srgbClr val="FFFFFF"/>
                        </a:solidFill>
                        <a:effectLst/>
                        <a:latin typeface="Cambria Math" panose="02040503050406030204" pitchFamily="18" charset="0"/>
                      </a:rPr>
                      <m:t>(</m:t>
                    </m:r>
                    <m:sSub>
                      <m:sSubPr>
                        <m:ctrlPr>
                          <a:rPr lang="en-US" b="1" i="1" dirty="0" err="1" smtClean="0">
                            <a:solidFill>
                              <a:srgbClr val="FFFFFF"/>
                            </a:solidFill>
                            <a:effectLst/>
                            <a:latin typeface="Cambria Math" panose="02040503050406030204" pitchFamily="18" charset="0"/>
                          </a:rPr>
                        </m:ctrlPr>
                      </m:sSubPr>
                      <m:e>
                        <m:r>
                          <a:rPr lang="en-US" b="1" i="1" dirty="0" err="1" smtClean="0">
                            <a:solidFill>
                              <a:srgbClr val="FFFFFF"/>
                            </a:solidFill>
                            <a:effectLst/>
                            <a:latin typeface="Cambria Math" panose="02040503050406030204" pitchFamily="18" charset="0"/>
                          </a:rPr>
                          <m:t>𝑷</m:t>
                        </m:r>
                      </m:e>
                      <m:sub>
                        <m:r>
                          <a:rPr lang="en-US" b="1" i="1" dirty="0" err="1" smtClean="0">
                            <a:solidFill>
                              <a:srgbClr val="FFFFFF"/>
                            </a:solidFill>
                            <a:effectLst/>
                            <a:latin typeface="Cambria Math" panose="02040503050406030204" pitchFamily="18" charset="0"/>
                          </a:rPr>
                          <m:t>𝒋</m:t>
                        </m:r>
                      </m:sub>
                    </m:sSub>
                    <m:r>
                      <a:rPr lang="en-US" b="1" i="1" dirty="0" smtClean="0">
                        <a:solidFill>
                          <a:srgbClr val="FFFFFF"/>
                        </a:solidFill>
                        <a:effectLst/>
                        <a:latin typeface="Cambria Math" panose="02040503050406030204" pitchFamily="18" charset="0"/>
                      </a:rPr>
                      <m:t>(</m:t>
                    </m:r>
                    <m:r>
                      <a:rPr lang="en-US" b="1" i="1" dirty="0" smtClean="0">
                        <a:solidFill>
                          <a:srgbClr val="FFFFFF"/>
                        </a:solidFill>
                        <a:effectLst/>
                        <a:latin typeface="Cambria Math" panose="02040503050406030204" pitchFamily="18" charset="0"/>
                      </a:rPr>
                      <m:t>𝒏</m:t>
                    </m:r>
                    <m:r>
                      <a:rPr lang="en-US" b="1" i="1" dirty="0" smtClean="0">
                        <a:solidFill>
                          <a:srgbClr val="FFFFFF"/>
                        </a:solidFill>
                        <a:effectLst/>
                        <a:latin typeface="Cambria Math" panose="02040503050406030204" pitchFamily="18" charset="0"/>
                      </a:rPr>
                      <m:t>+</m:t>
                    </m:r>
                    <m:r>
                      <a:rPr lang="en-US" b="1" i="1" dirty="0" smtClean="0">
                        <a:solidFill>
                          <a:srgbClr val="FFFFFF"/>
                        </a:solidFill>
                        <a:effectLst/>
                        <a:latin typeface="Cambria Math" panose="02040503050406030204" pitchFamily="18" charset="0"/>
                      </a:rPr>
                      <m:t>𝟏</m:t>
                    </m:r>
                    <m:r>
                      <a:rPr lang="en-US" b="1"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m:t>
                    </m:r>
                  </m:oMath>
                </a14:m>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For two players, player 1 updates its probability</a:t>
                </a:r>
                <a:r>
                  <a:rPr lang="en-US" b="0" i="0" baseline="0" dirty="0">
                    <a:solidFill>
                      <a:srgbClr val="FFFFFF"/>
                    </a:solidFill>
                    <a:effectLst/>
                    <a:latin typeface="Söhne"/>
                  </a:rPr>
                  <a:t> for action j</a:t>
                </a:r>
                <a:r>
                  <a:rPr lang="en-US" b="0" i="0" dirty="0">
                    <a:solidFill>
                      <a:srgbClr val="FFFFFF"/>
                    </a:solidFill>
                    <a:effectLst/>
                    <a:latin typeface="Söhne"/>
                  </a:rPr>
                  <a:t> for the next time step (n+1) based on its current strategy </a:t>
                </a:r>
                <a14:m>
                  <m:oMath xmlns:m="http://schemas.openxmlformats.org/officeDocument/2006/math">
                    <m:sSub>
                      <m:sSubPr>
                        <m:ctrlPr>
                          <a:rPr lang="en-US" b="0" i="1" dirty="0" smtClean="0">
                            <a:solidFill>
                              <a:srgbClr val="FFFFFF"/>
                            </a:solidFill>
                            <a:effectLst/>
                            <a:latin typeface="Cambria Math" panose="02040503050406030204" pitchFamily="18" charset="0"/>
                          </a:rPr>
                        </m:ctrlPr>
                      </m:sSubPr>
                      <m:e>
                        <m:r>
                          <a:rPr lang="en-US" b="0" i="1" dirty="0" smtClean="0">
                            <a:solidFill>
                              <a:srgbClr val="FFFFFF"/>
                            </a:solidFill>
                            <a:effectLst/>
                            <a:latin typeface="Cambria Math" panose="02040503050406030204" pitchFamily="18" charset="0"/>
                          </a:rPr>
                          <m:t>𝑃</m:t>
                        </m:r>
                      </m:e>
                      <m:sub>
                        <m:r>
                          <a:rPr lang="en-US" b="0" i="1" dirty="0" smtClean="0">
                            <a:solidFill>
                              <a:srgbClr val="FFFFFF"/>
                            </a:solidFill>
                            <a:effectLst/>
                            <a:latin typeface="Cambria Math" panose="02040503050406030204" pitchFamily="18" charset="0"/>
                          </a:rPr>
                          <m:t>𝑗</m:t>
                        </m:r>
                      </m:sub>
                    </m:sSub>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𝑛</m:t>
                    </m:r>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and the reinforcement signal it received from interacting with action k of player 2 at time n.</a:t>
                </a:r>
              </a:p>
              <a:p>
                <a:pPr marL="742950" lvl="1" indent="-285750" algn="l">
                  <a:buFont typeface="+mj-lt"/>
                  <a:buAutoNum type="arabicPeriod"/>
                </a:pPr>
                <a:r>
                  <a:rPr lang="en-US" b="0" i="0" dirty="0">
                    <a:solidFill>
                      <a:srgbClr val="FFFFFF"/>
                    </a:solidFill>
                    <a:effectLst/>
                    <a:latin typeface="Söhne"/>
                  </a:rPr>
                  <a:t>If </a:t>
                </a:r>
                <a14:m>
                  <m:oMath xmlns:m="http://schemas.openxmlformats.org/officeDocument/2006/math">
                    <m:sSubSup>
                      <m:sSubSupPr>
                        <m:ctrlPr>
                          <a:rPr lang="en-US" b="0" i="1" dirty="0" smtClean="0">
                            <a:solidFill>
                              <a:srgbClr val="FFFFFF"/>
                            </a:solidFill>
                            <a:effectLst/>
                            <a:latin typeface="Cambria Math" panose="02040503050406030204" pitchFamily="18" charset="0"/>
                          </a:rPr>
                        </m:ctrlPr>
                      </m:sSubSupPr>
                      <m:e>
                        <m:r>
                          <a:rPr lang="en-US" b="0" i="1" dirty="0" smtClean="0">
                            <a:solidFill>
                              <a:srgbClr val="FFFFFF"/>
                            </a:solidFill>
                            <a:effectLst/>
                            <a:latin typeface="Cambria Math" panose="02040503050406030204" pitchFamily="18" charset="0"/>
                          </a:rPr>
                          <m:t>𝑈</m:t>
                        </m:r>
                      </m:e>
                      <m:sub>
                        <m:r>
                          <a:rPr lang="en-US" b="0" i="1" dirty="0" smtClean="0">
                            <a:solidFill>
                              <a:srgbClr val="FFFFFF"/>
                            </a:solidFill>
                            <a:effectLst/>
                            <a:latin typeface="Cambria Math" panose="02040503050406030204" pitchFamily="18" charset="0"/>
                          </a:rPr>
                          <m:t>𝑗𝑘</m:t>
                        </m:r>
                      </m:sub>
                      <m:sup>
                        <m:r>
                          <a:rPr lang="en-US" b="0" i="1" dirty="0" smtClean="0">
                            <a:solidFill>
                              <a:srgbClr val="FFFFFF"/>
                            </a:solidFill>
                            <a:effectLst/>
                            <a:latin typeface="Cambria Math" panose="02040503050406030204" pitchFamily="18" charset="0"/>
                          </a:rPr>
                          <m:t>𝑅</m:t>
                        </m:r>
                      </m:sup>
                    </m:sSubSup>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is 1, it means that agent j fully incorporates the reinforcement signal into its update, leading to a potential change in its strategy.</a:t>
                </a:r>
              </a:p>
              <a:p>
                <a:pPr marL="742950" lvl="1" indent="-285750" algn="l">
                  <a:buFont typeface="+mj-lt"/>
                  <a:buAutoNum type="arabicPeriod"/>
                </a:pPr>
                <a:r>
                  <a:rPr lang="en-US" b="0" i="0" dirty="0">
                    <a:solidFill>
                      <a:srgbClr val="FFFFFF"/>
                    </a:solidFill>
                    <a:effectLst/>
                    <a:latin typeface="Söhne"/>
                  </a:rPr>
                  <a:t>If </a:t>
                </a:r>
                <a14:m>
                  <m:oMath xmlns:m="http://schemas.openxmlformats.org/officeDocument/2006/math">
                    <m:sSubSup>
                      <m:sSubSupPr>
                        <m:ctrlPr>
                          <a:rPr lang="en-US" b="0" i="1" dirty="0" smtClean="0">
                            <a:solidFill>
                              <a:srgbClr val="FFFFFF"/>
                            </a:solidFill>
                            <a:effectLst/>
                            <a:latin typeface="Cambria Math" panose="02040503050406030204" pitchFamily="18" charset="0"/>
                          </a:rPr>
                        </m:ctrlPr>
                      </m:sSubSupPr>
                      <m:e>
                        <m:r>
                          <a:rPr lang="en-US" b="0" i="1" dirty="0" smtClean="0">
                            <a:solidFill>
                              <a:srgbClr val="FFFFFF"/>
                            </a:solidFill>
                            <a:effectLst/>
                            <a:latin typeface="Cambria Math" panose="02040503050406030204" pitchFamily="18" charset="0"/>
                          </a:rPr>
                          <m:t>𝑈</m:t>
                        </m:r>
                      </m:e>
                      <m:sub>
                        <m:r>
                          <a:rPr lang="en-US" b="0" i="1" dirty="0" smtClean="0">
                            <a:solidFill>
                              <a:srgbClr val="FFFFFF"/>
                            </a:solidFill>
                            <a:effectLst/>
                            <a:latin typeface="Cambria Math" panose="02040503050406030204" pitchFamily="18" charset="0"/>
                          </a:rPr>
                          <m:t>𝑗𝑘</m:t>
                        </m:r>
                      </m:sub>
                      <m:sup>
                        <m:r>
                          <a:rPr lang="en-US" b="0" i="1" dirty="0" smtClean="0">
                            <a:solidFill>
                              <a:srgbClr val="FFFFFF"/>
                            </a:solidFill>
                            <a:effectLst/>
                            <a:latin typeface="Cambria Math" panose="02040503050406030204" pitchFamily="18" charset="0"/>
                          </a:rPr>
                          <m:t>𝑅</m:t>
                        </m:r>
                      </m:sup>
                    </m:sSubSup>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is 0, it means that agent j completely ignores the reinforcement signal and retains its current strategy.</a:t>
                </a:r>
              </a:p>
              <a:p>
                <a:pPr algn="l">
                  <a:buFont typeface="+mj-lt"/>
                  <a:buAutoNum type="arabicPeriod"/>
                </a:pPr>
                <a:r>
                  <a:rPr lang="en-US" b="1" i="0" dirty="0">
                    <a:solidFill>
                      <a:srgbClr val="FFFFFF"/>
                    </a:solidFill>
                    <a:effectLst/>
                    <a:latin typeface="Söhne"/>
                  </a:rPr>
                  <a:t>Updates for All Other Agents </a:t>
                </a:r>
                <a14:m>
                  <m:oMath xmlns:m="http://schemas.openxmlformats.org/officeDocument/2006/math">
                    <m:r>
                      <a:rPr lang="en-US" b="1" i="1" dirty="0" smtClean="0">
                        <a:solidFill>
                          <a:srgbClr val="FFFFFF"/>
                        </a:solidFill>
                        <a:effectLst/>
                        <a:latin typeface="Cambria Math" panose="02040503050406030204" pitchFamily="18" charset="0"/>
                      </a:rPr>
                      <m:t>(</m:t>
                    </m:r>
                    <m:sSub>
                      <m:sSubPr>
                        <m:ctrlPr>
                          <a:rPr lang="en-US" b="1" i="1" dirty="0" err="1" smtClean="0">
                            <a:solidFill>
                              <a:srgbClr val="FFFFFF"/>
                            </a:solidFill>
                            <a:effectLst/>
                            <a:latin typeface="Cambria Math" panose="02040503050406030204" pitchFamily="18" charset="0"/>
                          </a:rPr>
                        </m:ctrlPr>
                      </m:sSubPr>
                      <m:e>
                        <m:r>
                          <a:rPr lang="en-US" b="1" i="1" dirty="0" err="1" smtClean="0">
                            <a:solidFill>
                              <a:srgbClr val="FFFFFF"/>
                            </a:solidFill>
                            <a:effectLst/>
                            <a:latin typeface="Cambria Math" panose="02040503050406030204" pitchFamily="18" charset="0"/>
                          </a:rPr>
                          <m:t>𝑷</m:t>
                        </m:r>
                      </m:e>
                      <m:sub>
                        <m:sSup>
                          <m:sSupPr>
                            <m:ctrlPr>
                              <a:rPr lang="en-US" b="1" i="1" dirty="0" smtClean="0">
                                <a:solidFill>
                                  <a:srgbClr val="FFFFFF"/>
                                </a:solidFill>
                                <a:effectLst/>
                                <a:latin typeface="Cambria Math" panose="02040503050406030204" pitchFamily="18" charset="0"/>
                              </a:rPr>
                            </m:ctrlPr>
                          </m:sSupPr>
                          <m:e>
                            <m:r>
                              <a:rPr lang="en-US" b="1" i="1" dirty="0" err="1" smtClean="0">
                                <a:solidFill>
                                  <a:srgbClr val="FFFFFF"/>
                                </a:solidFill>
                                <a:effectLst/>
                                <a:latin typeface="Cambria Math" panose="02040503050406030204" pitchFamily="18" charset="0"/>
                              </a:rPr>
                              <m:t>𝒋</m:t>
                            </m:r>
                          </m:e>
                          <m:sup>
                            <m:r>
                              <a:rPr lang="en-US" b="1" i="1" dirty="0" smtClean="0">
                                <a:solidFill>
                                  <a:srgbClr val="FFFFFF"/>
                                </a:solidFill>
                                <a:effectLst/>
                                <a:latin typeface="Cambria Math" panose="02040503050406030204" pitchFamily="18" charset="0"/>
                              </a:rPr>
                              <m:t>′</m:t>
                            </m:r>
                          </m:sup>
                        </m:sSup>
                      </m:sub>
                    </m:sSub>
                    <m:r>
                      <a:rPr lang="en-US" b="1" i="1" dirty="0" smtClean="0">
                        <a:solidFill>
                          <a:srgbClr val="FFFFFF"/>
                        </a:solidFill>
                        <a:effectLst/>
                        <a:latin typeface="Cambria Math" panose="02040503050406030204" pitchFamily="18" charset="0"/>
                      </a:rPr>
                      <m:t>(</m:t>
                    </m:r>
                    <m:r>
                      <a:rPr lang="en-US" b="1" i="1" dirty="0" smtClean="0">
                        <a:solidFill>
                          <a:srgbClr val="FFFFFF"/>
                        </a:solidFill>
                        <a:effectLst/>
                        <a:latin typeface="Cambria Math" panose="02040503050406030204" pitchFamily="18" charset="0"/>
                      </a:rPr>
                      <m:t>𝒏</m:t>
                    </m:r>
                    <m:r>
                      <a:rPr lang="en-US" b="1" i="1" dirty="0" smtClean="0">
                        <a:solidFill>
                          <a:srgbClr val="FFFFFF"/>
                        </a:solidFill>
                        <a:effectLst/>
                        <a:latin typeface="Cambria Math" panose="02040503050406030204" pitchFamily="18" charset="0"/>
                      </a:rPr>
                      <m:t>+</m:t>
                    </m:r>
                    <m:r>
                      <a:rPr lang="en-US" b="1" i="1" dirty="0" smtClean="0">
                        <a:solidFill>
                          <a:srgbClr val="FFFFFF"/>
                        </a:solidFill>
                        <a:effectLst/>
                        <a:latin typeface="Cambria Math" panose="02040503050406030204" pitchFamily="18" charset="0"/>
                      </a:rPr>
                      <m:t>𝟏</m:t>
                    </m:r>
                    <m:r>
                      <a:rPr lang="en-US" b="1"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m:t>
                    </m:r>
                  </m:oMath>
                </a14:m>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All actions other than j (represented by j') update their probabilities for the next time step based on their current strategies </a:t>
                </a:r>
                <a14:m>
                  <m:oMath xmlns:m="http://schemas.openxmlformats.org/officeDocument/2006/math">
                    <m:sSub>
                      <m:sSubPr>
                        <m:ctrlPr>
                          <a:rPr lang="en-US" b="0" i="1" dirty="0" smtClean="0">
                            <a:solidFill>
                              <a:srgbClr val="FFFFFF"/>
                            </a:solidFill>
                            <a:effectLst/>
                            <a:latin typeface="Cambria Math" panose="02040503050406030204" pitchFamily="18" charset="0"/>
                          </a:rPr>
                        </m:ctrlPr>
                      </m:sSubPr>
                      <m:e>
                        <m:r>
                          <a:rPr lang="en-US" b="0" i="1" dirty="0" smtClean="0">
                            <a:solidFill>
                              <a:srgbClr val="FFFFFF"/>
                            </a:solidFill>
                            <a:effectLst/>
                            <a:latin typeface="Cambria Math" panose="02040503050406030204" pitchFamily="18" charset="0"/>
                          </a:rPr>
                          <m:t>𝑃</m:t>
                        </m:r>
                      </m:e>
                      <m:sub>
                        <m:sSup>
                          <m:sSupPr>
                            <m:ctrlPr>
                              <a:rPr lang="en-US" b="0" i="1" dirty="0" smtClean="0">
                                <a:solidFill>
                                  <a:srgbClr val="FFFFFF"/>
                                </a:solidFill>
                                <a:effectLst/>
                                <a:latin typeface="Cambria Math" panose="02040503050406030204" pitchFamily="18" charset="0"/>
                              </a:rPr>
                            </m:ctrlPr>
                          </m:sSupPr>
                          <m:e>
                            <m:r>
                              <a:rPr lang="en-US" b="0" i="1" dirty="0" smtClean="0">
                                <a:solidFill>
                                  <a:srgbClr val="FFFFFF"/>
                                </a:solidFill>
                                <a:effectLst/>
                                <a:latin typeface="Cambria Math" panose="02040503050406030204" pitchFamily="18" charset="0"/>
                              </a:rPr>
                              <m:t>𝑗</m:t>
                            </m:r>
                          </m:e>
                          <m:sup>
                            <m:r>
                              <a:rPr lang="en-US" b="0" i="1" dirty="0" smtClean="0">
                                <a:solidFill>
                                  <a:srgbClr val="FFFFFF"/>
                                </a:solidFill>
                                <a:effectLst/>
                                <a:latin typeface="Cambria Math" panose="02040503050406030204" pitchFamily="18" charset="0"/>
                              </a:rPr>
                              <m:t>′</m:t>
                            </m:r>
                          </m:sup>
                        </m:sSup>
                      </m:sub>
                    </m:sSub>
                    <m:r>
                      <a:rPr lang="en-US" b="0" i="1" dirty="0" smtClean="0">
                        <a:solidFill>
                          <a:srgbClr val="FFFFFF"/>
                        </a:solidFill>
                        <a:effectLst/>
                        <a:latin typeface="Cambria Math" panose="02040503050406030204" pitchFamily="18" charset="0"/>
                      </a:rPr>
                      <m:t>(</m:t>
                    </m:r>
                    <m:r>
                      <a:rPr lang="en-US" b="0" i="1" dirty="0" smtClean="0">
                        <a:solidFill>
                          <a:srgbClr val="FFFFFF"/>
                        </a:solidFill>
                        <a:effectLst/>
                        <a:latin typeface="Cambria Math" panose="02040503050406030204" pitchFamily="18" charset="0"/>
                      </a:rPr>
                      <m:t>𝑛</m:t>
                    </m:r>
                    <m:r>
                      <a:rPr lang="en-US" b="0" i="1" dirty="0" smtClean="0">
                        <a:solidFill>
                          <a:srgbClr val="FFFFFF"/>
                        </a:solidFill>
                        <a:effectLst/>
                        <a:latin typeface="Cambria Math" panose="02040503050406030204" pitchFamily="18" charset="0"/>
                      </a:rPr>
                      <m:t>).</m:t>
                    </m:r>
                  </m:oMath>
                </a14:m>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These agents do not directly incorporate the reinforcement signal </a:t>
                </a:r>
                <a14:m>
                  <m:oMath xmlns:m="http://schemas.openxmlformats.org/officeDocument/2006/math">
                    <m:sSubSup>
                      <m:sSubSupPr>
                        <m:ctrlPr>
                          <a:rPr lang="en-US" b="0" i="1" dirty="0" smtClean="0">
                            <a:solidFill>
                              <a:srgbClr val="FFFFFF"/>
                            </a:solidFill>
                            <a:effectLst/>
                            <a:latin typeface="Cambria Math" panose="02040503050406030204" pitchFamily="18" charset="0"/>
                          </a:rPr>
                        </m:ctrlPr>
                      </m:sSubSupPr>
                      <m:e>
                        <m:r>
                          <a:rPr lang="en-US" b="0" i="1" dirty="0" smtClean="0">
                            <a:solidFill>
                              <a:srgbClr val="FFFFFF"/>
                            </a:solidFill>
                            <a:effectLst/>
                            <a:latin typeface="Cambria Math" panose="02040503050406030204" pitchFamily="18" charset="0"/>
                          </a:rPr>
                          <m:t>𝑈</m:t>
                        </m:r>
                      </m:e>
                      <m:sub>
                        <m:r>
                          <a:rPr lang="en-US" b="0" i="1" dirty="0" smtClean="0">
                            <a:solidFill>
                              <a:srgbClr val="FFFFFF"/>
                            </a:solidFill>
                            <a:effectLst/>
                            <a:latin typeface="Cambria Math" panose="02040503050406030204" pitchFamily="18" charset="0"/>
                          </a:rPr>
                          <m:t>𝑗𝑘</m:t>
                        </m:r>
                      </m:sub>
                      <m:sup>
                        <m:r>
                          <a:rPr lang="en-US" b="0" i="1" dirty="0" smtClean="0">
                            <a:solidFill>
                              <a:srgbClr val="FFFFFF"/>
                            </a:solidFill>
                            <a:effectLst/>
                            <a:latin typeface="Cambria Math" panose="02040503050406030204" pitchFamily="18" charset="0"/>
                          </a:rPr>
                          <m:t>𝑅</m:t>
                        </m:r>
                      </m:sup>
                    </m:sSubSup>
                    <m:r>
                      <a:rPr lang="en-US" b="0" i="1" dirty="0" smtClean="0">
                        <a:solidFill>
                          <a:srgbClr val="FFFFFF"/>
                        </a:solidFill>
                        <a:effectLst/>
                        <a:latin typeface="Cambria Math" panose="02040503050406030204" pitchFamily="18" charset="0"/>
                      </a:rPr>
                      <m:t> </m:t>
                    </m:r>
                  </m:oMath>
                </a14:m>
                <a:r>
                  <a:rPr lang="en-US" b="0" i="0" dirty="0">
                    <a:solidFill>
                      <a:srgbClr val="FFFFFF"/>
                    </a:solidFill>
                    <a:effectLst/>
                    <a:latin typeface="Söhne"/>
                  </a:rPr>
                  <a:t>into their updates. Instead, they update their strategies based on their current strategies with no reinforcement signal.</a:t>
                </a:r>
              </a:p>
              <a:p>
                <a:pPr algn="l"/>
                <a:r>
                  <a:rPr lang="en-US" b="0" i="0" dirty="0">
                    <a:solidFill>
                      <a:srgbClr val="FFFFFF"/>
                    </a:solidFill>
                    <a:effectLst/>
                    <a:latin typeface="Söhne"/>
                  </a:rPr>
                  <a:t>In this setup, it appears that action j is the only one influenced by the reinforcement signal from the interaction with action k. Other agents do not directly respond to this reinforcement signal.</a:t>
                </a:r>
              </a:p>
              <a:p>
                <a:pPr algn="l"/>
                <a:r>
                  <a:rPr lang="en-US" b="0" i="0" dirty="0">
                    <a:solidFill>
                      <a:srgbClr val="FFFFFF"/>
                    </a:solidFill>
                    <a:effectLst/>
                    <a:latin typeface="Söhne"/>
                  </a:rPr>
                  <a:t>The equations suggest a dynamic learning or adaptation process where agents' strategies evolve over time based on their experiences and the reinforcement signals they receive. The extent to which actions update their strategies depends on the value of </a:t>
                </a:r>
                <a14:m>
                  <m:oMath xmlns:m="http://schemas.openxmlformats.org/officeDocument/2006/math">
                    <m:sSubSup>
                      <m:sSubSupPr>
                        <m:ctrlPr>
                          <a:rPr lang="en-US" b="0" i="1" dirty="0" smtClean="0">
                            <a:solidFill>
                              <a:srgbClr val="FFFFFF"/>
                            </a:solidFill>
                            <a:effectLst/>
                            <a:latin typeface="Cambria Math" panose="02040503050406030204" pitchFamily="18" charset="0"/>
                          </a:rPr>
                        </m:ctrlPr>
                      </m:sSubSupPr>
                      <m:e>
                        <m:r>
                          <a:rPr lang="en-US" b="0" i="1" dirty="0" smtClean="0">
                            <a:solidFill>
                              <a:srgbClr val="FFFFFF"/>
                            </a:solidFill>
                            <a:effectLst/>
                            <a:latin typeface="Cambria Math" panose="02040503050406030204" pitchFamily="18" charset="0"/>
                          </a:rPr>
                          <m:t>𝑈</m:t>
                        </m:r>
                      </m:e>
                      <m:sub>
                        <m:r>
                          <a:rPr lang="en-US" b="0" i="1" dirty="0" smtClean="0">
                            <a:solidFill>
                              <a:srgbClr val="FFFFFF"/>
                            </a:solidFill>
                            <a:effectLst/>
                            <a:latin typeface="Cambria Math" panose="02040503050406030204" pitchFamily="18" charset="0"/>
                          </a:rPr>
                          <m:t>𝑗𝑘</m:t>
                        </m:r>
                      </m:sub>
                      <m:sup>
                        <m:r>
                          <a:rPr lang="en-US" b="0" i="1" dirty="0" smtClean="0">
                            <a:solidFill>
                              <a:srgbClr val="FFFFFF"/>
                            </a:solidFill>
                            <a:effectLst/>
                            <a:latin typeface="Cambria Math" panose="02040503050406030204" pitchFamily="18" charset="0"/>
                          </a:rPr>
                          <m:t>𝑅</m:t>
                        </m:r>
                      </m:sup>
                    </m:sSubSup>
                  </m:oMath>
                </a14:m>
                <a:r>
                  <a:rPr lang="en-US" b="0" i="0" dirty="0">
                    <a:solidFill>
                      <a:srgbClr val="FFFFFF"/>
                    </a:solidFill>
                    <a:effectLst/>
                    <a:latin typeface="Söhne"/>
                  </a:rPr>
                  <a:t>, which may vary based on the specific learning or reinforcement learning algorithm being used.</a:t>
                </a:r>
              </a:p>
              <a:p>
                <a:br>
                  <a:rPr lang="en-US" b="0" i="0" dirty="0">
                    <a:solidFill>
                      <a:srgbClr val="FFFFFF"/>
                    </a:solidFill>
                    <a:effectLst/>
                    <a:latin typeface="Söhne"/>
                  </a:rPr>
                </a:br>
                <a:endParaRPr dirty="0"/>
              </a:p>
            </p:txBody>
          </p:sp>
        </mc:Choice>
        <mc:Fallback xmlns="">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equations you've provided represent an update rule in a cross-learning or reinforcement learning context, where agents are adapting their strategies over time based on their past experiences and interactions with others. Let's break down the equations:</a:t>
                </a:r>
              </a:p>
              <a:p>
                <a:pPr algn="l"/>
                <a:endParaRPr lang="en-US" b="0" i="0" dirty="0">
                  <a:solidFill>
                    <a:srgbClr val="FFFFFF"/>
                  </a:solidFill>
                  <a:effectLst/>
                  <a:latin typeface="Söhne"/>
                </a:endParaRPr>
              </a:p>
              <a:p>
                <a:pPr algn="l"/>
                <a:r>
                  <a:rPr lang="en-US" b="0" i="0" dirty="0">
                    <a:solidFill>
                      <a:srgbClr val="FFFFFF"/>
                    </a:solidFill>
                    <a:effectLst/>
                    <a:latin typeface="Söhne"/>
                  </a:rPr>
                  <a:t>In the equations:</a:t>
                </a:r>
              </a:p>
              <a:p>
                <a:pPr marL="171450" indent="-171450" algn="l">
                  <a:buFont typeface="Arial" panose="020B0604020202020204" pitchFamily="34" charset="0"/>
                  <a:buChar char="•"/>
                </a:pPr>
                <a:r>
                  <a:rPr lang="en-US" b="0" i="0" dirty="0">
                    <a:solidFill>
                      <a:srgbClr val="FFFFFF"/>
                    </a:solidFill>
                    <a:effectLst/>
                    <a:latin typeface="Cambria Math" panose="02040503050406030204" pitchFamily="18" charset="0"/>
                  </a:rPr>
                  <a:t>𝑃_𝑗 (𝑛+1) </a:t>
                </a:r>
                <a:r>
                  <a:rPr lang="en-US" b="0" i="0" dirty="0">
                    <a:solidFill>
                      <a:srgbClr val="FFFFFF"/>
                    </a:solidFill>
                    <a:effectLst/>
                    <a:latin typeface="Söhne"/>
                  </a:rPr>
                  <a:t>represents the updated strategy or policy of agent j at time n+1.</a:t>
                </a:r>
              </a:p>
              <a:p>
                <a:pPr marL="171450" indent="-171450" algn="l">
                  <a:buFont typeface="Arial" panose="020B0604020202020204" pitchFamily="34" charset="0"/>
                  <a:buChar char="•"/>
                </a:pPr>
                <a:r>
                  <a:rPr lang="en-US" b="0" i="0" dirty="0">
                    <a:solidFill>
                      <a:srgbClr val="FFFFFF"/>
                    </a:solidFill>
                    <a:effectLst/>
                    <a:latin typeface="Cambria Math" panose="02040503050406030204" pitchFamily="18" charset="0"/>
                  </a:rPr>
                  <a:t>𝑃_(𝑗^′ ) (𝑛+1) </a:t>
                </a:r>
                <a:r>
                  <a:rPr lang="en-US" b="0" i="0" dirty="0">
                    <a:solidFill>
                      <a:srgbClr val="FFFFFF"/>
                    </a:solidFill>
                    <a:effectLst/>
                    <a:latin typeface="Söhne"/>
                  </a:rPr>
                  <a:t>represents the updated strategy of agent j' at time n+1, where j' is any agent other than j.</a:t>
                </a:r>
              </a:p>
              <a:p>
                <a:pPr marL="171450" indent="-171450" algn="l">
                  <a:buFont typeface="Arial" panose="020B0604020202020204" pitchFamily="34" charset="0"/>
                  <a:buChar char="•"/>
                </a:pPr>
                <a:r>
                  <a:rPr lang="en-US" b="0" i="0" dirty="0">
                    <a:solidFill>
                      <a:srgbClr val="FFFFFF"/>
                    </a:solidFill>
                    <a:effectLst/>
                    <a:latin typeface="Cambria Math" panose="02040503050406030204" pitchFamily="18" charset="0"/>
                  </a:rPr>
                  <a:t>𝑈_𝑗𝑘^𝑅  </a:t>
                </a:r>
                <a:r>
                  <a:rPr lang="en-US" b="0" i="0" dirty="0">
                    <a:solidFill>
                      <a:srgbClr val="FFFFFF"/>
                    </a:solidFill>
                    <a:effectLst/>
                    <a:latin typeface="Söhne"/>
                  </a:rPr>
                  <a:t>is a utility associated with the interaction between agents j and k at time n.</a:t>
                </a:r>
              </a:p>
              <a:p>
                <a:pPr marL="171450" indent="-171450" algn="l">
                  <a:buFont typeface="Arial" panose="020B0604020202020204" pitchFamily="34" charset="0"/>
                  <a:buChar char="•"/>
                </a:pPr>
                <a:r>
                  <a:rPr lang="en-US" b="0" i="0" dirty="0">
                    <a:solidFill>
                      <a:srgbClr val="FFFFFF"/>
                    </a:solidFill>
                    <a:effectLst/>
                    <a:latin typeface="Cambria Math" panose="02040503050406030204" pitchFamily="18" charset="0"/>
                  </a:rPr>
                  <a:t>(1−𝑈_𝑗𝑘^𝑅) </a:t>
                </a:r>
                <a:r>
                  <a:rPr lang="en-US" b="0" i="0" dirty="0">
                    <a:solidFill>
                      <a:srgbClr val="FFFFFF"/>
                    </a:solidFill>
                    <a:effectLst/>
                    <a:latin typeface="Söhne"/>
                  </a:rPr>
                  <a:t>represents the complementary probability of not receiving the utility value (reinforcement signal).</a:t>
                </a:r>
              </a:p>
              <a:p>
                <a:pPr marL="0" indent="0" algn="l">
                  <a:buFont typeface="Arial" panose="020B0604020202020204" pitchFamily="34" charset="0"/>
                  <a:buNone/>
                </a:pPr>
                <a:endParaRPr lang="en-US" b="0" i="0" dirty="0">
                  <a:solidFill>
                    <a:srgbClr val="FFFFFF"/>
                  </a:solidFill>
                  <a:effectLst/>
                  <a:latin typeface="Söhne"/>
                </a:endParaRPr>
              </a:p>
              <a:p>
                <a:pPr algn="l"/>
                <a:r>
                  <a:rPr lang="en-US" b="0" i="0" dirty="0">
                    <a:solidFill>
                      <a:srgbClr val="FFFFFF"/>
                    </a:solidFill>
                    <a:effectLst/>
                    <a:latin typeface="Söhne"/>
                  </a:rPr>
                  <a:t>Here's an interpretation of these equations:</a:t>
                </a:r>
              </a:p>
              <a:p>
                <a:pPr algn="l">
                  <a:buFont typeface="+mj-lt"/>
                  <a:buAutoNum type="arabicPeriod"/>
                </a:pPr>
                <a:r>
                  <a:rPr lang="en-US" b="1" i="0" dirty="0">
                    <a:solidFill>
                      <a:srgbClr val="FFFFFF"/>
                    </a:solidFill>
                    <a:effectLst/>
                    <a:latin typeface="Söhne"/>
                  </a:rPr>
                  <a:t>Update for Agent j </a:t>
                </a:r>
                <a:r>
                  <a:rPr lang="en-US" b="1" i="0" dirty="0">
                    <a:solidFill>
                      <a:srgbClr val="FFFFFF"/>
                    </a:solidFill>
                    <a:effectLst/>
                    <a:latin typeface="Cambria Math" panose="02040503050406030204" pitchFamily="18" charset="0"/>
                  </a:rPr>
                  <a:t>(</a:t>
                </a:r>
                <a:r>
                  <a:rPr lang="en-US" b="1" i="0" dirty="0" err="1">
                    <a:solidFill>
                      <a:srgbClr val="FFFFFF"/>
                    </a:solidFill>
                    <a:effectLst/>
                    <a:latin typeface="Cambria Math" panose="02040503050406030204" pitchFamily="18" charset="0"/>
                  </a:rPr>
                  <a:t>𝑷_𝒋</a:t>
                </a:r>
                <a:r>
                  <a:rPr lang="en-US" b="1" i="0" dirty="0">
                    <a:solidFill>
                      <a:srgbClr val="FFFFFF"/>
                    </a:solidFill>
                    <a:effectLst/>
                    <a:latin typeface="Cambria Math" panose="02040503050406030204" pitchFamily="18" charset="0"/>
                  </a:rPr>
                  <a:t> (𝒏+𝟏))</a:t>
                </a:r>
                <a:r>
                  <a:rPr lang="en-US" b="0" i="0" dirty="0">
                    <a:solidFill>
                      <a:srgbClr val="FFFFFF"/>
                    </a:solidFill>
                    <a:effectLst/>
                    <a:latin typeface="Cambria Math" panose="02040503050406030204" pitchFamily="18" charset="0"/>
                  </a:rPr>
                  <a:t>:</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Agent j updates its strategy for the next time step (n+1) based on its current strategy </a:t>
                </a:r>
                <a:r>
                  <a:rPr lang="en-US" b="0" i="0" dirty="0">
                    <a:solidFill>
                      <a:srgbClr val="FFFFFF"/>
                    </a:solidFill>
                    <a:effectLst/>
                    <a:latin typeface="Cambria Math" panose="02040503050406030204" pitchFamily="18" charset="0"/>
                  </a:rPr>
                  <a:t>𝑃_𝑗 (𝑛) </a:t>
                </a:r>
                <a:r>
                  <a:rPr lang="en-US" b="0" i="0" dirty="0">
                    <a:solidFill>
                      <a:srgbClr val="FFFFFF"/>
                    </a:solidFill>
                    <a:effectLst/>
                    <a:latin typeface="Söhne"/>
                  </a:rPr>
                  <a:t>and the reinforcement signal it received from interacting with agent k at time n.</a:t>
                </a:r>
              </a:p>
              <a:p>
                <a:pPr marL="742950" lvl="1" indent="-285750" algn="l">
                  <a:buFont typeface="+mj-lt"/>
                  <a:buAutoNum type="arabicPeriod"/>
                </a:pPr>
                <a:r>
                  <a:rPr lang="en-US" b="0" i="0" dirty="0">
                    <a:solidFill>
                      <a:srgbClr val="FFFFFF"/>
                    </a:solidFill>
                    <a:effectLst/>
                    <a:latin typeface="Söhne"/>
                  </a:rPr>
                  <a:t>If </a:t>
                </a:r>
                <a:r>
                  <a:rPr lang="en-US" b="0" i="0" dirty="0">
                    <a:solidFill>
                      <a:srgbClr val="FFFFFF"/>
                    </a:solidFill>
                    <a:effectLst/>
                    <a:latin typeface="Cambria Math" panose="02040503050406030204" pitchFamily="18" charset="0"/>
                  </a:rPr>
                  <a:t>𝑈_𝑗𝑘^𝑅  </a:t>
                </a:r>
                <a:r>
                  <a:rPr lang="en-US" b="0" i="0" dirty="0">
                    <a:solidFill>
                      <a:srgbClr val="FFFFFF"/>
                    </a:solidFill>
                    <a:effectLst/>
                    <a:latin typeface="Söhne"/>
                  </a:rPr>
                  <a:t>is 1, it means that agent j fully incorporates the reinforcement signal into its update, leading to a potential change in its strategy.</a:t>
                </a:r>
              </a:p>
              <a:p>
                <a:pPr marL="742950" lvl="1" indent="-285750" algn="l">
                  <a:buFont typeface="+mj-lt"/>
                  <a:buAutoNum type="arabicPeriod"/>
                </a:pPr>
                <a:r>
                  <a:rPr lang="en-US" b="0" i="0" dirty="0">
                    <a:solidFill>
                      <a:srgbClr val="FFFFFF"/>
                    </a:solidFill>
                    <a:effectLst/>
                    <a:latin typeface="Söhne"/>
                  </a:rPr>
                  <a:t>If </a:t>
                </a:r>
                <a:r>
                  <a:rPr lang="en-US" b="0" i="0" dirty="0">
                    <a:solidFill>
                      <a:srgbClr val="FFFFFF"/>
                    </a:solidFill>
                    <a:effectLst/>
                    <a:latin typeface="Cambria Math" panose="02040503050406030204" pitchFamily="18" charset="0"/>
                  </a:rPr>
                  <a:t>𝑈_𝑗𝑘^𝑅  </a:t>
                </a:r>
                <a:r>
                  <a:rPr lang="en-US" b="0" i="0" dirty="0">
                    <a:solidFill>
                      <a:srgbClr val="FFFFFF"/>
                    </a:solidFill>
                    <a:effectLst/>
                    <a:latin typeface="Söhne"/>
                  </a:rPr>
                  <a:t>is 0, it means that agent j completely ignores the reinforcement signal and retains its current strategy.</a:t>
                </a:r>
              </a:p>
              <a:p>
                <a:pPr algn="l">
                  <a:buFont typeface="+mj-lt"/>
                  <a:buAutoNum type="arabicPeriod"/>
                </a:pPr>
                <a:r>
                  <a:rPr lang="en-US" b="1" i="0" dirty="0">
                    <a:solidFill>
                      <a:srgbClr val="FFFFFF"/>
                    </a:solidFill>
                    <a:effectLst/>
                    <a:latin typeface="Söhne"/>
                  </a:rPr>
                  <a:t>Updates for All Other Agents </a:t>
                </a:r>
                <a:r>
                  <a:rPr lang="en-US" b="1" i="0" dirty="0">
                    <a:solidFill>
                      <a:srgbClr val="FFFFFF"/>
                    </a:solidFill>
                    <a:effectLst/>
                    <a:latin typeface="Cambria Math" panose="02040503050406030204" pitchFamily="18" charset="0"/>
                  </a:rPr>
                  <a:t>(</a:t>
                </a:r>
                <a:r>
                  <a:rPr lang="en-US" b="1" i="0" dirty="0" err="1">
                    <a:solidFill>
                      <a:srgbClr val="FFFFFF"/>
                    </a:solidFill>
                    <a:effectLst/>
                    <a:latin typeface="Cambria Math" panose="02040503050406030204" pitchFamily="18" charset="0"/>
                  </a:rPr>
                  <a:t>𝑷_(𝒋</a:t>
                </a:r>
                <a:r>
                  <a:rPr lang="en-US" b="1" i="0" dirty="0">
                    <a:solidFill>
                      <a:srgbClr val="FFFFFF"/>
                    </a:solidFill>
                    <a:effectLst/>
                    <a:latin typeface="Cambria Math" panose="02040503050406030204" pitchFamily="18" charset="0"/>
                  </a:rPr>
                  <a:t>^′</a:t>
                </a:r>
                <a:r>
                  <a:rPr lang="en-US" b="1" i="0" dirty="0" err="1">
                    <a:solidFill>
                      <a:srgbClr val="FFFFFF"/>
                    </a:solidFill>
                    <a:effectLst/>
                    <a:latin typeface="Cambria Math" panose="02040503050406030204" pitchFamily="18" charset="0"/>
                  </a:rPr>
                  <a:t> )</a:t>
                </a:r>
                <a:r>
                  <a:rPr lang="en-US" b="1" i="0" dirty="0">
                    <a:solidFill>
                      <a:srgbClr val="FFFFFF"/>
                    </a:solidFill>
                    <a:effectLst/>
                    <a:latin typeface="Cambria Math" panose="02040503050406030204" pitchFamily="18" charset="0"/>
                  </a:rPr>
                  <a:t> (𝒏+𝟏))</a:t>
                </a:r>
                <a:r>
                  <a:rPr lang="en-US" b="0" i="0" dirty="0">
                    <a:solidFill>
                      <a:srgbClr val="FFFFFF"/>
                    </a:solidFill>
                    <a:effectLst/>
                    <a:latin typeface="Cambria Math" panose="02040503050406030204" pitchFamily="18" charset="0"/>
                  </a:rPr>
                  <a:t>:</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All agents other than j (represented by j') update their strategies for the next time step based on their current strategies </a:t>
                </a:r>
                <a:r>
                  <a:rPr lang="en-US" b="0" i="0" dirty="0">
                    <a:solidFill>
                      <a:srgbClr val="FFFFFF"/>
                    </a:solidFill>
                    <a:effectLst/>
                    <a:latin typeface="Cambria Math" panose="02040503050406030204" pitchFamily="18" charset="0"/>
                  </a:rPr>
                  <a:t>𝑃_(𝑗^′ ) (𝑛).</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These agents do not directly incorporate the reinforcement signal </a:t>
                </a:r>
                <a:r>
                  <a:rPr lang="en-US" b="0" i="0" dirty="0">
                    <a:solidFill>
                      <a:srgbClr val="FFFFFF"/>
                    </a:solidFill>
                    <a:effectLst/>
                    <a:latin typeface="Cambria Math" panose="02040503050406030204" pitchFamily="18" charset="0"/>
                  </a:rPr>
                  <a:t>𝑈_𝑗𝑘^𝑅  </a:t>
                </a:r>
                <a:r>
                  <a:rPr lang="en-US" b="0" i="0" dirty="0">
                    <a:solidFill>
                      <a:srgbClr val="FFFFFF"/>
                    </a:solidFill>
                    <a:effectLst/>
                    <a:latin typeface="Söhne"/>
                  </a:rPr>
                  <a:t>into their updates. Instead, they update their strategies based on their current strategies with no reinforcement signal.</a:t>
                </a:r>
              </a:p>
              <a:p>
                <a:pPr algn="l"/>
                <a:r>
                  <a:rPr lang="en-US" b="0" i="0" dirty="0">
                    <a:solidFill>
                      <a:srgbClr val="FFFFFF"/>
                    </a:solidFill>
                    <a:effectLst/>
                    <a:latin typeface="Söhne"/>
                  </a:rPr>
                  <a:t>In this setup, it appears that agent j is the only one influenced by the reinforcement signal from the interaction with agent k. Other agents do not directly respond to this reinforcement signal.</a:t>
                </a:r>
              </a:p>
              <a:p>
                <a:pPr algn="l"/>
                <a:r>
                  <a:rPr lang="en-US" b="0" i="0" dirty="0">
                    <a:solidFill>
                      <a:srgbClr val="FFFFFF"/>
                    </a:solidFill>
                    <a:effectLst/>
                    <a:latin typeface="Söhne"/>
                  </a:rPr>
                  <a:t>The equations suggest a dynamic learning or adaptation process where agents' strategies evolve over time based on their experiences and the reinforcement signals they receive. The extent to which agents update their strategies depends on the value of </a:t>
                </a:r>
                <a:r>
                  <a:rPr lang="en-US" b="0" i="0" dirty="0">
                    <a:solidFill>
                      <a:srgbClr val="FFFFFF"/>
                    </a:solidFill>
                    <a:effectLst/>
                    <a:latin typeface="Cambria Math" panose="02040503050406030204" pitchFamily="18" charset="0"/>
                  </a:rPr>
                  <a:t>𝑈_𝑗𝑘^𝑅</a:t>
                </a:r>
                <a:r>
                  <a:rPr lang="en-US" b="0" i="0" dirty="0">
                    <a:solidFill>
                      <a:srgbClr val="FFFFFF"/>
                    </a:solidFill>
                    <a:effectLst/>
                    <a:latin typeface="Söhne"/>
                  </a:rPr>
                  <a:t>, which may vary based on the specific learning or reinforcement learning algorithm being used.</a:t>
                </a:r>
              </a:p>
              <a:p>
                <a:br>
                  <a:rPr lang="en-US" b="0" i="0" dirty="0">
                    <a:solidFill>
                      <a:srgbClr val="FFFFFF"/>
                    </a:solidFill>
                    <a:effectLst/>
                    <a:latin typeface="Söhne"/>
                  </a:rPr>
                </a:br>
                <a:endParaRPr dirty="0"/>
              </a:p>
            </p:txBody>
          </p:sp>
        </mc:Fallback>
      </mc:AlternateContent>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dirty="0"/>
              <a:t>This example of two actions. </a:t>
            </a:r>
            <a:br>
              <a:rPr lang="en-US" dirty="0"/>
            </a:br>
            <a:r>
              <a:rPr lang="en-US" dirty="0"/>
              <a:t>L</a:t>
            </a:r>
            <a:r>
              <a:rPr lang="en-US" b="0" i="0" dirty="0">
                <a:solidFill>
                  <a:srgbClr val="FFFFFF"/>
                </a:solidFill>
                <a:effectLst/>
                <a:latin typeface="Söhne"/>
              </a:rPr>
              <a:t>earning dynamics in a two-action system, where a player updates their probability of choosing one of the two actions based on the payoffs associated with that action and the other action. This type of dynamics is used to model how players adapt their strategies over time in response to their experiences and payoffs. Let's break down the key components of this learning process:</a:t>
            </a:r>
          </a:p>
          <a:p>
            <a:pPr algn="l">
              <a:buFont typeface="+mj-lt"/>
              <a:buAutoNum type="arabicPeriod"/>
            </a:pPr>
            <a:r>
              <a:rPr lang="en-US" b="1" i="0" dirty="0">
                <a:solidFill>
                  <a:srgbClr val="FFFFFF"/>
                </a:solidFill>
                <a:effectLst/>
                <a:latin typeface="Söhne"/>
              </a:rPr>
              <a:t>Two-Action System</a:t>
            </a:r>
            <a:r>
              <a:rPr lang="en-US" b="0" i="0" dirty="0">
                <a:solidFill>
                  <a:srgbClr val="FFFFFF"/>
                </a:solidFill>
                <a:effectLst/>
                <a:latin typeface="Söhne"/>
              </a:rPr>
              <a:t>: The game involves two possible actions or strategies that each player can choose from.</a:t>
            </a:r>
          </a:p>
          <a:p>
            <a:pPr algn="l">
              <a:buFont typeface="+mj-lt"/>
              <a:buAutoNum type="arabicPeriod"/>
            </a:pPr>
            <a:r>
              <a:rPr lang="en-US" b="1" i="0" dirty="0">
                <a:solidFill>
                  <a:srgbClr val="FFFFFF"/>
                </a:solidFill>
                <a:effectLst/>
                <a:latin typeface="Söhne"/>
              </a:rPr>
              <a:t>Updating Probability</a:t>
            </a:r>
            <a:r>
              <a:rPr lang="en-US" b="0" i="0" dirty="0">
                <a:solidFill>
                  <a:srgbClr val="FFFFFF"/>
                </a:solidFill>
                <a:effectLst/>
                <a:latin typeface="Söhne"/>
              </a:rPr>
              <a:t>: Each player maintains a probability distribution over the two actions. In your description, you focus on the probability of choosing the first action, denoted as 𝑝₁ⁱ, where ⁱ represents the player's index.</a:t>
            </a:r>
          </a:p>
          <a:p>
            <a:pPr algn="l">
              <a:buFont typeface="+mj-lt"/>
              <a:buAutoNum type="arabicPeriod"/>
            </a:pPr>
            <a:r>
              <a:rPr lang="en-US" b="1" i="0" dirty="0">
                <a:solidFill>
                  <a:srgbClr val="FFFFFF"/>
                </a:solidFill>
                <a:effectLst/>
                <a:latin typeface="Söhne"/>
              </a:rPr>
              <a:t>Payoff-Dependent Update</a:t>
            </a:r>
            <a:r>
              <a:rPr lang="en-US" b="0" i="0" dirty="0">
                <a:solidFill>
                  <a:srgbClr val="FFFFFF"/>
                </a:solidFill>
                <a:effectLst/>
                <a:latin typeface="Söhne"/>
              </a:rPr>
              <a:t>: The update rule for 𝑝₁ⁱ depends on the payoffs associated with the two actions and, notably, the difference between the payoff of the first action (U_(1, k)) and the payoff of the second action (U_(1, k)) for some opponent's action k.</a:t>
            </a:r>
          </a:p>
          <a:p>
            <a:pPr algn="l">
              <a:buFont typeface="+mj-lt"/>
              <a:buAutoNum type="arabicPeriod"/>
            </a:pPr>
            <a:r>
              <a:rPr lang="en-US" b="1" i="0" dirty="0">
                <a:solidFill>
                  <a:srgbClr val="FFFFFF"/>
                </a:solidFill>
                <a:effectLst/>
                <a:latin typeface="Söhne"/>
              </a:rPr>
              <a:t>Interpolation</a:t>
            </a:r>
            <a:r>
              <a:rPr lang="en-US" b="0" i="0" dirty="0">
                <a:solidFill>
                  <a:srgbClr val="FFFFFF"/>
                </a:solidFill>
                <a:effectLst/>
                <a:latin typeface="Söhne"/>
              </a:rPr>
              <a:t>: The update involves an interpolation process. Specifically, 𝑝₁ⁱ is interpolated toward the value of 1, which suggests a tendency to increase the probability of choosing the first action.</a:t>
            </a:r>
          </a:p>
          <a:p>
            <a:pPr algn="l">
              <a:buFont typeface="+mj-lt"/>
              <a:buAutoNum type="arabicPeriod"/>
            </a:pPr>
            <a:r>
              <a:rPr lang="en-US" b="1" i="0" dirty="0">
                <a:solidFill>
                  <a:srgbClr val="FFFFFF"/>
                </a:solidFill>
                <a:effectLst/>
                <a:latin typeface="Söhne"/>
              </a:rPr>
              <a:t>Proportional to Payoff Difference</a:t>
            </a:r>
            <a:r>
              <a:rPr lang="en-US" b="0" i="0" dirty="0">
                <a:solidFill>
                  <a:srgbClr val="FFFFFF"/>
                </a:solidFill>
                <a:effectLst/>
                <a:latin typeface="Söhne"/>
              </a:rPr>
              <a:t>: The interpolation factor is proportional to the difference between the payoff of the first action and the payoff of the second action (U_(1, k) - U_(2, k)). This means that if the first action yields a higher payoff compared to the second action for a given opponent's action k, the probability of choosing the first action increases, and vice versa.</a:t>
            </a:r>
          </a:p>
          <a:p>
            <a:pPr algn="l"/>
            <a:r>
              <a:rPr lang="en-US" b="0" i="0" dirty="0">
                <a:solidFill>
                  <a:srgbClr val="FFFFFF"/>
                </a:solidFill>
                <a:effectLst/>
                <a:latin typeface="Söhne"/>
              </a:rPr>
              <a:t>This type of learning dynamics reflects how players adapt their strategies based on their past experiences and the relative payoffs associated with the available actions. It captures the idea that players are more likely to choose actions that have yielded higher payoffs in the past, with an interpolation factor determining the rate of adaptation.</a:t>
            </a:r>
          </a:p>
          <a:p>
            <a:pPr algn="l"/>
            <a:r>
              <a:rPr lang="en-US" b="0" i="0" dirty="0">
                <a:solidFill>
                  <a:srgbClr val="FFFFFF"/>
                </a:solidFill>
                <a:effectLst/>
                <a:latin typeface="Söhne"/>
              </a:rPr>
              <a:t>These learning dynamics can be applied in various game-theoretic and strategic contexts to model how players adjust their strategies over time as they gain information about the game and their opponents' actions. Depending on the specific parameters and rules of the game, this learning process can lead to different equilibria or convergence behavior in repeated interactions.</a:t>
            </a:r>
          </a:p>
          <a:p>
            <a:br>
              <a:rPr lang="en-US" b="0" i="0" dirty="0">
                <a:solidFill>
                  <a:srgbClr val="FFFFFF"/>
                </a:solidFill>
                <a:effectLst/>
                <a:latin typeface="Söhne"/>
              </a:rPr>
            </a:b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1" i="0" dirty="0">
                <a:solidFill>
                  <a:srgbClr val="FFFFFF"/>
                </a:solidFill>
                <a:effectLst/>
                <a:latin typeface="Söhne"/>
              </a:rPr>
              <a:t>Agents:</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Students and tutors (multiple agents), denoted as D1, D2, D3, ..., Dn.</a:t>
            </a:r>
          </a:p>
          <a:p>
            <a:pPr algn="l"/>
            <a:r>
              <a:rPr lang="en-US" b="1" i="0" dirty="0">
                <a:solidFill>
                  <a:srgbClr val="FFFFFF"/>
                </a:solidFill>
                <a:effectLst/>
                <a:latin typeface="Söhne"/>
              </a:rPr>
              <a:t>Actions:</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Each driver has two actions to choose from:</a:t>
            </a:r>
          </a:p>
          <a:p>
            <a:pPr marL="742950" lvl="1" indent="-285750" algn="l">
              <a:buFont typeface="Arial" panose="020B0604020202020204" pitchFamily="34" charset="0"/>
              <a:buChar char="•"/>
            </a:pPr>
            <a:r>
              <a:rPr lang="en-US" b="0" i="0" dirty="0">
                <a:solidFill>
                  <a:srgbClr val="FFFFFF"/>
                </a:solidFill>
                <a:effectLst/>
                <a:latin typeface="Söhne"/>
              </a:rPr>
              <a:t>Action 1: Park in the large car park A, which is far away from the building.</a:t>
            </a:r>
          </a:p>
          <a:p>
            <a:pPr marL="742950" lvl="1" indent="-285750" algn="l">
              <a:buFont typeface="Arial" panose="020B0604020202020204" pitchFamily="34" charset="0"/>
              <a:buChar char="•"/>
            </a:pPr>
            <a:r>
              <a:rPr lang="en-US" b="0" i="0" dirty="0">
                <a:solidFill>
                  <a:srgbClr val="FFFFFF"/>
                </a:solidFill>
                <a:effectLst/>
                <a:latin typeface="Söhne"/>
              </a:rPr>
              <a:t>Action 2: Park in the small car park B, which is close to the building.</a:t>
            </a:r>
          </a:p>
          <a:p>
            <a:pPr algn="l"/>
            <a:r>
              <a:rPr lang="en-US" b="1" i="0" dirty="0">
                <a:solidFill>
                  <a:srgbClr val="FFFFFF"/>
                </a:solidFill>
                <a:effectLst/>
                <a:latin typeface="Söhne"/>
              </a:rPr>
              <a:t>Rewards/Payoffs:</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The payoff or utility for each driver is based on their chosen action and the overall parking situation:</a:t>
            </a:r>
          </a:p>
          <a:p>
            <a:pPr marL="742950" lvl="1" indent="-285750" algn="l">
              <a:buFont typeface="Arial" panose="020B0604020202020204" pitchFamily="34" charset="0"/>
              <a:buChar char="•"/>
            </a:pPr>
            <a:r>
              <a:rPr lang="en-US" b="0" i="0" dirty="0">
                <a:solidFill>
                  <a:srgbClr val="FFFFFF"/>
                </a:solidFill>
                <a:effectLst/>
                <a:latin typeface="Söhne"/>
              </a:rPr>
              <a:t>If a driver chooses car park A (Action 1), their payoff depends on the number of other drivers who also choose car park A simultaneously. Each driver in car park A suffers an n-minute delay, where n is the number of cars simultaneously arriving at car park A.</a:t>
            </a:r>
          </a:p>
          <a:p>
            <a:pPr marL="742950" lvl="1" indent="-285750" algn="l">
              <a:buFont typeface="Arial" panose="020B0604020202020204" pitchFamily="34" charset="0"/>
              <a:buChar char="•"/>
            </a:pPr>
            <a:r>
              <a:rPr lang="en-US" b="0" i="0" dirty="0">
                <a:solidFill>
                  <a:srgbClr val="FFFFFF"/>
                </a:solidFill>
                <a:effectLst/>
                <a:latin typeface="Söhne"/>
              </a:rPr>
              <a:t>If a driver chooses car park B (Action 2), their payoff depends on the number of other drivers who also choose car park B simultaneously. Each driver in car park B suffers a delay of 5n minutes, where n is the number of cars simultaneously looking for a spot in car park B.</a:t>
            </a:r>
          </a:p>
          <a:p>
            <a:pPr marL="742950" lvl="1" indent="-285750" algn="l">
              <a:buFont typeface="Arial" panose="020B0604020202020204" pitchFamily="34" charset="0"/>
              <a:buChar char="•"/>
            </a:pPr>
            <a:r>
              <a:rPr lang="en-US" b="0" i="0" dirty="0">
                <a:solidFill>
                  <a:srgbClr val="FFFFFF"/>
                </a:solidFill>
                <a:effectLst/>
                <a:latin typeface="Söhne"/>
              </a:rPr>
              <a:t>Additionally, drivers receive utility based on the time saved when walking to the tutorial rooms (2 minutes from car park B and 20 minutes from car park A).</a:t>
            </a:r>
          </a:p>
          <a:p>
            <a:pPr algn="l"/>
            <a:r>
              <a:rPr lang="en-US" b="1" i="0" dirty="0">
                <a:solidFill>
                  <a:srgbClr val="FFFFFF"/>
                </a:solidFill>
                <a:effectLst/>
                <a:latin typeface="Söhne"/>
              </a:rPr>
              <a:t>Cross-Learning Process:</a:t>
            </a:r>
            <a:endParaRPr lang="en-US" b="0" i="0" dirty="0">
              <a:solidFill>
                <a:srgbClr val="FFFFFF"/>
              </a:solidFill>
              <a:effectLst/>
              <a:latin typeface="Söhne"/>
            </a:endParaRPr>
          </a:p>
          <a:p>
            <a:pPr algn="l"/>
            <a:r>
              <a:rPr lang="en-US" b="0" i="0" dirty="0">
                <a:solidFill>
                  <a:srgbClr val="FFFFFF"/>
                </a:solidFill>
                <a:effectLst/>
                <a:latin typeface="Söhne"/>
              </a:rPr>
              <a:t>In this context, cross-learning involves drivers adapting their decisions based on the observed outcomes of other drivers' actions in previous rounds. The reinforcement or learning signal (U_{j k}^R) for each driver is determined by observing the outcomes of other drivers who chose different actions in terms of which car park they selected.</a:t>
            </a:r>
          </a:p>
          <a:p>
            <a:pPr algn="l"/>
            <a:r>
              <a:rPr lang="en-US" b="0" i="0" dirty="0">
                <a:solidFill>
                  <a:srgbClr val="FFFFFF"/>
                </a:solidFill>
                <a:effectLst/>
                <a:latin typeface="Söhne"/>
              </a:rPr>
              <a:t>For example, if Driver D1 observes that many others chose car park B and experienced significant delays, D1 may be less inclined to choose car park B in the next round. Conversely, if D2 observes that some drivers chose car park A and faced delays, D2 may consider choosing car park B.</a:t>
            </a:r>
          </a:p>
          <a:p>
            <a:pPr algn="l"/>
            <a:r>
              <a:rPr lang="en-US" b="0" i="0" dirty="0">
                <a:solidFill>
                  <a:srgbClr val="FFFFFF"/>
                </a:solidFill>
                <a:effectLst/>
                <a:latin typeface="Söhne"/>
              </a:rPr>
              <a:t>The learning process continues over multiple rounds, with drivers updating their strategies based on the observed outcomes of other drivers' actions.</a:t>
            </a:r>
          </a:p>
          <a:p>
            <a:pPr algn="l"/>
            <a:r>
              <a:rPr lang="en-US" b="0" i="0" dirty="0">
                <a:solidFill>
                  <a:srgbClr val="FFFFFF"/>
                </a:solidFill>
                <a:effectLst/>
                <a:latin typeface="Söhne"/>
              </a:rPr>
              <a:t>The goal of cross-learning in this scenario is to reach a state where drivers' actions collectively lead to an efficient allocation of parking spaces, reducing congestion and minimizing the overall parking time for all drivers while taking into account the trade-off between walking time and parking delay.</a:t>
            </a:r>
          </a:p>
          <a:p>
            <a:pPr algn="l"/>
            <a:r>
              <a:rPr lang="en-US" b="0" i="0" dirty="0">
                <a:solidFill>
                  <a:srgbClr val="FFFFFF"/>
                </a:solidFill>
                <a:effectLst/>
                <a:latin typeface="Söhne"/>
              </a:rPr>
              <a:t>This example illustrates how game theory and cross-learning concepts can be applied to real-world scenarios involving resource allocation and congestion management.</a:t>
            </a:r>
          </a:p>
          <a:p>
            <a:br>
              <a:rPr lang="en-US" b="0" i="0" dirty="0">
                <a:solidFill>
                  <a:srgbClr val="FFFFFF"/>
                </a:solidFill>
                <a:effectLst/>
                <a:latin typeface="Söhne"/>
              </a:rPr>
            </a:br>
            <a:endParaRPr dirty="0">
              <a:solidFill>
                <a:schemeClr val="tx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Interpretations of mixed strategies in game theory are ways to understand how players make random or probabilistic choices among their available strategies. Here are two common interpretations:</a:t>
            </a:r>
          </a:p>
          <a:p>
            <a:pPr algn="l">
              <a:buFont typeface="+mj-lt"/>
              <a:buAutoNum type="arabicPeriod"/>
            </a:pPr>
            <a:r>
              <a:rPr lang="en-US" b="1" i="0" dirty="0">
                <a:solidFill>
                  <a:srgbClr val="FFFFFF"/>
                </a:solidFill>
                <a:effectLst/>
                <a:latin typeface="Söhne"/>
              </a:rPr>
              <a:t>Randomize Individually:</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In this interpretation, a player using a mixed strategy is viewed as making probabilistic or random choices individually. It means that when faced with a decision, the player selects each available strategy with a certain probability.</a:t>
            </a:r>
          </a:p>
          <a:p>
            <a:pPr marL="742950" lvl="1" indent="-285750" algn="l">
              <a:buFont typeface="+mj-lt"/>
              <a:buAutoNum type="arabicPeriod"/>
            </a:pPr>
            <a:r>
              <a:rPr lang="en-US" b="0" i="0" dirty="0">
                <a:solidFill>
                  <a:srgbClr val="FFFFFF"/>
                </a:solidFill>
                <a:effectLst/>
                <a:latin typeface="Söhne"/>
              </a:rPr>
              <a:t>For example, if a player has two pure strategies, A and B, and they are playing a mixed strategy (p, 1-p), this can be interpreted as the player choosing strategy A with probability p and strategy B with probability 1-p.</a:t>
            </a:r>
          </a:p>
          <a:p>
            <a:pPr marL="742950" lvl="1" indent="-285750" algn="l">
              <a:buFont typeface="+mj-lt"/>
              <a:buAutoNum type="arabicPeriod"/>
            </a:pPr>
            <a:r>
              <a:rPr lang="en-US" b="0" i="0" dirty="0">
                <a:solidFill>
                  <a:srgbClr val="FFFFFF"/>
                </a:solidFill>
                <a:effectLst/>
                <a:latin typeface="Söhne"/>
              </a:rPr>
              <a:t>This interpretation is often used in the context of repeated games, where a player might randomize their choices over time to create uncertainty for their opponent.</a:t>
            </a:r>
          </a:p>
          <a:p>
            <a:pPr algn="l">
              <a:buFont typeface="+mj-lt"/>
              <a:buAutoNum type="arabicPeriod"/>
            </a:pPr>
            <a:r>
              <a:rPr lang="en-US" b="1" i="0" dirty="0">
                <a:solidFill>
                  <a:srgbClr val="FFFFFF"/>
                </a:solidFill>
                <a:effectLst/>
                <a:latin typeface="Söhne"/>
              </a:rPr>
              <a:t>Frequencies of Occurrence in a Population:</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In this interpretation, mixed strategies represent the likelihood of a player encountering certain opponents or strategies in a population of players.</a:t>
            </a:r>
          </a:p>
          <a:p>
            <a:pPr marL="742950" lvl="1" indent="-285750" algn="l">
              <a:buFont typeface="+mj-lt"/>
              <a:buAutoNum type="arabicPeriod"/>
            </a:pPr>
            <a:r>
              <a:rPr lang="en-US" b="0" i="0" dirty="0">
                <a:solidFill>
                  <a:srgbClr val="FFFFFF"/>
                </a:solidFill>
                <a:effectLst/>
                <a:latin typeface="Söhne"/>
              </a:rPr>
              <a:t>It assumes that the player is part of a larger population of players, and the mixed strategy reflects the distribution of opponents they are likely to face.</a:t>
            </a:r>
          </a:p>
          <a:p>
            <a:pPr marL="742950" lvl="1" indent="-285750" algn="l">
              <a:buFont typeface="+mj-lt"/>
              <a:buAutoNum type="arabicPeriod"/>
            </a:pPr>
            <a:r>
              <a:rPr lang="en-US" b="0" i="0" dirty="0">
                <a:solidFill>
                  <a:srgbClr val="FFFFFF"/>
                </a:solidFill>
                <a:effectLst/>
                <a:latin typeface="Söhne"/>
              </a:rPr>
              <a:t>For example, if a player's mixed strategy involves playing strategy X with a certain probability, it can be interpreted as the likelihood of encountering opponents who are more responsive to strategy X.</a:t>
            </a:r>
          </a:p>
          <a:p>
            <a:pPr marL="742950" lvl="1" indent="-285750" algn="l">
              <a:buFont typeface="+mj-lt"/>
              <a:buAutoNum type="arabicPeriod"/>
            </a:pPr>
            <a:r>
              <a:rPr lang="en-US" b="0" i="0" dirty="0">
                <a:solidFill>
                  <a:srgbClr val="FFFFFF"/>
                </a:solidFill>
                <a:effectLst/>
                <a:latin typeface="Söhne"/>
              </a:rPr>
              <a:t>This interpretation is commonly used in population games and evolutionary game theory, where players interact with each other based on their strategies, and the success of a strategy depends on its prevalence in the population.</a:t>
            </a:r>
          </a:p>
          <a:p>
            <a:pPr algn="l"/>
            <a:r>
              <a:rPr lang="en-US" b="0" i="0" dirty="0">
                <a:solidFill>
                  <a:srgbClr val="FFFFFF"/>
                </a:solidFill>
                <a:effectLst/>
                <a:latin typeface="Söhne"/>
              </a:rPr>
              <a:t>Both interpretations provide insights into how players make strategic choices when faced with uncertainty or incomplete information about their opponents' actions. The choice of interpretation may depend on the specific context of the game being analyzed and the research question at hand.</a:t>
            </a:r>
          </a:p>
          <a:p>
            <a:br>
              <a:rPr lang="en-US" b="0" i="0" dirty="0">
                <a:solidFill>
                  <a:srgbClr val="FFFFFF"/>
                </a:solidFill>
                <a:effectLst/>
                <a:latin typeface="Söhne"/>
              </a:rPr>
            </a:b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Social learning: Learning from others.</a:t>
            </a:r>
          </a:p>
          <a:p>
            <a:endParaRPr lang="en-US" b="0" i="0" dirty="0">
              <a:solidFill>
                <a:srgbClr val="D1D5DB"/>
              </a:solidFill>
              <a:effectLst/>
              <a:latin typeface="Söhne"/>
            </a:endParaRPr>
          </a:p>
          <a:p>
            <a:r>
              <a:rPr lang="en-US" b="0" i="0" dirty="0">
                <a:solidFill>
                  <a:srgbClr val="D1D5DB"/>
                </a:solidFill>
                <a:effectLst/>
                <a:latin typeface="Söhne"/>
              </a:rPr>
              <a:t>Social learning in population games is a concept from the field of game theory and evolutionary dynamics. It refers to the process by which individuals within a population learn and adapt their strategies based on the outcomes of interactions with </a:t>
            </a:r>
            <a:r>
              <a:rPr lang="en-US" b="1" i="0" dirty="0">
                <a:solidFill>
                  <a:srgbClr val="D1D5DB"/>
                </a:solidFill>
                <a:effectLst/>
                <a:latin typeface="Söhne"/>
              </a:rPr>
              <a:t>other individuals</a:t>
            </a:r>
            <a:r>
              <a:rPr lang="en-US" b="0" i="0" dirty="0">
                <a:solidFill>
                  <a:srgbClr val="D1D5DB"/>
                </a:solidFill>
                <a:effectLst/>
                <a:latin typeface="Söhne"/>
              </a:rPr>
              <a:t>. This concept is particularly relevant in the study of evolutionary game theory, where strategies that are more successful tend to spread through a population over time.</a:t>
            </a:r>
          </a:p>
          <a:p>
            <a:endParaRPr lang="en-US" b="0" i="0" dirty="0">
              <a:solidFill>
                <a:srgbClr val="D1D5DB"/>
              </a:solidFill>
              <a:effectLst/>
              <a:latin typeface="Söhne"/>
            </a:endParaRPr>
          </a:p>
          <a:p>
            <a:r>
              <a:rPr lang="en-US" b="1" i="0" dirty="0">
                <a:effectLst/>
                <a:latin typeface="Söhne"/>
              </a:rPr>
              <a:t>Social Learning:</a:t>
            </a:r>
            <a:r>
              <a:rPr lang="en-US" b="0" i="0" dirty="0">
                <a:solidFill>
                  <a:srgbClr val="D1D5DB"/>
                </a:solidFill>
                <a:effectLst/>
                <a:latin typeface="Söhne"/>
              </a:rPr>
              <a:t> Social learning occurs when agents observe the strategies and payoffs of others in their population. Agents may adapt their own strategies based on the success or failure of strategies they observe in their peers.</a:t>
            </a:r>
          </a:p>
          <a:p>
            <a:endParaRPr lang="en-US" b="0" i="0" dirty="0">
              <a:solidFill>
                <a:srgbClr val="D1D5DB"/>
              </a:solidFill>
              <a:effectLst/>
              <a:latin typeface="Söhne"/>
            </a:endParaRPr>
          </a:p>
          <a:p>
            <a:r>
              <a:rPr lang="en-US" b="1" i="0" dirty="0">
                <a:effectLst/>
                <a:latin typeface="Söhne"/>
              </a:rPr>
              <a:t>Imitation and Innovation:</a:t>
            </a:r>
            <a:r>
              <a:rPr lang="en-US" b="0" i="0" dirty="0">
                <a:solidFill>
                  <a:srgbClr val="D1D5DB"/>
                </a:solidFill>
                <a:effectLst/>
                <a:latin typeface="Söhne"/>
              </a:rPr>
              <a:t> Agents can learn from others through imitation (copying the strategies of more successful agents) or innovation (exploring new strategies).</a:t>
            </a:r>
          </a:p>
          <a:p>
            <a:endParaRPr lang="en-US" b="0" i="0" dirty="0">
              <a:solidFill>
                <a:srgbClr val="D1D5DB"/>
              </a:solidFill>
              <a:effectLst/>
              <a:latin typeface="Söhne"/>
            </a:endParaRPr>
          </a:p>
          <a:p>
            <a:r>
              <a:rPr lang="en-US" b="1" i="0" dirty="0">
                <a:effectLst/>
                <a:latin typeface="Söhne"/>
              </a:rPr>
              <a:t>Evolutionary Dynamics:</a:t>
            </a:r>
            <a:r>
              <a:rPr lang="en-US" b="0" i="0" dirty="0">
                <a:solidFill>
                  <a:srgbClr val="D1D5DB"/>
                </a:solidFill>
                <a:effectLst/>
                <a:latin typeface="Söhne"/>
              </a:rPr>
              <a:t> Over time, successful strategies tend to become more prevalent in the population, while less successful strategies may decline in frequency. This process of strategy evolution is analogous to natural selection in biological evolution.</a:t>
            </a:r>
          </a:p>
          <a:p>
            <a:endParaRPr lang="en-US" b="0" i="0" dirty="0">
              <a:solidFill>
                <a:srgbClr val="D1D5DB"/>
              </a:solidFill>
              <a:effectLst/>
              <a:latin typeface="Söhne"/>
            </a:endParaRPr>
          </a:p>
          <a:p>
            <a:r>
              <a:rPr lang="en-US" b="1" i="0" dirty="0">
                <a:solidFill>
                  <a:srgbClr val="D1D5DB"/>
                </a:solidFill>
                <a:effectLst/>
                <a:latin typeface="Söhne"/>
              </a:rPr>
              <a:t>Evolutionary biology </a:t>
            </a:r>
            <a:r>
              <a:rPr lang="en-US" b="0" i="0" dirty="0">
                <a:solidFill>
                  <a:srgbClr val="D1D5DB"/>
                </a:solidFill>
                <a:effectLst/>
                <a:latin typeface="Söhne"/>
              </a:rPr>
              <a:t>is a branch of biology that focuses on the study of how species and populations of organisms change over time through the process of evolution.</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Evolutionary Game Theory (EGT) is a branch of game theory that departs from classical game theory in several key ways, incorporating concepts from biology, population dynamics, and behavioral sciences. Here are some of the departures and unique features of EGT:</a:t>
            </a:r>
          </a:p>
          <a:p>
            <a:pPr algn="l">
              <a:buFont typeface="+mj-lt"/>
              <a:buAutoNum type="arabicPeriod"/>
            </a:pPr>
            <a:r>
              <a:rPr lang="en-US" b="1" i="0" dirty="0">
                <a:solidFill>
                  <a:srgbClr val="FFFFFF"/>
                </a:solidFill>
                <a:effectLst/>
                <a:latin typeface="Söhne"/>
              </a:rPr>
              <a:t>Population-Level Thinking:</a:t>
            </a:r>
            <a:r>
              <a:rPr lang="en-US" b="0" i="0" dirty="0">
                <a:solidFill>
                  <a:srgbClr val="FFFFFF"/>
                </a:solidFill>
                <a:effectLst/>
                <a:latin typeface="Söhne"/>
              </a:rPr>
              <a:t> In classical game theory, the focus is often on interactions between two or more rational players. In EGT, the focus shifts to the dynamics of a population of individuals or entities, each with its own strategy. EGT examines how the frequencies of different strategies change within a population over time.</a:t>
            </a:r>
          </a:p>
          <a:p>
            <a:pPr algn="l">
              <a:buFont typeface="+mj-lt"/>
              <a:buAutoNum type="arabicPeriod"/>
            </a:pPr>
            <a:r>
              <a:rPr lang="en-US" b="1" i="0" dirty="0">
                <a:solidFill>
                  <a:srgbClr val="FFFFFF"/>
                </a:solidFill>
                <a:effectLst/>
                <a:latin typeface="Söhne"/>
              </a:rPr>
              <a:t>Interpretations as Evolutionary or Social Process:</a:t>
            </a:r>
            <a:r>
              <a:rPr lang="en-US" b="0" i="0" dirty="0">
                <a:solidFill>
                  <a:srgbClr val="FFFFFF"/>
                </a:solidFill>
                <a:effectLst/>
                <a:latin typeface="Söhne"/>
              </a:rPr>
              <a:t> EGT often interprets game interactions as evolutionary processes, where strategies that are more successful in terms of fitness or payoffs tend to become more prevalent over generations. It can also be seen as a model for social processes, where individuals adapt their behaviors based on observed outcomes.</a:t>
            </a:r>
          </a:p>
          <a:p>
            <a:pPr algn="l">
              <a:buFont typeface="+mj-lt"/>
              <a:buAutoNum type="arabicPeriod"/>
            </a:pPr>
            <a:r>
              <a:rPr lang="en-US" b="1" i="0" dirty="0">
                <a:solidFill>
                  <a:srgbClr val="FFFFFF"/>
                </a:solidFill>
                <a:effectLst/>
                <a:latin typeface="Söhne"/>
              </a:rPr>
              <a:t>Games Are Repeated:</a:t>
            </a:r>
            <a:r>
              <a:rPr lang="en-US" b="0" i="0" dirty="0">
                <a:solidFill>
                  <a:srgbClr val="FFFFFF"/>
                </a:solidFill>
                <a:effectLst/>
                <a:latin typeface="Söhne"/>
              </a:rPr>
              <a:t> While classical game theory considers one-shot games, EGT frequently deals with repeated games. Strategies evolve and persist over multiple rounds of interactions, allowing for the emergence of stable strategies.</a:t>
            </a:r>
          </a:p>
          <a:p>
            <a:pPr algn="l">
              <a:buFont typeface="+mj-lt"/>
              <a:buAutoNum type="arabicPeriod"/>
            </a:pPr>
            <a:r>
              <a:rPr lang="en-US" b="1" i="0" dirty="0">
                <a:solidFill>
                  <a:srgbClr val="FFFFFF"/>
                </a:solidFill>
                <a:effectLst/>
                <a:latin typeface="Söhne"/>
              </a:rPr>
              <a:t>Stochastic Model:</a:t>
            </a:r>
            <a:r>
              <a:rPr lang="en-US" b="0" i="0" dirty="0">
                <a:solidFill>
                  <a:srgbClr val="FFFFFF"/>
                </a:solidFill>
                <a:effectLst/>
                <a:latin typeface="Söhne"/>
              </a:rPr>
              <a:t> EGT often incorporates stochastic elements, such as random mutation or random interactions. These stochastic elements introduce randomness into the model, reflecting real-world uncertainty.</a:t>
            </a:r>
          </a:p>
          <a:p>
            <a:pPr algn="l">
              <a:buFont typeface="+mj-lt"/>
              <a:buAutoNum type="arabicPeriod"/>
            </a:pPr>
            <a:r>
              <a:rPr lang="en-US" b="1" i="0" dirty="0">
                <a:solidFill>
                  <a:srgbClr val="FFFFFF"/>
                </a:solidFill>
                <a:effectLst/>
                <a:latin typeface="Söhne"/>
              </a:rPr>
              <a:t>Learning/Imitation of Behavior:</a:t>
            </a:r>
            <a:r>
              <a:rPr lang="en-US" b="0" i="0" dirty="0">
                <a:solidFill>
                  <a:srgbClr val="FFFFFF"/>
                </a:solidFill>
                <a:effectLst/>
                <a:latin typeface="Söhne"/>
              </a:rPr>
              <a:t> In EGT, agents may learn from their own experiences or imitate the strategies of others based on observed success. Learning or imitation mechanisms are crucial in understanding strategy dynamics.</a:t>
            </a:r>
          </a:p>
          <a:p>
            <a:pPr algn="l">
              <a:buFont typeface="+mj-lt"/>
              <a:buAutoNum type="arabicPeriod"/>
            </a:pPr>
            <a:r>
              <a:rPr lang="en-US" b="1" i="0" dirty="0">
                <a:solidFill>
                  <a:srgbClr val="FFFFFF"/>
                </a:solidFill>
                <a:effectLst/>
                <a:latin typeface="Söhne"/>
              </a:rPr>
              <a:t>Rationality Not Presumed:</a:t>
            </a:r>
            <a:r>
              <a:rPr lang="en-US" b="0" i="0" dirty="0">
                <a:solidFill>
                  <a:srgbClr val="FFFFFF"/>
                </a:solidFill>
                <a:effectLst/>
                <a:latin typeface="Söhne"/>
              </a:rPr>
              <a:t> Unlike classical game theory, EGT does not assume that players are always fully rational decision-makers. Agents in EGT may have limited information, make errors, or adapt their strategies based on simpler rules, such as imitating successful strategies.</a:t>
            </a:r>
          </a:p>
          <a:p>
            <a:pPr algn="l">
              <a:buFont typeface="+mj-lt"/>
              <a:buAutoNum type="arabicPeriod"/>
            </a:pPr>
            <a:r>
              <a:rPr lang="en-US" b="1" i="0" dirty="0">
                <a:solidFill>
                  <a:srgbClr val="FFFFFF"/>
                </a:solidFill>
                <a:effectLst/>
                <a:latin typeface="Söhne"/>
              </a:rPr>
              <a:t>Perfect Information Not Required:</a:t>
            </a:r>
            <a:r>
              <a:rPr lang="en-US" b="0" i="0" dirty="0">
                <a:solidFill>
                  <a:srgbClr val="FFFFFF"/>
                </a:solidFill>
                <a:effectLst/>
                <a:latin typeface="Söhne"/>
              </a:rPr>
              <a:t> EGT does not require that players have perfect information about the game or the strategies of other players. Learning and adaptation can occur even in the presence of incomplete or imperfect information.</a:t>
            </a:r>
          </a:p>
          <a:p>
            <a:pPr algn="l"/>
            <a:r>
              <a:rPr lang="en-US" b="0" i="0" dirty="0">
                <a:solidFill>
                  <a:srgbClr val="FFFFFF"/>
                </a:solidFill>
                <a:effectLst/>
                <a:latin typeface="Söhne"/>
              </a:rPr>
              <a:t>EGT provides a framework for studying the evolution of strategies in situations where individuals or entities adapt and compete for limited resources or success. It is widely used in biology, economics, sociology, and other fields to analyze and model scenarios where strategic interactions and learning processes shape the behavior of populations over time. The departure from classical game theory allows EGT to capture more realistic and dynamic aspects of strategic decision-making.</a:t>
            </a:r>
          </a:p>
          <a:p>
            <a:br>
              <a:rPr lang="en-US" b="0" i="0" dirty="0">
                <a:solidFill>
                  <a:srgbClr val="FFFFFF"/>
                </a:solidFill>
                <a:effectLst/>
                <a:latin typeface="Söhne"/>
              </a:rPr>
            </a:b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1" i="0" dirty="0">
                <a:solidFill>
                  <a:srgbClr val="FFFFFF"/>
                </a:solidFill>
                <a:effectLst/>
                <a:latin typeface="Söhne"/>
              </a:rPr>
              <a:t>1. Which Strategies "Survive," Which Vanish as Agents Learn from Each Other (Social Learning)?</a:t>
            </a:r>
            <a:endParaRPr lang="en-US" b="0" i="0" dirty="0">
              <a:solidFill>
                <a:srgbClr val="FFFFFF"/>
              </a:solidFill>
              <a:effectLst/>
              <a:latin typeface="Söhne"/>
            </a:endParaRPr>
          </a:p>
          <a:p>
            <a:pPr algn="l"/>
            <a:r>
              <a:rPr lang="en-US" b="0" i="0" dirty="0">
                <a:solidFill>
                  <a:srgbClr val="FFFFFF"/>
                </a:solidFill>
                <a:effectLst/>
                <a:latin typeface="Söhne"/>
              </a:rPr>
              <a:t>This question relates to the evolution of strategies within a population over time as individuals or agents adapt and learn from each other. The answers can vary depending on the specifics of the game and the learning mechanisms involved:</a:t>
            </a:r>
          </a:p>
          <a:p>
            <a:pPr algn="l">
              <a:buFont typeface="Arial" panose="020B0604020202020204" pitchFamily="34" charset="0"/>
              <a:buChar char="•"/>
            </a:pPr>
            <a:r>
              <a:rPr lang="en-US" b="1" i="0" dirty="0">
                <a:solidFill>
                  <a:srgbClr val="FFFFFF"/>
                </a:solidFill>
                <a:effectLst/>
                <a:latin typeface="Söhne"/>
              </a:rPr>
              <a:t>Survival of Strategies:</a:t>
            </a:r>
            <a:r>
              <a:rPr lang="en-US" b="0" i="0" dirty="0">
                <a:solidFill>
                  <a:srgbClr val="FFFFFF"/>
                </a:solidFill>
                <a:effectLst/>
                <a:latin typeface="Söhne"/>
              </a:rPr>
              <a:t> Successful strategies, those that yield higher payoffs or fitness, tend to survive and become more prevalent in the population. This survival is driven by the ability of individuals using these strategies to outperform others.</a:t>
            </a:r>
          </a:p>
          <a:p>
            <a:pPr algn="l">
              <a:buFont typeface="Arial" panose="020B0604020202020204" pitchFamily="34" charset="0"/>
              <a:buChar char="•"/>
            </a:pPr>
            <a:r>
              <a:rPr lang="en-US" b="1" i="0" dirty="0">
                <a:solidFill>
                  <a:srgbClr val="FFFFFF"/>
                </a:solidFill>
                <a:effectLst/>
                <a:latin typeface="Söhne"/>
              </a:rPr>
              <a:t>Vanishing Strategies:</a:t>
            </a:r>
            <a:r>
              <a:rPr lang="en-US" b="0" i="0" dirty="0">
                <a:solidFill>
                  <a:srgbClr val="FFFFFF"/>
                </a:solidFill>
                <a:effectLst/>
                <a:latin typeface="Söhne"/>
              </a:rPr>
              <a:t> Less successful or poorly performing strategies may gradually vanish from the population as individuals using these strategies experience lower payoffs or fitness.</a:t>
            </a:r>
          </a:p>
          <a:p>
            <a:pPr algn="l">
              <a:buFont typeface="Arial" panose="020B0604020202020204" pitchFamily="34" charset="0"/>
              <a:buChar char="•"/>
            </a:pPr>
            <a:r>
              <a:rPr lang="en-US" b="1" i="0" dirty="0">
                <a:solidFill>
                  <a:srgbClr val="FFFFFF"/>
                </a:solidFill>
                <a:effectLst/>
                <a:latin typeface="Söhne"/>
              </a:rPr>
              <a:t>Coexistence:</a:t>
            </a:r>
            <a:r>
              <a:rPr lang="en-US" b="0" i="0" dirty="0">
                <a:solidFill>
                  <a:srgbClr val="FFFFFF"/>
                </a:solidFill>
                <a:effectLst/>
                <a:latin typeface="Söhne"/>
              </a:rPr>
              <a:t> In some cases, multiple strategies may coexist in the population in a stable equilibrium. This coexistence can result from frequency-dependent selection, where the success of a strategy depends on its frequency relative to other strategies.</a:t>
            </a:r>
          </a:p>
          <a:p>
            <a:pPr algn="l">
              <a:buFont typeface="Arial" panose="020B0604020202020204" pitchFamily="34" charset="0"/>
              <a:buChar char="•"/>
            </a:pPr>
            <a:r>
              <a:rPr lang="en-US" b="1" i="0" dirty="0">
                <a:solidFill>
                  <a:srgbClr val="FFFFFF"/>
                </a:solidFill>
                <a:effectLst/>
                <a:latin typeface="Söhne"/>
              </a:rPr>
              <a:t>Limit Cycles:</a:t>
            </a:r>
            <a:r>
              <a:rPr lang="en-US" b="0" i="0" dirty="0">
                <a:solidFill>
                  <a:srgbClr val="FFFFFF"/>
                </a:solidFill>
                <a:effectLst/>
                <a:latin typeface="Söhne"/>
              </a:rPr>
              <a:t> Instead of converging to a single strategy, the population may enter limit cycles, where strategy frequencies oscillate over time. This behavior can arise in cyclic or rock-paper-scissors-like games.</a:t>
            </a:r>
          </a:p>
          <a:p>
            <a:pPr algn="l">
              <a:buFont typeface="Arial" panose="020B0604020202020204" pitchFamily="34" charset="0"/>
              <a:buChar char="•"/>
            </a:pPr>
            <a:r>
              <a:rPr lang="en-US" b="1" i="0" dirty="0">
                <a:solidFill>
                  <a:srgbClr val="FFFFFF"/>
                </a:solidFill>
                <a:effectLst/>
                <a:latin typeface="Söhne"/>
              </a:rPr>
              <a:t>Invasion of New Strategies:</a:t>
            </a:r>
            <a:r>
              <a:rPr lang="en-US" b="0" i="0" dirty="0">
                <a:solidFill>
                  <a:srgbClr val="FFFFFF"/>
                </a:solidFill>
                <a:effectLst/>
                <a:latin typeface="Söhne"/>
              </a:rPr>
              <a:t> New strategy variations, either through mutation or innovation, can potentially invade the population if they offer a competitive advantage over existing strategies. Their success depends on their initial frequency and the selective pressures in the environment.</a:t>
            </a:r>
          </a:p>
          <a:p>
            <a:pPr algn="l">
              <a:buFont typeface="Arial" panose="020B0604020202020204" pitchFamily="34" charset="0"/>
              <a:buChar char="•"/>
            </a:pPr>
            <a:r>
              <a:rPr lang="en-US" b="1" i="0" dirty="0">
                <a:solidFill>
                  <a:srgbClr val="FFFFFF"/>
                </a:solidFill>
                <a:effectLst/>
                <a:latin typeface="Söhne"/>
              </a:rPr>
              <a:t>Displacement of Old Strategies:</a:t>
            </a:r>
            <a:r>
              <a:rPr lang="en-US" b="0" i="0" dirty="0">
                <a:solidFill>
                  <a:srgbClr val="FFFFFF"/>
                </a:solidFill>
                <a:effectLst/>
                <a:latin typeface="Söhne"/>
              </a:rPr>
              <a:t> Successful new strategies can displace old strategies if they outperform them. This displacement can lead to shifts in the strategy distribution within the population.</a:t>
            </a:r>
          </a:p>
          <a:p>
            <a:pPr algn="l"/>
            <a:r>
              <a:rPr lang="en-US" b="1" i="0" dirty="0">
                <a:solidFill>
                  <a:srgbClr val="FFFFFF"/>
                </a:solidFill>
                <a:effectLst/>
                <a:latin typeface="Söhne"/>
              </a:rPr>
              <a:t>2. What Is the Strategy Distribution for a Population in a Stationary State (Equilibrium)?</a:t>
            </a:r>
            <a:endParaRPr lang="en-US" b="0" i="0" dirty="0">
              <a:solidFill>
                <a:srgbClr val="FFFFFF"/>
              </a:solidFill>
              <a:effectLst/>
              <a:latin typeface="Söhne"/>
            </a:endParaRPr>
          </a:p>
          <a:p>
            <a:pPr algn="l"/>
            <a:r>
              <a:rPr lang="en-US" b="0" i="0" dirty="0">
                <a:solidFill>
                  <a:srgbClr val="FFFFFF"/>
                </a:solidFill>
                <a:effectLst/>
                <a:latin typeface="Söhne"/>
              </a:rPr>
              <a:t>Understanding the strategy distribution in a stationary state or equilibrium is essential for characterizing the long-term dynamics of the population. Different scenarios can arise:</a:t>
            </a:r>
          </a:p>
          <a:p>
            <a:pPr algn="l">
              <a:buFont typeface="Arial" panose="020B0604020202020204" pitchFamily="34" charset="0"/>
              <a:buChar char="•"/>
            </a:pPr>
            <a:r>
              <a:rPr lang="en-US" b="1" i="0" dirty="0">
                <a:solidFill>
                  <a:srgbClr val="FFFFFF"/>
                </a:solidFill>
                <a:effectLst/>
                <a:latin typeface="Söhne"/>
              </a:rPr>
              <a:t>Convergence:</a:t>
            </a:r>
            <a:r>
              <a:rPr lang="en-US" b="0" i="0" dirty="0">
                <a:solidFill>
                  <a:srgbClr val="FFFFFF"/>
                </a:solidFill>
                <a:effectLst/>
                <a:latin typeface="Söhne"/>
              </a:rPr>
              <a:t> The population may converge to a stationary state where a single dominant strategy is prevalent. This scenario often occurs in symmetric games with strong selection.</a:t>
            </a:r>
          </a:p>
          <a:p>
            <a:pPr algn="l">
              <a:buFont typeface="Arial" panose="020B0604020202020204" pitchFamily="34" charset="0"/>
              <a:buChar char="•"/>
            </a:pPr>
            <a:r>
              <a:rPr lang="en-US" b="1" i="0" dirty="0">
                <a:solidFill>
                  <a:srgbClr val="FFFFFF"/>
                </a:solidFill>
                <a:effectLst/>
                <a:latin typeface="Söhne"/>
              </a:rPr>
              <a:t>Coexistence:</a:t>
            </a:r>
            <a:r>
              <a:rPr lang="en-US" b="0" i="0" dirty="0">
                <a:solidFill>
                  <a:srgbClr val="FFFFFF"/>
                </a:solidFill>
                <a:effectLst/>
                <a:latin typeface="Söhne"/>
              </a:rPr>
              <a:t> Equilibria can involve the coexistence of multiple strategies. These equilibria can be stable and lead to the persistence of strategy diversity in the population.</a:t>
            </a:r>
          </a:p>
          <a:p>
            <a:pPr algn="l">
              <a:buFont typeface="Arial" panose="020B0604020202020204" pitchFamily="34" charset="0"/>
              <a:buChar char="•"/>
            </a:pPr>
            <a:r>
              <a:rPr lang="en-US" b="1" i="0" dirty="0">
                <a:solidFill>
                  <a:srgbClr val="FFFFFF"/>
                </a:solidFill>
                <a:effectLst/>
                <a:latin typeface="Söhne"/>
              </a:rPr>
              <a:t>Limit Cycles:</a:t>
            </a:r>
            <a:r>
              <a:rPr lang="en-US" b="0" i="0" dirty="0">
                <a:solidFill>
                  <a:srgbClr val="FFFFFF"/>
                </a:solidFill>
                <a:effectLst/>
                <a:latin typeface="Söhne"/>
              </a:rPr>
              <a:t> Some systems may enter limit cycles, where strategy frequencies fluctuate without converging to a fixed equilibrium. This can result from the cyclic nature of the game.</a:t>
            </a:r>
          </a:p>
          <a:p>
            <a:pPr algn="l">
              <a:buFont typeface="Arial" panose="020B0604020202020204" pitchFamily="34" charset="0"/>
              <a:buChar char="•"/>
            </a:pPr>
            <a:r>
              <a:rPr lang="en-US" b="1" i="0" dirty="0">
                <a:solidFill>
                  <a:srgbClr val="FFFFFF"/>
                </a:solidFill>
                <a:effectLst/>
                <a:latin typeface="Söhne"/>
              </a:rPr>
              <a:t>Invasion and Replacement:</a:t>
            </a:r>
            <a:r>
              <a:rPr lang="en-US" b="0" i="0" dirty="0">
                <a:solidFill>
                  <a:srgbClr val="FFFFFF"/>
                </a:solidFill>
                <a:effectLst/>
                <a:latin typeface="Söhne"/>
              </a:rPr>
              <a:t> Equilibria can be disrupted by the invasion of new strategies. These invaders may or may not displace existing strategies, leading to dynamic shifts in the equilibrium.</a:t>
            </a:r>
          </a:p>
          <a:p>
            <a:pPr algn="l"/>
            <a:r>
              <a:rPr lang="en-US" b="0" i="0" dirty="0">
                <a:solidFill>
                  <a:srgbClr val="FFFFFF"/>
                </a:solidFill>
                <a:effectLst/>
                <a:latin typeface="Söhne"/>
              </a:rPr>
              <a:t>In evolutionary game theory, the strategy distribution in equilibrium is a central focus, as it provides insights into the stable states of populations and how they respond to changes in the environment, mutations, or innovations. The study of these questions helps researchers understand the mechanisms driving strategy evolution and the factors that contribute to the persistence or extinction of strategies within populations.</a:t>
            </a:r>
          </a:p>
          <a:p>
            <a:br>
              <a:rPr lang="en-US" b="0" i="0" dirty="0">
                <a:solidFill>
                  <a:srgbClr val="FFFFFF"/>
                </a:solidFill>
                <a:effectLst/>
                <a:latin typeface="Söhne"/>
              </a:rPr>
            </a:b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framework outlines the fundamental components of evolutionary game theory (EGT) and how it is applied to model and study the dynamics of strategy evolution within a population of players. Let's break down each component:</a:t>
            </a:r>
          </a:p>
          <a:p>
            <a:pPr algn="l"/>
            <a:r>
              <a:rPr lang="en-US" b="1" i="0" dirty="0">
                <a:solidFill>
                  <a:srgbClr val="FFFFFF"/>
                </a:solidFill>
                <a:effectLst/>
                <a:latin typeface="Söhne"/>
              </a:rPr>
              <a:t>1. Population of Players (P1, ..., Pm):</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EGT considers a population consisting of multiple individuals or players, denoted as P1, P2, ..., Pm. These players represent entities making strategic decisions or engaging in interactions within a given context.</a:t>
            </a:r>
          </a:p>
          <a:p>
            <a:pPr algn="l"/>
            <a:r>
              <a:rPr lang="en-US" b="1" i="0" dirty="0">
                <a:solidFill>
                  <a:srgbClr val="FFFFFF"/>
                </a:solidFill>
                <a:effectLst/>
                <a:latin typeface="Söhne"/>
              </a:rPr>
              <a:t>2. Pairs of Players (Pi, </a:t>
            </a:r>
            <a:r>
              <a:rPr lang="en-US" b="1" i="0" dirty="0" err="1">
                <a:solidFill>
                  <a:srgbClr val="FFFFFF"/>
                </a:solidFill>
                <a:effectLst/>
                <a:latin typeface="Söhne"/>
              </a:rPr>
              <a:t>Pj</a:t>
            </a:r>
            <a:r>
              <a:rPr lang="en-US" b="1" i="0" dirty="0">
                <a:solidFill>
                  <a:srgbClr val="FFFFFF"/>
                </a:solidFill>
                <a:effectLst/>
                <a:latin typeface="Söhne"/>
              </a:rPr>
              <a:t>) Meet and Play the Game:</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In the context of evolutionary game theory, players interact in pairs (Pi, </a:t>
            </a:r>
            <a:r>
              <a:rPr lang="en-US" b="0" i="0" dirty="0" err="1">
                <a:solidFill>
                  <a:srgbClr val="FFFFFF"/>
                </a:solidFill>
                <a:effectLst/>
                <a:latin typeface="Söhne"/>
              </a:rPr>
              <a:t>Pj</a:t>
            </a:r>
            <a:r>
              <a:rPr lang="en-US" b="0" i="0" dirty="0">
                <a:solidFill>
                  <a:srgbClr val="FFFFFF"/>
                </a:solidFill>
                <a:effectLst/>
                <a:latin typeface="Söhne"/>
              </a:rPr>
              <a:t>) and play a specified game, which could be a two-player or, as you mentioned, extensible to n-player games. These interactions are the basis for strategy selection and payoff determination.</a:t>
            </a:r>
          </a:p>
          <a:p>
            <a:pPr algn="l"/>
            <a:r>
              <a:rPr lang="en-US" b="1" i="0" dirty="0">
                <a:solidFill>
                  <a:srgbClr val="FFFFFF"/>
                </a:solidFill>
                <a:effectLst/>
                <a:latin typeface="Söhne"/>
              </a:rPr>
              <a:t>3. Players Receive Payoff:</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After playing the game, each player receives a payoff, which is often viewed as a measure of their fitness in the evolutionary context. The payoff depends on the strategies chosen by both players in the interaction.</a:t>
            </a:r>
          </a:p>
          <a:p>
            <a:pPr algn="l"/>
            <a:r>
              <a:rPr lang="en-US" b="1" i="0" dirty="0">
                <a:solidFill>
                  <a:srgbClr val="FFFFFF"/>
                </a:solidFill>
                <a:effectLst/>
                <a:latin typeface="Söhne"/>
              </a:rPr>
              <a:t>4. Strategies Spread According to Various Mechanisms:</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The core of EGT lies in how strategies spread or evolve within the population. This spread is driven by various mechanisms, such as relative fitness or performance of strategies. Strategies that yield higher payoffs or fitness tend to proliferate within the population.</a:t>
            </a:r>
          </a:p>
          <a:p>
            <a:pPr algn="l"/>
            <a:r>
              <a:rPr lang="en-US" b="1" i="0" dirty="0">
                <a:solidFill>
                  <a:srgbClr val="FFFFFF"/>
                </a:solidFill>
                <a:effectLst/>
                <a:latin typeface="Söhne"/>
              </a:rPr>
              <a:t>5. Game Is Repeated:</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The game is typically repeated over multiple rounds or generations, allowing for the observation of strategy dynamics and the emergence of equilibria or stable states within the population.</a:t>
            </a:r>
          </a:p>
          <a:p>
            <a:pPr algn="l"/>
            <a:r>
              <a:rPr lang="en-US" b="1" i="0" dirty="0">
                <a:solidFill>
                  <a:srgbClr val="FFFFFF"/>
                </a:solidFill>
                <a:effectLst/>
                <a:latin typeface="Söhne"/>
              </a:rPr>
              <a:t>Analytic Theory and Numerical Models:</a:t>
            </a:r>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EGT provides extensive analytical theory for simple cases where the dynamics of strategy evolution can be described mathematically and analytically. In these cases, researchers can derive insights into the behavior of strategies, equilibria, and evolutionary outcomes.</a:t>
            </a:r>
          </a:p>
          <a:p>
            <a:pPr algn="l">
              <a:buFont typeface="Arial" panose="020B0604020202020204" pitchFamily="34" charset="0"/>
              <a:buChar char="•"/>
            </a:pPr>
            <a:r>
              <a:rPr lang="en-US" b="0" i="0" dirty="0">
                <a:solidFill>
                  <a:srgbClr val="FFFFFF"/>
                </a:solidFill>
                <a:effectLst/>
                <a:latin typeface="Söhne"/>
              </a:rPr>
              <a:t>However, in complex scenarios or when dealing with more intricate games and interactions, individual-based numerical models, such as agent-based simulations, may be required. These models allow researchers to study strategy evolution in a more detailed and realistic manner.</a:t>
            </a:r>
          </a:p>
          <a:p>
            <a:pPr algn="l"/>
            <a:r>
              <a:rPr lang="en-US" b="0" i="0" dirty="0">
                <a:solidFill>
                  <a:srgbClr val="FFFFFF"/>
                </a:solidFill>
                <a:effectLst/>
                <a:latin typeface="Söhne"/>
              </a:rPr>
              <a:t>Overall, EGT is a powerful framework for studying how strategies evolve and persist within populations. It finds applications in various fields, including biology, economics, sociology, and computer science, where strategic interactions and evolutionary dynamics play a significant role.</a:t>
            </a:r>
          </a:p>
          <a:p>
            <a:br>
              <a:rPr lang="en-US" b="0" i="0" dirty="0">
                <a:solidFill>
                  <a:srgbClr val="FFFFFF"/>
                </a:solidFill>
                <a:effectLst/>
                <a:latin typeface="Söhne"/>
              </a:rPr>
            </a:br>
            <a:endParaRPr dirty="0"/>
          </a:p>
        </p:txBody>
      </p:sp>
    </p:spTree>
    <p:extLst>
      <p:ext uri="{BB962C8B-B14F-4D97-AF65-F5344CB8AC3E}">
        <p14:creationId xmlns:p14="http://schemas.microsoft.com/office/powerpoint/2010/main" val="745231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It outlines several key assumptions for analyzing games. Here's a slightly restructured version for better readability:</a:t>
            </a:r>
          </a:p>
          <a:p>
            <a:pPr algn="l"/>
            <a:r>
              <a:rPr lang="en-US" b="1" i="0" dirty="0">
                <a:solidFill>
                  <a:srgbClr val="D1D5DB"/>
                </a:solidFill>
                <a:effectLst/>
                <a:latin typeface="Söhne"/>
              </a:rPr>
              <a:t>Assumptions for Game Analysis:</a:t>
            </a: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Repeated Games:</a:t>
            </a:r>
            <a:r>
              <a:rPr lang="en-US" b="0" i="0" dirty="0">
                <a:solidFill>
                  <a:srgbClr val="D1D5DB"/>
                </a:solidFill>
                <a:effectLst/>
                <a:latin typeface="Söhne"/>
              </a:rPr>
              <a:t> The games in question are played repeatedly over time.</a:t>
            </a:r>
          </a:p>
          <a:p>
            <a:pPr algn="l">
              <a:buFont typeface="+mj-lt"/>
              <a:buAutoNum type="arabicPeriod"/>
            </a:pPr>
            <a:r>
              <a:rPr lang="en-US" b="1" i="0" dirty="0">
                <a:solidFill>
                  <a:srgbClr val="D1D5DB"/>
                </a:solidFill>
                <a:effectLst/>
                <a:latin typeface="Söhne"/>
              </a:rPr>
              <a:t>Strategy Success Spread:</a:t>
            </a:r>
            <a:r>
              <a:rPr lang="en-US" b="0" i="0" dirty="0">
                <a:solidFill>
                  <a:srgbClr val="D1D5DB"/>
                </a:solidFill>
                <a:effectLst/>
                <a:latin typeface="Söhne"/>
              </a:rPr>
              <a:t> Strategies propagate based on their success, following principles of either evolution (survival-of-the-fittest) or social learning.</a:t>
            </a:r>
          </a:p>
          <a:p>
            <a:pPr algn="l">
              <a:buFont typeface="+mj-lt"/>
              <a:buAutoNum type="arabicPeriod"/>
            </a:pPr>
            <a:r>
              <a:rPr lang="en-US" b="1" i="0" dirty="0">
                <a:solidFill>
                  <a:srgbClr val="D1D5DB"/>
                </a:solidFill>
                <a:effectLst/>
                <a:latin typeface="Söhne"/>
              </a:rPr>
              <a:t>Interchangeable Players:</a:t>
            </a:r>
            <a:r>
              <a:rPr lang="en-US" b="0" i="0" dirty="0">
                <a:solidFill>
                  <a:srgbClr val="D1D5DB"/>
                </a:solidFill>
                <a:effectLst/>
                <a:latin typeface="Söhne"/>
              </a:rPr>
              <a:t> Players are interchangeable and indistinguishable, except for their chosen strategies, akin to population games.</a:t>
            </a:r>
          </a:p>
          <a:p>
            <a:pPr algn="l">
              <a:buFont typeface="+mj-lt"/>
              <a:buAutoNum type="arabicPeriod"/>
            </a:pPr>
            <a:r>
              <a:rPr lang="en-US" b="1" i="0" dirty="0">
                <a:solidFill>
                  <a:srgbClr val="D1D5DB"/>
                </a:solidFill>
                <a:effectLst/>
                <a:latin typeface="Söhne"/>
              </a:rPr>
              <a:t>Uniform Strategy Set:</a:t>
            </a:r>
            <a:r>
              <a:rPr lang="en-US" b="0" i="0" dirty="0">
                <a:solidFill>
                  <a:srgbClr val="D1D5DB"/>
                </a:solidFill>
                <a:effectLst/>
                <a:latin typeface="Söhne"/>
              </a:rPr>
              <a:t> All players possess the same set of strategies.</a:t>
            </a:r>
          </a:p>
          <a:p>
            <a:pPr algn="l">
              <a:buFont typeface="+mj-lt"/>
              <a:buAutoNum type="arabicPeriod"/>
            </a:pPr>
            <a:r>
              <a:rPr lang="en-US" b="1" i="0" dirty="0">
                <a:solidFill>
                  <a:srgbClr val="D1D5DB"/>
                </a:solidFill>
                <a:effectLst/>
                <a:latin typeface="Söhne"/>
              </a:rPr>
              <a:t>Symmetric Game:</a:t>
            </a:r>
            <a:r>
              <a:rPr lang="en-US" b="0" i="0" dirty="0">
                <a:solidFill>
                  <a:srgbClr val="D1D5DB"/>
                </a:solidFill>
                <a:effectLst/>
                <a:latin typeface="Söhne"/>
              </a:rPr>
              <a:t> The game itself is symmetric and does not differentiate between the roles or identities of the players.</a:t>
            </a:r>
          </a:p>
          <a:p>
            <a:pPr algn="l"/>
            <a:r>
              <a:rPr lang="en-US" b="0" i="0" dirty="0">
                <a:solidFill>
                  <a:srgbClr val="D1D5DB"/>
                </a:solidFill>
                <a:effectLst/>
                <a:latin typeface="Söhne"/>
              </a:rPr>
              <a:t>These assumptions provide a foundation for analyzing the dynamics of games under these conditions.</a:t>
            </a:r>
          </a:p>
          <a:p>
            <a:endParaRPr lang="en-US" dirty="0"/>
          </a:p>
        </p:txBody>
      </p:sp>
    </p:spTree>
    <p:extLst>
      <p:ext uri="{BB962C8B-B14F-4D97-AF65-F5344CB8AC3E}">
        <p14:creationId xmlns:p14="http://schemas.microsoft.com/office/powerpoint/2010/main" val="660396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concept of symmetric games and the conditions for a Nash equilibrium in such games. Let me break down the terms and concepts you've mentioned:</a:t>
            </a:r>
          </a:p>
          <a:p>
            <a:pPr algn="l">
              <a:buFont typeface="+mj-lt"/>
              <a:buAutoNum type="arabicPeriod"/>
            </a:pPr>
            <a:r>
              <a:rPr lang="en-US" b="1" i="0" dirty="0">
                <a:solidFill>
                  <a:srgbClr val="FFFFFF"/>
                </a:solidFill>
                <a:effectLst/>
                <a:latin typeface="Söhne"/>
              </a:rPr>
              <a:t>Symmetric Games</a:t>
            </a:r>
            <a:r>
              <a:rPr lang="en-US" b="0" i="0" dirty="0">
                <a:solidFill>
                  <a:srgbClr val="FFFFFF"/>
                </a:solidFill>
                <a:effectLst/>
                <a:latin typeface="Söhne"/>
              </a:rPr>
              <a:t>: In symmetric games, players are interchangeable, meaning that there is no distinction between them. This interchangeability often occurs in games where the strategies and payoffs of each player are identical. In other words, if player A chooses strategy i, and player B chooses strategy j, the payoff for A is the same as the payoff for B when player B chooses strategy i and player A chooses strategy j, i.e., aᵢⱼ = bⱼᵢ. This interchangeability can be represented mathematically as A = B^T, where A is the payoff matrix and B^T is the transpose of B.</a:t>
            </a:r>
          </a:p>
          <a:p>
            <a:pPr algn="l">
              <a:buFont typeface="+mj-lt"/>
              <a:buAutoNum type="arabicPeriod"/>
            </a:pPr>
            <a:r>
              <a:rPr lang="en-US" b="1" i="0" dirty="0">
                <a:solidFill>
                  <a:srgbClr val="FFFFFF"/>
                </a:solidFill>
                <a:effectLst/>
                <a:latin typeface="Söhne"/>
              </a:rPr>
              <a:t>Symmetric Pairs</a:t>
            </a:r>
            <a:r>
              <a:rPr lang="en-US" b="0" i="0" dirty="0">
                <a:solidFill>
                  <a:srgbClr val="FFFFFF"/>
                </a:solidFill>
                <a:effectLst/>
                <a:latin typeface="Söhne"/>
              </a:rPr>
              <a:t>: In symmetric games, you only consider pairs of strategies where both players choose the same strategy. This is because, in such games, there is no distinction between the players, so (x, x) represents a symmetric pair of strategies.</a:t>
            </a:r>
          </a:p>
          <a:p>
            <a:pPr algn="l">
              <a:buFont typeface="+mj-lt"/>
              <a:buAutoNum type="arabicPeriod"/>
            </a:pPr>
            <a:r>
              <a:rPr lang="en-US" b="1" i="0" dirty="0">
                <a:solidFill>
                  <a:srgbClr val="FFFFFF"/>
                </a:solidFill>
                <a:effectLst/>
                <a:latin typeface="Söhne"/>
              </a:rPr>
              <a:t>Nash Equilibrium</a:t>
            </a:r>
            <a:r>
              <a:rPr lang="en-US" b="0" i="0" dirty="0">
                <a:solidFill>
                  <a:srgbClr val="FFFFFF"/>
                </a:solidFill>
                <a:effectLst/>
                <a:latin typeface="Söhne"/>
              </a:rPr>
              <a:t>: A Nash equilibrium is a set of strategies in which no player can improve their payoff by unilaterally changing their strategy, given that all other players are also playing their equilibrium strategies. In a symmetric game, a strategy x is a Nash equilibrium if, for all other strategies z, the following condition holds:</a:t>
            </a:r>
          </a:p>
          <a:p>
            <a:pPr algn="l">
              <a:buFont typeface="+mj-lt"/>
              <a:buAutoNum type="arabicPeriod"/>
            </a:pPr>
            <a:r>
              <a:rPr lang="en-US" b="0" i="0" dirty="0" err="1">
                <a:solidFill>
                  <a:srgbClr val="FFFFFF"/>
                </a:solidFill>
                <a:effectLst/>
                <a:latin typeface="Söhne"/>
              </a:rPr>
              <a:t>x^T</a:t>
            </a:r>
            <a:r>
              <a:rPr lang="en-US" b="0" i="0" dirty="0">
                <a:solidFill>
                  <a:srgbClr val="FFFFFF"/>
                </a:solidFill>
                <a:effectLst/>
                <a:latin typeface="Söhne"/>
              </a:rPr>
              <a:t> Ax ≥ </a:t>
            </a:r>
            <a:r>
              <a:rPr lang="en-US" b="0" i="0" dirty="0" err="1">
                <a:solidFill>
                  <a:srgbClr val="FFFFFF"/>
                </a:solidFill>
                <a:effectLst/>
                <a:latin typeface="Söhne"/>
              </a:rPr>
              <a:t>z^T</a:t>
            </a:r>
            <a:r>
              <a:rPr lang="en-US" b="0" i="0" dirty="0">
                <a:solidFill>
                  <a:srgbClr val="FFFFFF"/>
                </a:solidFill>
                <a:effectLst/>
                <a:latin typeface="Söhne"/>
              </a:rPr>
              <a:t> Ax</a:t>
            </a:r>
          </a:p>
          <a:p>
            <a:pPr algn="l">
              <a:buFont typeface="+mj-lt"/>
              <a:buAutoNum type="arabicPeriod"/>
            </a:pPr>
            <a:r>
              <a:rPr lang="en-US" b="0" i="0" dirty="0">
                <a:solidFill>
                  <a:srgbClr val="FFFFFF"/>
                </a:solidFill>
                <a:effectLst/>
                <a:latin typeface="Söhne"/>
              </a:rPr>
              <a:t>Here, </a:t>
            </a:r>
            <a:r>
              <a:rPr lang="en-US" b="0" i="0" dirty="0" err="1">
                <a:solidFill>
                  <a:srgbClr val="FFFFFF"/>
                </a:solidFill>
                <a:effectLst/>
                <a:latin typeface="Söhne"/>
              </a:rPr>
              <a:t>x^T</a:t>
            </a:r>
            <a:r>
              <a:rPr lang="en-US" b="0" i="0" dirty="0">
                <a:solidFill>
                  <a:srgbClr val="FFFFFF"/>
                </a:solidFill>
                <a:effectLst/>
                <a:latin typeface="Söhne"/>
              </a:rPr>
              <a:t> represents the transpose of the strategy vector x, A is the payoff matrix, and z is another strategy vector.</a:t>
            </a:r>
          </a:p>
          <a:p>
            <a:pPr algn="l"/>
            <a:r>
              <a:rPr lang="en-US" b="0" i="0" dirty="0">
                <a:solidFill>
                  <a:srgbClr val="FFFFFF"/>
                </a:solidFill>
                <a:effectLst/>
                <a:latin typeface="Söhne"/>
              </a:rPr>
              <a:t>In simpler terms, this condition means that the strategy x is a Nash equilibrium if the payoff obtained by playing x when all players play x is greater than or equal to the payoff obtained by playing any other strategy z when all players play x. In other words, no player has an incentive to deviate from the strategy x, given that all other players are also playing x.</a:t>
            </a:r>
          </a:p>
          <a:p>
            <a:pPr algn="l"/>
            <a:r>
              <a:rPr lang="en-US" b="0" i="0" dirty="0">
                <a:solidFill>
                  <a:srgbClr val="FFFFFF"/>
                </a:solidFill>
                <a:effectLst/>
                <a:latin typeface="Söhne"/>
              </a:rPr>
              <a:t>This condition ensures that no player can unilaterally improve their outcome by changing their strategy while others remain unchanged, which is the essence of a Nash equilibrium.</a:t>
            </a:r>
          </a:p>
          <a:p>
            <a:pPr algn="l"/>
            <a:r>
              <a:rPr lang="en-US" b="0" i="0" dirty="0">
                <a:solidFill>
                  <a:srgbClr val="FFFFFF"/>
                </a:solidFill>
                <a:effectLst/>
                <a:latin typeface="Söhne"/>
              </a:rPr>
              <a:t>In summary, in symmetric games, Nash equilibria are pairs of strategies (x, x) where the payoff for both players is maximized, and no player has an incentive to switch to a different strategy, as long as all other players are also playing the same strategy x.</a:t>
            </a:r>
          </a:p>
          <a:p>
            <a:br>
              <a:rPr lang="en-US" b="0" i="0" dirty="0">
                <a:solidFill>
                  <a:srgbClr val="FFFFFF"/>
                </a:solidFill>
                <a:effectLst/>
                <a:latin typeface="Söhne"/>
              </a:rPr>
            </a:br>
            <a:endParaRPr dirty="0"/>
          </a:p>
        </p:txBody>
      </p:sp>
    </p:spTree>
    <p:extLst>
      <p:ext uri="{BB962C8B-B14F-4D97-AF65-F5344CB8AC3E}">
        <p14:creationId xmlns:p14="http://schemas.microsoft.com/office/powerpoint/2010/main" val="1347740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statement "A dynamic process that always moves in the direction of increased payoff can only stop at a Nash Equilibrium" is a fundamental concept in game theory. It relates to the idea that rational players, who seek to maximize their payoffs, will tend to move towards a Nash Equilibrium over time as they adjust their strategies. This concept is often referred to as the "best response dynamics" or "imitation dynamics."</a:t>
            </a:r>
          </a:p>
          <a:p>
            <a:pPr algn="l"/>
            <a:r>
              <a:rPr lang="en-US" b="0" i="0" dirty="0">
                <a:solidFill>
                  <a:srgbClr val="FFFFFF"/>
                </a:solidFill>
                <a:effectLst/>
                <a:latin typeface="Söhne"/>
              </a:rPr>
              <a:t>Here's a more detailed explanation:</a:t>
            </a:r>
          </a:p>
          <a:p>
            <a:pPr algn="l">
              <a:buFont typeface="+mj-lt"/>
              <a:buAutoNum type="arabicPeriod"/>
            </a:pPr>
            <a:r>
              <a:rPr lang="en-US" b="1" i="0" dirty="0">
                <a:solidFill>
                  <a:srgbClr val="FFFFFF"/>
                </a:solidFill>
                <a:effectLst/>
                <a:latin typeface="Söhne"/>
              </a:rPr>
              <a:t>Best Response Dynamics</a:t>
            </a:r>
            <a:r>
              <a:rPr lang="en-US" b="0" i="0" dirty="0">
                <a:solidFill>
                  <a:srgbClr val="FFFFFF"/>
                </a:solidFill>
                <a:effectLst/>
                <a:latin typeface="Söhne"/>
              </a:rPr>
              <a:t>: In many game settings, players have the tendency to adjust their strategies in a way that improves their payoffs. This means that if a player observes that changing their strategy would result in a higher payoff, they are likely to make that change.</a:t>
            </a:r>
          </a:p>
          <a:p>
            <a:pPr algn="l">
              <a:buFont typeface="+mj-lt"/>
              <a:buAutoNum type="arabicPeriod"/>
            </a:pPr>
            <a:r>
              <a:rPr lang="en-US" b="1" i="0" dirty="0">
                <a:solidFill>
                  <a:srgbClr val="FFFFFF"/>
                </a:solidFill>
                <a:effectLst/>
                <a:latin typeface="Söhne"/>
              </a:rPr>
              <a:t>Convergence to Nash Equilibrium</a:t>
            </a:r>
            <a:r>
              <a:rPr lang="en-US" b="0" i="0" dirty="0">
                <a:solidFill>
                  <a:srgbClr val="FFFFFF"/>
                </a:solidFill>
                <a:effectLst/>
                <a:latin typeface="Söhne"/>
              </a:rPr>
              <a:t>: If all players in a game follow best response dynamics, continuously adjusting their strategies to maximize their payoffs, the process tends to converge towards a Nash Equilibrium. This is because, by definition, a Nash Equilibrium is a set of strategies where no player can unilaterally improve their payoff by changing their strategy while others keep their strategies fixed. So, as players iteratively update their strategies to improve their payoffs, they naturally gravitate towards a state where no one has an incentive to deviate further.</a:t>
            </a:r>
          </a:p>
          <a:p>
            <a:pPr algn="l"/>
            <a:r>
              <a:rPr lang="en-US" b="0" i="0" dirty="0">
                <a:solidFill>
                  <a:srgbClr val="FFFFFF"/>
                </a:solidFill>
                <a:effectLst/>
                <a:latin typeface="Söhne"/>
              </a:rPr>
              <a:t>Now, regarding your question about mutants overturning a Nash Equilibrium:</a:t>
            </a:r>
          </a:p>
          <a:p>
            <a:pPr algn="l">
              <a:buFont typeface="+mj-lt"/>
              <a:buAutoNum type="arabicPeriod" startAt="3"/>
            </a:pPr>
            <a:r>
              <a:rPr lang="en-US" b="1" i="0" dirty="0">
                <a:solidFill>
                  <a:srgbClr val="FFFFFF"/>
                </a:solidFill>
                <a:effectLst/>
                <a:latin typeface="Söhne"/>
              </a:rPr>
              <a:t>Mutants and Nash Equilibrium</a:t>
            </a:r>
            <a:r>
              <a:rPr lang="en-US" b="0" i="0" dirty="0">
                <a:solidFill>
                  <a:srgbClr val="FFFFFF"/>
                </a:solidFill>
                <a:effectLst/>
                <a:latin typeface="Söhne"/>
              </a:rPr>
              <a:t>: In the context of a Nash Equilibrium, a "mutant" refers to a player who deviates from the equilibrium strategy. If a Nash Equilibrium is reached, it means that, at that moment, no player has an incentive to change their strategy given what others are doing.</a:t>
            </a:r>
          </a:p>
          <a:p>
            <a:pPr algn="l">
              <a:buFont typeface="+mj-lt"/>
              <a:buAutoNum type="arabicPeriod" startAt="3"/>
            </a:pPr>
            <a:r>
              <a:rPr lang="en-US" b="1" i="0" dirty="0">
                <a:solidFill>
                  <a:srgbClr val="FFFFFF"/>
                </a:solidFill>
                <a:effectLst/>
                <a:latin typeface="Söhne"/>
              </a:rPr>
              <a:t>Overturning a Nash Equilibrium</a:t>
            </a:r>
            <a:r>
              <a:rPr lang="en-US" b="0" i="0" dirty="0">
                <a:solidFill>
                  <a:srgbClr val="FFFFFF"/>
                </a:solidFill>
                <a:effectLst/>
                <a:latin typeface="Söhne"/>
              </a:rPr>
              <a:t>: It is possible for a mutant to overturn a Nash Equilibrium if their deviation creates a new set of strategies that forms a new equilibrium. This new equilibrium may result in different payoffs for the players involved. However, overturning an existing Nash Equilibrium typically requires that the mutant's deviation is profitable for them and potentially prompts other players to change their strategies in response. This can lead to a shift away from the original equilibrium.</a:t>
            </a:r>
          </a:p>
          <a:p>
            <a:pPr algn="l"/>
            <a:r>
              <a:rPr lang="en-US" b="0" i="0" dirty="0">
                <a:solidFill>
                  <a:srgbClr val="FFFFFF"/>
                </a:solidFill>
                <a:effectLst/>
                <a:latin typeface="Söhne"/>
              </a:rPr>
              <a:t>In summary, while Nash Equilibria represent stable points in a game where players have no incentive to unilaterally change their strategies, a mutant player can potentially disrupt an existing equilibrium by deviating if their deviation leads to a new equilibrium with different payoffs. Whether or not this occurs depends on the specific dynamics of the game and the strategies chosen by the mutant and other players in response to the deviation.</a:t>
            </a:r>
          </a:p>
          <a:p>
            <a:br>
              <a:rPr lang="en-US" b="0" i="0" dirty="0">
                <a:solidFill>
                  <a:srgbClr val="FFFFFF"/>
                </a:solidFill>
                <a:effectLst/>
                <a:latin typeface="Söhne"/>
              </a:rPr>
            </a:b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In the context of evolutionary game theory, an Evolutionarily Stable Strategy (ESS) is a strategy that, if adopted by a population, cannot be invaded by a mutant strategy under the process of natural selection. In other words, an ESS is a strategy that is resistant to being replaced by an alternative strategy when introduced into a population.</a:t>
            </a:r>
          </a:p>
          <a:p>
            <a:pPr algn="l"/>
            <a:r>
              <a:rPr lang="en-US" b="0" i="0" dirty="0">
                <a:solidFill>
                  <a:srgbClr val="D1D5DB"/>
                </a:solidFill>
                <a:effectLst/>
                <a:latin typeface="Söhne"/>
              </a:rPr>
              <a:t>To determine the condition for selection to oppose the invasion of a mutant strategy, you need to consider the concept of the "invasion fitness" of the mutant strategy compared to the resident (existing) strategy in the population.</a:t>
            </a:r>
          </a:p>
          <a:p>
            <a:pPr algn="l"/>
            <a:r>
              <a:rPr lang="en-US" b="0" i="0" dirty="0">
                <a:solidFill>
                  <a:srgbClr val="D1D5DB"/>
                </a:solidFill>
                <a:effectLst/>
                <a:latin typeface="Söhne"/>
              </a:rPr>
              <a:t>Here's the condition for selection to oppose the invasion of a mutant strategy:</a:t>
            </a:r>
          </a:p>
          <a:p>
            <a:pPr algn="l"/>
            <a:r>
              <a:rPr lang="en-US" b="1" i="0" dirty="0">
                <a:solidFill>
                  <a:srgbClr val="D1D5DB"/>
                </a:solidFill>
                <a:effectLst/>
                <a:latin typeface="Söhne"/>
              </a:rPr>
              <a:t>Definition of an ESS</a:t>
            </a:r>
            <a:r>
              <a:rPr lang="en-US" b="0" i="0" dirty="0">
                <a:solidFill>
                  <a:srgbClr val="D1D5DB"/>
                </a:solidFill>
                <a:effectLst/>
                <a:latin typeface="Söhne"/>
              </a:rPr>
              <a:t>: A strategy x is an ESS if, and only if:</a:t>
            </a:r>
          </a:p>
          <a:p>
            <a:pPr algn="l">
              <a:buFont typeface="+mj-lt"/>
              <a:buAutoNum type="arabicPeriod"/>
            </a:pPr>
            <a:r>
              <a:rPr lang="en-US" b="0" i="0" dirty="0">
                <a:solidFill>
                  <a:srgbClr val="D1D5DB"/>
                </a:solidFill>
                <a:effectLst/>
                <a:latin typeface="Söhne"/>
              </a:rPr>
              <a:t>Strategy x is already present in the population as the resident strategy.</a:t>
            </a:r>
          </a:p>
          <a:p>
            <a:pPr algn="l">
              <a:buFont typeface="+mj-lt"/>
              <a:buAutoNum type="arabicPeriod"/>
            </a:pPr>
            <a:r>
              <a:rPr lang="en-US" b="0" i="0" dirty="0">
                <a:solidFill>
                  <a:srgbClr val="D1D5DB"/>
                </a:solidFill>
                <a:effectLst/>
                <a:latin typeface="Söhne"/>
              </a:rPr>
              <a:t>A mutant strategy y is introduced into the population, with a small proportion of individuals playing y.</a:t>
            </a:r>
          </a:p>
          <a:p>
            <a:pPr algn="l">
              <a:buFont typeface="+mj-lt"/>
              <a:buAutoNum type="arabicPeriod"/>
            </a:pPr>
            <a:r>
              <a:rPr lang="en-US" b="0" i="0" dirty="0">
                <a:solidFill>
                  <a:srgbClr val="D1D5DB"/>
                </a:solidFill>
                <a:effectLst/>
                <a:latin typeface="Söhne"/>
              </a:rPr>
              <a:t>The expected payoff (fitness) of the mutant strategy y when interacting with the resident strategy x is </a:t>
            </a:r>
            <a:r>
              <a:rPr lang="en-US" b="1" i="0" dirty="0">
                <a:solidFill>
                  <a:srgbClr val="D1D5DB"/>
                </a:solidFill>
                <a:effectLst/>
                <a:latin typeface="Söhne"/>
              </a:rPr>
              <a:t>less than or equal to</a:t>
            </a:r>
            <a:r>
              <a:rPr lang="en-US" b="0" i="0" dirty="0">
                <a:solidFill>
                  <a:srgbClr val="D1D5DB"/>
                </a:solidFill>
                <a:effectLst/>
                <a:latin typeface="Söhne"/>
              </a:rPr>
              <a:t> the expected payoff of the resident strategy x when interacting with itself.</a:t>
            </a:r>
          </a:p>
          <a:p>
            <a:pPr algn="l"/>
            <a:r>
              <a:rPr lang="en-US" b="0" i="0" dirty="0">
                <a:solidFill>
                  <a:srgbClr val="D1D5DB"/>
                </a:solidFill>
                <a:effectLst/>
                <a:latin typeface="Söhne"/>
              </a:rPr>
              <a:t>Mathematically, this condition can be expressed as:</a:t>
            </a:r>
          </a:p>
          <a:p>
            <a:pPr algn="l"/>
            <a:r>
              <a:rPr lang="en-US" b="0" i="0" dirty="0">
                <a:solidFill>
                  <a:srgbClr val="D1D5DB"/>
                </a:solidFill>
                <a:effectLst/>
                <a:latin typeface="Söhne"/>
              </a:rPr>
              <a:t>u(y, x) ≤ u(x, x)</a:t>
            </a:r>
          </a:p>
          <a:p>
            <a:pPr algn="l"/>
            <a:r>
              <a:rPr lang="en-US" b="0" i="0" dirty="0">
                <a:solidFill>
                  <a:srgbClr val="D1D5DB"/>
                </a:solidFill>
                <a:effectLst/>
                <a:latin typeface="Söhne"/>
              </a:rPr>
              <a:t>Where:</a:t>
            </a:r>
          </a:p>
          <a:p>
            <a:pPr algn="l">
              <a:buFont typeface="Arial" panose="020B0604020202020204" pitchFamily="34" charset="0"/>
              <a:buChar char="•"/>
            </a:pPr>
            <a:r>
              <a:rPr lang="en-US" b="0" i="0" dirty="0">
                <a:solidFill>
                  <a:srgbClr val="D1D5DB"/>
                </a:solidFill>
                <a:effectLst/>
                <a:latin typeface="Söhne"/>
              </a:rPr>
              <a:t>u(y, x) represents the expected payoff (fitness) of the mutant strategy y when it interacts with the resident strategy x.</a:t>
            </a:r>
          </a:p>
          <a:p>
            <a:pPr algn="l">
              <a:buFont typeface="Arial" panose="020B0604020202020204" pitchFamily="34" charset="0"/>
              <a:buChar char="•"/>
            </a:pPr>
            <a:r>
              <a:rPr lang="en-US" b="0" i="0" dirty="0">
                <a:solidFill>
                  <a:srgbClr val="D1D5DB"/>
                </a:solidFill>
                <a:effectLst/>
                <a:latin typeface="Söhne"/>
              </a:rPr>
              <a:t>u(x, x) represents the expected payoff (fitness) of the resident strategy x when it interacts with itself.</a:t>
            </a:r>
          </a:p>
          <a:p>
            <a:pPr algn="l"/>
            <a:r>
              <a:rPr lang="en-US" b="0" i="0" dirty="0">
                <a:solidFill>
                  <a:srgbClr val="D1D5DB"/>
                </a:solidFill>
                <a:effectLst/>
                <a:latin typeface="Söhne"/>
              </a:rPr>
              <a:t>In simpler terms, the mutant strategy y must perform worse (or at least not perform better) than the resident strategy x when both interact with the same strategy x. This condition ensures that the mutant strategy cannot invade and replace the resident strategy because it is not as fit as the resident strategy when playing against itself.</a:t>
            </a:r>
          </a:p>
          <a:p>
            <a:pPr algn="l"/>
            <a:r>
              <a:rPr lang="en-US" b="0" i="0" dirty="0">
                <a:solidFill>
                  <a:srgbClr val="D1D5DB"/>
                </a:solidFill>
                <a:effectLst/>
                <a:latin typeface="Söhne"/>
              </a:rPr>
              <a:t>This concept is closely related to the idea of natural selection favoring strategies that result in higher payoffs, as strategies with higher payoffs are more likely to persist and dominate a population over time.</a:t>
            </a:r>
          </a:p>
          <a:p>
            <a:pPr algn="l"/>
            <a:r>
              <a:rPr lang="en-US" b="0" i="0" dirty="0">
                <a:solidFill>
                  <a:srgbClr val="D1D5DB"/>
                </a:solidFill>
                <a:effectLst/>
                <a:latin typeface="Söhne"/>
              </a:rPr>
              <a:t>In summary, for natural selection to oppose the invasion of a mutant strategy, the mutant strategy must perform worse or at least not perform better than the resident strategy when they interact with each other. This is a fundamental condition for an Evolutionarily Stable Strategy (ESS).</a:t>
            </a:r>
          </a:p>
          <a:p>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a competitive scenario among beetles in which the size of the beetles plays a crucial role in determining their access to food resources and their fitness. This scenario can be analyzed using concepts from ecology and evolutionary biology.</a:t>
            </a:r>
          </a:p>
          <a:p>
            <a:pPr algn="l"/>
            <a:r>
              <a:rPr lang="en-US" b="0" i="0" dirty="0">
                <a:solidFill>
                  <a:srgbClr val="FFFFFF"/>
                </a:solidFill>
                <a:effectLst/>
                <a:latin typeface="Söhne"/>
              </a:rPr>
              <a:t>In this context:</a:t>
            </a:r>
          </a:p>
          <a:p>
            <a:pPr algn="l">
              <a:buFont typeface="+mj-lt"/>
              <a:buAutoNum type="arabicPeriod"/>
            </a:pPr>
            <a:r>
              <a:rPr lang="en-US" b="1" i="0" dirty="0">
                <a:solidFill>
                  <a:srgbClr val="FFFFFF"/>
                </a:solidFill>
                <a:effectLst/>
                <a:latin typeface="Söhne"/>
              </a:rPr>
              <a:t>Beetles of the Same Size Get Equal Shares of Food</a:t>
            </a:r>
            <a:r>
              <a:rPr lang="en-US" b="0" i="0" dirty="0">
                <a:solidFill>
                  <a:srgbClr val="FFFFFF"/>
                </a:solidFill>
                <a:effectLst/>
                <a:latin typeface="Söhne"/>
              </a:rPr>
              <a:t>: This suggests that when beetles of the same size compete, they have similar abilities to access and obtain food resources. This might be because they have similar feeding mechanisms or competitive abilities, resulting in an equitable distribution of food resources among them.</a:t>
            </a:r>
          </a:p>
          <a:p>
            <a:pPr algn="l">
              <a:buFont typeface="+mj-lt"/>
              <a:buAutoNum type="arabicPeriod"/>
            </a:pPr>
            <a:r>
              <a:rPr lang="en-US" b="1" i="0" dirty="0">
                <a:solidFill>
                  <a:srgbClr val="FFFFFF"/>
                </a:solidFill>
                <a:effectLst/>
                <a:latin typeface="Söhne"/>
              </a:rPr>
              <a:t>Large Beetles vs. Small Beetles</a:t>
            </a:r>
            <a:r>
              <a:rPr lang="en-US" b="0" i="0" dirty="0">
                <a:solidFill>
                  <a:srgbClr val="FFFFFF"/>
                </a:solidFill>
                <a:effectLst/>
                <a:latin typeface="Söhne"/>
              </a:rPr>
              <a:t>: When a large beetle competes with a small beetle, the large beetle outcompetes the small beetle for food and obtains the majority of the food resources. This might be due to size-related advantages, such as greater physical strength or the ability to intimidate smaller beetles.</a:t>
            </a:r>
          </a:p>
          <a:p>
            <a:pPr algn="l">
              <a:buFont typeface="+mj-lt"/>
              <a:buAutoNum type="arabicPeriod"/>
            </a:pPr>
            <a:r>
              <a:rPr lang="en-US" b="1" i="0" dirty="0">
                <a:solidFill>
                  <a:srgbClr val="FFFFFF"/>
                </a:solidFill>
                <a:effectLst/>
                <a:latin typeface="Söhne"/>
              </a:rPr>
              <a:t>Metabolic Costs for Large Beetles</a:t>
            </a:r>
            <a:r>
              <a:rPr lang="en-US" b="0" i="0" dirty="0">
                <a:solidFill>
                  <a:srgbClr val="FFFFFF"/>
                </a:solidFill>
                <a:effectLst/>
                <a:latin typeface="Söhne"/>
              </a:rPr>
              <a:t>: Despite obtaining more food, large beetles experience reduced fitness benefits from the food they acquire because a portion of it is diverted into maintaining their expensive metabolism. This phenomenon is consistent with the concept that larger organisms often have higher metabolic rates, which require more energy to sustain.</a:t>
            </a:r>
          </a:p>
          <a:p>
            <a:pPr algn="l"/>
            <a:r>
              <a:rPr lang="en-US" b="0" i="0" dirty="0">
                <a:solidFill>
                  <a:srgbClr val="FFFFFF"/>
                </a:solidFill>
                <a:effectLst/>
                <a:latin typeface="Söhne"/>
              </a:rPr>
              <a:t>In ecological and evolutionary terms, this scenario can be related to resource competition, size-dependent advantage, and trade-offs between resource acquisition and maintenance costs:</a:t>
            </a:r>
          </a:p>
          <a:p>
            <a:pPr algn="l">
              <a:buFont typeface="Arial" panose="020B0604020202020204" pitchFamily="34" charset="0"/>
              <a:buChar char="•"/>
            </a:pPr>
            <a:r>
              <a:rPr lang="en-US" b="1" i="0" dirty="0">
                <a:solidFill>
                  <a:srgbClr val="FFFFFF"/>
                </a:solidFill>
                <a:effectLst/>
                <a:latin typeface="Söhne"/>
              </a:rPr>
              <a:t>Resource Competition</a:t>
            </a:r>
            <a:r>
              <a:rPr lang="en-US" b="0" i="0" dirty="0">
                <a:solidFill>
                  <a:srgbClr val="FFFFFF"/>
                </a:solidFill>
                <a:effectLst/>
                <a:latin typeface="Söhne"/>
              </a:rPr>
              <a:t>: The competition for limited food resources among beetles can lead to the success of certain individuals (e.g., large beetles) over others (e.g., small beetles), depending on their competitive abilities and resource acquisition strategies.</a:t>
            </a:r>
          </a:p>
          <a:p>
            <a:pPr algn="l">
              <a:buFont typeface="Arial" panose="020B0604020202020204" pitchFamily="34" charset="0"/>
              <a:buChar char="•"/>
            </a:pPr>
            <a:r>
              <a:rPr lang="en-US" b="1" i="0" dirty="0">
                <a:solidFill>
                  <a:srgbClr val="FFFFFF"/>
                </a:solidFill>
                <a:effectLst/>
                <a:latin typeface="Söhne"/>
              </a:rPr>
              <a:t>Size-Dependent Advantage</a:t>
            </a:r>
            <a:r>
              <a:rPr lang="en-US" b="0" i="0" dirty="0">
                <a:solidFill>
                  <a:srgbClr val="FFFFFF"/>
                </a:solidFill>
                <a:effectLst/>
                <a:latin typeface="Söhne"/>
              </a:rPr>
              <a:t>: The fact that large beetles tend to dominate in competition with smaller beetles highlights a size-dependent advantage. In some cases, larger individuals may have greater access to resources due to their size-related traits or abilities.</a:t>
            </a:r>
          </a:p>
          <a:p>
            <a:pPr algn="l">
              <a:buFont typeface="Arial" panose="020B0604020202020204" pitchFamily="34" charset="0"/>
              <a:buChar char="•"/>
            </a:pPr>
            <a:r>
              <a:rPr lang="en-US" b="1" i="0" dirty="0">
                <a:solidFill>
                  <a:srgbClr val="FFFFFF"/>
                </a:solidFill>
                <a:effectLst/>
                <a:latin typeface="Söhne"/>
              </a:rPr>
              <a:t>Trade-Offs</a:t>
            </a:r>
            <a:r>
              <a:rPr lang="en-US" b="0" i="0" dirty="0">
                <a:solidFill>
                  <a:srgbClr val="FFFFFF"/>
                </a:solidFill>
                <a:effectLst/>
                <a:latin typeface="Söhne"/>
              </a:rPr>
              <a:t>: The observation that large beetles experience reduced fitness benefits due to higher metabolic costs illustrates a trade-off. In evolutionary biology, organisms often face trade-offs between allocating resources to growth and maintenance (e.g., metabolism) versus reproduction and other fitness-related activities.</a:t>
            </a:r>
          </a:p>
          <a:p>
            <a:pPr algn="l"/>
            <a:r>
              <a:rPr lang="en-US" b="0" i="0" dirty="0">
                <a:solidFill>
                  <a:srgbClr val="FFFFFF"/>
                </a:solidFill>
                <a:effectLst/>
                <a:latin typeface="Söhne"/>
              </a:rPr>
              <a:t>Overall, this scenario showcases how ecological interactions and trade-offs can shape the distribution of resources and the fitness outcomes of individuals within a population of beetles, considering their size-related differences and competitive dynamics.</a:t>
            </a:r>
          </a:p>
          <a:p>
            <a:br>
              <a:rPr lang="en-US" b="0" i="0" dirty="0">
                <a:solidFill>
                  <a:srgbClr val="FFFFFF"/>
                </a:solidFill>
                <a:effectLst/>
                <a:latin typeface="Söhne"/>
              </a:rPr>
            </a:b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 table you've provided appears to represent a simplified two-player game or a strategic interaction between two types of beetles, Small and Large, where each player, Beetle 1 and Beetle 2, can choose between two strategies: Small or Large. The numbers in each cell of the table represent the payoffs (or benefits) to the respective players based on their chosen strategies.</a:t>
            </a:r>
          </a:p>
          <a:p>
            <a:pPr algn="l"/>
            <a:r>
              <a:rPr lang="en-US" b="0" i="0" dirty="0">
                <a:solidFill>
                  <a:srgbClr val="D1D5DB"/>
                </a:solidFill>
                <a:effectLst/>
                <a:latin typeface="Söhne"/>
              </a:rPr>
              <a:t>Here's how to interpret the payoffs:</a:t>
            </a:r>
          </a:p>
          <a:p>
            <a:pPr marL="171450" indent="-171450" algn="l">
              <a:buFont typeface="Arial" panose="020B0604020202020204" pitchFamily="34" charset="0"/>
              <a:buChar char="•"/>
            </a:pPr>
            <a:r>
              <a:rPr lang="en-US" b="0" i="0" dirty="0">
                <a:solidFill>
                  <a:srgbClr val="D1D5DB"/>
                </a:solidFill>
                <a:effectLst/>
                <a:latin typeface="Söhne"/>
              </a:rPr>
              <a:t>When both Beetle 1 and Beetle 2 choose the Small strategy, they each receive a payoff of 5.</a:t>
            </a:r>
          </a:p>
          <a:p>
            <a:pPr marL="171450" indent="-171450" algn="l">
              <a:buFont typeface="Arial" panose="020B0604020202020204" pitchFamily="34" charset="0"/>
              <a:buChar char="•"/>
            </a:pPr>
            <a:r>
              <a:rPr lang="en-US" b="0" i="0" dirty="0">
                <a:solidFill>
                  <a:srgbClr val="D1D5DB"/>
                </a:solidFill>
                <a:effectLst/>
                <a:latin typeface="Söhne"/>
              </a:rPr>
              <a:t>When Beetle 1 chooses the Small strategy (row) and Beetle 2 chooses the Large strategy (column), Beetle 1 receives a payoff of 1, and Beetle 2 receives a payoff of 8.</a:t>
            </a:r>
          </a:p>
          <a:p>
            <a:pPr marL="171450" indent="-171450" algn="l">
              <a:buFont typeface="Arial" panose="020B0604020202020204" pitchFamily="34" charset="0"/>
              <a:buChar char="•"/>
            </a:pPr>
            <a:r>
              <a:rPr lang="en-US" b="0" i="0" dirty="0">
                <a:solidFill>
                  <a:srgbClr val="D1D5DB"/>
                </a:solidFill>
                <a:effectLst/>
                <a:latin typeface="Söhne"/>
              </a:rPr>
              <a:t>When Beetle 1 chooses the Large strategy (row) and Beetle 2 chooses the Small strategy (column), Beetle 1 receives a payoff of 8, and Beetle 2 receives a payoff of 1.</a:t>
            </a:r>
          </a:p>
          <a:p>
            <a:pPr marL="171450" indent="-171450" algn="l">
              <a:buFont typeface="Arial" panose="020B0604020202020204" pitchFamily="34" charset="0"/>
              <a:buChar char="•"/>
            </a:pPr>
            <a:r>
              <a:rPr lang="en-US" b="0" i="0" dirty="0">
                <a:solidFill>
                  <a:srgbClr val="D1D5DB"/>
                </a:solidFill>
                <a:effectLst/>
                <a:latin typeface="Söhne"/>
              </a:rPr>
              <a:t>When both Beetle 1 and Beetle 2 choose the Large strategy, they each receive a payoff of 3.</a:t>
            </a:r>
          </a:p>
          <a:p>
            <a:pPr algn="l"/>
            <a:r>
              <a:rPr lang="en-US" b="0" i="0" dirty="0">
                <a:solidFill>
                  <a:srgbClr val="D1D5DB"/>
                </a:solidFill>
                <a:effectLst/>
                <a:latin typeface="Söhne"/>
              </a:rPr>
              <a:t>These payoffs represent the outcomes of their interactions in a competitive context. The numbers reflect the relative fitness or success of each type of beetle based on their strategy choices.</a:t>
            </a:r>
          </a:p>
          <a:p>
            <a:pPr algn="l"/>
            <a:r>
              <a:rPr lang="en-US" b="0" i="0" dirty="0">
                <a:solidFill>
                  <a:srgbClr val="D1D5DB"/>
                </a:solidFill>
                <a:effectLst/>
                <a:latin typeface="Söhne"/>
              </a:rPr>
              <a:t>For example, if Beetle 1 chooses Small and Beetle 2 chooses Large, Beetle 1 gets a low payoff of 1, while Beetle 2 gets a high payoff of 8, suggesting that in this interaction, a Large beetle has a competitive advantage over a Small one.</a:t>
            </a:r>
          </a:p>
          <a:p>
            <a:pPr algn="l"/>
            <a:r>
              <a:rPr lang="en-US" b="0" i="0" dirty="0">
                <a:solidFill>
                  <a:srgbClr val="D1D5DB"/>
                </a:solidFill>
                <a:effectLst/>
                <a:latin typeface="Söhne"/>
              </a:rPr>
              <a:t>In this game, there are several possible equilibria:</a:t>
            </a:r>
          </a:p>
          <a:p>
            <a:pPr marL="228600" indent="-228600" algn="l">
              <a:buFont typeface="+mj-lt"/>
              <a:buAutoNum type="arabicPeriod"/>
            </a:pPr>
            <a:r>
              <a:rPr lang="en-US" b="0" i="0" dirty="0">
                <a:solidFill>
                  <a:srgbClr val="D1D5DB"/>
                </a:solidFill>
                <a:effectLst/>
                <a:latin typeface="Söhne"/>
              </a:rPr>
              <a:t>(Small, Small) is a Nash equilibrium because neither player has an incentive to unilaterally deviate to a different strategy, as both receive a payoff of 5, which is the best they can achieve when the other player chooses Small.</a:t>
            </a:r>
          </a:p>
          <a:p>
            <a:pPr marL="228600" indent="-228600" algn="l">
              <a:buFont typeface="+mj-lt"/>
              <a:buAutoNum type="arabicPeriod"/>
            </a:pPr>
            <a:r>
              <a:rPr lang="en-US" b="0" i="0" dirty="0">
                <a:solidFill>
                  <a:srgbClr val="D1D5DB"/>
                </a:solidFill>
                <a:effectLst/>
                <a:latin typeface="Söhne"/>
              </a:rPr>
              <a:t>(Large, Large) is also a Nash equilibrium for the same reason. Neither player has an incentive to change strategy because they both receive a payoff of 3, which is the best they can achieve when the other player chooses Large.</a:t>
            </a:r>
          </a:p>
          <a:p>
            <a:pPr marL="228600" indent="-228600" algn="l">
              <a:buFont typeface="+mj-lt"/>
              <a:buAutoNum type="arabicPeriod"/>
            </a:pPr>
            <a:r>
              <a:rPr lang="en-US" b="0" i="0" dirty="0">
                <a:solidFill>
                  <a:srgbClr val="D1D5DB"/>
                </a:solidFill>
                <a:effectLst/>
                <a:latin typeface="Söhne"/>
              </a:rPr>
              <a:t>(Small, Large) and (Large, Small) are not Nash equilibria because in both cases, one player has an incentive to switch to the strategy chosen by the other player to improve their payoff.</a:t>
            </a:r>
          </a:p>
          <a:p>
            <a:pPr algn="l"/>
            <a:r>
              <a:rPr lang="en-US" b="0" i="0" dirty="0">
                <a:solidFill>
                  <a:srgbClr val="D1D5DB"/>
                </a:solidFill>
                <a:effectLst/>
                <a:latin typeface="Söhne"/>
              </a:rPr>
              <a:t>The outcome of which equilibrium is reached in a population of these beetles would depend on factors such as the initial distribution of strategies and the dynamics of how they interact and adapt over time.</a:t>
            </a:r>
          </a:p>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In evolutionary game theory, determining whether a strategy is evolutionarily stable involves analyzing whether a mutant strategy can invade and replace the resident strategy within a population. In this case, we are considering the invasion of a small mutant (x) into a population where large beetles are the majority (1 - x).</a:t>
            </a:r>
          </a:p>
          <a:p>
            <a:pPr algn="l"/>
            <a:r>
              <a:rPr lang="en-US" b="0" i="0" dirty="0">
                <a:solidFill>
                  <a:srgbClr val="FFFFFF"/>
                </a:solidFill>
                <a:effectLst/>
                <a:latin typeface="Söhne"/>
              </a:rPr>
              <a:t>Let's break down the provided calculations:</a:t>
            </a:r>
          </a:p>
          <a:p>
            <a:pPr algn="l">
              <a:buFont typeface="+mj-lt"/>
              <a:buAutoNum type="arabicPeriod"/>
            </a:pPr>
            <a:r>
              <a:rPr lang="en-US" b="1" i="0" dirty="0">
                <a:solidFill>
                  <a:srgbClr val="FFFFFF"/>
                </a:solidFill>
                <a:effectLst/>
                <a:latin typeface="Söhne"/>
              </a:rPr>
              <a:t>Payoff of Large Beetles in a Population where Large is the Majority (x is close to 0):</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Payoff for Large Beetles: 8 * x + 3 * (1 - x)</a:t>
            </a:r>
          </a:p>
          <a:p>
            <a:pPr marL="742950" lvl="1" indent="-285750" algn="l">
              <a:buFont typeface="+mj-lt"/>
              <a:buAutoNum type="arabicPeriod"/>
            </a:pPr>
            <a:r>
              <a:rPr lang="en-US" b="0" i="0" dirty="0">
                <a:solidFill>
                  <a:srgbClr val="FFFFFF"/>
                </a:solidFill>
                <a:effectLst/>
                <a:latin typeface="Söhne"/>
              </a:rPr>
              <a:t>Simplifying: 8x + 3 - 3x</a:t>
            </a:r>
          </a:p>
          <a:p>
            <a:pPr marL="742950" lvl="1" indent="-285750" algn="l">
              <a:buFont typeface="+mj-lt"/>
              <a:buAutoNum type="arabicPeriod"/>
            </a:pPr>
            <a:r>
              <a:rPr lang="en-US" b="0" i="0" dirty="0">
                <a:solidFill>
                  <a:srgbClr val="FFFFFF"/>
                </a:solidFill>
                <a:effectLst/>
                <a:latin typeface="Söhne"/>
              </a:rPr>
              <a:t>This results in a payoff of 5x + 3 for Large Beetles.</a:t>
            </a:r>
          </a:p>
          <a:p>
            <a:pPr algn="l">
              <a:buFont typeface="+mj-lt"/>
              <a:buAutoNum type="arabicPeriod"/>
            </a:pPr>
            <a:r>
              <a:rPr lang="en-US" b="1" i="0" dirty="0">
                <a:solidFill>
                  <a:srgbClr val="FFFFFF"/>
                </a:solidFill>
                <a:effectLst/>
                <a:latin typeface="Söhne"/>
              </a:rPr>
              <a:t>Payoff of Small Beetles in the Same Population:</a:t>
            </a:r>
            <a:endParaRPr lang="en-US" b="0" i="0" dirty="0">
              <a:solidFill>
                <a:srgbClr val="FFFFFF"/>
              </a:solidFill>
              <a:effectLst/>
              <a:latin typeface="Söhne"/>
            </a:endParaRPr>
          </a:p>
          <a:p>
            <a:pPr marL="742950" lvl="1" indent="-285750" algn="l">
              <a:buFont typeface="+mj-lt"/>
              <a:buAutoNum type="arabicPeriod"/>
            </a:pPr>
            <a:r>
              <a:rPr lang="en-US" b="0" i="0" dirty="0">
                <a:solidFill>
                  <a:srgbClr val="FFFFFF"/>
                </a:solidFill>
                <a:effectLst/>
                <a:latin typeface="Söhne"/>
              </a:rPr>
              <a:t>Payoff for Small Beetles: 5 * x + 1 * (1 - x)</a:t>
            </a:r>
          </a:p>
          <a:p>
            <a:pPr marL="742950" lvl="1" indent="-285750" algn="l">
              <a:buFont typeface="+mj-lt"/>
              <a:buAutoNum type="arabicPeriod"/>
            </a:pPr>
            <a:r>
              <a:rPr lang="en-US" b="0" i="0" dirty="0">
                <a:solidFill>
                  <a:srgbClr val="FFFFFF"/>
                </a:solidFill>
                <a:effectLst/>
                <a:latin typeface="Söhne"/>
              </a:rPr>
              <a:t>Simplifying: 5x + 1 - x</a:t>
            </a:r>
          </a:p>
          <a:p>
            <a:pPr marL="742950" lvl="1" indent="-285750" algn="l">
              <a:buFont typeface="+mj-lt"/>
              <a:buAutoNum type="arabicPeriod"/>
            </a:pPr>
            <a:r>
              <a:rPr lang="en-US" b="0" i="0" dirty="0">
                <a:solidFill>
                  <a:srgbClr val="FFFFFF"/>
                </a:solidFill>
                <a:effectLst/>
                <a:latin typeface="Söhne"/>
              </a:rPr>
              <a:t>This results in a payoff of 4x + 1 for Small Beetles.</a:t>
            </a:r>
          </a:p>
          <a:p>
            <a:pPr algn="l"/>
            <a:r>
              <a:rPr lang="en-US" b="0" i="0" dirty="0">
                <a:solidFill>
                  <a:srgbClr val="FFFFFF"/>
                </a:solidFill>
                <a:effectLst/>
                <a:latin typeface="Söhne"/>
              </a:rPr>
              <a:t>Now, we want to determine whether Large Beetles are evolutionarily stable in this population. To do so, we need to compare the fitness (payoff) of the resident strategy (Large Beetles) to that of the mutant strategy (Small Beetles).</a:t>
            </a:r>
          </a:p>
          <a:p>
            <a:pPr algn="l">
              <a:buFont typeface="Arial" panose="020B0604020202020204" pitchFamily="34" charset="0"/>
              <a:buChar char="•"/>
            </a:pPr>
            <a:r>
              <a:rPr lang="en-US" b="1" i="0" dirty="0">
                <a:solidFill>
                  <a:srgbClr val="FFFFFF"/>
                </a:solidFill>
                <a:effectLst/>
                <a:latin typeface="Söhne"/>
              </a:rPr>
              <a:t>Resident Strategy (Large Beetles):</a:t>
            </a:r>
            <a:r>
              <a:rPr lang="en-US" b="0" i="0" dirty="0">
                <a:solidFill>
                  <a:srgbClr val="FFFFFF"/>
                </a:solidFill>
                <a:effectLst/>
                <a:latin typeface="Söhne"/>
              </a:rPr>
              <a:t> Fitness is 5x + 3.</a:t>
            </a:r>
          </a:p>
          <a:p>
            <a:pPr algn="l">
              <a:buFont typeface="Arial" panose="020B0604020202020204" pitchFamily="34" charset="0"/>
              <a:buChar char="•"/>
            </a:pPr>
            <a:r>
              <a:rPr lang="en-US" b="1" i="0" dirty="0">
                <a:solidFill>
                  <a:srgbClr val="FFFFFF"/>
                </a:solidFill>
                <a:effectLst/>
                <a:latin typeface="Söhne"/>
              </a:rPr>
              <a:t>Mutant Strategy (Small Beetles):</a:t>
            </a:r>
            <a:r>
              <a:rPr lang="en-US" b="0" i="0" dirty="0">
                <a:solidFill>
                  <a:srgbClr val="FFFFFF"/>
                </a:solidFill>
                <a:effectLst/>
                <a:latin typeface="Söhne"/>
              </a:rPr>
              <a:t> Fitness is 4x + 1.</a:t>
            </a:r>
          </a:p>
          <a:p>
            <a:pPr algn="l"/>
            <a:r>
              <a:rPr lang="en-US" b="0" i="0" dirty="0">
                <a:solidFill>
                  <a:srgbClr val="FFFFFF"/>
                </a:solidFill>
                <a:effectLst/>
                <a:latin typeface="Söhne"/>
              </a:rPr>
              <a:t>To assess whether Large Beetles are evolutionarily stable, we need to check if the resident strategy (Large Beetles) has a higher fitness than the mutant strategy (Small Beetles) for small values of x.</a:t>
            </a:r>
          </a:p>
          <a:p>
            <a:pPr algn="l"/>
            <a:r>
              <a:rPr lang="en-US" b="0" i="0" dirty="0">
                <a:solidFill>
                  <a:srgbClr val="FFFFFF"/>
                </a:solidFill>
                <a:effectLst/>
                <a:latin typeface="Söhne"/>
              </a:rPr>
              <a:t>In this case, as x approaches 0 (i.e., when Large Beetles are the vast majority), the fitness of Large Beetles is 3 (which is higher) compared to the fitness of Small Beetles, which is 1.</a:t>
            </a:r>
          </a:p>
          <a:p>
            <a:pPr algn="l"/>
            <a:r>
              <a:rPr lang="en-US" b="0" i="0" dirty="0">
                <a:solidFill>
                  <a:srgbClr val="FFFFFF"/>
                </a:solidFill>
                <a:effectLst/>
                <a:latin typeface="Söhne"/>
              </a:rPr>
              <a:t>So, yes, Large Beetles are evolutionarily stable in a population where they are the majority (x is close to 0). In this scenario, a small mutant invasion of Small Beetles is not successful because Large Beetles have a higher fitness when they are the majority, as indicated by the higher payoff. This means that Large Beetles can resist invasion by Small Beetles when they are the dominant group in the population.</a:t>
            </a:r>
          </a:p>
          <a:p>
            <a:br>
              <a:rPr lang="en-US" b="0" i="0" dirty="0">
                <a:solidFill>
                  <a:srgbClr val="FFFFFF"/>
                </a:solidFill>
                <a:effectLst/>
                <a:latin typeface="Söhne"/>
              </a:rPr>
            </a:b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In this scenario, we are examining the evolutionary stability of Small Beetles in a population where they are the majority (x is close to 0) and comparing their fitness to that of Large Beetles. The payoffs for Small and Large Beetles in this context are as follows:</a:t>
            </a:r>
          </a:p>
          <a:p>
            <a:pPr algn="l">
              <a:buFont typeface="Arial" panose="020B0604020202020204" pitchFamily="34" charset="0"/>
              <a:buChar char="•"/>
            </a:pPr>
            <a:r>
              <a:rPr lang="en-US" b="1" i="0" dirty="0">
                <a:solidFill>
                  <a:srgbClr val="D1D5DB"/>
                </a:solidFill>
                <a:effectLst/>
                <a:latin typeface="Söhne"/>
              </a:rPr>
              <a:t>Payoff of Small Beetles in a Population where Small is the Majority (x is close to 0):</a:t>
            </a:r>
            <a:endParaRPr lang="en-US" b="0" i="0" dirty="0">
              <a:solidFill>
                <a:srgbClr val="D1D5DB"/>
              </a:solidFill>
              <a:effectLst/>
              <a:latin typeface="Söhne"/>
            </a:endParaRPr>
          </a:p>
          <a:p>
            <a:pPr marL="742950" lvl="1" indent="-285750" algn="l">
              <a:buFont typeface="Arial" panose="020B0604020202020204" pitchFamily="34" charset="0"/>
              <a:buChar char="•"/>
            </a:pPr>
            <a:r>
              <a:rPr lang="en-US" b="0" i="0" dirty="0">
                <a:solidFill>
                  <a:srgbClr val="D1D5DB"/>
                </a:solidFill>
                <a:effectLst/>
                <a:latin typeface="Söhne"/>
              </a:rPr>
              <a:t>Payoff for Small Beetles: 5 * (1 - x) + 1 * x</a:t>
            </a:r>
          </a:p>
          <a:p>
            <a:pPr marL="742950" lvl="1" indent="-285750" algn="l">
              <a:buFont typeface="Arial" panose="020B0604020202020204" pitchFamily="34" charset="0"/>
              <a:buChar char="•"/>
            </a:pPr>
            <a:r>
              <a:rPr lang="en-US" b="0" i="0" dirty="0">
                <a:solidFill>
                  <a:srgbClr val="D1D5DB"/>
                </a:solidFill>
                <a:effectLst/>
                <a:latin typeface="Söhne"/>
              </a:rPr>
              <a:t>Simplifying: 5 - 5x + x</a:t>
            </a:r>
          </a:p>
          <a:p>
            <a:pPr marL="742950" lvl="1" indent="-285750" algn="l">
              <a:buFont typeface="Arial" panose="020B0604020202020204" pitchFamily="34" charset="0"/>
              <a:buChar char="•"/>
            </a:pPr>
            <a:r>
              <a:rPr lang="en-US" b="0" i="0" dirty="0">
                <a:solidFill>
                  <a:srgbClr val="D1D5DB"/>
                </a:solidFill>
                <a:effectLst/>
                <a:latin typeface="Söhne"/>
              </a:rPr>
              <a:t>This results in a payoff of 5 - 4x for Small Beetles.</a:t>
            </a:r>
          </a:p>
          <a:p>
            <a:pPr algn="l">
              <a:buFont typeface="Arial" panose="020B0604020202020204" pitchFamily="34" charset="0"/>
              <a:buChar char="•"/>
            </a:pPr>
            <a:r>
              <a:rPr lang="en-US" b="1" i="0" dirty="0">
                <a:solidFill>
                  <a:srgbClr val="D1D5DB"/>
                </a:solidFill>
                <a:effectLst/>
                <a:latin typeface="Söhne"/>
              </a:rPr>
              <a:t>Payoff of Large Beetles in the Same Population:</a:t>
            </a:r>
            <a:endParaRPr lang="en-US" b="0" i="0" dirty="0">
              <a:solidFill>
                <a:srgbClr val="D1D5DB"/>
              </a:solidFill>
              <a:effectLst/>
              <a:latin typeface="Söhne"/>
            </a:endParaRPr>
          </a:p>
          <a:p>
            <a:pPr marL="742950" lvl="1" indent="-285750" algn="l">
              <a:buFont typeface="Arial" panose="020B0604020202020204" pitchFamily="34" charset="0"/>
              <a:buChar char="•"/>
            </a:pPr>
            <a:r>
              <a:rPr lang="en-US" b="0" i="0" dirty="0">
                <a:solidFill>
                  <a:srgbClr val="D1D5DB"/>
                </a:solidFill>
                <a:effectLst/>
                <a:latin typeface="Söhne"/>
              </a:rPr>
              <a:t>Payoff for Large Beetles: 8 * (1 - x) + 3 * x</a:t>
            </a:r>
          </a:p>
          <a:p>
            <a:pPr marL="742950" lvl="1" indent="-285750" algn="l">
              <a:buFont typeface="Arial" panose="020B0604020202020204" pitchFamily="34" charset="0"/>
              <a:buChar char="•"/>
            </a:pPr>
            <a:r>
              <a:rPr lang="en-US" b="0" i="0" dirty="0">
                <a:solidFill>
                  <a:srgbClr val="D1D5DB"/>
                </a:solidFill>
                <a:effectLst/>
                <a:latin typeface="Söhne"/>
              </a:rPr>
              <a:t>Simplifying: 8 - 8x + 3x</a:t>
            </a:r>
          </a:p>
          <a:p>
            <a:pPr marL="742950" lvl="1" indent="-285750" algn="l">
              <a:buFont typeface="Arial" panose="020B0604020202020204" pitchFamily="34" charset="0"/>
              <a:buChar char="•"/>
            </a:pPr>
            <a:r>
              <a:rPr lang="en-US" b="0" i="0" dirty="0">
                <a:solidFill>
                  <a:srgbClr val="D1D5DB"/>
                </a:solidFill>
                <a:effectLst/>
                <a:latin typeface="Söhne"/>
              </a:rPr>
              <a:t>This results in a payoff of 8 - 5x for Large Beetles.</a:t>
            </a:r>
          </a:p>
          <a:p>
            <a:pPr algn="l"/>
            <a:r>
              <a:rPr lang="en-US" b="0" i="0" dirty="0">
                <a:solidFill>
                  <a:srgbClr val="D1D5DB"/>
                </a:solidFill>
                <a:effectLst/>
                <a:latin typeface="Söhne"/>
              </a:rPr>
              <a:t>Now, you want to determine whether Small Beetles are evolutionarily stable in this population. To do so, you need to compare the fitness (payoff) of the resident strategy (Small Beetles) to that of the mutant strategy (Large Beetles).</a:t>
            </a:r>
          </a:p>
          <a:p>
            <a:pPr algn="l">
              <a:buFont typeface="Arial" panose="020B0604020202020204" pitchFamily="34" charset="0"/>
              <a:buChar char="•"/>
            </a:pPr>
            <a:r>
              <a:rPr lang="en-US" b="1" i="0" dirty="0">
                <a:solidFill>
                  <a:srgbClr val="D1D5DB"/>
                </a:solidFill>
                <a:effectLst/>
                <a:latin typeface="Söhne"/>
              </a:rPr>
              <a:t>Resident Strategy (Small Beetles):</a:t>
            </a:r>
            <a:r>
              <a:rPr lang="en-US" b="0" i="0" dirty="0">
                <a:solidFill>
                  <a:srgbClr val="D1D5DB"/>
                </a:solidFill>
                <a:effectLst/>
                <a:latin typeface="Söhne"/>
              </a:rPr>
              <a:t> Fitness is 5 - 4x.</a:t>
            </a:r>
          </a:p>
          <a:p>
            <a:pPr algn="l">
              <a:buFont typeface="Arial" panose="020B0604020202020204" pitchFamily="34" charset="0"/>
              <a:buChar char="•"/>
            </a:pPr>
            <a:r>
              <a:rPr lang="en-US" b="1" i="0" dirty="0">
                <a:solidFill>
                  <a:srgbClr val="D1D5DB"/>
                </a:solidFill>
                <a:effectLst/>
                <a:latin typeface="Söhne"/>
              </a:rPr>
              <a:t>Mutant Strategy (Large Beetles):</a:t>
            </a:r>
            <a:r>
              <a:rPr lang="en-US" b="0" i="0" dirty="0">
                <a:solidFill>
                  <a:srgbClr val="D1D5DB"/>
                </a:solidFill>
                <a:effectLst/>
                <a:latin typeface="Söhne"/>
              </a:rPr>
              <a:t> Fitness is 8 - 5x.</a:t>
            </a:r>
          </a:p>
          <a:p>
            <a:pPr algn="l"/>
            <a:r>
              <a:rPr lang="en-US" b="0" i="0" dirty="0">
                <a:solidFill>
                  <a:srgbClr val="D1D5DB"/>
                </a:solidFill>
                <a:effectLst/>
                <a:latin typeface="Söhne"/>
              </a:rPr>
              <a:t>To assess whether Small Beetles are evolutionarily stable, you need to check if the resident strategy (Small Beetles) has a higher fitness than the mutant strategy (Large Beetles) for small values of x.</a:t>
            </a:r>
          </a:p>
          <a:p>
            <a:pPr algn="l"/>
            <a:r>
              <a:rPr lang="en-US" b="0" i="0" dirty="0">
                <a:solidFill>
                  <a:srgbClr val="D1D5DB"/>
                </a:solidFill>
                <a:effectLst/>
                <a:latin typeface="Söhne"/>
              </a:rPr>
              <a:t>In this case, as x approaches 0 (i.e., when Small Beetles are the vast majority), the fitness of Small Beetles is 5 (which is lower) compared to the fitness of Large Beetles, which is 8.</a:t>
            </a:r>
          </a:p>
          <a:p>
            <a:pPr algn="l"/>
            <a:r>
              <a:rPr lang="en-US" b="0" i="0" dirty="0">
                <a:solidFill>
                  <a:srgbClr val="D1D5DB"/>
                </a:solidFill>
                <a:effectLst/>
                <a:latin typeface="Söhne"/>
              </a:rPr>
              <a:t>So, Small Beetles are not evolutionarily stable in a population where they are the majority (x is close to 0). In this scenario, Large Beetles have a higher fitness when Small Beetles are the majority, as indicated by the higher payoff. This means that Large Beetles can successfully invade a population dominated by Small Beetles.</a:t>
            </a:r>
          </a:p>
          <a:p>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These are the conditions for an Evolutionarily Stable Strategy (ESS) using the concept of expected payoffs and small mutation rates in a "mostly P" environment. Let's break down the key points you've mentioned:</a:t>
            </a:r>
          </a:p>
          <a:p>
            <a:pPr algn="l">
              <a:buFont typeface="+mj-lt"/>
              <a:buAutoNum type="arabicPeriod"/>
            </a:pPr>
            <a:r>
              <a:rPr lang="en-US" b="1" i="0" dirty="0">
                <a:solidFill>
                  <a:srgbClr val="D1D5DB"/>
                </a:solidFill>
                <a:effectLst/>
                <a:latin typeface="Söhne"/>
              </a:rPr>
              <a:t>ESS Condition - Π(P, P) &gt; Π(Q, P) ∀ Q ≠ P</a:t>
            </a:r>
            <a:r>
              <a:rPr lang="en-US" b="0" i="0" dirty="0">
                <a:solidFill>
                  <a:srgbClr val="D1D5DB"/>
                </a:solidFill>
                <a:effectLst/>
                <a:latin typeface="Söhne"/>
              </a:rPr>
              <a:t>: This is the fundamental condition for a strategy P to be an ESS. It signifies that strategy P is evolutionarily stable because it performs better when interacting </a:t>
            </a:r>
            <a:r>
              <a:rPr lang="en-US" b="0" i="0" dirty="0">
                <a:solidFill>
                  <a:srgbClr val="ECECF1"/>
                </a:solidFill>
                <a:effectLst/>
                <a:latin typeface="Söhne"/>
              </a:rPr>
              <a:t>within a population that predominantly plays strategy </a:t>
            </a:r>
            <a:r>
              <a:rPr lang="en-US" b="0" i="0" dirty="0">
                <a:solidFill>
                  <a:srgbClr val="D1D5DB"/>
                </a:solidFill>
                <a:effectLst/>
                <a:latin typeface="Söhne"/>
              </a:rPr>
              <a:t>Π(P, P) than any other alternative strategy Q does when interacting with Π(Q, P). This condition ensures that strategy P is resistant to invasion by other strategies in a population where P is the dominant strategy.</a:t>
            </a:r>
          </a:p>
          <a:p>
            <a:pPr algn="l">
              <a:buFont typeface="+mj-lt"/>
              <a:buAutoNum type="arabicPeriod"/>
            </a:pPr>
            <a:r>
              <a:rPr lang="en-US" b="1" i="0" dirty="0">
                <a:solidFill>
                  <a:srgbClr val="D1D5DB"/>
                </a:solidFill>
                <a:effectLst/>
                <a:latin typeface="Söhne"/>
              </a:rPr>
              <a:t>Interpolation of Expected Payoffs</a:t>
            </a:r>
            <a:r>
              <a:rPr lang="en-US" b="0" i="0" dirty="0">
                <a:solidFill>
                  <a:srgbClr val="D1D5DB"/>
                </a:solidFill>
                <a:effectLst/>
                <a:latin typeface="Söhne"/>
              </a:rPr>
              <a:t>: You correctly point out that expected payoffs can be linearly interpolated between strategies. This means that if there's a small mutation rate (represented by ε), and a population is mostly composed of strategy P, you can approximate the expected payoff of any strategy Q when interacting with this population. This approximation is given by:</a:t>
            </a:r>
          </a:p>
          <a:p>
            <a:pPr algn="l">
              <a:buFont typeface="+mj-lt"/>
              <a:buAutoNum type="arabicPeriod"/>
            </a:pPr>
            <a:r>
              <a:rPr lang="en-US" b="0" i="0" dirty="0">
                <a:solidFill>
                  <a:srgbClr val="D1D5DB"/>
                </a:solidFill>
                <a:effectLst/>
                <a:latin typeface="Söhne"/>
              </a:rPr>
              <a:t>Π(P, </a:t>
            </a:r>
            <a:r>
              <a:rPr lang="en-US" b="0" i="0" dirty="0" err="1">
                <a:solidFill>
                  <a:srgbClr val="D1D5DB"/>
                </a:solidFill>
                <a:effectLst/>
                <a:latin typeface="Söhne"/>
              </a:rPr>
              <a:t>εQ</a:t>
            </a:r>
            <a:r>
              <a:rPr lang="en-US" b="0" i="0" dirty="0">
                <a:solidFill>
                  <a:srgbClr val="D1D5DB"/>
                </a:solidFill>
                <a:effectLst/>
                <a:latin typeface="Söhne"/>
              </a:rPr>
              <a:t> + (1 - ε)P) &gt; Π(Q, </a:t>
            </a:r>
            <a:r>
              <a:rPr lang="en-US" b="0" i="0" dirty="0" err="1">
                <a:solidFill>
                  <a:srgbClr val="D1D5DB"/>
                </a:solidFill>
                <a:effectLst/>
                <a:latin typeface="Söhne"/>
              </a:rPr>
              <a:t>εQ</a:t>
            </a:r>
            <a:r>
              <a:rPr lang="en-US" b="0" i="0" dirty="0">
                <a:solidFill>
                  <a:srgbClr val="D1D5DB"/>
                </a:solidFill>
                <a:effectLst/>
                <a:latin typeface="Söhne"/>
              </a:rPr>
              <a:t> + (1 - ε)P) for all Q ≠ P, where ε is small.</a:t>
            </a:r>
          </a:p>
          <a:p>
            <a:pPr algn="l">
              <a:buFont typeface="+mj-lt"/>
              <a:buAutoNum type="arabicPeriod"/>
            </a:pPr>
            <a:r>
              <a:rPr lang="en-US" b="0" i="0" dirty="0">
                <a:solidFill>
                  <a:srgbClr val="D1D5DB"/>
                </a:solidFill>
                <a:effectLst/>
                <a:latin typeface="Söhne"/>
              </a:rPr>
              <a:t>This equation considers that a small fraction ε of the population adopts strategy Q, and the majority (1 - ε) follows strategy P.</a:t>
            </a:r>
          </a:p>
          <a:p>
            <a:pPr algn="l"/>
            <a:r>
              <a:rPr lang="en-US" b="0" i="0" dirty="0">
                <a:solidFill>
                  <a:srgbClr val="D1D5DB"/>
                </a:solidFill>
                <a:effectLst/>
                <a:latin typeface="Söhne"/>
              </a:rPr>
              <a:t>Now, let's put this into context:</a:t>
            </a:r>
          </a:p>
          <a:p>
            <a:pPr algn="l">
              <a:buFont typeface="Arial" panose="020B0604020202020204" pitchFamily="34" charset="0"/>
              <a:buChar char="•"/>
            </a:pPr>
            <a:r>
              <a:rPr lang="en-US" b="0" i="0" dirty="0">
                <a:solidFill>
                  <a:srgbClr val="D1D5DB"/>
                </a:solidFill>
                <a:effectLst/>
                <a:latin typeface="Söhne"/>
              </a:rPr>
              <a:t>When a strategy P is an ESS, it means that it is resistant to invasion by any mutant strategy Q in a population where P is the dominant strategy.</a:t>
            </a:r>
          </a:p>
          <a:p>
            <a:pPr algn="l">
              <a:buFont typeface="Arial" panose="020B0604020202020204" pitchFamily="34" charset="0"/>
              <a:buChar char="•"/>
            </a:pPr>
            <a:r>
              <a:rPr lang="en-US" b="0" i="0" dirty="0">
                <a:solidFill>
                  <a:srgbClr val="D1D5DB"/>
                </a:solidFill>
                <a:effectLst/>
                <a:latin typeface="Söhne"/>
              </a:rPr>
              <a:t>The interpolation condition you mentioned ensures that even when there are small deviations (mutations) from P in the population, strategy P still performs better than any alternative strategy Q. This is essential for the stability of strategy P.</a:t>
            </a:r>
          </a:p>
          <a:p>
            <a:pPr algn="l">
              <a:buFont typeface="Arial" panose="020B0604020202020204" pitchFamily="34" charset="0"/>
              <a:buChar char="•"/>
            </a:pPr>
            <a:r>
              <a:rPr lang="en-US" b="0" i="0" dirty="0">
                <a:solidFill>
                  <a:srgbClr val="D1D5DB"/>
                </a:solidFill>
                <a:effectLst/>
                <a:latin typeface="Söhne"/>
              </a:rPr>
              <a:t>Essentially, it suggests that strategy P can maintain its dominance in the presence of small mutations or deviations from the majority strategy P.</a:t>
            </a:r>
          </a:p>
          <a:p>
            <a:pPr algn="l"/>
            <a:r>
              <a:rPr lang="en-US" b="0" i="0" dirty="0">
                <a:solidFill>
                  <a:srgbClr val="D1D5DB"/>
                </a:solidFill>
                <a:effectLst/>
                <a:latin typeface="Söhne"/>
              </a:rPr>
              <a:t>In summary, the concept of expected payoffs and the interpolation condition you've described are fundamental in understanding the stability of strategies in evolutionary game theory. An ESS is a strategy that performs well against itself and resists invasion by alternative strategies, even when those alternatives are present in small proportions due to mutations or deviations.</a:t>
            </a:r>
          </a:p>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summary of the relationship between Evolutionarily Stable Strategies (ESS) and Nash Equilibrium. Let's break it down step by step:</a:t>
            </a:r>
          </a:p>
          <a:p>
            <a:pPr algn="l">
              <a:buFont typeface="+mj-lt"/>
              <a:buAutoNum type="arabicPeriod"/>
            </a:pPr>
            <a:r>
              <a:rPr lang="en-US" b="1" i="0" dirty="0">
                <a:solidFill>
                  <a:srgbClr val="FFFFFF"/>
                </a:solidFill>
                <a:effectLst/>
                <a:latin typeface="Söhne"/>
              </a:rPr>
              <a:t>ESS Condition with Small ε</a:t>
            </a:r>
            <a:r>
              <a:rPr lang="en-US" b="0" i="0" dirty="0">
                <a:solidFill>
                  <a:srgbClr val="FFFFFF"/>
                </a:solidFill>
                <a:effectLst/>
                <a:latin typeface="Söhne"/>
              </a:rPr>
              <a:t>: This states that for a strategy P to be an ESS, it should satisfy the condition:</a:t>
            </a:r>
          </a:p>
          <a:p>
            <a:pPr algn="l">
              <a:buFont typeface="+mj-lt"/>
              <a:buNone/>
            </a:pPr>
            <a:r>
              <a:rPr lang="en-US" b="0" i="0" dirty="0">
                <a:solidFill>
                  <a:srgbClr val="FFFFFF"/>
                </a:solidFill>
                <a:effectLst/>
                <a:latin typeface="Söhne"/>
              </a:rPr>
              <a:t>Π(𝑃, 𝜖𝑄+(1−𝜖)𝑃) &gt; Π(𝑄,𝜖𝑄+(1−𝜖)𝑃) for all Q ≠ P and small ε.</a:t>
            </a:r>
          </a:p>
          <a:p>
            <a:pPr algn="l">
              <a:buFont typeface="+mj-lt"/>
              <a:buNone/>
            </a:pPr>
            <a:r>
              <a:rPr lang="en-US" b="0" i="0" dirty="0">
                <a:solidFill>
                  <a:srgbClr val="FFFFFF"/>
                </a:solidFill>
                <a:effectLst/>
                <a:latin typeface="Söhne"/>
              </a:rPr>
              <a:t>This condition checks whether strategy P remains advantageous even when a small fraction ε of the population adopts strategy Q. In other words, P should outperform any alternative strategy Q in a population where P is prevalent.</a:t>
            </a:r>
          </a:p>
          <a:p>
            <a:pPr algn="l">
              <a:buFont typeface="+mj-lt"/>
              <a:buAutoNum type="arabicPeriod"/>
            </a:pPr>
            <a:r>
              <a:rPr lang="en-US" b="1" i="0" dirty="0">
                <a:solidFill>
                  <a:srgbClr val="FFFFFF"/>
                </a:solidFill>
                <a:effectLst/>
                <a:latin typeface="Söhne"/>
              </a:rPr>
              <a:t>Equivalence to Nash Equilibrium</a:t>
            </a:r>
            <a:r>
              <a:rPr lang="en-US" b="0" i="0" dirty="0">
                <a:solidFill>
                  <a:srgbClr val="FFFFFF"/>
                </a:solidFill>
                <a:effectLst/>
                <a:latin typeface="Söhne"/>
              </a:rPr>
              <a:t>: the equivalence between ESS and Nash Equilibrium:</a:t>
            </a:r>
          </a:p>
          <a:p>
            <a:pPr marL="742950" lvl="1" indent="-285750" algn="l">
              <a:buFont typeface="+mj-lt"/>
              <a:buAutoNum type="arabicPeriod"/>
            </a:pPr>
            <a:r>
              <a:rPr lang="en-US" b="0" i="0" dirty="0">
                <a:solidFill>
                  <a:srgbClr val="FFFFFF"/>
                </a:solidFill>
                <a:effectLst/>
                <a:latin typeface="Söhne"/>
              </a:rPr>
              <a:t>If Π(P, P) = Π(Q, P), this implies that strategy P is as good as any alternative strategy Q when interacting with itself (Nash Equilibrium condition).</a:t>
            </a:r>
          </a:p>
          <a:p>
            <a:pPr marL="742950" lvl="1" indent="-285750" algn="l">
              <a:buFont typeface="+mj-lt"/>
              <a:buAutoNum type="arabicPeriod"/>
            </a:pPr>
            <a:r>
              <a:rPr lang="en-US" b="0" i="0" dirty="0">
                <a:solidFill>
                  <a:srgbClr val="FFFFFF"/>
                </a:solidFill>
                <a:effectLst/>
                <a:latin typeface="Söhne"/>
              </a:rPr>
              <a:t>In such a case, to be an ESS, P must also satisfy the condition Π(P, Q) ≥ Π(Q, Q) for all Q ≠ P. This means that even though P performs equally well as Q when interacting with itself, it should still perform better when interacting with Q than Q performs with itself.</a:t>
            </a:r>
          </a:p>
          <a:p>
            <a:pPr algn="l"/>
            <a:r>
              <a:rPr lang="en-US" b="0" i="0" dirty="0">
                <a:solidFill>
                  <a:srgbClr val="FFFFFF"/>
                </a:solidFill>
                <a:effectLst/>
                <a:latin typeface="Söhne"/>
              </a:rPr>
              <a:t>In summary:</a:t>
            </a:r>
          </a:p>
          <a:p>
            <a:pPr algn="l">
              <a:buFont typeface="Arial" panose="020B0604020202020204" pitchFamily="34" charset="0"/>
              <a:buChar char="•"/>
            </a:pPr>
            <a:r>
              <a:rPr lang="en-US" b="0" i="0" dirty="0">
                <a:solidFill>
                  <a:srgbClr val="FFFFFF"/>
                </a:solidFill>
                <a:effectLst/>
                <a:latin typeface="Söhne"/>
              </a:rPr>
              <a:t>ESS is a concept from evolutionary game theory, focusing on the stability of strategies within a population over time.</a:t>
            </a:r>
          </a:p>
          <a:p>
            <a:pPr algn="l">
              <a:buFont typeface="Arial" panose="020B0604020202020204" pitchFamily="34" charset="0"/>
              <a:buChar char="•"/>
            </a:pPr>
            <a:r>
              <a:rPr lang="en-US" b="0" i="0" dirty="0">
                <a:solidFill>
                  <a:srgbClr val="FFFFFF"/>
                </a:solidFill>
                <a:effectLst/>
                <a:latin typeface="Söhne"/>
              </a:rPr>
              <a:t>The ESS condition with small ε evaluates whether a strategy remains advantageous even when a small fraction of the population adopts a different strategy.</a:t>
            </a:r>
          </a:p>
          <a:p>
            <a:pPr algn="l">
              <a:buFont typeface="Arial" panose="020B0604020202020204" pitchFamily="34" charset="0"/>
              <a:buChar char="•"/>
            </a:pPr>
            <a:r>
              <a:rPr lang="en-US" b="0" i="0" dirty="0">
                <a:solidFill>
                  <a:srgbClr val="FFFFFF"/>
                </a:solidFill>
                <a:effectLst/>
                <a:latin typeface="Söhne"/>
              </a:rPr>
              <a:t>ESS and Nash Equilibrium are related, and when Π(P, P) equals Π(Q, P) in a population (Nash Equilibrium), the ESS condition requires that P still performs better when interacting with Q than Q performs with itself to be evolutionarily stable.</a:t>
            </a:r>
          </a:p>
          <a:p>
            <a:br>
              <a:rPr lang="en-US" b="0" i="0" dirty="0">
                <a:solidFill>
                  <a:srgbClr val="FFFFFF"/>
                </a:solidFill>
                <a:effectLst/>
                <a:latin typeface="Söhne"/>
              </a:rPr>
            </a:b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means every ESS is a Nash Eq. Anything not-Nash can not be evolutionary stable</a:t>
            </a:r>
          </a:p>
          <a:p>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A strict Nash equilibrium is indeed stronger than an Evolutionarily Stable Strategy (ESS).</a:t>
            </a:r>
          </a:p>
          <a:p>
            <a:endParaRPr lang="en-US" dirty="0"/>
          </a:p>
          <a:p>
            <a:pPr marL="171450" indent="-171450">
              <a:buFont typeface="Arial" panose="020B0604020202020204" pitchFamily="34" charset="0"/>
              <a:buChar char="•"/>
            </a:pPr>
            <a:r>
              <a:rPr lang="en-US" b="1" dirty="0"/>
              <a:t>Strict Nash Equilibrium</a:t>
            </a:r>
            <a:r>
              <a:rPr lang="en-US" dirty="0"/>
              <a:t>: In a strict Nash equilibrium, each player's strategy is the best response to the others, and any deviation from that strategy strictly reduces the player's payoff. No player can benefit by unilaterally changing their strategy, even if the deviation is small. This creates a very stable situation in terms of individual incentives.</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b="1" dirty="0"/>
              <a:t>Evolutionarily Stable Strategy (ESS)</a:t>
            </a:r>
            <a:r>
              <a:rPr lang="en-US" dirty="0"/>
              <a:t>: ESS is a concept from evolutionary game theory. An ESS is a strategy that, if adopted by most of the population, cannot be invaded by a small group of players using a different (mutant) strategy. It is a refinement of the Nash equilibrium, but not as strong as a strict Nash. While an ESS ensures that small deviations won't overtake the population, it doesn't require that deviations lead to a strictly lower payoff, as in strict Nash equilibrium.</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Thus, if you have a strict Nash equilibrium, it automatically satisfies the conditions of an ESS. However, not all ESSs are strict Nash equilibria.</a:t>
            </a:r>
          </a:p>
          <a:p>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 equation Π(s1, s1) ≠ Π(s2, s1) ∧ Π(s2, s2) ≠ Π(s1, s2) represents a condition in game theory involving payoffs in a two-player symmetric game with two pure strategies. Let's break it down:</a:t>
            </a:r>
          </a:p>
          <a:p>
            <a:pPr algn="l"/>
            <a:endParaRPr lang="en-US" b="0" i="0" dirty="0">
              <a:solidFill>
                <a:srgbClr val="D1D5DB"/>
              </a:solidFill>
              <a:effectLst/>
              <a:latin typeface="Söhne"/>
            </a:endParaRPr>
          </a:p>
          <a:p>
            <a:pPr marL="228600" indent="-228600" algn="l">
              <a:buFont typeface="+mj-lt"/>
              <a:buAutoNum type="arabicPeriod"/>
            </a:pPr>
            <a:r>
              <a:rPr lang="en-US" b="0" i="0" dirty="0">
                <a:solidFill>
                  <a:srgbClr val="D1D5DB"/>
                </a:solidFill>
                <a:effectLst/>
                <a:latin typeface="Söhne"/>
              </a:rPr>
              <a:t>Π(s1, s1): This represents the payoff that both players receive when they both choose strategy s1.</a:t>
            </a:r>
          </a:p>
          <a:p>
            <a:pPr marL="228600" indent="-228600" algn="l">
              <a:buFont typeface="+mj-lt"/>
              <a:buAutoNum type="arabicPeriod"/>
            </a:pPr>
            <a:r>
              <a:rPr lang="en-US" b="0" i="0" dirty="0">
                <a:solidFill>
                  <a:srgbClr val="D1D5DB"/>
                </a:solidFill>
                <a:effectLst/>
                <a:latin typeface="Söhne"/>
              </a:rPr>
              <a:t>Π(s2, s1): This represents the payoff that Player 1 receives when they choose strategy s2, and Player 2 chooses strategy s1.</a:t>
            </a:r>
          </a:p>
          <a:p>
            <a:pPr marL="228600" indent="-228600" algn="l">
              <a:buFont typeface="+mj-lt"/>
              <a:buAutoNum type="arabicPeriod"/>
            </a:pPr>
            <a:r>
              <a:rPr lang="en-US" b="0" i="0" dirty="0">
                <a:solidFill>
                  <a:srgbClr val="D1D5DB"/>
                </a:solidFill>
                <a:effectLst/>
                <a:latin typeface="Söhne"/>
              </a:rPr>
              <a:t>Π(s2, s2): This represents the payoff that both players receive when they both choose strategy s2.</a:t>
            </a:r>
          </a:p>
          <a:p>
            <a:pPr marL="228600" indent="-228600" algn="l">
              <a:buFont typeface="+mj-lt"/>
              <a:buAutoNum type="arabicPeriod"/>
            </a:pPr>
            <a:r>
              <a:rPr lang="en-US" b="0" i="0" dirty="0">
                <a:solidFill>
                  <a:srgbClr val="D1D5DB"/>
                </a:solidFill>
                <a:effectLst/>
                <a:latin typeface="Söhne"/>
              </a:rPr>
              <a:t>Π(s1, s2): This represents the payoff that Player 1 receives when they choose strategy s1, and Player 2 chooses strategy s2.</a:t>
            </a:r>
          </a:p>
          <a:p>
            <a:pPr marL="228600" indent="-228600" algn="l">
              <a:buFont typeface="+mj-lt"/>
              <a:buAutoNum type="arabicPeriod"/>
            </a:pPr>
            <a:endParaRPr lang="en-US" b="0" i="0" dirty="0">
              <a:solidFill>
                <a:srgbClr val="D1D5DB"/>
              </a:solidFill>
              <a:effectLst/>
              <a:latin typeface="Söhne"/>
            </a:endParaRPr>
          </a:p>
          <a:p>
            <a:pPr algn="l"/>
            <a:r>
              <a:rPr lang="en-US" b="0" i="0" dirty="0">
                <a:solidFill>
                  <a:srgbClr val="D1D5DB"/>
                </a:solidFill>
                <a:effectLst/>
                <a:latin typeface="Söhne"/>
              </a:rPr>
              <a:t>The condition Π(s1, s1) ≠ Π(s2, s1) ∧ Π(s2, s2) ≠ Π(s1, s2) means that there are differences in payoffs between these pairs of strategies. </a:t>
            </a:r>
            <a:r>
              <a:rPr lang="en-US" b="0" i="0">
                <a:solidFill>
                  <a:srgbClr val="D1D5DB"/>
                </a:solidFill>
                <a:effectLst/>
                <a:latin typeface="Söhne"/>
              </a:rPr>
              <a:t>Specifically:</a:t>
            </a:r>
          </a:p>
          <a:p>
            <a:pPr algn="l"/>
            <a:endParaRPr lang="en-US" b="0" i="0" dirty="0">
              <a:solidFill>
                <a:srgbClr val="D1D5DB"/>
              </a:solidFill>
              <a:effectLst/>
              <a:latin typeface="Söhne"/>
            </a:endParaRPr>
          </a:p>
          <a:p>
            <a:pPr marL="171450" indent="-171450" algn="l">
              <a:buFont typeface="Arial" panose="020B0604020202020204" pitchFamily="34" charset="0"/>
              <a:buChar char="•"/>
            </a:pPr>
            <a:r>
              <a:rPr lang="en-US" b="0" i="0" dirty="0">
                <a:solidFill>
                  <a:srgbClr val="D1D5DB"/>
                </a:solidFill>
                <a:effectLst/>
                <a:latin typeface="Söhne"/>
              </a:rPr>
              <a:t>Π(s1, s1) ≠ Π(s2, s1): This indicates that the payoff for both players when they both choose strategy s1 is not equal to the payoff for Player 1 when they choose s2 and Player 2 chooses s1. In other words, there is a difference in payoffs between s1 vs. s1 and s2 vs. s1.</a:t>
            </a:r>
          </a:p>
          <a:p>
            <a:pPr marL="171450" indent="-171450" algn="l">
              <a:buFont typeface="Arial" panose="020B0604020202020204" pitchFamily="34" charset="0"/>
              <a:buChar char="•"/>
            </a:pPr>
            <a:r>
              <a:rPr lang="en-US" b="0" i="0" dirty="0">
                <a:solidFill>
                  <a:srgbClr val="D1D5DB"/>
                </a:solidFill>
                <a:effectLst/>
                <a:latin typeface="Söhne"/>
              </a:rPr>
              <a:t>Π(s2, s2) ≠ Π(s1, s2): This indicates that the payoff for both players when they both choose strategy s2 is not equal to the payoff for Player 1 when they choose s1 and Player 2 chooses s2. In other words, there is a difference in payoffs between s2 vs. s2 and s1 vs. s2.</a:t>
            </a:r>
          </a:p>
          <a:p>
            <a:pPr marL="171450" indent="-171450" algn="l">
              <a:buFont typeface="Arial" panose="020B0604020202020204" pitchFamily="34" charset="0"/>
              <a:buChar char="•"/>
            </a:pPr>
            <a:endParaRPr lang="en-US" b="0" i="0" dirty="0">
              <a:solidFill>
                <a:srgbClr val="D1D5DB"/>
              </a:solidFill>
              <a:effectLst/>
              <a:latin typeface="Söhne"/>
            </a:endParaRPr>
          </a:p>
          <a:p>
            <a:pPr algn="l"/>
            <a:r>
              <a:rPr lang="en-US" b="0" i="0" dirty="0">
                <a:solidFill>
                  <a:srgbClr val="D1D5DB"/>
                </a:solidFill>
                <a:effectLst/>
                <a:latin typeface="Söhne"/>
              </a:rPr>
              <a:t>This condition suggests that there are variations in the outcomes and payoffs associated with different strategy combinations. It can have implications for the strategic choices that players make in the game and can affect the stability and dynamics of the game.</a:t>
            </a:r>
          </a:p>
          <a:p>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Replicator dynamics is a mathematical framework used to model and describe evolutionary dynamics in populations of interacting individuals, particularly in the context of game theory and evolutionary biology. This framework is based on the assumption of exact copying of behaviors, where the frequency of a particular strategy in a population is proportional to the fitness or success of that strategy.</a:t>
            </a:r>
          </a:p>
          <a:p>
            <a:pPr algn="l"/>
            <a:r>
              <a:rPr lang="en-US" b="0" i="0" dirty="0">
                <a:solidFill>
                  <a:srgbClr val="D1D5DB"/>
                </a:solidFill>
                <a:effectLst/>
                <a:latin typeface="Söhne"/>
              </a:rPr>
              <a:t>Key points about replicator dynamics:</a:t>
            </a:r>
          </a:p>
          <a:p>
            <a:pPr algn="l">
              <a:buFont typeface="+mj-lt"/>
              <a:buAutoNum type="arabicPeriod"/>
            </a:pPr>
            <a:r>
              <a:rPr lang="en-US" b="1" i="0" dirty="0">
                <a:solidFill>
                  <a:srgbClr val="D1D5DB"/>
                </a:solidFill>
                <a:effectLst/>
                <a:latin typeface="Söhne"/>
              </a:rPr>
              <a:t>Exact Copying</a:t>
            </a:r>
            <a:r>
              <a:rPr lang="en-US" b="0" i="0" dirty="0">
                <a:solidFill>
                  <a:srgbClr val="D1D5DB"/>
                </a:solidFill>
                <a:effectLst/>
                <a:latin typeface="Söhne"/>
              </a:rPr>
              <a:t>: In replicator dynamics, it is assumed that individuals within a population can precisely copy the strategies of others. This assumption simplifies the modeling of evolutionary processes, as it implies that individuals do not engage in learning, innovation, or any form of error in replicating strategies.</a:t>
            </a:r>
          </a:p>
          <a:p>
            <a:pPr algn="l">
              <a:buFont typeface="+mj-lt"/>
              <a:buAutoNum type="arabicPeriod"/>
            </a:pPr>
            <a:r>
              <a:rPr lang="en-US" b="1" i="0" dirty="0">
                <a:solidFill>
                  <a:srgbClr val="D1D5DB"/>
                </a:solidFill>
                <a:effectLst/>
                <a:latin typeface="Söhne"/>
              </a:rPr>
              <a:t>Proportional to Fitness</a:t>
            </a:r>
            <a:r>
              <a:rPr lang="en-US" b="0" i="0" dirty="0">
                <a:solidFill>
                  <a:srgbClr val="D1D5DB"/>
                </a:solidFill>
                <a:effectLst/>
                <a:latin typeface="Söhne"/>
              </a:rPr>
              <a:t>: The frequency of a strategy in the population changes over time in a manner that is directly proportional to the fitness or success of that strategy. Strategies with higher fitness values become more prevalent in the population over time, while strategies with lower fitness values decrease in frequency.</a:t>
            </a:r>
          </a:p>
          <a:p>
            <a:pPr algn="l">
              <a:buFont typeface="+mj-lt"/>
              <a:buAutoNum type="arabicPeriod"/>
            </a:pPr>
            <a:r>
              <a:rPr lang="en-US" b="1" i="0" dirty="0">
                <a:solidFill>
                  <a:srgbClr val="D1D5DB"/>
                </a:solidFill>
                <a:effectLst/>
                <a:latin typeface="Söhne"/>
              </a:rPr>
              <a:t>Equilibrium Points</a:t>
            </a:r>
            <a:r>
              <a:rPr lang="en-US" b="0" i="0" dirty="0">
                <a:solidFill>
                  <a:srgbClr val="D1D5DB"/>
                </a:solidFill>
                <a:effectLst/>
                <a:latin typeface="Söhne"/>
              </a:rPr>
              <a:t>: Replicator dynamics can be analyzed to identify equilibrium points, where the frequencies of strategies no longer change. These equilibrium points are often associated with concepts like Nash Equilibrium in game theory, where no strategy can unilaterally improve its fitness by switching to a different strategy.</a:t>
            </a:r>
          </a:p>
          <a:p>
            <a:pPr algn="l">
              <a:buFont typeface="+mj-lt"/>
              <a:buAutoNum type="arabicPeriod"/>
            </a:pPr>
            <a:r>
              <a:rPr lang="en-US" b="1" i="0" dirty="0">
                <a:solidFill>
                  <a:srgbClr val="D1D5DB"/>
                </a:solidFill>
                <a:effectLst/>
                <a:latin typeface="Söhne"/>
              </a:rPr>
              <a:t>Stability and Evolutionary Outcomes</a:t>
            </a:r>
            <a:r>
              <a:rPr lang="en-US" b="0" i="0" dirty="0">
                <a:solidFill>
                  <a:srgbClr val="D1D5DB"/>
                </a:solidFill>
                <a:effectLst/>
                <a:latin typeface="Söhne"/>
              </a:rPr>
              <a:t>: Depending on the specific payoff structure of a game, replicator dynamics can lead to various evolutionary outcomes. For example, it can model the emergence of cooperative behavior, the maintenance of diversity in populations, or the convergence to stable equilibria.</a:t>
            </a:r>
          </a:p>
          <a:p>
            <a:br>
              <a:rPr lang="en-US" dirty="0"/>
            </a:b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Replicator dynamics in the context of a large population with discrete strategy types. Let's break down the key components:</a:t>
            </a:r>
          </a:p>
          <a:p>
            <a:pPr algn="l">
              <a:buFont typeface="+mj-lt"/>
              <a:buAutoNum type="arabicPeriod"/>
            </a:pPr>
            <a:r>
              <a:rPr lang="en-US" b="1" i="0" dirty="0">
                <a:solidFill>
                  <a:srgbClr val="FFFFFF"/>
                </a:solidFill>
                <a:effectLst/>
                <a:latin typeface="Söhne"/>
              </a:rPr>
              <a:t>Large Population (n Types)</a:t>
            </a:r>
            <a:r>
              <a:rPr lang="en-US" b="0" i="0" dirty="0">
                <a:solidFill>
                  <a:srgbClr val="FFFFFF"/>
                </a:solidFill>
                <a:effectLst/>
                <a:latin typeface="Söhne"/>
              </a:rPr>
              <a:t>: In replicator dynamics, we are considering a population composed of n different types or strategies. Each individual in the population belongs to one of these n types.</a:t>
            </a:r>
          </a:p>
          <a:p>
            <a:pPr algn="l">
              <a:buFont typeface="+mj-lt"/>
              <a:buAutoNum type="arabicPeriod"/>
            </a:pPr>
            <a:r>
              <a:rPr lang="en-US" b="1" i="0" dirty="0" err="1">
                <a:solidFill>
                  <a:srgbClr val="FFFFFF"/>
                </a:solidFill>
                <a:effectLst/>
                <a:latin typeface="Söhne"/>
              </a:rPr>
              <a:t>x_i</a:t>
            </a:r>
            <a:r>
              <a:rPr lang="en-US" b="0" i="0" dirty="0">
                <a:solidFill>
                  <a:srgbClr val="FFFFFF"/>
                </a:solidFill>
                <a:effectLst/>
                <a:latin typeface="Söhne"/>
              </a:rPr>
              <a:t>: The variable </a:t>
            </a:r>
            <a:r>
              <a:rPr lang="en-US" b="0" i="0" dirty="0" err="1">
                <a:solidFill>
                  <a:srgbClr val="FFFFFF"/>
                </a:solidFill>
                <a:effectLst/>
                <a:latin typeface="Söhne"/>
              </a:rPr>
              <a:t>x_i</a:t>
            </a:r>
            <a:r>
              <a:rPr lang="en-US" b="0" i="0" dirty="0">
                <a:solidFill>
                  <a:srgbClr val="FFFFFF"/>
                </a:solidFill>
                <a:effectLst/>
                <a:latin typeface="Söhne"/>
              </a:rPr>
              <a:t> represents the frequency or proportion of individuals in the population that belong to type i. In other words, </a:t>
            </a:r>
            <a:r>
              <a:rPr lang="en-US" b="0" i="0" dirty="0" err="1">
                <a:solidFill>
                  <a:srgbClr val="FFFFFF"/>
                </a:solidFill>
                <a:effectLst/>
                <a:latin typeface="Söhne"/>
              </a:rPr>
              <a:t>x_i</a:t>
            </a:r>
            <a:r>
              <a:rPr lang="en-US" b="0" i="0" dirty="0">
                <a:solidFill>
                  <a:srgbClr val="FFFFFF"/>
                </a:solidFill>
                <a:effectLst/>
                <a:latin typeface="Söhne"/>
              </a:rPr>
              <a:t> is the fraction of the population that adopts strategy type i.</a:t>
            </a:r>
          </a:p>
          <a:p>
            <a:pPr algn="l">
              <a:buFont typeface="+mj-lt"/>
              <a:buAutoNum type="arabicPeriod"/>
            </a:pPr>
            <a:r>
              <a:rPr lang="en-US" b="1" i="0" dirty="0">
                <a:solidFill>
                  <a:srgbClr val="FFFFFF"/>
                </a:solidFill>
                <a:effectLst/>
                <a:latin typeface="Söhne"/>
              </a:rPr>
              <a:t>x</a:t>
            </a:r>
            <a:r>
              <a:rPr lang="en-US" b="0" i="0" dirty="0">
                <a:solidFill>
                  <a:srgbClr val="FFFFFF"/>
                </a:solidFill>
                <a:effectLst/>
                <a:latin typeface="Söhne"/>
              </a:rPr>
              <a:t>: The vector x represents the state of the population. It is a vector of length n where each element </a:t>
            </a:r>
            <a:r>
              <a:rPr lang="en-US" b="0" i="0" dirty="0" err="1">
                <a:solidFill>
                  <a:srgbClr val="FFFFFF"/>
                </a:solidFill>
                <a:effectLst/>
                <a:latin typeface="Söhne"/>
              </a:rPr>
              <a:t>x_i</a:t>
            </a:r>
            <a:r>
              <a:rPr lang="en-US" b="0" i="0" dirty="0">
                <a:solidFill>
                  <a:srgbClr val="FFFFFF"/>
                </a:solidFill>
                <a:effectLst/>
                <a:latin typeface="Söhne"/>
              </a:rPr>
              <a:t> corresponds to the frequency of type i in the population. The entire population state can be described by this vector.</a:t>
            </a:r>
          </a:p>
          <a:p>
            <a:pPr algn="l">
              <a:buFont typeface="+mj-lt"/>
              <a:buAutoNum type="arabicPeriod"/>
            </a:pPr>
            <a:r>
              <a:rPr lang="en-US" b="1" i="0" dirty="0">
                <a:solidFill>
                  <a:srgbClr val="FFFFFF"/>
                </a:solidFill>
                <a:effectLst/>
                <a:latin typeface="Söhne"/>
              </a:rPr>
              <a:t>(Ax)_i</a:t>
            </a:r>
            <a:r>
              <a:rPr lang="en-US" b="0" i="0" dirty="0">
                <a:solidFill>
                  <a:srgbClr val="FFFFFF"/>
                </a:solidFill>
                <a:effectLst/>
                <a:latin typeface="Söhne"/>
              </a:rPr>
              <a:t>: This notation represents the average payoff for individuals of type i when they interact with others in the population. It's essentially a vector that represents the average payoffs for each strategy type.</a:t>
            </a:r>
          </a:p>
          <a:p>
            <a:pPr algn="l">
              <a:buFont typeface="+mj-lt"/>
              <a:buAutoNum type="arabicPeriod"/>
            </a:pPr>
            <a:r>
              <a:rPr lang="en-US" b="1" i="0" dirty="0" err="1">
                <a:solidFill>
                  <a:srgbClr val="FFFFFF"/>
                </a:solidFill>
                <a:effectLst/>
                <a:latin typeface="Söhne"/>
              </a:rPr>
              <a:t>x^T</a:t>
            </a:r>
            <a:r>
              <a:rPr lang="en-US" b="1" i="0" dirty="0">
                <a:solidFill>
                  <a:srgbClr val="FFFFFF"/>
                </a:solidFill>
                <a:effectLst/>
                <a:latin typeface="Söhne"/>
              </a:rPr>
              <a:t> Ax</a:t>
            </a:r>
            <a:r>
              <a:rPr lang="en-US" b="0" i="0" dirty="0">
                <a:solidFill>
                  <a:srgbClr val="FFFFFF"/>
                </a:solidFill>
                <a:effectLst/>
                <a:latin typeface="Söhne"/>
              </a:rPr>
              <a:t>: This expression represents the mean or average payoff in the population. It's a way of aggregating the payoffs across all strategy types, weighted by their frequencies in the population.</a:t>
            </a:r>
          </a:p>
          <a:p>
            <a:pPr algn="l">
              <a:buFont typeface="+mj-lt"/>
              <a:buAutoNum type="arabicPeriod"/>
            </a:pPr>
            <a:r>
              <a:rPr lang="en-US" b="1" i="0" dirty="0">
                <a:solidFill>
                  <a:srgbClr val="FFFFFF"/>
                </a:solidFill>
                <a:effectLst/>
                <a:latin typeface="Söhne"/>
              </a:rPr>
              <a:t>Discrete Set of Strategy Types</a:t>
            </a:r>
            <a:r>
              <a:rPr lang="en-US" b="0" i="0" dirty="0">
                <a:solidFill>
                  <a:srgbClr val="FFFFFF"/>
                </a:solidFill>
                <a:effectLst/>
                <a:latin typeface="Söhne"/>
              </a:rPr>
              <a:t>: It's important to note that you are dealing with a discrete set of immutable strategy types. This means that the population consists of distinct, unchanging strategies, and individuals do not adapt or learn during interactions.</a:t>
            </a:r>
          </a:p>
          <a:p>
            <a:pPr algn="l"/>
            <a:r>
              <a:rPr lang="en-US" b="0" i="0" dirty="0">
                <a:solidFill>
                  <a:srgbClr val="FFFFFF"/>
                </a:solidFill>
                <a:effectLst/>
                <a:latin typeface="Söhne"/>
              </a:rPr>
              <a:t>In replicator dynamics, these components are used to model how the frequencies of different strategy types in a population change over time based on the relative payoffs of those strategies. It's a powerful framework for studying the evolution of strategies in populations and is particularly useful in game theory and evolutionary biology to analyze how strategies become more or less prevalent over time.</a:t>
            </a:r>
          </a:p>
          <a:p>
            <a:br>
              <a:rPr lang="en-US" b="0" i="0" dirty="0">
                <a:solidFill>
                  <a:srgbClr val="FFFFFF"/>
                </a:solidFill>
                <a:effectLst/>
                <a:latin typeface="Söhne"/>
              </a:rPr>
            </a:b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equation you've provided represents the rate of change of the frequency (or proportion) of strategy type i, denoted as </a:t>
            </a:r>
            <a:r>
              <a:rPr lang="en-US" b="0" i="0" dirty="0" err="1">
                <a:solidFill>
                  <a:srgbClr val="FFFFFF"/>
                </a:solidFill>
                <a:effectLst/>
                <a:latin typeface="Söhne"/>
              </a:rPr>
              <a:t>x_i</a:t>
            </a:r>
            <a:r>
              <a:rPr lang="en-US" b="0" i="0" dirty="0">
                <a:solidFill>
                  <a:srgbClr val="FFFFFF"/>
                </a:solidFill>
                <a:effectLst/>
                <a:latin typeface="Söhne"/>
              </a:rPr>
              <a:t>, in a population. This equation is a fundamental part of replicator dynamics and describes how the frequency of a strategy type changes over time based on the relative payoffs of that strategy. Here's a breakdown of the equation:</a:t>
            </a:r>
          </a:p>
          <a:p>
            <a:pPr algn="l">
              <a:buFont typeface="Arial" panose="020B0604020202020204" pitchFamily="34" charset="0"/>
              <a:buChar char="•"/>
            </a:pPr>
            <a:r>
              <a:rPr lang="en-US" b="1" i="0" dirty="0">
                <a:solidFill>
                  <a:srgbClr val="FFFFFF"/>
                </a:solidFill>
                <a:effectLst/>
                <a:latin typeface="Söhne"/>
              </a:rPr>
              <a:t>𝑥 ̇_𝑖</a:t>
            </a:r>
            <a:r>
              <a:rPr lang="en-US" b="0" i="0" dirty="0">
                <a:solidFill>
                  <a:srgbClr val="FFFFFF"/>
                </a:solidFill>
                <a:effectLst/>
                <a:latin typeface="Söhne"/>
              </a:rPr>
              <a:t>: This represents the rate of change over time of the frequency of strategy type i, which is how fast the proportion of type i individuals in the population changes.</a:t>
            </a:r>
          </a:p>
          <a:p>
            <a:pPr algn="l">
              <a:buFont typeface="Arial" panose="020B0604020202020204" pitchFamily="34" charset="0"/>
              <a:buChar char="•"/>
            </a:pPr>
            <a:r>
              <a:rPr lang="en-US" b="1" i="0" dirty="0" err="1">
                <a:solidFill>
                  <a:srgbClr val="FFFFFF"/>
                </a:solidFill>
                <a:effectLst/>
                <a:latin typeface="Söhne"/>
              </a:rPr>
              <a:t>x_i</a:t>
            </a:r>
            <a:r>
              <a:rPr lang="en-US" b="0" i="0" dirty="0">
                <a:solidFill>
                  <a:srgbClr val="FFFFFF"/>
                </a:solidFill>
                <a:effectLst/>
                <a:latin typeface="Söhne"/>
              </a:rPr>
              <a:t>: This is the current frequency or proportion of strategy type i in the population.</a:t>
            </a:r>
          </a:p>
          <a:p>
            <a:pPr algn="l">
              <a:buFont typeface="Arial" panose="020B0604020202020204" pitchFamily="34" charset="0"/>
              <a:buChar char="•"/>
            </a:pPr>
            <a:r>
              <a:rPr lang="en-US" b="1" i="0" dirty="0">
                <a:solidFill>
                  <a:srgbClr val="FFFFFF"/>
                </a:solidFill>
                <a:effectLst/>
                <a:latin typeface="Söhne"/>
              </a:rPr>
              <a:t>(𝐴𝑥)_𝑖</a:t>
            </a:r>
            <a:r>
              <a:rPr lang="en-US" b="0" i="0" dirty="0">
                <a:solidFill>
                  <a:srgbClr val="FFFFFF"/>
                </a:solidFill>
                <a:effectLst/>
                <a:latin typeface="Söhne"/>
              </a:rPr>
              <a:t>: This term represents the average payoff for individuals of strategy type i when they interact with others in the population. It's essentially the expected payoff for type i individuals based on the current composition of the population.</a:t>
            </a:r>
          </a:p>
          <a:p>
            <a:pPr algn="l">
              <a:buFont typeface="Arial" panose="020B0604020202020204" pitchFamily="34" charset="0"/>
              <a:buChar char="•"/>
            </a:pPr>
            <a:r>
              <a:rPr lang="en-US" b="1" i="0" dirty="0">
                <a:solidFill>
                  <a:srgbClr val="FFFFFF"/>
                </a:solidFill>
                <a:effectLst/>
                <a:latin typeface="Söhne"/>
              </a:rPr>
              <a:t>𝑥^𝑇 𝐴𝑥</a:t>
            </a:r>
            <a:r>
              <a:rPr lang="en-US" b="0" i="0" dirty="0">
                <a:solidFill>
                  <a:srgbClr val="FFFFFF"/>
                </a:solidFill>
                <a:effectLst/>
                <a:latin typeface="Söhne"/>
              </a:rPr>
              <a:t>: This is the mean or average payoff in the population, as mentioned earlier. It represents the weighted average of the payoffs of all strategy types, where the weights are the frequencies of those types.</a:t>
            </a:r>
          </a:p>
          <a:p>
            <a:pPr algn="l"/>
            <a:r>
              <a:rPr lang="en-US" b="0" i="0" dirty="0">
                <a:solidFill>
                  <a:srgbClr val="FFFFFF"/>
                </a:solidFill>
                <a:effectLst/>
                <a:latin typeface="Söhne"/>
              </a:rPr>
              <a:t>The equation as a whole describes how the frequency of strategy type i changes over time. Specifically, it states that the rate of change of </a:t>
            </a:r>
            <a:r>
              <a:rPr lang="en-US" b="0" i="0" dirty="0" err="1">
                <a:solidFill>
                  <a:srgbClr val="FFFFFF"/>
                </a:solidFill>
                <a:effectLst/>
                <a:latin typeface="Söhne"/>
              </a:rPr>
              <a:t>x_i</a:t>
            </a:r>
            <a:r>
              <a:rPr lang="en-US" b="0" i="0" dirty="0">
                <a:solidFill>
                  <a:srgbClr val="FFFFFF"/>
                </a:solidFill>
                <a:effectLst/>
                <a:latin typeface="Söhne"/>
              </a:rPr>
              <a:t> is proportional to the current frequency </a:t>
            </a:r>
            <a:r>
              <a:rPr lang="en-US" b="0" i="0" dirty="0" err="1">
                <a:solidFill>
                  <a:srgbClr val="FFFFFF"/>
                </a:solidFill>
                <a:effectLst/>
                <a:latin typeface="Söhne"/>
              </a:rPr>
              <a:t>x_i</a:t>
            </a:r>
            <a:r>
              <a:rPr lang="en-US" b="0" i="0" dirty="0">
                <a:solidFill>
                  <a:srgbClr val="FFFFFF"/>
                </a:solidFill>
                <a:effectLst/>
                <a:latin typeface="Söhne"/>
              </a:rPr>
              <a:t> itself and is influenced by the difference between the average payoff for type i individuals and the mean payoff in the population. The term 𝑥_i ((𝐴𝑥)_𝑖 − 𝑥^𝑇 𝐴𝑥) captures how type i's frequency grows or shrinks based on how it performs relative to the average strategy in the population.</a:t>
            </a:r>
          </a:p>
          <a:p>
            <a:pPr algn="l"/>
            <a:r>
              <a:rPr lang="en-US" b="0" i="0" dirty="0">
                <a:solidFill>
                  <a:srgbClr val="FFFFFF"/>
                </a:solidFill>
                <a:effectLst/>
                <a:latin typeface="Söhne"/>
              </a:rPr>
              <a:t>This equation is a central component of replicator dynamics and is used to analyze the evolution of strategies in populations, particularly in the context of game theory and evolutionary biology. It provides insights into how strategies that outperform the average can become more prevalent over time while those that underperform can decline.</a:t>
            </a:r>
          </a:p>
          <a:p>
            <a:br>
              <a:rPr lang="en-US" b="0" i="0" dirty="0">
                <a:solidFill>
                  <a:srgbClr val="FFFFFF"/>
                </a:solidFill>
                <a:effectLst/>
                <a:latin typeface="Söhne"/>
              </a:rPr>
            </a:b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In replicator dynamics, rest points, also known as fixed points or equilibria, represent stable or steady-state configurations of the population where the frequencies of strategy types no longer change over time. Let's break down the key points:</a:t>
            </a:r>
          </a:p>
          <a:p>
            <a:pPr algn="l"/>
            <a:r>
              <a:rPr lang="en-US" b="0" i="0" dirty="0">
                <a:solidFill>
                  <a:srgbClr val="FFFFFF"/>
                </a:solidFill>
                <a:effectLst/>
                <a:latin typeface="Söhne"/>
              </a:rPr>
              <a:t>The equation provided:</a:t>
            </a:r>
          </a:p>
          <a:p>
            <a:pPr algn="l"/>
            <a:r>
              <a:rPr lang="en-US" b="0" i="0" dirty="0">
                <a:solidFill>
                  <a:srgbClr val="FFFFFF"/>
                </a:solidFill>
                <a:effectLst/>
                <a:latin typeface="Söhne"/>
              </a:rPr>
              <a:t>𝑥 ̇_𝑖 = 𝑥_𝑖 ((𝐴𝑥)_𝑖 − 𝑥^𝑇 𝐴𝑥)</a:t>
            </a:r>
          </a:p>
          <a:p>
            <a:pPr algn="l"/>
            <a:r>
              <a:rPr lang="en-US" b="0" i="0" dirty="0">
                <a:solidFill>
                  <a:srgbClr val="FFFFFF"/>
                </a:solidFill>
                <a:effectLst/>
                <a:latin typeface="Söhne"/>
              </a:rPr>
              <a:t>describes how the frequency of strategy type i, denoted as </a:t>
            </a:r>
            <a:r>
              <a:rPr lang="en-US" b="0" i="0" dirty="0" err="1">
                <a:solidFill>
                  <a:srgbClr val="FFFFFF"/>
                </a:solidFill>
                <a:effectLst/>
                <a:latin typeface="Söhne"/>
              </a:rPr>
              <a:t>x_i</a:t>
            </a:r>
            <a:r>
              <a:rPr lang="en-US" b="0" i="0" dirty="0">
                <a:solidFill>
                  <a:srgbClr val="FFFFFF"/>
                </a:solidFill>
                <a:effectLst/>
                <a:latin typeface="Söhne"/>
              </a:rPr>
              <a:t>, changes over time. Now, let's discuss the rest points:</a:t>
            </a:r>
          </a:p>
          <a:p>
            <a:pPr algn="l">
              <a:buFont typeface="Arial" panose="020B0604020202020204" pitchFamily="34" charset="0"/>
              <a:buChar char="•"/>
            </a:pPr>
            <a:r>
              <a:rPr lang="en-US" b="1" i="0" dirty="0">
                <a:solidFill>
                  <a:srgbClr val="FFFFFF"/>
                </a:solidFill>
                <a:effectLst/>
                <a:latin typeface="Söhne"/>
              </a:rPr>
              <a:t>Rest Point 𝑧_i = 0</a:t>
            </a:r>
            <a:r>
              <a:rPr lang="en-US" b="0" i="0" dirty="0">
                <a:solidFill>
                  <a:srgbClr val="FFFFFF"/>
                </a:solidFill>
                <a:effectLst/>
                <a:latin typeface="Söhne"/>
              </a:rPr>
              <a:t>: This represents a rest point where the frequency of strategy type i, denoted as </a:t>
            </a:r>
            <a:r>
              <a:rPr lang="en-US" b="0" i="0" dirty="0" err="1">
                <a:solidFill>
                  <a:srgbClr val="FFFFFF"/>
                </a:solidFill>
                <a:effectLst/>
                <a:latin typeface="Söhne"/>
              </a:rPr>
              <a:t>z_i</a:t>
            </a:r>
            <a:r>
              <a:rPr lang="en-US" b="0" i="0" dirty="0">
                <a:solidFill>
                  <a:srgbClr val="FFFFFF"/>
                </a:solidFill>
                <a:effectLst/>
                <a:latin typeface="Söhne"/>
              </a:rPr>
              <a:t>, becomes zero. In other words, there are no individuals left in the population who are executing strategy i.</a:t>
            </a:r>
          </a:p>
          <a:p>
            <a:pPr algn="l">
              <a:buFont typeface="Arial" panose="020B0604020202020204" pitchFamily="34" charset="0"/>
              <a:buChar char="•"/>
            </a:pPr>
            <a:r>
              <a:rPr lang="en-US" b="1" i="0" dirty="0">
                <a:solidFill>
                  <a:srgbClr val="FFFFFF"/>
                </a:solidFill>
                <a:effectLst/>
                <a:latin typeface="Söhne"/>
              </a:rPr>
              <a:t>(𝐴𝑧)_𝑖 = 𝑧^𝑇 𝐴𝑧</a:t>
            </a:r>
            <a:r>
              <a:rPr lang="en-US" b="0" i="0" dirty="0">
                <a:solidFill>
                  <a:srgbClr val="FFFFFF"/>
                </a:solidFill>
                <a:effectLst/>
                <a:latin typeface="Söhne"/>
              </a:rPr>
              <a:t>: This condition means that the expected payoff for strategy type i when interacting with others in the population (𝐴𝑧)_𝑖 is equal to the mean or average payoff in the population, as represented by 𝑧^𝑇 𝐴𝑧.</a:t>
            </a:r>
          </a:p>
          <a:p>
            <a:pPr algn="l"/>
            <a:r>
              <a:rPr lang="en-US" b="0" i="0" dirty="0">
                <a:solidFill>
                  <a:srgbClr val="FFFFFF"/>
                </a:solidFill>
                <a:effectLst/>
                <a:latin typeface="Söhne"/>
              </a:rPr>
              <a:t>Intuitively, these conditions mean:</a:t>
            </a:r>
          </a:p>
          <a:p>
            <a:pPr algn="l">
              <a:buFont typeface="Arial" panose="020B0604020202020204" pitchFamily="34" charset="0"/>
              <a:buChar char="•"/>
            </a:pPr>
            <a:r>
              <a:rPr lang="en-US" b="1" i="0" dirty="0">
                <a:solidFill>
                  <a:srgbClr val="FFFFFF"/>
                </a:solidFill>
                <a:effectLst/>
                <a:latin typeface="Söhne"/>
              </a:rPr>
              <a:t>Either there is no one left to execute strategy i</a:t>
            </a:r>
            <a:r>
              <a:rPr lang="en-US" b="0" i="0" dirty="0">
                <a:solidFill>
                  <a:srgbClr val="FFFFFF"/>
                </a:solidFill>
                <a:effectLst/>
                <a:latin typeface="Söhne"/>
              </a:rPr>
              <a:t>: This condition occurs when the frequency of strategy i, </a:t>
            </a:r>
            <a:r>
              <a:rPr lang="en-US" b="0" i="0" dirty="0" err="1">
                <a:solidFill>
                  <a:srgbClr val="FFFFFF"/>
                </a:solidFill>
                <a:effectLst/>
                <a:latin typeface="Söhne"/>
              </a:rPr>
              <a:t>z_i</a:t>
            </a:r>
            <a:r>
              <a:rPr lang="en-US" b="0" i="0" dirty="0">
                <a:solidFill>
                  <a:srgbClr val="FFFFFF"/>
                </a:solidFill>
                <a:effectLst/>
                <a:latin typeface="Söhne"/>
              </a:rPr>
              <a:t>, becomes zero. In such cases, strategy i has effectively disappeared from the population.</a:t>
            </a:r>
          </a:p>
          <a:p>
            <a:pPr algn="l">
              <a:buFont typeface="Arial" panose="020B0604020202020204" pitchFamily="34" charset="0"/>
              <a:buChar char="•"/>
            </a:pPr>
            <a:r>
              <a:rPr lang="en-US" b="1" i="0" dirty="0">
                <a:solidFill>
                  <a:srgbClr val="FFFFFF"/>
                </a:solidFill>
                <a:effectLst/>
                <a:latin typeface="Söhne"/>
              </a:rPr>
              <a:t>Or the payoff for strategy i is the same as the average payoff</a:t>
            </a:r>
            <a:r>
              <a:rPr lang="en-US" b="0" i="0" dirty="0">
                <a:solidFill>
                  <a:srgbClr val="FFFFFF"/>
                </a:solidFill>
                <a:effectLst/>
                <a:latin typeface="Söhne"/>
              </a:rPr>
              <a:t>: This condition occurs when the expected payoff for strategy type i (𝐴𝑧)_𝑖 is equal to the average payoff 𝑧^𝑇 𝐴𝑧. In this case, strategy i neither grows nor declines, as its payoff is in equilibrium with the average.</a:t>
            </a:r>
          </a:p>
          <a:p>
            <a:pPr algn="l"/>
            <a:r>
              <a:rPr lang="en-US" b="0" i="0" dirty="0">
                <a:solidFill>
                  <a:srgbClr val="FFFFFF"/>
                </a:solidFill>
                <a:effectLst/>
                <a:latin typeface="Söhne"/>
              </a:rPr>
              <a:t>The key insight here is that at rest points, the frequencies of strategy types no longer change because either those strategies have disappeared from the population or their payoffs are in equilibrium with the population's average payoff. In steady-state, all strategy types must have the same payoff when interacting with the rest of the population. This reflects a balanced state where no strategy can unilaterally increase its frequency.</a:t>
            </a:r>
          </a:p>
          <a:p>
            <a:br>
              <a:rPr lang="en-US" b="0" i="0" dirty="0">
                <a:solidFill>
                  <a:srgbClr val="FFFFFF"/>
                </a:solidFill>
                <a:effectLst/>
                <a:latin typeface="Söhne"/>
              </a:rPr>
            </a:b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provides the replicator equation for a two-strategy (n=2) game with the given payoff matrix:</a:t>
            </a:r>
            <a:br>
              <a:rPr lang="en-US" b="0" i="0" dirty="0">
                <a:solidFill>
                  <a:srgbClr val="D1D5DB"/>
                </a:solidFill>
                <a:effectLst/>
                <a:latin typeface="Söhne"/>
              </a:rPr>
            </a:br>
            <a:r>
              <a:rPr lang="en-US" b="0" i="0" dirty="0">
                <a:solidFill>
                  <a:srgbClr val="ECECF1"/>
                </a:solidFill>
                <a:effectLst/>
                <a:latin typeface="Söhne"/>
              </a:rPr>
              <a:t>------------------- </a:t>
            </a:r>
            <a:br>
              <a:rPr lang="en-US" b="0" i="0" dirty="0">
                <a:solidFill>
                  <a:srgbClr val="ECECF1"/>
                </a:solidFill>
                <a:effectLst/>
                <a:latin typeface="Söhne"/>
              </a:rPr>
            </a:br>
            <a:r>
              <a:rPr lang="en-US" b="0" i="0" dirty="0">
                <a:solidFill>
                  <a:srgbClr val="ECECF1"/>
                </a:solidFill>
                <a:effectLst/>
                <a:latin typeface="Söhne"/>
              </a:rPr>
              <a:t>|     0     |      a     | </a:t>
            </a:r>
            <a:br>
              <a:rPr lang="en-US" b="0" i="0" dirty="0">
                <a:solidFill>
                  <a:srgbClr val="ECECF1"/>
                </a:solidFill>
                <a:effectLst/>
                <a:latin typeface="Söhne"/>
              </a:rPr>
            </a:br>
            <a:r>
              <a:rPr lang="en-US" b="0" i="0" dirty="0">
                <a:solidFill>
                  <a:srgbClr val="ECECF1"/>
                </a:solidFill>
                <a:effectLst/>
                <a:latin typeface="Söhne"/>
              </a:rPr>
              <a:t>------------------- </a:t>
            </a:r>
            <a:br>
              <a:rPr lang="en-US" b="0" i="0" dirty="0">
                <a:solidFill>
                  <a:srgbClr val="ECECF1"/>
                </a:solidFill>
                <a:effectLst/>
                <a:latin typeface="Söhne"/>
              </a:rPr>
            </a:br>
            <a:r>
              <a:rPr lang="en-US" b="0" i="0" dirty="0">
                <a:solidFill>
                  <a:srgbClr val="ECECF1"/>
                </a:solidFill>
                <a:effectLst/>
                <a:latin typeface="Söhne"/>
              </a:rPr>
              <a:t>|     b     |      0     | </a:t>
            </a:r>
            <a:br>
              <a:rPr lang="en-US" b="0" i="0" dirty="0">
                <a:solidFill>
                  <a:srgbClr val="ECECF1"/>
                </a:solidFill>
                <a:effectLst/>
                <a:latin typeface="Söhne"/>
              </a:rPr>
            </a:br>
            <a:r>
              <a:rPr lang="en-US" b="0" i="0" dirty="0">
                <a:solidFill>
                  <a:srgbClr val="ECECF1"/>
                </a:solidFill>
                <a:effectLst/>
                <a:latin typeface="Söhne"/>
              </a:rPr>
              <a:t>-------------------</a:t>
            </a:r>
            <a:br>
              <a:rPr lang="en-US" b="0" i="0" dirty="0">
                <a:solidFill>
                  <a:srgbClr val="ECECF1"/>
                </a:solidFill>
                <a:effectLst/>
                <a:latin typeface="Söhne"/>
              </a:rPr>
            </a:br>
            <a:r>
              <a:rPr lang="en-US" b="0" i="0" dirty="0">
                <a:solidFill>
                  <a:srgbClr val="FFFFFF"/>
                </a:solidFill>
                <a:effectLst/>
                <a:latin typeface="Söhne"/>
              </a:rPr>
              <a:t>The replicator equation for this game, where strategy 1 is represented as 𝑥_1 and strategy 2 is represented as 𝑥_2, can be expressed as:</a:t>
            </a:r>
          </a:p>
          <a:p>
            <a:pPr algn="l"/>
            <a:r>
              <a:rPr lang="en-US" b="0" i="0" dirty="0">
                <a:solidFill>
                  <a:srgbClr val="FFFFFF"/>
                </a:solidFill>
                <a:effectLst/>
                <a:latin typeface="Söhne"/>
              </a:rPr>
              <a:t>𝑥_1' = 𝑥_1(1 - 𝑥_1)(a - (a + b)𝑥_1)</a:t>
            </a:r>
          </a:p>
          <a:p>
            <a:pPr algn="l"/>
            <a:r>
              <a:rPr lang="en-US" b="0" i="0" dirty="0">
                <a:solidFill>
                  <a:srgbClr val="FFFFFF"/>
                </a:solidFill>
                <a:effectLst/>
                <a:latin typeface="Söhne"/>
              </a:rPr>
              <a:t>This equation describes how the frequency 𝑥_1 changes over time. The rest points (equilibrium points) occur when 𝑥_1' = 0:</a:t>
            </a:r>
          </a:p>
          <a:p>
            <a:pPr marL="228600" indent="-228600" algn="l">
              <a:buFont typeface="+mj-lt"/>
              <a:buAutoNum type="arabicPeriod"/>
            </a:pPr>
            <a:r>
              <a:rPr lang="en-US" b="0" i="0" dirty="0">
                <a:solidFill>
                  <a:srgbClr val="FFFFFF"/>
                </a:solidFill>
                <a:effectLst/>
                <a:latin typeface="Söhne"/>
              </a:rPr>
              <a:t>𝑥 = 0: When 𝑥_1 = 0, it means that the population consists entirely of strategy 2 (𝑥_2 = 1), and strategy 1 is extinct.</a:t>
            </a:r>
          </a:p>
          <a:p>
            <a:pPr marL="228600" indent="-228600" algn="l">
              <a:buFont typeface="+mj-lt"/>
              <a:buAutoNum type="arabicPeriod"/>
            </a:pPr>
            <a:r>
              <a:rPr lang="en-US" b="0" i="0" dirty="0">
                <a:solidFill>
                  <a:srgbClr val="FFFFFF"/>
                </a:solidFill>
                <a:effectLst/>
                <a:latin typeface="Söhne"/>
              </a:rPr>
              <a:t>𝑥 = 1: When 𝑥_1 = 1, it means that the population consists entirely of strategy 1 (𝑥_2 = 0), and strategy 2 is extinct.</a:t>
            </a:r>
          </a:p>
          <a:p>
            <a:pPr marL="228600" indent="-228600" algn="l">
              <a:buFont typeface="+mj-lt"/>
              <a:buAutoNum type="arabicPeriod"/>
            </a:pPr>
            <a:r>
              <a:rPr lang="en-US" b="0" i="0" dirty="0">
                <a:solidFill>
                  <a:srgbClr val="FFFFFF"/>
                </a:solidFill>
                <a:effectLst/>
                <a:latin typeface="Söhne"/>
              </a:rPr>
              <a:t>𝑥 = 𝑎/(𝑎 + 𝑏): At this rest point, both strategies coexist in the population, with 𝑥_1 being the fraction of individuals following strategy 1, and 𝑥_2 being the fraction following strategy 2. This equilibrium point represents a stable mixed strategy where both strategies are present in the population.</a:t>
            </a:r>
          </a:p>
          <a:p>
            <a:pPr algn="l"/>
            <a:r>
              <a:rPr lang="en-US" b="0" i="0" dirty="0">
                <a:solidFill>
                  <a:srgbClr val="FFFFFF"/>
                </a:solidFill>
                <a:effectLst/>
                <a:latin typeface="Söhne"/>
              </a:rPr>
              <a:t>These rest points correspond to different evolutionary outcomes in the population. The first two points represent pure strategy outcomes where one strategy dominates, while the third point represents a stable mixed strategy outcome where both strategies coexist.</a:t>
            </a:r>
          </a:p>
          <a:p>
            <a:br>
              <a:rPr lang="en-US" b="0" i="0" dirty="0">
                <a:solidFill>
                  <a:srgbClr val="FFFFFF"/>
                </a:solidFill>
                <a:effectLst/>
                <a:latin typeface="Söhne"/>
              </a:rPr>
            </a:b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marL="228600" indent="-228600">
              <a:buFont typeface="+mj-lt"/>
              <a:buAutoNum type="arabicPeriod"/>
            </a:pPr>
            <a:r>
              <a:rPr lang="en-US" b="1" dirty="0"/>
              <a:t>Dominance: ------------&gt;-------------</a:t>
            </a:r>
          </a:p>
          <a:p>
            <a:pPr marL="628650" lvl="1" indent="-171450">
              <a:buFont typeface="Arial" panose="020B0604020202020204" pitchFamily="34" charset="0"/>
              <a:buChar char="•"/>
            </a:pPr>
            <a:r>
              <a:rPr lang="en-US" dirty="0"/>
              <a:t>This sketch shows arrows pointing to the right, indicating </a:t>
            </a:r>
            <a:r>
              <a:rPr lang="en-US" b="1" dirty="0"/>
              <a:t>unidirectional evolution</a:t>
            </a:r>
            <a:r>
              <a:rPr lang="en-US" dirty="0"/>
              <a:t> towards a single strategy.</a:t>
            </a:r>
          </a:p>
          <a:p>
            <a:pPr marL="628650" lvl="1" indent="-171450">
              <a:buFont typeface="Arial" panose="020B0604020202020204" pitchFamily="34" charset="0"/>
              <a:buChar char="•"/>
            </a:pPr>
            <a:r>
              <a:rPr lang="en-US" b="1" dirty="0"/>
              <a:t>Interpretation</a:t>
            </a:r>
            <a:r>
              <a:rPr lang="en-US" dirty="0"/>
              <a:t>: One strategy dominates the other. Regardless of the initial population composition, the population will evolve towards 100% of one dominant strategy.</a:t>
            </a:r>
          </a:p>
          <a:p>
            <a:pPr marL="628650" lvl="1" indent="-171450">
              <a:buFont typeface="Arial" panose="020B0604020202020204" pitchFamily="34" charset="0"/>
              <a:buChar char="•"/>
            </a:pPr>
            <a:r>
              <a:rPr lang="en-US" b="1" dirty="0"/>
              <a:t>Example</a:t>
            </a:r>
            <a:r>
              <a:rPr lang="en-US" dirty="0"/>
              <a:t>: If strategy A always gives a higher payoff than strategy B, no matter the population mix, then strategy A dominates, and the population will evolve entirely towards strategy A.</a:t>
            </a:r>
          </a:p>
          <a:p>
            <a:pPr marL="457200" lvl="1" indent="0">
              <a:buFont typeface="Arial" panose="020B0604020202020204" pitchFamily="34" charset="0"/>
              <a:buNone/>
            </a:pPr>
            <a:endParaRPr lang="en-US" dirty="0"/>
          </a:p>
          <a:p>
            <a:pPr marL="228600" indent="-228600">
              <a:buFont typeface="+mj-lt"/>
              <a:buAutoNum type="arabicPeriod"/>
            </a:pPr>
            <a:r>
              <a:rPr lang="en-US" b="1" dirty="0" err="1"/>
              <a:t>Bistability</a:t>
            </a:r>
            <a:r>
              <a:rPr lang="en-US" b="1" dirty="0"/>
              <a:t>: ------&lt;----|----&gt;------</a:t>
            </a:r>
          </a:p>
          <a:p>
            <a:pPr marL="628650" lvl="1" indent="-171450">
              <a:buFont typeface="Arial" panose="020B0604020202020204" pitchFamily="34" charset="0"/>
              <a:buChar char="•"/>
            </a:pPr>
            <a:r>
              <a:rPr lang="en-US" b="1" dirty="0"/>
              <a:t>Sketch</a:t>
            </a:r>
            <a:r>
              <a:rPr lang="en-US" dirty="0"/>
              <a:t>: The arrows point </a:t>
            </a:r>
            <a:r>
              <a:rPr lang="en-US" b="1" dirty="0"/>
              <a:t>away from</a:t>
            </a:r>
            <a:r>
              <a:rPr lang="en-US" dirty="0"/>
              <a:t> the middle vertical bar, indicating that the middle point is unstable.</a:t>
            </a:r>
          </a:p>
          <a:p>
            <a:pPr marL="628650" lvl="1" indent="-171450">
              <a:buFont typeface="Arial" panose="020B0604020202020204" pitchFamily="34" charset="0"/>
              <a:buChar char="•"/>
            </a:pPr>
            <a:r>
              <a:rPr lang="en-US" b="1" dirty="0"/>
              <a:t>Interpretation</a:t>
            </a:r>
            <a:r>
              <a:rPr lang="en-US" dirty="0"/>
              <a:t>: This situation represents an </a:t>
            </a:r>
            <a:r>
              <a:rPr lang="en-US" b="1" dirty="0"/>
              <a:t>unstable equilibrium</a:t>
            </a:r>
            <a:r>
              <a:rPr lang="en-US" dirty="0"/>
              <a:t> in the middle (the vertical bar), and the population evolves away from it. If the population starts on one side of the middle, it will eventually evolve toward one of the two stable equilibria (on either side of the middle).</a:t>
            </a:r>
          </a:p>
          <a:p>
            <a:pPr marL="628650" lvl="1" indent="-171450">
              <a:buFont typeface="Arial" panose="020B0604020202020204" pitchFamily="34" charset="0"/>
              <a:buChar char="•"/>
            </a:pPr>
            <a:r>
              <a:rPr lang="en-US" b="1" dirty="0"/>
              <a:t>Example</a:t>
            </a:r>
            <a:r>
              <a:rPr lang="en-US" dirty="0"/>
              <a:t>: Think of this as a tipping point. If the population starts close to one strategy, it will evolve to adopt that strategy entirely, depending on where the initial population is located. The middle point (the bar) is unstable—if the population starts exactly there, it can evolve in either direction.</a:t>
            </a:r>
          </a:p>
          <a:p>
            <a:pPr marL="457200" lvl="1" indent="0">
              <a:buFont typeface="Arial" panose="020B0604020202020204" pitchFamily="34" charset="0"/>
              <a:buNone/>
            </a:pPr>
            <a:endParaRPr lang="en-US" dirty="0"/>
          </a:p>
          <a:p>
            <a:pPr marL="228600" indent="-228600">
              <a:buFont typeface="+mj-lt"/>
              <a:buAutoNum type="arabicPeriod"/>
            </a:pPr>
            <a:r>
              <a:rPr lang="en-US" b="1" dirty="0"/>
              <a:t>Stable coexistence: ------&gt;----|----&lt;------</a:t>
            </a:r>
          </a:p>
          <a:p>
            <a:pPr marL="628650" lvl="1" indent="-171450">
              <a:buFont typeface="Arial" panose="020B0604020202020204" pitchFamily="34" charset="0"/>
              <a:buChar char="•"/>
            </a:pPr>
            <a:r>
              <a:rPr lang="en-US" b="1" dirty="0"/>
              <a:t>Sketch</a:t>
            </a:r>
            <a:r>
              <a:rPr lang="en-US" dirty="0"/>
              <a:t>: The arrows point </a:t>
            </a:r>
            <a:r>
              <a:rPr lang="en-US" b="1" dirty="0"/>
              <a:t>towards</a:t>
            </a:r>
            <a:r>
              <a:rPr lang="en-US" dirty="0"/>
              <a:t> the middle vertical bar, indicating a stable equilibrium at the middle.</a:t>
            </a:r>
          </a:p>
          <a:p>
            <a:pPr marL="628650" lvl="1" indent="-171450">
              <a:buFont typeface="Arial" panose="020B0604020202020204" pitchFamily="34" charset="0"/>
              <a:buChar char="•"/>
            </a:pPr>
            <a:r>
              <a:rPr lang="en-US" b="1" dirty="0"/>
              <a:t>Interpretation</a:t>
            </a:r>
            <a:r>
              <a:rPr lang="en-US" dirty="0"/>
              <a:t>: This represents </a:t>
            </a:r>
            <a:r>
              <a:rPr lang="en-US" b="1" dirty="0"/>
              <a:t>stable coexistence</a:t>
            </a:r>
            <a:r>
              <a:rPr lang="en-US" dirty="0"/>
              <a:t>, where the population evolves towards a balance of both strategies. The middle point is stable, and regardless of where the population starts, it will move towards this point.</a:t>
            </a:r>
          </a:p>
          <a:p>
            <a:pPr marL="628650" lvl="1" indent="-171450">
              <a:buFont typeface="Arial" panose="020B0604020202020204" pitchFamily="34" charset="0"/>
              <a:buChar char="•"/>
            </a:pPr>
            <a:r>
              <a:rPr lang="en-US" b="1" dirty="0"/>
              <a:t>Example</a:t>
            </a:r>
            <a:r>
              <a:rPr lang="en-US" dirty="0"/>
              <a:t>: In some evolutionary games (like Hawk-Dove), neither strategy dominates entirely, but a certain mix of both strategies leads to a stable equilibrium.</a:t>
            </a:r>
          </a:p>
          <a:p>
            <a:pPr marL="457200" lvl="1" indent="0">
              <a:buFont typeface="Arial" panose="020B0604020202020204" pitchFamily="34" charset="0"/>
              <a:buNone/>
            </a:pPr>
            <a:endParaRPr lang="en-US" dirty="0"/>
          </a:p>
          <a:p>
            <a:r>
              <a:rPr lang="en-US" b="1" dirty="0"/>
              <a:t>Summary of Diagrams:</a:t>
            </a:r>
          </a:p>
          <a:p>
            <a:pPr marL="228600" indent="-228600">
              <a:buFont typeface="+mj-lt"/>
              <a:buAutoNum type="arabicPeriod"/>
            </a:pPr>
            <a:r>
              <a:rPr lang="en-US" b="1" dirty="0"/>
              <a:t>Dominance</a:t>
            </a:r>
            <a:r>
              <a:rPr lang="en-US" dirty="0"/>
              <a:t>: One strategy dominates, and the population evolves towards that single strategy.</a:t>
            </a:r>
          </a:p>
          <a:p>
            <a:pPr marL="228600" indent="-228600">
              <a:buFont typeface="+mj-lt"/>
              <a:buAutoNum type="arabicPeriod"/>
            </a:pPr>
            <a:r>
              <a:rPr lang="en-US" b="1" dirty="0" err="1"/>
              <a:t>Bistability</a:t>
            </a:r>
            <a:r>
              <a:rPr lang="en-US" dirty="0"/>
              <a:t>: Two stable outcomes exist, and the population evolves away from the unstable middle point towards one of the stable equilibria, depending on the starting condition.</a:t>
            </a:r>
          </a:p>
          <a:p>
            <a:pPr marL="228600" indent="-228600">
              <a:buFont typeface="+mj-lt"/>
              <a:buAutoNum type="arabicPeriod"/>
            </a:pPr>
            <a:r>
              <a:rPr lang="en-US" b="1" dirty="0"/>
              <a:t>Stable Coexistence</a:t>
            </a:r>
            <a:r>
              <a:rPr lang="en-US" dirty="0"/>
              <a:t>: The population evolves towards a balance of both strategies, with the middle point representing a stable equilibrium.</a:t>
            </a:r>
          </a:p>
          <a:p>
            <a:pPr marL="0" indent="0">
              <a:buFont typeface="+mj-lt"/>
              <a:buNone/>
            </a:pPr>
            <a:endParaRPr lang="en-US" dirty="0"/>
          </a:p>
          <a:p>
            <a:r>
              <a:rPr lang="en-US" dirty="0"/>
              <a:t>These diagrams summarize how the replicator dynamics guide the evolution of strategies over time.</a:t>
            </a:r>
          </a:p>
          <a:p>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In the Hawk-Dove game you've described, where Hawk and Dove are two competing strategies, and G represents the gain from winning a contest while C represents the fitness cost associated with getting injured during a contest (where C &gt; G), the parameter x, as you've correctly stated, represents the prevalence of ritual contests.</a:t>
            </a:r>
          </a:p>
          <a:p>
            <a:pPr algn="l"/>
            <a:r>
              <a:rPr lang="en-US" b="0" i="0" dirty="0">
                <a:solidFill>
                  <a:srgbClr val="FFFFFF"/>
                </a:solidFill>
                <a:effectLst/>
                <a:latin typeface="Söhne"/>
              </a:rPr>
              <a:t>Specifically, x = G / C represents the threshold prevalence value at which Hawk (escalating behavior) and Dove (ritual display and retreat) coexist in equilibrium. This means that when x = G / C, both strategies are equally prevalent in the population, and the expected payoffs for both strategies are equal.</a:t>
            </a:r>
          </a:p>
          <a:p>
            <a:pPr algn="l"/>
            <a:r>
              <a:rPr lang="en-US" b="0" i="0" dirty="0">
                <a:solidFill>
                  <a:srgbClr val="FFFFFF"/>
                </a:solidFill>
                <a:effectLst/>
                <a:latin typeface="Söhne"/>
              </a:rPr>
              <a:t>To further clarify:</a:t>
            </a:r>
          </a:p>
          <a:p>
            <a:pPr marL="171450" indent="-171450" algn="l">
              <a:buFont typeface="Arial" panose="020B0604020202020204" pitchFamily="34" charset="0"/>
              <a:buChar char="•"/>
            </a:pPr>
            <a:r>
              <a:rPr lang="en-US" b="0" i="0" dirty="0">
                <a:solidFill>
                  <a:srgbClr val="FFFFFF"/>
                </a:solidFill>
                <a:effectLst/>
                <a:latin typeface="Söhne"/>
              </a:rPr>
              <a:t>When x &lt; G / C: Dove strategy becomes more prevalent because the cost of injury (C) is significantly greater than the benefit of winning (G). Dove's expected payoff (G/2) is higher than the expected payoff of Hawk (G-C)/2, leading to a prevalence of Dove.</a:t>
            </a:r>
          </a:p>
          <a:p>
            <a:pPr marL="171450" indent="-171450" algn="l">
              <a:buFont typeface="Arial" panose="020B0604020202020204" pitchFamily="34" charset="0"/>
              <a:buChar char="•"/>
            </a:pPr>
            <a:r>
              <a:rPr lang="en-US" b="0" i="0" dirty="0">
                <a:solidFill>
                  <a:srgbClr val="FFFFFF"/>
                </a:solidFill>
                <a:effectLst/>
                <a:latin typeface="Söhne"/>
              </a:rPr>
              <a:t>When x &gt; G / C: Hawk strategy becomes more prevalent because the benefit of winning (G) is significantly greater than the cost of injury (C). Hawk's expected payoff (G-C)/2 is higher than the expected payoff of Dove (G/2), leading to a prevalence of Hawk.</a:t>
            </a:r>
          </a:p>
          <a:p>
            <a:pPr marL="171450" indent="-171450" algn="l">
              <a:buFont typeface="Arial" panose="020B0604020202020204" pitchFamily="34" charset="0"/>
              <a:buChar char="•"/>
            </a:pPr>
            <a:r>
              <a:rPr lang="en-US" b="0" i="0" dirty="0">
                <a:solidFill>
                  <a:srgbClr val="FFFFFF"/>
                </a:solidFill>
                <a:effectLst/>
                <a:latin typeface="Söhne"/>
              </a:rPr>
              <a:t>When x = G / C: Both Hawk and Dove coexist in equilibrium because their expected payoffs are equal, representing a prevalence of ritual contests where both strategies are present.</a:t>
            </a:r>
          </a:p>
          <a:p>
            <a:pPr algn="l"/>
            <a:r>
              <a:rPr lang="en-US" b="0" i="0" dirty="0">
                <a:solidFill>
                  <a:srgbClr val="FFFFFF"/>
                </a:solidFill>
                <a:effectLst/>
                <a:latin typeface="Söhne"/>
              </a:rPr>
              <a:t>The parameter x = G / C captures the delicate balance between the benefits and costs associated with these two strategies, providing insights into the conditions under which different strategies can coexist in a population.</a:t>
            </a:r>
          </a:p>
          <a:p>
            <a:br>
              <a:rPr lang="en-US" b="0" i="0" dirty="0">
                <a:solidFill>
                  <a:srgbClr val="FFFFFF"/>
                </a:solidFill>
                <a:effectLst/>
                <a:latin typeface="Söhne"/>
              </a:rPr>
            </a:b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idea, where a simple model of individual learning based on reinforcement learning exhibits similar dynamics to social learning based on imitation, is interesting and has connections to game theory and evolutionary dynamics. Let's break down this concept further:</a:t>
            </a:r>
          </a:p>
          <a:p>
            <a:pPr algn="l">
              <a:buFont typeface="+mj-lt"/>
              <a:buAutoNum type="arabicPeriod"/>
            </a:pPr>
            <a:r>
              <a:rPr lang="en-US" b="1" i="0" dirty="0">
                <a:solidFill>
                  <a:srgbClr val="FFFFFF"/>
                </a:solidFill>
                <a:effectLst/>
                <a:latin typeface="Söhne"/>
              </a:rPr>
              <a:t>Cross-Learning</a:t>
            </a:r>
            <a:r>
              <a:rPr lang="en-US" b="0" i="0" dirty="0">
                <a:solidFill>
                  <a:srgbClr val="FFFFFF"/>
                </a:solidFill>
                <a:effectLst/>
                <a:latin typeface="Söhne"/>
              </a:rPr>
              <a:t>: Cross-learning is a concept where individual learning, often based on reinforcement learning principles, can exhibit dynamics similar to those seen in social learning, which involves imitation or learning from others.</a:t>
            </a:r>
          </a:p>
          <a:p>
            <a:pPr algn="l">
              <a:buFont typeface="+mj-lt"/>
              <a:buAutoNum type="arabicPeriod"/>
            </a:pPr>
            <a:r>
              <a:rPr lang="en-US" b="1" i="0" dirty="0">
                <a:solidFill>
                  <a:srgbClr val="FFFFFF"/>
                </a:solidFill>
                <a:effectLst/>
                <a:latin typeface="Söhne"/>
              </a:rPr>
              <a:t>Replicator Dynamics</a:t>
            </a:r>
            <a:r>
              <a:rPr lang="en-US" b="0" i="0" dirty="0">
                <a:solidFill>
                  <a:srgbClr val="FFFFFF"/>
                </a:solidFill>
                <a:effectLst/>
                <a:latin typeface="Söhne"/>
              </a:rPr>
              <a:t>: Replicator dynamics describe the evolution of strategies in a population, often used in the context of evolutionary game theory. These dynamics show how the frequencies of different strategies change over time.</a:t>
            </a:r>
          </a:p>
          <a:p>
            <a:pPr algn="l">
              <a:buFont typeface="+mj-lt"/>
              <a:buAutoNum type="arabicPeriod"/>
            </a:pPr>
            <a:r>
              <a:rPr lang="en-US" b="1" i="0" dirty="0">
                <a:solidFill>
                  <a:srgbClr val="FFFFFF"/>
                </a:solidFill>
                <a:effectLst/>
                <a:latin typeface="Söhne"/>
              </a:rPr>
              <a:t>Reaching Nash Equilibria</a:t>
            </a:r>
            <a:r>
              <a:rPr lang="en-US" b="0" i="0" dirty="0">
                <a:solidFill>
                  <a:srgbClr val="FFFFFF"/>
                </a:solidFill>
                <a:effectLst/>
                <a:latin typeface="Söhne"/>
              </a:rPr>
              <a:t>: In some cases, both individual learning (reinforcement learning) and social learning (imitation) can lead to the convergence of strategies to Nash equilibria. This is significant because Nash equilibria represent stable points in strategic interactions where no player has an incentive to change their strategy unilaterally.</a:t>
            </a:r>
          </a:p>
          <a:p>
            <a:pPr algn="l">
              <a:buFont typeface="+mj-lt"/>
              <a:buAutoNum type="arabicPeriod"/>
            </a:pPr>
            <a:r>
              <a:rPr lang="en-US" b="1" i="0" dirty="0">
                <a:solidFill>
                  <a:srgbClr val="FFFFFF"/>
                </a:solidFill>
                <a:effectLst/>
                <a:latin typeface="Söhne"/>
              </a:rPr>
              <a:t>Conditions for Convergence</a:t>
            </a:r>
            <a:r>
              <a:rPr lang="en-US" b="0" i="0" dirty="0">
                <a:solidFill>
                  <a:srgbClr val="FFFFFF"/>
                </a:solidFill>
                <a:effectLst/>
                <a:latin typeface="Söhne"/>
              </a:rPr>
              <a:t>: The conditions under which reinforcement learning or individual learning models converge to Nash equilibria can vary depending on the specifics of the learning algorithm and the nature of the game being played. Not all learning algorithms or games will lead to Nash equilibria.</a:t>
            </a:r>
          </a:p>
          <a:p>
            <a:pPr algn="l">
              <a:buFont typeface="+mj-lt"/>
              <a:buAutoNum type="arabicPeriod"/>
            </a:pPr>
            <a:r>
              <a:rPr lang="en-US" b="1" i="0" dirty="0">
                <a:solidFill>
                  <a:srgbClr val="FFFFFF"/>
                </a:solidFill>
                <a:effectLst/>
                <a:latin typeface="Söhne"/>
              </a:rPr>
              <a:t>Continuous Time Limit</a:t>
            </a:r>
            <a:r>
              <a:rPr lang="en-US" b="0" i="0" dirty="0">
                <a:solidFill>
                  <a:srgbClr val="FFFFFF"/>
                </a:solidFill>
                <a:effectLst/>
                <a:latin typeface="Söhne"/>
              </a:rPr>
              <a:t>: The idea that these dynamics converge in the continuous time limit aligns with the concept of equilibrium analysis in continuous-time evolutionary game theory, where strategies change continuously.</a:t>
            </a:r>
          </a:p>
          <a:p>
            <a:pPr algn="l"/>
            <a:r>
              <a:rPr lang="en-US" b="0" i="0" dirty="0">
                <a:solidFill>
                  <a:srgbClr val="FFFFFF"/>
                </a:solidFill>
                <a:effectLst/>
                <a:latin typeface="Söhne"/>
              </a:rPr>
              <a:t>In summary, the relationship between reinforcement learning and replicator dynamics, and their connection to Nash equilibria, is an active area of research. Researchers are exploring how different learning models, including reinforcement learning, can be used to analyze and understand the emergence of equilibria in various game-theoretical and social learning contexts. The convergence to Nash equilibria under certain conditions is a fascinating aspect of this research, as it highlights the connection between individual and social learning dynamics in strategic interactions.</a:t>
            </a:r>
          </a:p>
          <a:p>
            <a:br>
              <a:rPr lang="en-US" b="0" i="0" dirty="0">
                <a:solidFill>
                  <a:srgbClr val="FFFFFF"/>
                </a:solidFill>
                <a:effectLst/>
                <a:latin typeface="Söhne"/>
              </a:rPr>
            </a:b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In a game with n=3 strategies, you can describe the replicator dynamics using a system of three first-order differential equations. This is often used to model scenarios like the "rock-paper-scissors" game. Here's a general form of the replicator equations for n=3:</a:t>
            </a:r>
          </a:p>
          <a:p>
            <a:pPr algn="l"/>
            <a:r>
              <a:rPr lang="en-US" b="0" i="0" dirty="0">
                <a:solidFill>
                  <a:srgbClr val="FFFFFF"/>
                </a:solidFill>
                <a:effectLst/>
                <a:latin typeface="Söhne"/>
              </a:rPr>
              <a:t>Let x_1, x_2, and x_3 represent the proportions or frequencies of strategies 1, 2, and 3 in the population, respectively.</a:t>
            </a:r>
          </a:p>
          <a:p>
            <a:pPr algn="l"/>
            <a:r>
              <a:rPr lang="en-US" b="0" i="0" dirty="0">
                <a:solidFill>
                  <a:srgbClr val="FFFFFF"/>
                </a:solidFill>
                <a:effectLst/>
                <a:latin typeface="Söhne"/>
              </a:rPr>
              <a:t>The replicator equations for this case can be expressed as follows:</a:t>
            </a:r>
          </a:p>
          <a:p>
            <a:pPr algn="l"/>
            <a:r>
              <a:rPr lang="en-US" b="0" i="0" dirty="0">
                <a:solidFill>
                  <a:srgbClr val="FFFFFF"/>
                </a:solidFill>
                <a:effectLst/>
                <a:latin typeface="Söhne"/>
              </a:rPr>
              <a:t>For strategy 1 (x_1):</a:t>
            </a:r>
          </a:p>
          <a:p>
            <a:pPr algn="l"/>
            <a:r>
              <a:rPr lang="en-US" b="0" i="0" dirty="0">
                <a:solidFill>
                  <a:srgbClr val="FFFFFF"/>
                </a:solidFill>
                <a:effectLst/>
                <a:latin typeface="Söhne"/>
              </a:rPr>
              <a:t>x_1' = x_1 * [f_1(x_1, x_2, x_3) - Φ]</a:t>
            </a:r>
          </a:p>
          <a:p>
            <a:pPr algn="l"/>
            <a:r>
              <a:rPr lang="en-US" b="0" i="0" dirty="0">
                <a:solidFill>
                  <a:srgbClr val="FFFFFF"/>
                </a:solidFill>
                <a:effectLst/>
                <a:latin typeface="Söhne"/>
              </a:rPr>
              <a:t>For strategy 2 (x_2):</a:t>
            </a:r>
          </a:p>
          <a:p>
            <a:pPr algn="l"/>
            <a:r>
              <a:rPr lang="en-US" b="0" i="0" dirty="0">
                <a:solidFill>
                  <a:srgbClr val="FFFFFF"/>
                </a:solidFill>
                <a:effectLst/>
                <a:latin typeface="Söhne"/>
              </a:rPr>
              <a:t>x_2' = x_2 * [f_2(x_1, x_2, x_3) - Φ]</a:t>
            </a:r>
          </a:p>
          <a:p>
            <a:pPr algn="l"/>
            <a:r>
              <a:rPr lang="en-US" b="0" i="0" dirty="0">
                <a:solidFill>
                  <a:srgbClr val="FFFFFF"/>
                </a:solidFill>
                <a:effectLst/>
                <a:latin typeface="Söhne"/>
              </a:rPr>
              <a:t>For strategy 3 (x_3):</a:t>
            </a:r>
          </a:p>
          <a:p>
            <a:pPr algn="l"/>
            <a:r>
              <a:rPr lang="en-US" b="0" i="0" dirty="0">
                <a:solidFill>
                  <a:srgbClr val="FFFFFF"/>
                </a:solidFill>
                <a:effectLst/>
                <a:latin typeface="Söhne"/>
              </a:rPr>
              <a:t>x_3' = x_3 * [f_3(x_1, x_2, x_3) - Φ]</a:t>
            </a:r>
          </a:p>
          <a:p>
            <a:pPr algn="l"/>
            <a:r>
              <a:rPr lang="en-US" b="0" i="0" dirty="0">
                <a:solidFill>
                  <a:srgbClr val="FFFFFF"/>
                </a:solidFill>
                <a:effectLst/>
                <a:latin typeface="Söhne"/>
              </a:rPr>
              <a:t>In these equations:</a:t>
            </a:r>
          </a:p>
          <a:p>
            <a:pPr algn="l">
              <a:buFont typeface="Arial" panose="020B0604020202020204" pitchFamily="34" charset="0"/>
              <a:buChar char="•"/>
            </a:pPr>
            <a:r>
              <a:rPr lang="en-US" b="0" i="0" dirty="0">
                <a:solidFill>
                  <a:srgbClr val="FFFFFF"/>
                </a:solidFill>
                <a:effectLst/>
                <a:latin typeface="Söhne"/>
              </a:rPr>
              <a:t>x_1', x_2', and x_3' represent the rates of change of the frequencies of strategies 1, 2, and 3, respectively.</a:t>
            </a:r>
          </a:p>
          <a:p>
            <a:pPr algn="l">
              <a:buFont typeface="Arial" panose="020B0604020202020204" pitchFamily="34" charset="0"/>
              <a:buChar char="•"/>
            </a:pPr>
            <a:r>
              <a:rPr lang="en-US" b="0" i="0" dirty="0">
                <a:solidFill>
                  <a:srgbClr val="FFFFFF"/>
                </a:solidFill>
                <a:effectLst/>
                <a:latin typeface="Söhne"/>
              </a:rPr>
              <a:t>f_1(x_1, x_2, x_3), f_2(x_1, x_2, x_3), and f_3(x_1, x_2, x_3) are the fitness functions associated with each strategy. These functions determine how the fitness of each strategy depends on the frequencies of all three strategies in the population.</a:t>
            </a:r>
          </a:p>
          <a:p>
            <a:pPr algn="l">
              <a:buFont typeface="Arial" panose="020B0604020202020204" pitchFamily="34" charset="0"/>
              <a:buChar char="•"/>
            </a:pPr>
            <a:r>
              <a:rPr lang="en-US" b="0" i="0" dirty="0">
                <a:solidFill>
                  <a:srgbClr val="FFFFFF"/>
                </a:solidFill>
                <a:effectLst/>
                <a:latin typeface="Söhne"/>
              </a:rPr>
              <a:t>Φ represents the average fitness of the population, which is calculated as a weighted average of the fitness of all three strategies based on their frequencies.</a:t>
            </a:r>
          </a:p>
          <a:p>
            <a:pPr algn="l"/>
            <a:r>
              <a:rPr lang="en-US" b="0" i="0" dirty="0">
                <a:solidFill>
                  <a:srgbClr val="FFFFFF"/>
                </a:solidFill>
                <a:effectLst/>
                <a:latin typeface="Söhne"/>
              </a:rPr>
              <a:t>The existence of heteroclinic cycles, as you mentioned in the context of "rock-scissors-paper" dynamics, is indeed possible in such systems. In a heteroclinic cycle, the population proportions cyclically change over time, and no single strategy dominates permanently.</a:t>
            </a:r>
          </a:p>
          <a:p>
            <a:pPr algn="l"/>
            <a:r>
              <a:rPr lang="en-US" b="0" i="0" dirty="0">
                <a:solidFill>
                  <a:srgbClr val="FFFFFF"/>
                </a:solidFill>
                <a:effectLst/>
                <a:latin typeface="Söhne"/>
              </a:rPr>
              <a:t>For "rock-scissors-paper" dynamics, the fitness functions are typically set up so that each strategy has an advantage over one strategy while being vulnerable to another, creating a cyclical pattern where no strategy can dominate. The exact form of the fitness functions (f_1, f_2, f_3) would depend on the specific rules of the game or the interactions between the strategies.</a:t>
            </a:r>
          </a:p>
          <a:p>
            <a:pPr algn="l"/>
            <a:r>
              <a:rPr lang="en-US" b="0" i="0" dirty="0">
                <a:solidFill>
                  <a:srgbClr val="FFFFFF"/>
                </a:solidFill>
                <a:effectLst/>
                <a:latin typeface="Söhne"/>
              </a:rPr>
              <a:t>Heteroclinic cycles are a fascinating phenomenon in evolutionary game theory and can lead to the coexistence and cycling of different strategies in a population. The exact dynamics of these cycles would depend on the specific values and forms of the fitness functions.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concept of "Rock-Scissors-Paper" dynamics, often referred to as cyclic dominance or the rock-paper-scissors game, can indeed be observed in various natural systems, including animal behavior. The example you provided involving Uta </a:t>
            </a:r>
            <a:r>
              <a:rPr lang="en-US" b="0" i="0" dirty="0" err="1">
                <a:solidFill>
                  <a:srgbClr val="FFFFFF"/>
                </a:solidFill>
                <a:effectLst/>
                <a:latin typeface="Söhne"/>
              </a:rPr>
              <a:t>stansburiana</a:t>
            </a:r>
            <a:r>
              <a:rPr lang="en-US" b="0" i="0" dirty="0">
                <a:solidFill>
                  <a:srgbClr val="FFFFFF"/>
                </a:solidFill>
                <a:effectLst/>
                <a:latin typeface="Söhne"/>
              </a:rPr>
              <a:t> lizards is an interesting case where different male morphs exhibit strategies reminiscent of this dynamic.</a:t>
            </a:r>
          </a:p>
          <a:p>
            <a:pPr algn="l"/>
            <a:r>
              <a:rPr lang="en-US" b="0" i="0" dirty="0">
                <a:solidFill>
                  <a:srgbClr val="FFFFFF"/>
                </a:solidFill>
                <a:effectLst/>
                <a:latin typeface="Söhne"/>
              </a:rPr>
              <a:t>In the context of Uta </a:t>
            </a:r>
            <a:r>
              <a:rPr lang="en-US" b="0" i="0" dirty="0" err="1">
                <a:solidFill>
                  <a:srgbClr val="FFFFFF"/>
                </a:solidFill>
                <a:effectLst/>
                <a:latin typeface="Söhne"/>
              </a:rPr>
              <a:t>stansburiana</a:t>
            </a:r>
            <a:r>
              <a:rPr lang="en-US" b="0" i="0" dirty="0">
                <a:solidFill>
                  <a:srgbClr val="FFFFFF"/>
                </a:solidFill>
                <a:effectLst/>
                <a:latin typeface="Söhne"/>
              </a:rPr>
              <a:t> lizards:</a:t>
            </a:r>
          </a:p>
          <a:p>
            <a:pPr algn="l">
              <a:buFont typeface="+mj-lt"/>
              <a:buAutoNum type="arabicPeriod"/>
            </a:pPr>
            <a:r>
              <a:rPr lang="en-US" b="1" i="0" dirty="0">
                <a:solidFill>
                  <a:srgbClr val="FFFFFF"/>
                </a:solidFill>
                <a:effectLst/>
                <a:latin typeface="Söhne"/>
              </a:rPr>
              <a:t>Monogamous, Guards Female</a:t>
            </a:r>
            <a:r>
              <a:rPr lang="en-US" b="0" i="0" dirty="0">
                <a:solidFill>
                  <a:srgbClr val="FFFFFF"/>
                </a:solidFill>
                <a:effectLst/>
                <a:latin typeface="Söhne"/>
              </a:rPr>
              <a:t>: This strategy can be seen as analogous to "Rock" in the rock-paper-scissors game. The monogamous males adopt a strategy of guarding a single female, which can be effective when there's limited competition for mates.</a:t>
            </a:r>
          </a:p>
          <a:p>
            <a:pPr algn="l">
              <a:buFont typeface="+mj-lt"/>
              <a:buAutoNum type="arabicPeriod"/>
            </a:pPr>
            <a:r>
              <a:rPr lang="en-US" b="1" i="0" dirty="0">
                <a:solidFill>
                  <a:srgbClr val="FFFFFF"/>
                </a:solidFill>
                <a:effectLst/>
                <a:latin typeface="Söhne"/>
              </a:rPr>
              <a:t>Polygamous, Guards Harem (Inefficiently)</a:t>
            </a:r>
            <a:r>
              <a:rPr lang="en-US" b="0" i="0" dirty="0">
                <a:solidFill>
                  <a:srgbClr val="FFFFFF"/>
                </a:solidFill>
                <a:effectLst/>
                <a:latin typeface="Söhne"/>
              </a:rPr>
              <a:t>: This strategy might be akin to "Scissors." These males attempt to monopolize a harem of females but may do so inefficiently, as they may face challenges from other males or not be as successful in maintaining a larger group of females.</a:t>
            </a:r>
          </a:p>
          <a:p>
            <a:pPr algn="l">
              <a:buFont typeface="+mj-lt"/>
              <a:buAutoNum type="arabicPeriod"/>
            </a:pPr>
            <a:r>
              <a:rPr lang="en-US" b="1" i="0" dirty="0">
                <a:solidFill>
                  <a:srgbClr val="FFFFFF"/>
                </a:solidFill>
                <a:effectLst/>
                <a:latin typeface="Söhne"/>
              </a:rPr>
              <a:t>Loose Males, Sneaky </a:t>
            </a:r>
            <a:r>
              <a:rPr lang="en-US" b="1" i="0" dirty="0" err="1">
                <a:solidFill>
                  <a:srgbClr val="FFFFFF"/>
                </a:solidFill>
                <a:effectLst/>
                <a:latin typeface="Söhne"/>
              </a:rPr>
              <a:t>Matings</a:t>
            </a:r>
            <a:r>
              <a:rPr lang="en-US" b="0" i="0" dirty="0">
                <a:solidFill>
                  <a:srgbClr val="FFFFFF"/>
                </a:solidFill>
                <a:effectLst/>
                <a:latin typeface="Söhne"/>
              </a:rPr>
              <a:t>: This strategy corresponds to "Paper" in the analogy. These males employ a sneaky mating strategy, which might involve attempting to mate with females without investing in guarding behavior.</a:t>
            </a:r>
          </a:p>
          <a:p>
            <a:pPr algn="l"/>
            <a:r>
              <a:rPr lang="en-US" b="0" i="0" dirty="0">
                <a:solidFill>
                  <a:srgbClr val="FFFFFF"/>
                </a:solidFill>
                <a:effectLst/>
                <a:latin typeface="Söhne"/>
              </a:rPr>
              <a:t>In natural populations, the dynamics between these male morphs can lead to cyclic dominance. For example:</a:t>
            </a:r>
          </a:p>
          <a:p>
            <a:pPr algn="l">
              <a:buFont typeface="Arial" panose="020B0604020202020204" pitchFamily="34" charset="0"/>
              <a:buChar char="•"/>
            </a:pPr>
            <a:r>
              <a:rPr lang="en-US" b="0" i="0" dirty="0">
                <a:solidFill>
                  <a:srgbClr val="FFFFFF"/>
                </a:solidFill>
                <a:effectLst/>
                <a:latin typeface="Söhne"/>
              </a:rPr>
              <a:t>Monogamous males may be successful when they can effectively guard a female.</a:t>
            </a:r>
          </a:p>
          <a:p>
            <a:pPr algn="l">
              <a:buFont typeface="Arial" panose="020B0604020202020204" pitchFamily="34" charset="0"/>
              <a:buChar char="•"/>
            </a:pPr>
            <a:r>
              <a:rPr lang="en-US" b="0" i="0" dirty="0">
                <a:solidFill>
                  <a:srgbClr val="FFFFFF"/>
                </a:solidFill>
                <a:effectLst/>
                <a:latin typeface="Söhne"/>
              </a:rPr>
              <a:t>Polygamous males may have an advantage over monogamous males when there are multiple females to compete for.</a:t>
            </a:r>
          </a:p>
          <a:p>
            <a:pPr algn="l">
              <a:buFont typeface="Arial" panose="020B0604020202020204" pitchFamily="34" charset="0"/>
              <a:buChar char="•"/>
            </a:pPr>
            <a:r>
              <a:rPr lang="en-US" b="0" i="0" dirty="0">
                <a:solidFill>
                  <a:srgbClr val="FFFFFF"/>
                </a:solidFill>
                <a:effectLst/>
                <a:latin typeface="Söhne"/>
              </a:rPr>
              <a:t>Loose males may exploit opportunities when neither of the other strategies is dominant, as they can attempt sneaky </a:t>
            </a:r>
            <a:r>
              <a:rPr lang="en-US" b="0" i="0" dirty="0" err="1">
                <a:solidFill>
                  <a:srgbClr val="FFFFFF"/>
                </a:solidFill>
                <a:effectLst/>
                <a:latin typeface="Söhne"/>
              </a:rPr>
              <a:t>matings</a:t>
            </a:r>
            <a:r>
              <a:rPr lang="en-US" b="0" i="0" dirty="0">
                <a:solidFill>
                  <a:srgbClr val="FFFFFF"/>
                </a:solidFill>
                <a:effectLst/>
                <a:latin typeface="Söhne"/>
              </a:rPr>
              <a:t>.</a:t>
            </a:r>
          </a:p>
          <a:p>
            <a:pPr algn="l"/>
            <a:r>
              <a:rPr lang="en-US" b="0" i="0" dirty="0">
                <a:solidFill>
                  <a:srgbClr val="FFFFFF"/>
                </a:solidFill>
                <a:effectLst/>
                <a:latin typeface="Söhne"/>
              </a:rPr>
              <a:t>This can lead to a cyclical pattern where the success of one strategy leads to the success of another, creating a dynamic equilibrium where no single male morph dominates the population for an extended period.</a:t>
            </a:r>
          </a:p>
          <a:p>
            <a:pPr algn="l"/>
            <a:r>
              <a:rPr lang="en-US" b="0" i="0" dirty="0">
                <a:solidFill>
                  <a:srgbClr val="FFFFFF"/>
                </a:solidFill>
                <a:effectLst/>
                <a:latin typeface="Söhne"/>
              </a:rPr>
              <a:t>These kinds of cyclic dynamics can be driven by complex interactions, including frequency-dependent selection, and are intriguing examples of how different strategies can coexist in nature through a form of "rock-paper-scissors" competition.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scenario involving orange-throated, yellow-striped, and blue-throated males in an evolutionary game represents a fascinating example of cyclic dominance or rock-paper-scissors dynamics in nature. This type of ecological interaction can lead to cyclical population dynamics and is often observed in various animal species.</a:t>
            </a:r>
          </a:p>
          <a:p>
            <a:pPr algn="l"/>
            <a:r>
              <a:rPr lang="en-US" b="0" i="0" dirty="0">
                <a:solidFill>
                  <a:srgbClr val="FFFFFF"/>
                </a:solidFill>
                <a:effectLst/>
                <a:latin typeface="Söhne"/>
              </a:rPr>
              <a:t>In this context:</a:t>
            </a:r>
          </a:p>
          <a:p>
            <a:pPr algn="l">
              <a:buFont typeface="Arial" panose="020B0604020202020204" pitchFamily="34" charset="0"/>
              <a:buChar char="•"/>
            </a:pPr>
            <a:r>
              <a:rPr lang="en-US" b="1" i="0" dirty="0">
                <a:solidFill>
                  <a:srgbClr val="FFFFFF"/>
                </a:solidFill>
                <a:effectLst/>
                <a:latin typeface="Söhne"/>
              </a:rPr>
              <a:t>Blue-throated males</a:t>
            </a:r>
            <a:r>
              <a:rPr lang="en-US" b="0" i="0" dirty="0">
                <a:solidFill>
                  <a:srgbClr val="FFFFFF"/>
                </a:solidFill>
                <a:effectLst/>
                <a:latin typeface="Söhne"/>
              </a:rPr>
              <a:t> are the dominant strategy, as they can successfully defend a small territory with one female.</a:t>
            </a:r>
          </a:p>
          <a:p>
            <a:pPr algn="l">
              <a:buFont typeface="Arial" panose="020B0604020202020204" pitchFamily="34" charset="0"/>
              <a:buChar char="•"/>
            </a:pPr>
            <a:r>
              <a:rPr lang="en-US" b="1" i="0" dirty="0">
                <a:solidFill>
                  <a:srgbClr val="FFFFFF"/>
                </a:solidFill>
                <a:effectLst/>
                <a:latin typeface="Söhne"/>
              </a:rPr>
              <a:t>Yellow-striped males</a:t>
            </a:r>
            <a:r>
              <a:rPr lang="en-US" b="0" i="0" dirty="0">
                <a:solidFill>
                  <a:srgbClr val="FFFFFF"/>
                </a:solidFill>
                <a:effectLst/>
                <a:latin typeface="Söhne"/>
              </a:rPr>
              <a:t> mimic females and can sneak into the territories of blue-throated males, effectively outcompeting them.</a:t>
            </a:r>
          </a:p>
          <a:p>
            <a:pPr algn="l">
              <a:buFont typeface="Arial" panose="020B0604020202020204" pitchFamily="34" charset="0"/>
              <a:buChar char="•"/>
            </a:pPr>
            <a:r>
              <a:rPr lang="en-US" b="1" i="0" dirty="0">
                <a:solidFill>
                  <a:srgbClr val="FFFFFF"/>
                </a:solidFill>
                <a:effectLst/>
                <a:latin typeface="Söhne"/>
              </a:rPr>
              <a:t>Orange-throated males</a:t>
            </a:r>
            <a:r>
              <a:rPr lang="en-US" b="0" i="0" dirty="0">
                <a:solidFill>
                  <a:srgbClr val="FFFFFF"/>
                </a:solidFill>
                <a:effectLst/>
                <a:latin typeface="Söhne"/>
              </a:rPr>
              <a:t> loosely defend large territories with multiple females, and their strategy prevails against the yellow-striped males, as they can overwhelm them with their larger territories and female numbers.</a:t>
            </a:r>
          </a:p>
          <a:p>
            <a:pPr algn="l"/>
            <a:r>
              <a:rPr lang="en-US" b="0" i="0" dirty="0">
                <a:solidFill>
                  <a:srgbClr val="FFFFFF"/>
                </a:solidFill>
                <a:effectLst/>
                <a:latin typeface="Söhne"/>
              </a:rPr>
              <a:t>The cyclic dominance you've described, where blue beats yellow, yellow beats orange, and orange beats blue, can result in cyclical population dynamics, often referred to as "rock-paper-scissors" dynamics. In this case, the population proportions of these male types can oscillate over time, creating a repeating cycle of dominance.</a:t>
            </a:r>
          </a:p>
          <a:p>
            <a:pPr algn="l"/>
            <a:r>
              <a:rPr lang="en-US" b="0" i="0" dirty="0">
                <a:solidFill>
                  <a:srgbClr val="FFFFFF"/>
                </a:solidFill>
                <a:effectLst/>
                <a:latin typeface="Söhne"/>
              </a:rPr>
              <a:t>For example, when blue-throated males dominate, the population of yellow-striped males can increase as they mimic females and infiltrate blue territories. As the yellow-striped males become more prevalent, they may face competition from the orange-throated males who can exploit their larger territories. When orange-throated males dominate, blue-throated males may gain an advantage by outcompeting them for territory.</a:t>
            </a:r>
          </a:p>
          <a:p>
            <a:pPr algn="l"/>
            <a:r>
              <a:rPr lang="en-US" b="0" i="0" dirty="0">
                <a:solidFill>
                  <a:srgbClr val="FFFFFF"/>
                </a:solidFill>
                <a:effectLst/>
                <a:latin typeface="Söhne"/>
              </a:rPr>
              <a:t>This cyclical pattern can lead to fluctuations in the frequencies of these male morphs over a period of time, resulting in approximately 5-year cycles, as you mentioned. Such dynamics are often influenced by various ecological factors, including resource availability, predation pressure, and the fitness of each strategy under different conditions.</a:t>
            </a:r>
          </a:p>
          <a:p>
            <a:pPr algn="l"/>
            <a:r>
              <a:rPr lang="en-US" b="0" i="0" dirty="0">
                <a:solidFill>
                  <a:srgbClr val="FFFFFF"/>
                </a:solidFill>
                <a:effectLst/>
                <a:latin typeface="Söhne"/>
              </a:rPr>
              <a:t>These rock-paper-scissors dynamics provide a captivating example of how different strategies can coexist and cycle in populations, contributing to the diversity and stability of ecosystems.</a:t>
            </a:r>
          </a:p>
          <a:p>
            <a:br>
              <a:rPr lang="en-US" b="0" i="0" dirty="0">
                <a:solidFill>
                  <a:srgbClr val="FFFFFF"/>
                </a:solidFill>
                <a:effectLst/>
                <a:latin typeface="Söhne"/>
              </a:rPr>
            </a:b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"folk theorem" of evolutionary game theory is an informal term used to describe various results and insights regarding the relationship between evolutionary dynamics and Nash Equilibrium (NE) in repeated games. The folk theorem encompasses several key points, as you've mentioned:</a:t>
            </a:r>
          </a:p>
          <a:p>
            <a:pPr algn="l">
              <a:buFont typeface="+mj-lt"/>
              <a:buAutoNum type="arabicPeriod"/>
            </a:pPr>
            <a:r>
              <a:rPr lang="en-US" b="1" i="0" dirty="0">
                <a:solidFill>
                  <a:srgbClr val="FFFFFF"/>
                </a:solidFill>
                <a:effectLst/>
                <a:latin typeface="Söhne"/>
              </a:rPr>
              <a:t>Convergence to Nash Equilibrium (NE)</a:t>
            </a:r>
            <a:r>
              <a:rPr lang="en-US" b="0" i="0" dirty="0">
                <a:solidFill>
                  <a:srgbClr val="FFFFFF"/>
                </a:solidFill>
                <a:effectLst/>
                <a:latin typeface="Söhne"/>
              </a:rPr>
              <a:t>: In many repeated games, if the evolutionary dynamics converge, they tend to converge to a Nash Equilibrium. This means that over time, as individuals adapt their strategies based on the outcomes of repeated interactions, the population often reaches a state where no player has an incentive to unilaterally deviate from their strategy because they are all playing a best response to the strategies of others.</a:t>
            </a:r>
          </a:p>
          <a:p>
            <a:pPr algn="l">
              <a:buFont typeface="+mj-lt"/>
              <a:buAutoNum type="arabicPeriod"/>
            </a:pPr>
            <a:r>
              <a:rPr lang="en-US" b="1" i="0" dirty="0">
                <a:solidFill>
                  <a:srgbClr val="FFFFFF"/>
                </a:solidFill>
                <a:effectLst/>
                <a:latin typeface="Söhne"/>
              </a:rPr>
              <a:t>Strict NE Are Attractors</a:t>
            </a:r>
            <a:r>
              <a:rPr lang="en-US" b="0" i="0" dirty="0">
                <a:solidFill>
                  <a:srgbClr val="FFFFFF"/>
                </a:solidFill>
                <a:effectLst/>
                <a:latin typeface="Söhne"/>
              </a:rPr>
              <a:t>: In the context of evolutionary dynamics, strict Nash Equilibria (those where no player can improve their payoff by a small unilateral change) are often considered attractors. This means that if the population starts close to a strict Nash Equilibrium, the dynamics tend to stabilize around that equilibrium over time. Small deviations from the strict NE are typically corrected by the dynamics.</a:t>
            </a:r>
          </a:p>
          <a:p>
            <a:pPr algn="l">
              <a:buFont typeface="+mj-lt"/>
              <a:buAutoNum type="arabicPeriod"/>
            </a:pPr>
            <a:r>
              <a:rPr lang="en-US" b="1" i="0" dirty="0">
                <a:solidFill>
                  <a:srgbClr val="FFFFFF"/>
                </a:solidFill>
                <a:effectLst/>
                <a:latin typeface="Söhne"/>
              </a:rPr>
              <a:t>Stable Rest Points Are NE</a:t>
            </a:r>
            <a:r>
              <a:rPr lang="en-US" b="0" i="0" dirty="0">
                <a:solidFill>
                  <a:srgbClr val="FFFFFF"/>
                </a:solidFill>
                <a:effectLst/>
                <a:latin typeface="Söhne"/>
              </a:rPr>
              <a:t>: Stable rest points in evolutionary dynamics are often Nash Equilibria. When a rest point (an equilibrium where the frequencies of strategies no longer change) is stable, it implies that it is also a Nash Equilibrium. This connection reinforces the idea that the dynamics naturally lead to equilibrium states.</a:t>
            </a:r>
          </a:p>
          <a:p>
            <a:pPr algn="l"/>
            <a:r>
              <a:rPr lang="en-US" b="0" i="0" dirty="0">
                <a:solidFill>
                  <a:srgbClr val="FFFFFF"/>
                </a:solidFill>
                <a:effectLst/>
                <a:latin typeface="Söhne"/>
              </a:rPr>
              <a:t>These insights are important in understanding the long-term behavior of populations in repeated games. They highlight the relationship between evolutionary dynamics, stability, and the emergence of Nash Equilibria as stable outcomes in strategic interactions over time. However, it's worth noting that the precise conditions and outcomes can vary depending on the specifics of the game, the nature of interactions, and the adaptation rules used in the evolutionary dynamics.</a:t>
            </a:r>
          </a:p>
          <a:p>
            <a:br>
              <a:rPr lang="en-US" b="0" i="0" dirty="0">
                <a:solidFill>
                  <a:srgbClr val="FFFFFF"/>
                </a:solidFill>
                <a:effectLst/>
                <a:latin typeface="Söhne"/>
              </a:rPr>
            </a:br>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Adaptive dynamics is a theoretical framework in evolutionary biology and game theory that focuses on how small, heritable mutations in traits or strategies can lead to evolutionary change over time. It helps to explain the long-term dynamics of populations and how different strategies or traits can persist or replace each other. Let's explore the concept of adaptive dynamics using the "Snowdrift Game" as an example.</a:t>
            </a:r>
          </a:p>
          <a:p>
            <a:pPr algn="l"/>
            <a:r>
              <a:rPr lang="en-US" b="0" i="0" dirty="0">
                <a:solidFill>
                  <a:srgbClr val="FFFFFF"/>
                </a:solidFill>
                <a:effectLst/>
                <a:latin typeface="Söhne"/>
              </a:rPr>
              <a:t>The Snowdrift Game, also known as the "Stag Hunt" or "Chicken" game, is a classic game in game theory and evolutionary biology that illustrates cooperation and conflict. In this game, two players have two possible strategies: "hunt" or "wait." The payoffs for each player depend on the joint strategy they choose:</a:t>
            </a:r>
          </a:p>
          <a:p>
            <a:pPr algn="l">
              <a:buFont typeface="Arial" panose="020B0604020202020204" pitchFamily="34" charset="0"/>
              <a:buChar char="•"/>
            </a:pPr>
            <a:r>
              <a:rPr lang="en-US" b="0" i="0" dirty="0">
                <a:solidFill>
                  <a:srgbClr val="FFFFFF"/>
                </a:solidFill>
                <a:effectLst/>
                <a:latin typeface="Söhne"/>
              </a:rPr>
              <a:t>If both players choose "hunt," they can catch a stag (a high payoff), but they must cooperate to do so.</a:t>
            </a:r>
          </a:p>
          <a:p>
            <a:pPr algn="l">
              <a:buFont typeface="Arial" panose="020B0604020202020204" pitchFamily="34" charset="0"/>
              <a:buChar char="•"/>
            </a:pPr>
            <a:r>
              <a:rPr lang="en-US" b="0" i="0" dirty="0">
                <a:solidFill>
                  <a:srgbClr val="FFFFFF"/>
                </a:solidFill>
                <a:effectLst/>
                <a:latin typeface="Söhne"/>
              </a:rPr>
              <a:t>If one player chooses "hunt" while the other chooses "wait," the "waiter" receives nothing, and the "hunter" gets a moderate payoff (from catching a hare, for example).</a:t>
            </a:r>
          </a:p>
          <a:p>
            <a:pPr algn="l">
              <a:buFont typeface="Arial" panose="020B0604020202020204" pitchFamily="34" charset="0"/>
              <a:buChar char="•"/>
            </a:pPr>
            <a:r>
              <a:rPr lang="en-US" b="0" i="0" dirty="0">
                <a:solidFill>
                  <a:srgbClr val="FFFFFF"/>
                </a:solidFill>
                <a:effectLst/>
                <a:latin typeface="Söhne"/>
              </a:rPr>
              <a:t>If both players choose "wait," they get a low payoff because they wasted their time.</a:t>
            </a:r>
          </a:p>
          <a:p>
            <a:pPr algn="l"/>
            <a:r>
              <a:rPr lang="en-US" b="0" i="0" dirty="0">
                <a:solidFill>
                  <a:srgbClr val="FFFFFF"/>
                </a:solidFill>
                <a:effectLst/>
                <a:latin typeface="Söhne"/>
              </a:rPr>
              <a:t>The Snowdrift Game captures a dilemma where cooperation (both hunting) can lead to the best outcome for both players, but defection (one hunting while the other waits) can lead to a better outcome for an individual.</a:t>
            </a:r>
          </a:p>
          <a:p>
            <a:pPr algn="l"/>
            <a:r>
              <a:rPr lang="en-US" b="0" i="0" dirty="0">
                <a:solidFill>
                  <a:srgbClr val="FFFFFF"/>
                </a:solidFill>
                <a:effectLst/>
                <a:latin typeface="Söhne"/>
              </a:rPr>
              <a:t>Now, let's apply adaptive dynamics to this game:</a:t>
            </a:r>
          </a:p>
          <a:p>
            <a:pPr algn="l">
              <a:buFont typeface="+mj-lt"/>
              <a:buAutoNum type="arabicPeriod"/>
            </a:pPr>
            <a:r>
              <a:rPr lang="en-US" b="1" i="0" dirty="0">
                <a:solidFill>
                  <a:srgbClr val="FFFFFF"/>
                </a:solidFill>
                <a:effectLst/>
                <a:latin typeface="Söhne"/>
              </a:rPr>
              <a:t>Trait Space</a:t>
            </a:r>
            <a:r>
              <a:rPr lang="en-US" b="0" i="0" dirty="0">
                <a:solidFill>
                  <a:srgbClr val="FFFFFF"/>
                </a:solidFill>
                <a:effectLst/>
                <a:latin typeface="Söhne"/>
              </a:rPr>
              <a:t>: In the Snowdrift Game, the trait space represents the proportion of individuals in the population playing each strategy (e.g., the fraction of "hunters" and "waiters").</a:t>
            </a:r>
          </a:p>
          <a:p>
            <a:pPr algn="l">
              <a:buFont typeface="+mj-lt"/>
              <a:buAutoNum type="arabicPeriod"/>
            </a:pPr>
            <a:r>
              <a:rPr lang="en-US" b="1" i="0" dirty="0">
                <a:solidFill>
                  <a:srgbClr val="FFFFFF"/>
                </a:solidFill>
                <a:effectLst/>
                <a:latin typeface="Söhne"/>
              </a:rPr>
              <a:t>Mutations</a:t>
            </a:r>
            <a:r>
              <a:rPr lang="en-US" b="0" i="0" dirty="0">
                <a:solidFill>
                  <a:srgbClr val="FFFFFF"/>
                </a:solidFill>
                <a:effectLst/>
                <a:latin typeface="Söhne"/>
              </a:rPr>
              <a:t>: Adaptive dynamics considers small, heritable mutations that can change the proportion of strategies in the population. For example, a mutation might cause a slight increase in the number of "hunters."</a:t>
            </a:r>
          </a:p>
          <a:p>
            <a:pPr algn="l">
              <a:buFont typeface="+mj-lt"/>
              <a:buAutoNum type="arabicPeriod"/>
            </a:pPr>
            <a:r>
              <a:rPr lang="en-US" b="1" i="0" dirty="0">
                <a:solidFill>
                  <a:srgbClr val="FFFFFF"/>
                </a:solidFill>
                <a:effectLst/>
                <a:latin typeface="Söhne"/>
              </a:rPr>
              <a:t>Fitness Functions</a:t>
            </a:r>
            <a:r>
              <a:rPr lang="en-US" b="0" i="0" dirty="0">
                <a:solidFill>
                  <a:srgbClr val="FFFFFF"/>
                </a:solidFill>
                <a:effectLst/>
                <a:latin typeface="Söhne"/>
              </a:rPr>
              <a:t>: The fitness functions describe how the payoffs (fitness) of individuals depend on the proportion of strategies in the population. In the Snowdrift Game, the fitness of each strategy depends on the interactions with others and the frequency of each strategy in the population.</a:t>
            </a:r>
          </a:p>
          <a:p>
            <a:pPr algn="l">
              <a:buFont typeface="+mj-lt"/>
              <a:buAutoNum type="arabicPeriod"/>
            </a:pPr>
            <a:r>
              <a:rPr lang="en-US" b="1" i="0" dirty="0">
                <a:solidFill>
                  <a:srgbClr val="FFFFFF"/>
                </a:solidFill>
                <a:effectLst/>
                <a:latin typeface="Söhne"/>
              </a:rPr>
              <a:t>Evolutionary Dynamics</a:t>
            </a:r>
            <a:r>
              <a:rPr lang="en-US" b="0" i="0" dirty="0">
                <a:solidFill>
                  <a:srgbClr val="FFFFFF"/>
                </a:solidFill>
                <a:effectLst/>
                <a:latin typeface="Söhne"/>
              </a:rPr>
              <a:t>: Adaptive dynamics models how the proportion of strategies evolves over time due to the fitness of each strategy relative to others. It examines how mutations that increase or decrease the proportion of a strategy can spread through the population.</a:t>
            </a:r>
          </a:p>
          <a:p>
            <a:pPr algn="l"/>
            <a:r>
              <a:rPr lang="en-US" b="0" i="0" dirty="0">
                <a:solidFill>
                  <a:srgbClr val="FFFFFF"/>
                </a:solidFill>
                <a:effectLst/>
                <a:latin typeface="Söhne"/>
              </a:rPr>
              <a:t>In the Snowdrift Game, adaptive dynamics may reveal that the population can exhibit mixed strategies, where both "hunters" and "waiters" coexist in certain proportions. The dynamics would depend on the specific payoffs, mutation rates, and initial conditions. Adaptive dynamics can help us understand how these proportions change over generations and whether stable equilibria emerge, such as a stable mix of both strategies.</a:t>
            </a:r>
          </a:p>
          <a:p>
            <a:pPr algn="l"/>
            <a:r>
              <a:rPr lang="en-US" b="0" i="0" dirty="0">
                <a:solidFill>
                  <a:srgbClr val="FFFFFF"/>
                </a:solidFill>
                <a:effectLst/>
                <a:latin typeface="Söhne"/>
              </a:rPr>
              <a:t>Adaptive dynamics provides a powerful framework for exploring the evolution of strategies in complex social interactions and can be applied to various biological and social systems to understand how cooperation and conflict evolve over time.</a:t>
            </a:r>
          </a:p>
          <a:p>
            <a:br>
              <a:rPr lang="en-US" b="0" i="0" dirty="0">
                <a:solidFill>
                  <a:srgbClr val="FFFFFF"/>
                </a:solidFill>
                <a:effectLst/>
                <a:latin typeface="Söhne"/>
              </a:rPr>
            </a:br>
            <a:endParaRPr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Snowdrift Game is similar to the Prisoner's Dilemma in that it represents a situation where there is a tension between individual and collective interests. In the Snowdrift Game, the key features include continuous trait values (investment in the task), continuous payoffs, and the presence of a collective benefit but individual cost. These features make it different from the traditional replicator dynamics, which are typically used for discrete strategies.</a:t>
            </a:r>
          </a:p>
          <a:p>
            <a:pPr algn="l"/>
            <a:r>
              <a:rPr lang="en-US" b="0" i="0" dirty="0">
                <a:solidFill>
                  <a:srgbClr val="FFFFFF"/>
                </a:solidFill>
                <a:effectLst/>
                <a:latin typeface="Söhne"/>
              </a:rPr>
              <a:t>In the Snowdrift Game, players face the following trade-off:</a:t>
            </a:r>
          </a:p>
          <a:p>
            <a:pPr algn="l">
              <a:buFont typeface="Arial" panose="020B0604020202020204" pitchFamily="34" charset="0"/>
              <a:buChar char="•"/>
            </a:pPr>
            <a:r>
              <a:rPr lang="en-US" b="0" i="0" dirty="0">
                <a:solidFill>
                  <a:srgbClr val="FFFFFF"/>
                </a:solidFill>
                <a:effectLst/>
                <a:latin typeface="Söhne"/>
              </a:rPr>
              <a:t>Investing more in the task (higher trait value) contributes to the collective benefit, which benefits all players.</a:t>
            </a:r>
          </a:p>
          <a:p>
            <a:pPr algn="l">
              <a:buFont typeface="Arial" panose="020B0604020202020204" pitchFamily="34" charset="0"/>
              <a:buChar char="•"/>
            </a:pPr>
            <a:r>
              <a:rPr lang="en-US" b="0" i="0" dirty="0">
                <a:solidFill>
                  <a:srgbClr val="FFFFFF"/>
                </a:solidFill>
                <a:effectLst/>
                <a:latin typeface="Söhne"/>
              </a:rPr>
              <a:t>However, the cost of the individual investment is borne solely by the player making the investment.</a:t>
            </a:r>
          </a:p>
          <a:p>
            <a:pPr algn="l"/>
            <a:r>
              <a:rPr lang="en-US" b="0" i="0" dirty="0">
                <a:solidFill>
                  <a:srgbClr val="FFFFFF"/>
                </a:solidFill>
                <a:effectLst/>
                <a:latin typeface="Söhne"/>
              </a:rPr>
              <a:t>The payoffs are often represented by the following equation:</a:t>
            </a:r>
          </a:p>
          <a:p>
            <a:pPr algn="l"/>
            <a:r>
              <a:rPr lang="en-US" b="0" i="0" dirty="0">
                <a:solidFill>
                  <a:srgbClr val="FFFFFF"/>
                </a:solidFill>
                <a:effectLst/>
                <a:latin typeface="Söhne"/>
              </a:rPr>
              <a:t>Π(X, Y) = B(X + Y) - C(X)</a:t>
            </a:r>
          </a:p>
          <a:p>
            <a:pPr algn="l"/>
            <a:r>
              <a:rPr lang="en-US" b="0" i="0" dirty="0">
                <a:solidFill>
                  <a:srgbClr val="FFFFFF"/>
                </a:solidFill>
                <a:effectLst/>
                <a:latin typeface="Söhne"/>
              </a:rPr>
              <a:t>Where:</a:t>
            </a:r>
          </a:p>
          <a:p>
            <a:pPr algn="l">
              <a:buFont typeface="Arial" panose="020B0604020202020204" pitchFamily="34" charset="0"/>
              <a:buChar char="•"/>
            </a:pPr>
            <a:r>
              <a:rPr lang="en-US" b="0" i="0" dirty="0">
                <a:solidFill>
                  <a:srgbClr val="FFFFFF"/>
                </a:solidFill>
                <a:effectLst/>
                <a:latin typeface="Söhne"/>
              </a:rPr>
              <a:t>Π(X, Y) represents the payoff for a player investing X in the task while the opponent invests Y.</a:t>
            </a:r>
          </a:p>
          <a:p>
            <a:pPr algn="l">
              <a:buFont typeface="Arial" panose="020B0604020202020204" pitchFamily="34" charset="0"/>
              <a:buChar char="•"/>
            </a:pPr>
            <a:r>
              <a:rPr lang="en-US" b="0" i="0" dirty="0">
                <a:solidFill>
                  <a:srgbClr val="FFFFFF"/>
                </a:solidFill>
                <a:effectLst/>
                <a:latin typeface="Söhne"/>
              </a:rPr>
              <a:t>B represents the collective benefit derived from the total investment (X + Y).</a:t>
            </a:r>
          </a:p>
          <a:p>
            <a:pPr algn="l">
              <a:buFont typeface="Arial" panose="020B0604020202020204" pitchFamily="34" charset="0"/>
              <a:buChar char="•"/>
            </a:pPr>
            <a:r>
              <a:rPr lang="en-US" b="0" i="0" dirty="0">
                <a:solidFill>
                  <a:srgbClr val="FFFFFF"/>
                </a:solidFill>
                <a:effectLst/>
                <a:latin typeface="Söhne"/>
              </a:rPr>
              <a:t>C represents the cost of individual investment.</a:t>
            </a:r>
          </a:p>
          <a:p>
            <a:pPr algn="l"/>
            <a:r>
              <a:rPr lang="en-US" b="0" i="0" dirty="0">
                <a:solidFill>
                  <a:srgbClr val="FFFFFF"/>
                </a:solidFill>
                <a:effectLst/>
                <a:latin typeface="Söhne"/>
              </a:rPr>
              <a:t>One approach to study the dynamics of the Snowdrift Game is to use evolutionary game theory techniques that can handle continuous traits and payoffs. These techniques may involve mathematical models such as adaptive dynamics, which consider how the continuous trait values change over time due to selection and mutation.</a:t>
            </a:r>
          </a:p>
          <a:p>
            <a:pPr algn="l"/>
            <a:r>
              <a:rPr lang="en-US" b="0" i="0" dirty="0">
                <a:solidFill>
                  <a:srgbClr val="FFFFFF"/>
                </a:solidFill>
                <a:effectLst/>
                <a:latin typeface="Söhne"/>
              </a:rPr>
              <a:t>In adaptive dynamics, the focus is on studying the evolution of continuous traits, and the analysis considers how small mutations in trait values affect an individual's fitness and the population's trait distribution. This approach can help explore how different investment levels (continuous trait values) can evolve over time and whether stable strategies or trait distributions emerge in the population.</a:t>
            </a:r>
          </a:p>
          <a:p>
            <a:pPr algn="l"/>
            <a:r>
              <a:rPr lang="en-US" b="0" i="0" dirty="0">
                <a:solidFill>
                  <a:srgbClr val="FFFFFF"/>
                </a:solidFill>
                <a:effectLst/>
                <a:latin typeface="Söhne"/>
              </a:rPr>
              <a:t>Overall, while traditional replicator dynamics are designed for discrete strategies, evolutionary game theory provides tools like adaptive dynamics to analyze and understand the dynamics of continuous traits and payoffs in games like the Snowdrift Game.</a:t>
            </a:r>
          </a:p>
          <a:p>
            <a:br>
              <a:rPr lang="en-US" b="0" i="0" dirty="0">
                <a:solidFill>
                  <a:srgbClr val="FFFFFF"/>
                </a:solidFill>
                <a:effectLst/>
                <a:latin typeface="Söhne"/>
              </a:rPr>
            </a:br>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A code snippet for implementing the Snowdrift Game using a Python function. Here's a complete version of your code:</a:t>
            </a:r>
            <a:br>
              <a:rPr lang="en-US" b="0" i="0" dirty="0">
                <a:solidFill>
                  <a:srgbClr val="D1D5DB"/>
                </a:solidFill>
                <a:effectLst/>
                <a:latin typeface="Söhne"/>
              </a:rPr>
            </a:br>
            <a:r>
              <a:rPr lang="en-US" b="0" i="0" dirty="0">
                <a:solidFill>
                  <a:srgbClr val="D1D5DB"/>
                </a:solidFill>
                <a:effectLst/>
                <a:latin typeface="Söhne"/>
              </a:rPr>
              <a:t>--------------------------------------------------------------------------------------</a:t>
            </a:r>
            <a:br>
              <a:rPr lang="en-US" b="0" i="0" dirty="0">
                <a:solidFill>
                  <a:srgbClr val="D1D5DB"/>
                </a:solidFill>
                <a:effectLst/>
                <a:latin typeface="Söhne"/>
              </a:rPr>
            </a:br>
            <a:r>
              <a:rPr lang="en-US" b="0" i="0" dirty="0">
                <a:solidFill>
                  <a:srgbClr val="D1D5DB"/>
                </a:solidFill>
                <a:effectLst/>
                <a:latin typeface="Söhne"/>
              </a:rPr>
              <a:t>import </a:t>
            </a:r>
            <a:r>
              <a:rPr lang="en-US" b="0" i="0" dirty="0" err="1">
                <a:solidFill>
                  <a:srgbClr val="D1D5DB"/>
                </a:solidFill>
                <a:effectLst/>
                <a:latin typeface="Söhne"/>
              </a:rPr>
              <a:t>numpy</a:t>
            </a:r>
            <a:r>
              <a:rPr lang="en-US" b="0" i="0" dirty="0">
                <a:solidFill>
                  <a:srgbClr val="D1D5DB"/>
                </a:solidFill>
                <a:effectLst/>
                <a:latin typeface="Söhne"/>
              </a:rPr>
              <a:t> as np</a:t>
            </a:r>
          </a:p>
          <a:p>
            <a:endParaRPr lang="en-US" b="0" i="0" dirty="0">
              <a:solidFill>
                <a:srgbClr val="D1D5DB"/>
              </a:solidFill>
              <a:effectLst/>
              <a:latin typeface="Söhne"/>
            </a:endParaRPr>
          </a:p>
          <a:p>
            <a:r>
              <a:rPr lang="en-US" b="0" i="0" dirty="0">
                <a:solidFill>
                  <a:srgbClr val="D1D5DB"/>
                </a:solidFill>
                <a:effectLst/>
                <a:latin typeface="Söhne"/>
              </a:rPr>
              <a:t># Define parameters</a:t>
            </a:r>
          </a:p>
          <a:p>
            <a:r>
              <a:rPr lang="en-US" b="0" i="0" dirty="0" err="1">
                <a:solidFill>
                  <a:srgbClr val="D1D5DB"/>
                </a:solidFill>
                <a:effectLst/>
                <a:latin typeface="Söhne"/>
              </a:rPr>
              <a:t>popSize</a:t>
            </a:r>
            <a:r>
              <a:rPr lang="en-US" b="0" i="0" dirty="0">
                <a:solidFill>
                  <a:srgbClr val="D1D5DB"/>
                </a:solidFill>
                <a:effectLst/>
                <a:latin typeface="Söhne"/>
              </a:rPr>
              <a:t> = 100</a:t>
            </a:r>
          </a:p>
          <a:p>
            <a:r>
              <a:rPr lang="en-US" b="0" i="0" dirty="0" err="1">
                <a:solidFill>
                  <a:srgbClr val="D1D5DB"/>
                </a:solidFill>
                <a:effectLst/>
                <a:latin typeface="Söhne"/>
              </a:rPr>
              <a:t>mutationRate</a:t>
            </a:r>
            <a:r>
              <a:rPr lang="en-US" b="0" i="0" dirty="0">
                <a:solidFill>
                  <a:srgbClr val="D1D5DB"/>
                </a:solidFill>
                <a:effectLst/>
                <a:latin typeface="Söhne"/>
              </a:rPr>
              <a:t> = 0.01</a:t>
            </a:r>
          </a:p>
          <a:p>
            <a:endParaRPr lang="en-US" b="0" i="0" dirty="0">
              <a:solidFill>
                <a:srgbClr val="D1D5DB"/>
              </a:solidFill>
              <a:effectLst/>
              <a:latin typeface="Söhne"/>
            </a:endParaRPr>
          </a:p>
          <a:p>
            <a:r>
              <a:rPr lang="en-US" b="0" i="0" dirty="0">
                <a:solidFill>
                  <a:srgbClr val="D1D5DB"/>
                </a:solidFill>
                <a:effectLst/>
                <a:latin typeface="Söhne"/>
              </a:rPr>
              <a:t># Define the benefit and cost functions</a:t>
            </a:r>
          </a:p>
          <a:p>
            <a:r>
              <a:rPr lang="en-US" b="0" i="0" dirty="0">
                <a:solidFill>
                  <a:srgbClr val="D1D5DB"/>
                </a:solidFill>
                <a:effectLst/>
                <a:latin typeface="Söhne"/>
              </a:rPr>
              <a:t>def benefit(</a:t>
            </a:r>
            <a:r>
              <a:rPr lang="en-US" b="0" i="0" dirty="0" err="1">
                <a:solidFill>
                  <a:srgbClr val="D1D5DB"/>
                </a:solidFill>
                <a:effectLst/>
                <a:latin typeface="Söhne"/>
              </a:rPr>
              <a:t>total_investment</a:t>
            </a:r>
            <a:r>
              <a:rPr lang="en-US" b="0" i="0" dirty="0">
                <a:solidFill>
                  <a:srgbClr val="D1D5DB"/>
                </a:solidFill>
                <a:effectLst/>
                <a:latin typeface="Söhne"/>
              </a:rPr>
              <a:t>):</a:t>
            </a:r>
          </a:p>
          <a:p>
            <a:r>
              <a:rPr lang="en-US" b="0" i="0" dirty="0">
                <a:solidFill>
                  <a:srgbClr val="D1D5DB"/>
                </a:solidFill>
                <a:effectLst/>
                <a:latin typeface="Söhne"/>
              </a:rPr>
              <a:t>    return </a:t>
            </a:r>
            <a:r>
              <a:rPr lang="en-US" b="0" i="0" dirty="0" err="1">
                <a:solidFill>
                  <a:srgbClr val="D1D5DB"/>
                </a:solidFill>
                <a:effectLst/>
                <a:latin typeface="Söhne"/>
              </a:rPr>
              <a:t>total_investment</a:t>
            </a:r>
            <a:r>
              <a:rPr lang="en-US" b="0" i="0" dirty="0">
                <a:solidFill>
                  <a:srgbClr val="D1D5DB"/>
                </a:solidFill>
                <a:effectLst/>
                <a:latin typeface="Söhne"/>
              </a:rPr>
              <a:t>  # Modify this as needed</a:t>
            </a:r>
          </a:p>
          <a:p>
            <a:endParaRPr lang="en-US" b="0" i="0" dirty="0">
              <a:solidFill>
                <a:srgbClr val="D1D5DB"/>
              </a:solidFill>
              <a:effectLst/>
              <a:latin typeface="Söhne"/>
            </a:endParaRPr>
          </a:p>
          <a:p>
            <a:r>
              <a:rPr lang="en-US" b="0" i="0" dirty="0">
                <a:solidFill>
                  <a:srgbClr val="D1D5DB"/>
                </a:solidFill>
                <a:effectLst/>
                <a:latin typeface="Söhne"/>
              </a:rPr>
              <a:t>def cost(</a:t>
            </a:r>
            <a:r>
              <a:rPr lang="en-US" b="0" i="0" dirty="0" err="1">
                <a:solidFill>
                  <a:srgbClr val="D1D5DB"/>
                </a:solidFill>
                <a:effectLst/>
                <a:latin typeface="Söhne"/>
              </a:rPr>
              <a:t>individual_investment</a:t>
            </a:r>
            <a:r>
              <a:rPr lang="en-US" b="0" i="0" dirty="0">
                <a:solidFill>
                  <a:srgbClr val="D1D5DB"/>
                </a:solidFill>
                <a:effectLst/>
                <a:latin typeface="Söhne"/>
              </a:rPr>
              <a:t>):</a:t>
            </a:r>
          </a:p>
          <a:p>
            <a:r>
              <a:rPr lang="en-US" b="0" i="0" dirty="0">
                <a:solidFill>
                  <a:srgbClr val="D1D5DB"/>
                </a:solidFill>
                <a:effectLst/>
                <a:latin typeface="Söhne"/>
              </a:rPr>
              <a:t>    return </a:t>
            </a:r>
            <a:r>
              <a:rPr lang="en-US" b="0" i="0" dirty="0" err="1">
                <a:solidFill>
                  <a:srgbClr val="D1D5DB"/>
                </a:solidFill>
                <a:effectLst/>
                <a:latin typeface="Söhne"/>
              </a:rPr>
              <a:t>individual_investment</a:t>
            </a:r>
            <a:r>
              <a:rPr lang="en-US" b="0" i="0" dirty="0">
                <a:solidFill>
                  <a:srgbClr val="D1D5DB"/>
                </a:solidFill>
                <a:effectLst/>
                <a:latin typeface="Söhne"/>
              </a:rPr>
              <a:t>  # Modify this as needed</a:t>
            </a:r>
          </a:p>
          <a:p>
            <a:endParaRPr lang="en-US" b="0" i="0" dirty="0">
              <a:solidFill>
                <a:srgbClr val="D1D5DB"/>
              </a:solidFill>
              <a:effectLst/>
              <a:latin typeface="Söhne"/>
            </a:endParaRPr>
          </a:p>
          <a:p>
            <a:r>
              <a:rPr lang="en-US" b="0" i="0" dirty="0">
                <a:solidFill>
                  <a:srgbClr val="D1D5DB"/>
                </a:solidFill>
                <a:effectLst/>
                <a:latin typeface="Söhne"/>
              </a:rPr>
              <a:t># Define the mutation function</a:t>
            </a:r>
          </a:p>
          <a:p>
            <a:r>
              <a:rPr lang="en-US" b="0" i="0" dirty="0">
                <a:solidFill>
                  <a:srgbClr val="D1D5DB"/>
                </a:solidFill>
                <a:effectLst/>
                <a:latin typeface="Söhne"/>
              </a:rPr>
              <a:t>def mutate(individual):</a:t>
            </a:r>
          </a:p>
          <a:p>
            <a:r>
              <a:rPr lang="en-US" b="0" i="0" dirty="0">
                <a:solidFill>
                  <a:srgbClr val="D1D5DB"/>
                </a:solidFill>
                <a:effectLst/>
                <a:latin typeface="Söhne"/>
              </a:rPr>
              <a:t>    if </a:t>
            </a:r>
            <a:r>
              <a:rPr lang="en-US" b="0" i="0" dirty="0" err="1">
                <a:solidFill>
                  <a:srgbClr val="D1D5DB"/>
                </a:solidFill>
                <a:effectLst/>
                <a:latin typeface="Söhne"/>
              </a:rPr>
              <a:t>np.random.rand</a:t>
            </a:r>
            <a:r>
              <a:rPr lang="en-US" b="0" i="0" dirty="0">
                <a:solidFill>
                  <a:srgbClr val="D1D5DB"/>
                </a:solidFill>
                <a:effectLst/>
                <a:latin typeface="Söhne"/>
              </a:rPr>
              <a:t>() &lt; </a:t>
            </a:r>
            <a:r>
              <a:rPr lang="en-US" b="0" i="0" dirty="0" err="1">
                <a:solidFill>
                  <a:srgbClr val="D1D5DB"/>
                </a:solidFill>
                <a:effectLst/>
                <a:latin typeface="Söhne"/>
              </a:rPr>
              <a:t>mutationRate</a:t>
            </a:r>
            <a:r>
              <a:rPr lang="en-US" b="0" i="0" dirty="0">
                <a:solidFill>
                  <a:srgbClr val="D1D5DB"/>
                </a:solidFill>
                <a:effectLst/>
                <a:latin typeface="Söhne"/>
              </a:rPr>
              <a:t>:</a:t>
            </a:r>
          </a:p>
          <a:p>
            <a:r>
              <a:rPr lang="en-US" b="0" i="0" dirty="0">
                <a:solidFill>
                  <a:srgbClr val="D1D5DB"/>
                </a:solidFill>
                <a:effectLst/>
                <a:latin typeface="Söhne"/>
              </a:rPr>
              <a:t>        return </a:t>
            </a:r>
            <a:r>
              <a:rPr lang="en-US" b="0" i="0" dirty="0" err="1">
                <a:solidFill>
                  <a:srgbClr val="D1D5DB"/>
                </a:solidFill>
                <a:effectLst/>
                <a:latin typeface="Söhne"/>
              </a:rPr>
              <a:t>np.random.rand</a:t>
            </a:r>
            <a:r>
              <a:rPr lang="en-US" b="0" i="0" dirty="0">
                <a:solidFill>
                  <a:srgbClr val="D1D5DB"/>
                </a:solidFill>
                <a:effectLst/>
                <a:latin typeface="Söhne"/>
              </a:rPr>
              <a:t>()  # Mutate to a random value</a:t>
            </a:r>
          </a:p>
          <a:p>
            <a:r>
              <a:rPr lang="en-US" b="0" i="0" dirty="0">
                <a:solidFill>
                  <a:srgbClr val="D1D5DB"/>
                </a:solidFill>
                <a:effectLst/>
                <a:latin typeface="Söhne"/>
              </a:rPr>
              <a:t>    else:</a:t>
            </a:r>
          </a:p>
          <a:p>
            <a:r>
              <a:rPr lang="en-US" b="0" i="0" dirty="0">
                <a:solidFill>
                  <a:srgbClr val="D1D5DB"/>
                </a:solidFill>
                <a:effectLst/>
                <a:latin typeface="Söhne"/>
              </a:rPr>
              <a:t>        return individual</a:t>
            </a:r>
          </a:p>
          <a:p>
            <a:endParaRPr lang="en-US" b="0" i="0" dirty="0">
              <a:solidFill>
                <a:srgbClr val="D1D5DB"/>
              </a:solidFill>
              <a:effectLst/>
              <a:latin typeface="Söhne"/>
            </a:endParaRPr>
          </a:p>
          <a:p>
            <a:r>
              <a:rPr lang="en-US" b="0" i="0" dirty="0">
                <a:solidFill>
                  <a:srgbClr val="D1D5DB"/>
                </a:solidFill>
                <a:effectLst/>
                <a:latin typeface="Söhne"/>
              </a:rPr>
              <a:t># Initialize the population with random trait values</a:t>
            </a:r>
          </a:p>
          <a:p>
            <a:r>
              <a:rPr lang="en-US" b="0" i="0" dirty="0">
                <a:solidFill>
                  <a:srgbClr val="D1D5DB"/>
                </a:solidFill>
                <a:effectLst/>
                <a:latin typeface="Söhne"/>
              </a:rPr>
              <a:t>population = </a:t>
            </a:r>
            <a:r>
              <a:rPr lang="en-US" b="0" i="0" dirty="0" err="1">
                <a:solidFill>
                  <a:srgbClr val="D1D5DB"/>
                </a:solidFill>
                <a:effectLst/>
                <a:latin typeface="Söhne"/>
              </a:rPr>
              <a:t>np.random.rand</a:t>
            </a:r>
            <a:r>
              <a:rPr lang="en-US" b="0" i="0" dirty="0">
                <a:solidFill>
                  <a:srgbClr val="D1D5DB"/>
                </a:solidFill>
                <a:effectLst/>
                <a:latin typeface="Söhne"/>
              </a:rPr>
              <a:t>(</a:t>
            </a:r>
            <a:r>
              <a:rPr lang="en-US" b="0" i="0" dirty="0" err="1">
                <a:solidFill>
                  <a:srgbClr val="D1D5DB"/>
                </a:solidFill>
                <a:effectLst/>
                <a:latin typeface="Söhne"/>
              </a:rPr>
              <a:t>popSize</a:t>
            </a:r>
            <a:r>
              <a:rPr lang="en-US" b="0" i="0" dirty="0">
                <a:solidFill>
                  <a:srgbClr val="D1D5DB"/>
                </a:solidFill>
                <a:effectLst/>
                <a:latin typeface="Söhne"/>
              </a:rPr>
              <a:t>)</a:t>
            </a:r>
          </a:p>
          <a:p>
            <a:endParaRPr lang="en-US" b="0" i="0" dirty="0">
              <a:solidFill>
                <a:srgbClr val="D1D5DB"/>
              </a:solidFill>
              <a:effectLst/>
              <a:latin typeface="Söhne"/>
            </a:endParaRPr>
          </a:p>
          <a:p>
            <a:r>
              <a:rPr lang="en-US" b="0" i="0" dirty="0">
                <a:solidFill>
                  <a:srgbClr val="D1D5DB"/>
                </a:solidFill>
                <a:effectLst/>
                <a:latin typeface="Söhne"/>
              </a:rPr>
              <a:t># Define the payoff function</a:t>
            </a:r>
          </a:p>
          <a:p>
            <a:r>
              <a:rPr lang="en-US" b="0" i="0" dirty="0">
                <a:solidFill>
                  <a:srgbClr val="D1D5DB"/>
                </a:solidFill>
                <a:effectLst/>
                <a:latin typeface="Söhne"/>
              </a:rPr>
              <a:t>def </a:t>
            </a:r>
            <a:r>
              <a:rPr lang="en-US" b="0" i="0" dirty="0" err="1">
                <a:solidFill>
                  <a:srgbClr val="D1D5DB"/>
                </a:solidFill>
                <a:effectLst/>
                <a:latin typeface="Söhne"/>
              </a:rPr>
              <a:t>payoffGame</a:t>
            </a:r>
            <a:r>
              <a:rPr lang="en-US" b="0" i="0" dirty="0">
                <a:solidFill>
                  <a:srgbClr val="D1D5DB"/>
                </a:solidFill>
                <a:effectLst/>
                <a:latin typeface="Söhne"/>
              </a:rPr>
              <a:t>(G):</a:t>
            </a:r>
          </a:p>
          <a:p>
            <a:r>
              <a:rPr lang="en-US" b="0" i="0" dirty="0">
                <a:solidFill>
                  <a:srgbClr val="D1D5DB"/>
                </a:solidFill>
                <a:effectLst/>
                <a:latin typeface="Söhne"/>
              </a:rPr>
              <a:t>    return benefit(G[0] + G[1]) - cost(G[0])</a:t>
            </a:r>
          </a:p>
          <a:p>
            <a:endParaRPr lang="en-US" b="0" i="0" dirty="0">
              <a:solidFill>
                <a:srgbClr val="D1D5DB"/>
              </a:solidFill>
              <a:effectLst/>
              <a:latin typeface="Söhne"/>
            </a:endParaRPr>
          </a:p>
          <a:p>
            <a:r>
              <a:rPr lang="en-US" b="0" i="0" dirty="0">
                <a:solidFill>
                  <a:srgbClr val="D1D5DB"/>
                </a:solidFill>
                <a:effectLst/>
                <a:latin typeface="Söhne"/>
              </a:rPr>
              <a:t># One round of the Snowdrift Game</a:t>
            </a:r>
          </a:p>
          <a:p>
            <a:r>
              <a:rPr lang="en-US" b="0" i="0" dirty="0">
                <a:solidFill>
                  <a:srgbClr val="D1D5DB"/>
                </a:solidFill>
                <a:effectLst/>
                <a:latin typeface="Söhne"/>
              </a:rPr>
              <a:t>def </a:t>
            </a:r>
            <a:r>
              <a:rPr lang="en-US" b="0" i="0" dirty="0" err="1">
                <a:solidFill>
                  <a:srgbClr val="D1D5DB"/>
                </a:solidFill>
                <a:effectLst/>
                <a:latin typeface="Söhne"/>
              </a:rPr>
              <a:t>oneRound</a:t>
            </a:r>
            <a:r>
              <a:rPr lang="en-US" b="0" i="0" dirty="0">
                <a:solidFill>
                  <a:srgbClr val="D1D5DB"/>
                </a:solidFill>
                <a:effectLst/>
                <a:latin typeface="Söhne"/>
              </a:rPr>
              <a:t>():</a:t>
            </a:r>
          </a:p>
          <a:p>
            <a:r>
              <a:rPr lang="en-US" b="0" i="0" dirty="0">
                <a:solidFill>
                  <a:srgbClr val="D1D5DB"/>
                </a:solidFill>
                <a:effectLst/>
                <a:latin typeface="Söhne"/>
              </a:rPr>
              <a:t>    global population</a:t>
            </a:r>
          </a:p>
          <a:p>
            <a:r>
              <a:rPr lang="en-US" b="0" i="0" dirty="0">
                <a:solidFill>
                  <a:srgbClr val="D1D5DB"/>
                </a:solidFill>
                <a:effectLst/>
                <a:latin typeface="Söhne"/>
              </a:rPr>
              <a:t>    opponents = </a:t>
            </a:r>
            <a:r>
              <a:rPr lang="en-US" b="0" i="0" dirty="0" err="1">
                <a:solidFill>
                  <a:srgbClr val="D1D5DB"/>
                </a:solidFill>
                <a:effectLst/>
                <a:latin typeface="Söhne"/>
              </a:rPr>
              <a:t>np.array</a:t>
            </a:r>
            <a:r>
              <a:rPr lang="en-US" b="0" i="0" dirty="0">
                <a:solidFill>
                  <a:srgbClr val="D1D5DB"/>
                </a:solidFill>
                <a:effectLst/>
                <a:latin typeface="Söhne"/>
              </a:rPr>
              <a:t>(population)</a:t>
            </a:r>
          </a:p>
          <a:p>
            <a:r>
              <a:rPr lang="en-US" b="0" i="0" dirty="0">
                <a:solidFill>
                  <a:srgbClr val="D1D5DB"/>
                </a:solidFill>
                <a:effectLst/>
                <a:latin typeface="Söhne"/>
              </a:rPr>
              <a:t>    </a:t>
            </a:r>
            <a:r>
              <a:rPr lang="en-US" b="0" i="0" dirty="0" err="1">
                <a:solidFill>
                  <a:srgbClr val="D1D5DB"/>
                </a:solidFill>
                <a:effectLst/>
                <a:latin typeface="Söhne"/>
              </a:rPr>
              <a:t>np.random.shuffle</a:t>
            </a:r>
            <a:r>
              <a:rPr lang="en-US" b="0" i="0" dirty="0">
                <a:solidFill>
                  <a:srgbClr val="D1D5DB"/>
                </a:solidFill>
                <a:effectLst/>
                <a:latin typeface="Söhne"/>
              </a:rPr>
              <a:t>(opponents)</a:t>
            </a:r>
          </a:p>
          <a:p>
            <a:endParaRPr lang="en-US" b="0" i="0" dirty="0">
              <a:solidFill>
                <a:srgbClr val="D1D5DB"/>
              </a:solidFill>
              <a:effectLst/>
              <a:latin typeface="Söhne"/>
            </a:endParaRPr>
          </a:p>
          <a:p>
            <a:r>
              <a:rPr lang="en-US" b="0" i="0" dirty="0">
                <a:solidFill>
                  <a:srgbClr val="D1D5DB"/>
                </a:solidFill>
                <a:effectLst/>
                <a:latin typeface="Söhne"/>
              </a:rPr>
              <a:t>    </a:t>
            </a:r>
            <a:r>
              <a:rPr lang="en-US" b="0" i="0" dirty="0" err="1">
                <a:solidFill>
                  <a:srgbClr val="D1D5DB"/>
                </a:solidFill>
                <a:effectLst/>
                <a:latin typeface="Söhne"/>
              </a:rPr>
              <a:t>allGames</a:t>
            </a:r>
            <a:r>
              <a:rPr lang="en-US" b="0" i="0" dirty="0">
                <a:solidFill>
                  <a:srgbClr val="D1D5DB"/>
                </a:solidFill>
                <a:effectLst/>
                <a:latin typeface="Söhne"/>
              </a:rPr>
              <a:t> = </a:t>
            </a:r>
            <a:r>
              <a:rPr lang="en-US" b="0" i="0" dirty="0" err="1">
                <a:solidFill>
                  <a:srgbClr val="D1D5DB"/>
                </a:solidFill>
                <a:effectLst/>
                <a:latin typeface="Söhne"/>
              </a:rPr>
              <a:t>np.array</a:t>
            </a:r>
            <a:r>
              <a:rPr lang="en-US" b="0" i="0" dirty="0">
                <a:solidFill>
                  <a:srgbClr val="D1D5DB"/>
                </a:solidFill>
                <a:effectLst/>
                <a:latin typeface="Söhne"/>
              </a:rPr>
              <a:t>([population, opponents]).T</a:t>
            </a:r>
          </a:p>
          <a:p>
            <a:r>
              <a:rPr lang="en-US" b="0" i="0" dirty="0">
                <a:solidFill>
                  <a:srgbClr val="D1D5DB"/>
                </a:solidFill>
                <a:effectLst/>
                <a:latin typeface="Söhne"/>
              </a:rPr>
              <a:t>    </a:t>
            </a:r>
            <a:r>
              <a:rPr lang="en-US" b="0" i="0" dirty="0" err="1">
                <a:solidFill>
                  <a:srgbClr val="D1D5DB"/>
                </a:solidFill>
                <a:effectLst/>
                <a:latin typeface="Söhne"/>
              </a:rPr>
              <a:t>allPayoffs</a:t>
            </a:r>
            <a:r>
              <a:rPr lang="en-US" b="0" i="0" dirty="0">
                <a:solidFill>
                  <a:srgbClr val="D1D5DB"/>
                </a:solidFill>
                <a:effectLst/>
                <a:latin typeface="Söhne"/>
              </a:rPr>
              <a:t> = list(map(</a:t>
            </a:r>
            <a:r>
              <a:rPr lang="en-US" b="0" i="0" dirty="0" err="1">
                <a:solidFill>
                  <a:srgbClr val="D1D5DB"/>
                </a:solidFill>
                <a:effectLst/>
                <a:latin typeface="Söhne"/>
              </a:rPr>
              <a:t>payoffGame</a:t>
            </a:r>
            <a:r>
              <a:rPr lang="en-US" b="0" i="0" dirty="0">
                <a:solidFill>
                  <a:srgbClr val="D1D5DB"/>
                </a:solidFill>
                <a:effectLst/>
                <a:latin typeface="Söhne"/>
              </a:rPr>
              <a:t>, </a:t>
            </a:r>
            <a:r>
              <a:rPr lang="en-US" b="0" i="0" dirty="0" err="1">
                <a:solidFill>
                  <a:srgbClr val="D1D5DB"/>
                </a:solidFill>
                <a:effectLst/>
                <a:latin typeface="Söhne"/>
              </a:rPr>
              <a:t>allGames</a:t>
            </a:r>
            <a:r>
              <a:rPr lang="en-US" b="0" i="0" dirty="0">
                <a:solidFill>
                  <a:srgbClr val="D1D5DB"/>
                </a:solidFill>
                <a:effectLst/>
                <a:latin typeface="Söhne"/>
              </a:rPr>
              <a:t>))</a:t>
            </a:r>
          </a:p>
          <a:p>
            <a:endParaRPr lang="en-US" b="0" i="0" dirty="0">
              <a:solidFill>
                <a:srgbClr val="D1D5DB"/>
              </a:solidFill>
              <a:effectLst/>
              <a:latin typeface="Söhne"/>
            </a:endParaRPr>
          </a:p>
          <a:p>
            <a:r>
              <a:rPr lang="en-US" b="0" i="0" dirty="0">
                <a:solidFill>
                  <a:srgbClr val="D1D5DB"/>
                </a:solidFill>
                <a:effectLst/>
                <a:latin typeface="Söhne"/>
              </a:rPr>
              <a:t>    parents = </a:t>
            </a:r>
            <a:r>
              <a:rPr lang="en-US" b="0" i="0" dirty="0" err="1">
                <a:solidFill>
                  <a:srgbClr val="D1D5DB"/>
                </a:solidFill>
                <a:effectLst/>
                <a:latin typeface="Söhne"/>
              </a:rPr>
              <a:t>np.random.choice</a:t>
            </a:r>
            <a:r>
              <a:rPr lang="en-US" b="0" i="0" dirty="0">
                <a:solidFill>
                  <a:srgbClr val="D1D5DB"/>
                </a:solidFill>
                <a:effectLst/>
                <a:latin typeface="Söhne"/>
              </a:rPr>
              <a:t>(population, </a:t>
            </a:r>
            <a:r>
              <a:rPr lang="en-US" b="0" i="0" dirty="0" err="1">
                <a:solidFill>
                  <a:srgbClr val="D1D5DB"/>
                </a:solidFill>
                <a:effectLst/>
                <a:latin typeface="Söhne"/>
              </a:rPr>
              <a:t>popSize</a:t>
            </a:r>
            <a:r>
              <a:rPr lang="en-US" b="0" i="0" dirty="0">
                <a:solidFill>
                  <a:srgbClr val="D1D5DB"/>
                </a:solidFill>
                <a:effectLst/>
                <a:latin typeface="Söhne"/>
              </a:rPr>
              <a:t>, replace=True, p=</a:t>
            </a:r>
            <a:r>
              <a:rPr lang="en-US" b="0" i="0" dirty="0" err="1">
                <a:solidFill>
                  <a:srgbClr val="D1D5DB"/>
                </a:solidFill>
                <a:effectLst/>
                <a:latin typeface="Söhne"/>
              </a:rPr>
              <a:t>allPayoffs</a:t>
            </a:r>
            <a:r>
              <a:rPr lang="en-US" b="0" i="0" dirty="0">
                <a:solidFill>
                  <a:srgbClr val="D1D5DB"/>
                </a:solidFill>
                <a:effectLst/>
                <a:latin typeface="Söhne"/>
              </a:rPr>
              <a:t>/</a:t>
            </a:r>
            <a:r>
              <a:rPr lang="en-US" b="0" i="0" dirty="0" err="1">
                <a:solidFill>
                  <a:srgbClr val="D1D5DB"/>
                </a:solidFill>
                <a:effectLst/>
                <a:latin typeface="Söhne"/>
              </a:rPr>
              <a:t>np.sum</a:t>
            </a:r>
            <a:r>
              <a:rPr lang="en-US" b="0" i="0" dirty="0">
                <a:solidFill>
                  <a:srgbClr val="D1D5DB"/>
                </a:solidFill>
                <a:effectLst/>
                <a:latin typeface="Söhne"/>
              </a:rPr>
              <a:t>(</a:t>
            </a:r>
            <a:r>
              <a:rPr lang="en-US" b="0" i="0" dirty="0" err="1">
                <a:solidFill>
                  <a:srgbClr val="D1D5DB"/>
                </a:solidFill>
                <a:effectLst/>
                <a:latin typeface="Söhne"/>
              </a:rPr>
              <a:t>allPayoffs</a:t>
            </a:r>
            <a:r>
              <a:rPr lang="en-US" b="0" i="0" dirty="0">
                <a:solidFill>
                  <a:srgbClr val="D1D5DB"/>
                </a:solidFill>
                <a:effectLst/>
                <a:latin typeface="Söhne"/>
              </a:rPr>
              <a:t>))</a:t>
            </a:r>
          </a:p>
          <a:p>
            <a:r>
              <a:rPr lang="en-US" b="0" i="0" dirty="0">
                <a:solidFill>
                  <a:srgbClr val="D1D5DB"/>
                </a:solidFill>
                <a:effectLst/>
                <a:latin typeface="Söhne"/>
              </a:rPr>
              <a:t>    population = </a:t>
            </a:r>
            <a:r>
              <a:rPr lang="en-US" b="0" i="0" dirty="0" err="1">
                <a:solidFill>
                  <a:srgbClr val="D1D5DB"/>
                </a:solidFill>
                <a:effectLst/>
                <a:latin typeface="Söhne"/>
              </a:rPr>
              <a:t>np.array</a:t>
            </a:r>
            <a:r>
              <a:rPr lang="en-US" b="0" i="0" dirty="0">
                <a:solidFill>
                  <a:srgbClr val="D1D5DB"/>
                </a:solidFill>
                <a:effectLst/>
                <a:latin typeface="Söhne"/>
              </a:rPr>
              <a:t>(list(map(mutate, parents)))</a:t>
            </a:r>
          </a:p>
          <a:p>
            <a:endParaRPr lang="en-US" b="0" i="0" dirty="0">
              <a:solidFill>
                <a:srgbClr val="D1D5DB"/>
              </a:solidFill>
              <a:effectLst/>
              <a:latin typeface="Söhne"/>
            </a:endParaRPr>
          </a:p>
          <a:p>
            <a:r>
              <a:rPr lang="en-US" b="0" i="0" dirty="0">
                <a:solidFill>
                  <a:srgbClr val="D1D5DB"/>
                </a:solidFill>
                <a:effectLst/>
                <a:latin typeface="Söhne"/>
              </a:rPr>
              <a:t># Example usage:</a:t>
            </a:r>
          </a:p>
          <a:p>
            <a:r>
              <a:rPr lang="en-US" b="0" i="0" dirty="0">
                <a:solidFill>
                  <a:srgbClr val="D1D5DB"/>
                </a:solidFill>
                <a:effectLst/>
                <a:latin typeface="Söhne"/>
              </a:rPr>
              <a:t>for _ in range(10):</a:t>
            </a:r>
          </a:p>
          <a:p>
            <a:r>
              <a:rPr lang="en-US" b="0" i="0" dirty="0">
                <a:solidFill>
                  <a:srgbClr val="D1D5DB"/>
                </a:solidFill>
                <a:effectLst/>
                <a:latin typeface="Söhne"/>
              </a:rPr>
              <a:t>    </a:t>
            </a:r>
            <a:r>
              <a:rPr lang="en-US" b="0" i="0" dirty="0" err="1">
                <a:solidFill>
                  <a:srgbClr val="D1D5DB"/>
                </a:solidFill>
                <a:effectLst/>
                <a:latin typeface="Söhne"/>
              </a:rPr>
              <a:t>oneRound</a:t>
            </a:r>
            <a:r>
              <a:rPr lang="en-US" b="0" i="0" dirty="0">
                <a:solidFill>
                  <a:srgbClr val="D1D5DB"/>
                </a:solidFill>
                <a:effectLst/>
                <a:latin typeface="Söhne"/>
              </a:rPr>
              <a:t>()</a:t>
            </a:r>
          </a:p>
          <a:p>
            <a:r>
              <a:rPr lang="en-US" b="0" i="0" dirty="0">
                <a:solidFill>
                  <a:srgbClr val="D1D5DB"/>
                </a:solidFill>
                <a:effectLst/>
                <a:latin typeface="Söhne"/>
              </a:rPr>
              <a:t>    print("Population after one round:", population)</a:t>
            </a:r>
          </a:p>
          <a:p>
            <a:pPr algn="l"/>
            <a:r>
              <a:rPr lang="en-US" b="0" i="0" dirty="0">
                <a:solidFill>
                  <a:srgbClr val="D1D5DB"/>
                </a:solidFill>
                <a:effectLst/>
                <a:latin typeface="Söhne"/>
              </a:rPr>
              <a:t>------------------------------------------------------------------------------</a:t>
            </a:r>
            <a:br>
              <a:rPr lang="en-US" b="0" i="0" dirty="0">
                <a:solidFill>
                  <a:srgbClr val="D1D5DB"/>
                </a:solidFill>
                <a:effectLst/>
                <a:latin typeface="Söhne"/>
              </a:rPr>
            </a:br>
            <a:br>
              <a:rPr lang="en-US" b="0" i="0" dirty="0">
                <a:solidFill>
                  <a:srgbClr val="D1D5DB"/>
                </a:solidFill>
                <a:effectLst/>
                <a:latin typeface="Söhne"/>
              </a:rPr>
            </a:br>
            <a:r>
              <a:rPr lang="en-US" b="0" i="0" dirty="0">
                <a:solidFill>
                  <a:srgbClr val="D1D5DB"/>
                </a:solidFill>
                <a:effectLst/>
                <a:latin typeface="Söhne"/>
              </a:rPr>
              <a:t>Here's what the </a:t>
            </a:r>
            <a:r>
              <a:rPr lang="en-US" b="0" i="0">
                <a:solidFill>
                  <a:srgbClr val="D1D5DB"/>
                </a:solidFill>
                <a:effectLst/>
                <a:latin typeface="Söhne"/>
              </a:rPr>
              <a:t>code contains:</a:t>
            </a:r>
            <a:endParaRPr lang="en-US" b="0" i="0" dirty="0">
              <a:solidFill>
                <a:srgbClr val="D1D5DB"/>
              </a:solidFill>
              <a:effectLst/>
              <a:latin typeface="Söhne"/>
            </a:endParaRPr>
          </a:p>
          <a:p>
            <a:pPr marL="228600" indent="-228600" algn="l">
              <a:buFont typeface="+mj-lt"/>
              <a:buAutoNum type="arabicPeriod"/>
            </a:pPr>
            <a:r>
              <a:rPr lang="en-US" b="0" i="0" dirty="0">
                <a:solidFill>
                  <a:srgbClr val="D1D5DB"/>
                </a:solidFill>
                <a:effectLst/>
                <a:latin typeface="Söhne"/>
              </a:rPr>
              <a:t>Defined parameters like </a:t>
            </a:r>
            <a:r>
              <a:rPr lang="en-US" b="0" i="0" dirty="0" err="1">
                <a:solidFill>
                  <a:srgbClr val="D1D5DB"/>
                </a:solidFill>
                <a:effectLst/>
                <a:latin typeface="Söhne"/>
              </a:rPr>
              <a:t>popSize</a:t>
            </a:r>
            <a:r>
              <a:rPr lang="en-US" b="0" i="0" dirty="0">
                <a:solidFill>
                  <a:srgbClr val="D1D5DB"/>
                </a:solidFill>
                <a:effectLst/>
                <a:latin typeface="Söhne"/>
              </a:rPr>
              <a:t> and </a:t>
            </a:r>
            <a:r>
              <a:rPr lang="en-US" b="0" i="0" dirty="0" err="1">
                <a:solidFill>
                  <a:srgbClr val="D1D5DB"/>
                </a:solidFill>
                <a:effectLst/>
                <a:latin typeface="Söhne"/>
              </a:rPr>
              <a:t>mutationRate</a:t>
            </a:r>
            <a:r>
              <a:rPr lang="en-US" b="0" i="0" dirty="0">
                <a:solidFill>
                  <a:srgbClr val="D1D5DB"/>
                </a:solidFill>
                <a:effectLst/>
                <a:latin typeface="Söhne"/>
              </a:rPr>
              <a:t> explicitly.</a:t>
            </a:r>
          </a:p>
          <a:p>
            <a:pPr marL="228600" indent="-228600" algn="l">
              <a:buFont typeface="+mj-lt"/>
              <a:buAutoNum type="arabicPeriod"/>
            </a:pPr>
            <a:r>
              <a:rPr lang="en-US" b="0" i="0" dirty="0">
                <a:solidFill>
                  <a:srgbClr val="D1D5DB"/>
                </a:solidFill>
                <a:effectLst/>
                <a:latin typeface="Söhne"/>
              </a:rPr>
              <a:t>Modified the benefit and cost functions to return values based on the trait values.</a:t>
            </a:r>
          </a:p>
          <a:p>
            <a:pPr marL="228600" indent="-228600" algn="l">
              <a:buFont typeface="+mj-lt"/>
              <a:buAutoNum type="arabicPeriod"/>
            </a:pPr>
            <a:r>
              <a:rPr lang="en-US" b="0" i="0" dirty="0">
                <a:solidFill>
                  <a:srgbClr val="D1D5DB"/>
                </a:solidFill>
                <a:effectLst/>
                <a:latin typeface="Söhne"/>
              </a:rPr>
              <a:t>Added a mutate function that randomly mutates trait values based on the mutation rate.</a:t>
            </a:r>
          </a:p>
          <a:p>
            <a:pPr marL="228600" indent="-228600" algn="l">
              <a:buFont typeface="+mj-lt"/>
              <a:buAutoNum type="arabicPeriod"/>
            </a:pPr>
            <a:r>
              <a:rPr lang="en-US" b="0" i="0" dirty="0">
                <a:solidFill>
                  <a:srgbClr val="D1D5DB"/>
                </a:solidFill>
                <a:effectLst/>
                <a:latin typeface="Söhne"/>
              </a:rPr>
              <a:t>Initialized the population with random trait values.</a:t>
            </a:r>
          </a:p>
          <a:p>
            <a:pPr marL="228600" indent="-228600" algn="l">
              <a:buFont typeface="+mj-lt"/>
              <a:buAutoNum type="arabicPeriod"/>
            </a:pPr>
            <a:r>
              <a:rPr lang="en-US" b="0" i="0" dirty="0">
                <a:solidFill>
                  <a:srgbClr val="D1D5DB"/>
                </a:solidFill>
                <a:effectLst/>
                <a:latin typeface="Söhne"/>
              </a:rPr>
              <a:t>Modified the </a:t>
            </a:r>
            <a:r>
              <a:rPr lang="en-US" b="0" i="0" dirty="0" err="1">
                <a:solidFill>
                  <a:srgbClr val="D1D5DB"/>
                </a:solidFill>
                <a:effectLst/>
                <a:latin typeface="Söhne"/>
              </a:rPr>
              <a:t>payoffGame</a:t>
            </a:r>
            <a:r>
              <a:rPr lang="en-US" b="0" i="0" dirty="0">
                <a:solidFill>
                  <a:srgbClr val="D1D5DB"/>
                </a:solidFill>
                <a:effectLst/>
                <a:latin typeface="Söhne"/>
              </a:rPr>
              <a:t> function to work with the array G.</a:t>
            </a:r>
          </a:p>
          <a:p>
            <a:pPr marL="228600" indent="-228600" algn="l">
              <a:buFont typeface="+mj-lt"/>
              <a:buAutoNum type="arabicPeriod"/>
            </a:pPr>
            <a:r>
              <a:rPr lang="en-US" b="0" i="0" dirty="0">
                <a:solidFill>
                  <a:srgbClr val="D1D5DB"/>
                </a:solidFill>
                <a:effectLst/>
                <a:latin typeface="Söhne"/>
              </a:rPr>
              <a:t>In the </a:t>
            </a:r>
            <a:r>
              <a:rPr lang="en-US" b="0" i="0" dirty="0" err="1">
                <a:solidFill>
                  <a:srgbClr val="D1D5DB"/>
                </a:solidFill>
                <a:effectLst/>
                <a:latin typeface="Söhne"/>
              </a:rPr>
              <a:t>oneRound</a:t>
            </a:r>
            <a:r>
              <a:rPr lang="en-US" b="0" i="0" dirty="0">
                <a:solidFill>
                  <a:srgbClr val="D1D5DB"/>
                </a:solidFill>
                <a:effectLst/>
                <a:latin typeface="Söhne"/>
              </a:rPr>
              <a:t> function, I've corrected the code for calculating </a:t>
            </a:r>
            <a:r>
              <a:rPr lang="en-US" b="0" i="0" dirty="0" err="1">
                <a:solidFill>
                  <a:srgbClr val="D1D5DB"/>
                </a:solidFill>
                <a:effectLst/>
                <a:latin typeface="Söhne"/>
              </a:rPr>
              <a:t>allPayoffs</a:t>
            </a:r>
            <a:r>
              <a:rPr lang="en-US" b="0" i="0" dirty="0">
                <a:solidFill>
                  <a:srgbClr val="D1D5DB"/>
                </a:solidFill>
                <a:effectLst/>
                <a:latin typeface="Söhne"/>
              </a:rPr>
              <a:t> and parents, and I've applied the mutate function to the parents.</a:t>
            </a:r>
          </a:p>
          <a:p>
            <a:pPr marL="228600" indent="-228600" algn="l">
              <a:buFont typeface="+mj-lt"/>
              <a:buAutoNum type="arabicPeriod"/>
            </a:pPr>
            <a:r>
              <a:rPr lang="en-US" b="0" i="0" dirty="0">
                <a:solidFill>
                  <a:srgbClr val="D1D5DB"/>
                </a:solidFill>
                <a:effectLst/>
                <a:latin typeface="Söhne"/>
              </a:rPr>
              <a:t>Provided an example of how to run multiple rounds of the Snowdrift Game.</a:t>
            </a:r>
          </a:p>
          <a:p>
            <a:br>
              <a:rPr lang="en-US" b="0" i="0" dirty="0">
                <a:solidFill>
                  <a:srgbClr val="D1D5DB"/>
                </a:solidFill>
                <a:effectLst/>
                <a:latin typeface="Söhne"/>
              </a:rPr>
            </a:br>
            <a:endParaRPr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In various social and cooperative contexts, a "freeloader" refers to an individual who benefits from the efforts, resources, or contributions of a group or community without making an equitable or proportionate contribution in return. Freeloaders are often seen as individuals who take advantage of collective efforts or resources without putting in their fair share of work or resources.</a:t>
            </a:r>
            <a:endParaRPr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adaptive dynamics framework is indeed a valuable tool in evolutionary biology and game theory for studying the evolution of continuous traits or strategies within a population. As you've described, it has some key characteristics and assumptions:</a:t>
            </a:r>
          </a:p>
          <a:p>
            <a:pPr algn="l">
              <a:buFont typeface="+mj-lt"/>
              <a:buAutoNum type="arabicPeriod"/>
            </a:pPr>
            <a:r>
              <a:rPr lang="en-US" b="1" i="0" dirty="0">
                <a:solidFill>
                  <a:srgbClr val="FFFFFF"/>
                </a:solidFill>
                <a:effectLst/>
                <a:latin typeface="Söhne"/>
              </a:rPr>
              <a:t>Continuous Traits</a:t>
            </a:r>
            <a:r>
              <a:rPr lang="en-US" b="0" i="0" dirty="0">
                <a:solidFill>
                  <a:srgbClr val="FFFFFF"/>
                </a:solidFill>
                <a:effectLst/>
                <a:latin typeface="Söhne"/>
              </a:rPr>
              <a:t>: Adaptive dynamics can handle continuous traits, which means it's suitable for scenarios where individuals possess a wide range of trait values, and small, heritable mutations can lead to changes in these continuous traits.</a:t>
            </a:r>
          </a:p>
          <a:p>
            <a:pPr algn="l">
              <a:buFont typeface="+mj-lt"/>
              <a:buAutoNum type="arabicPeriod"/>
            </a:pPr>
            <a:r>
              <a:rPr lang="en-US" b="1" i="0" dirty="0">
                <a:solidFill>
                  <a:srgbClr val="FFFFFF"/>
                </a:solidFill>
                <a:effectLst/>
                <a:latin typeface="Söhne"/>
              </a:rPr>
              <a:t>Homogeneous Population</a:t>
            </a:r>
            <a:r>
              <a:rPr lang="en-US" b="0" i="0" dirty="0">
                <a:solidFill>
                  <a:srgbClr val="FFFFFF"/>
                </a:solidFill>
                <a:effectLst/>
                <a:latin typeface="Söhne"/>
              </a:rPr>
              <a:t>: In adaptive dynamics, the focus is often on a homogeneous population, meaning that all individuals in the population have the same strategy or trait value. This simplifies the analysis and allows for the study of how a single trait evolves over time.</a:t>
            </a:r>
          </a:p>
          <a:p>
            <a:pPr algn="l">
              <a:buFont typeface="+mj-lt"/>
              <a:buAutoNum type="arabicPeriod"/>
            </a:pPr>
            <a:r>
              <a:rPr lang="en-US" b="1" i="0" dirty="0">
                <a:solidFill>
                  <a:srgbClr val="FFFFFF"/>
                </a:solidFill>
                <a:effectLst/>
                <a:latin typeface="Söhne"/>
              </a:rPr>
              <a:t>Rare Mutations</a:t>
            </a:r>
            <a:r>
              <a:rPr lang="en-US" b="0" i="0" dirty="0">
                <a:solidFill>
                  <a:srgbClr val="FFFFFF"/>
                </a:solidFill>
                <a:effectLst/>
                <a:latin typeface="Söhne"/>
              </a:rPr>
              <a:t>: Adaptive dynamics assumes that mutations are rare events. Mutations are typically considered to be small changes in the trait value, leading to offspring that are very similar to their parents but with slight variations. These mutations can be thought of as small, incremental changes in the trait.</a:t>
            </a:r>
          </a:p>
          <a:p>
            <a:pPr algn="l">
              <a:buFont typeface="+mj-lt"/>
              <a:buAutoNum type="arabicPeriod"/>
            </a:pPr>
            <a:r>
              <a:rPr lang="en-US" b="1" i="0" dirty="0">
                <a:solidFill>
                  <a:srgbClr val="FFFFFF"/>
                </a:solidFill>
                <a:effectLst/>
                <a:latin typeface="Söhne"/>
              </a:rPr>
              <a:t>Fitness-Based Selection</a:t>
            </a:r>
            <a:r>
              <a:rPr lang="en-US" b="0" i="0" dirty="0">
                <a:solidFill>
                  <a:srgbClr val="FFFFFF"/>
                </a:solidFill>
                <a:effectLst/>
                <a:latin typeface="Söhne"/>
              </a:rPr>
              <a:t>: The central concept in adaptive dynamics is the comparison of the fitness (reproductive success) of a mutant trait with the fitness of the resident trait. If a mutant trait provides a higher fitness (in a specific ecological context), it can invade and replace the resident trait over time. Otherwise, it is rejected, and the resident trait remains stable.</a:t>
            </a:r>
          </a:p>
          <a:p>
            <a:pPr algn="l"/>
            <a:r>
              <a:rPr lang="en-US" b="0" i="0" dirty="0">
                <a:solidFill>
                  <a:srgbClr val="FFFFFF"/>
                </a:solidFill>
                <a:effectLst/>
                <a:latin typeface="Söhne"/>
              </a:rPr>
              <a:t>Adaptive dynamics is often used to study evolutionary scenarios where small changes in trait values can lead to significant evolutionary shifts over long periods. Researchers use mathematical models and simulations to analyze how the trait distribution in a population changes in response to mutation and selection.</a:t>
            </a:r>
          </a:p>
          <a:p>
            <a:pPr algn="l"/>
            <a:r>
              <a:rPr lang="en-US" b="0" i="0" dirty="0">
                <a:solidFill>
                  <a:srgbClr val="FFFFFF"/>
                </a:solidFill>
                <a:effectLst/>
                <a:latin typeface="Söhne"/>
              </a:rPr>
              <a:t>This framework is particularly valuable for understanding the evolution of traits in ecological and evolutionary contexts, such as the evolution of morphological features, behavioral strategies, or life-history traits, under different environmental and competitive conditions.</a:t>
            </a:r>
          </a:p>
          <a:p>
            <a:pPr algn="l"/>
            <a:r>
              <a:rPr lang="en-US" b="0" i="0" dirty="0">
                <a:solidFill>
                  <a:srgbClr val="FFFFFF"/>
                </a:solidFill>
                <a:effectLst/>
                <a:latin typeface="Söhne"/>
              </a:rPr>
              <a:t>It's important to note that while adaptive dynamics provides valuable insights, it is a simplification of the complex evolutionary processes that occur in real populations, which often involve multiple traits, interactions, and stochastic factors. Nonetheless, it offers a powerful approach for studying how continuous traits evolve in homogeneous populations subject to rare mutations and fitness-based selection.</a:t>
            </a:r>
          </a:p>
          <a:p>
            <a:br>
              <a:rPr lang="en-US" b="0" i="0" dirty="0">
                <a:solidFill>
                  <a:srgbClr val="FFFFFF"/>
                </a:solidFill>
                <a:effectLst/>
                <a:latin typeface="Söhne"/>
              </a:rPr>
            </a:br>
            <a:endParaRPr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37" name="Slide Numbe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2" name="Holder 5">
            <a:extLst>
              <a:ext uri="{FF2B5EF4-FFF2-40B4-BE49-F238E27FC236}">
                <a16:creationId xmlns:a16="http://schemas.microsoft.com/office/drawing/2014/main" id="{DB3F787B-2650-FFBD-FD7A-E2A4210FA0F7}"/>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160069729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6594326C-47C8-765C-E1AB-3AD36B8A17A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3" name="www.monash.edu.au">
            <a:extLst>
              <a:ext uri="{FF2B5EF4-FFF2-40B4-BE49-F238E27FC236}">
                <a16:creationId xmlns:a16="http://schemas.microsoft.com/office/drawing/2014/main" id="{FCE6EDA5-8335-59CD-BDAF-6052DC1B27AF}"/>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FE018A2-E707-EA9F-7709-1749F33DF0D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a:t>Week-5</a:t>
            </a:r>
            <a:endParaRPr lang="en-US" dirty="0"/>
          </a:p>
        </p:txBody>
      </p:sp>
    </p:spTree>
    <p:extLst>
      <p:ext uri="{BB962C8B-B14F-4D97-AF65-F5344CB8AC3E}">
        <p14:creationId xmlns:p14="http://schemas.microsoft.com/office/powerpoint/2010/main" val="236871055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 name="Slide Number">
            <a:extLst>
              <a:ext uri="{FF2B5EF4-FFF2-40B4-BE49-F238E27FC236}">
                <a16:creationId xmlns:a16="http://schemas.microsoft.com/office/drawing/2014/main" id="{C8178CCA-E30A-0142-22B4-297E197AF055}"/>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3" name="www.monash.edu.au">
            <a:extLst>
              <a:ext uri="{FF2B5EF4-FFF2-40B4-BE49-F238E27FC236}">
                <a16:creationId xmlns:a16="http://schemas.microsoft.com/office/drawing/2014/main" id="{3B37A0AE-1541-0B10-723C-7A027AF1E9EA}"/>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BF30A43-39AB-A9BC-E1CC-A2B13E6992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276140614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3C45F9E4-5BEB-6948-F8CF-3C29115FC191}"/>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4" name="www.monash.edu.au">
            <a:extLst>
              <a:ext uri="{FF2B5EF4-FFF2-40B4-BE49-F238E27FC236}">
                <a16:creationId xmlns:a16="http://schemas.microsoft.com/office/drawing/2014/main" id="{B531494C-4EA5-CC74-0BC8-C86C213D04DD}"/>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5" name="Holder 5">
            <a:extLst>
              <a:ext uri="{FF2B5EF4-FFF2-40B4-BE49-F238E27FC236}">
                <a16:creationId xmlns:a16="http://schemas.microsoft.com/office/drawing/2014/main" id="{9F9C374D-EC99-6398-336B-7FAC80D65F18}"/>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67790308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 name="Slide Number">
            <a:extLst>
              <a:ext uri="{FF2B5EF4-FFF2-40B4-BE49-F238E27FC236}">
                <a16:creationId xmlns:a16="http://schemas.microsoft.com/office/drawing/2014/main" id="{ADDC5FF1-A624-1E24-9ED8-5D93F35E60E3}"/>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3" name="www.monash.edu.au">
            <a:extLst>
              <a:ext uri="{FF2B5EF4-FFF2-40B4-BE49-F238E27FC236}">
                <a16:creationId xmlns:a16="http://schemas.microsoft.com/office/drawing/2014/main" id="{11A7D92C-6F1D-9843-664F-0C120FB19EB2}"/>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F64EAD79-E313-A233-DB43-C97EEDEE63EF}"/>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4815855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 name="Slide Number">
            <a:extLst>
              <a:ext uri="{FF2B5EF4-FFF2-40B4-BE49-F238E27FC236}">
                <a16:creationId xmlns:a16="http://schemas.microsoft.com/office/drawing/2014/main" id="{8D240F42-515F-7243-BFFE-63148E30BE96}"/>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3" name="www.monash.edu.au">
            <a:extLst>
              <a:ext uri="{FF2B5EF4-FFF2-40B4-BE49-F238E27FC236}">
                <a16:creationId xmlns:a16="http://schemas.microsoft.com/office/drawing/2014/main" id="{3B7C9770-2A48-6B16-CC9D-53795C67336B}"/>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85B1ED07-1625-C101-2440-D9146E5DAD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273448156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7" name="www.monash.edu.au">
            <a:extLst>
              <a:ext uri="{FF2B5EF4-FFF2-40B4-BE49-F238E27FC236}">
                <a16:creationId xmlns:a16="http://schemas.microsoft.com/office/drawing/2014/main" id="{59F35EE0-E500-8A33-5671-6ABD09898BC1}"/>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C83E8368-E40D-A970-122A-7B1808D962C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9" name="Holder 5">
            <a:extLst>
              <a:ext uri="{FF2B5EF4-FFF2-40B4-BE49-F238E27FC236}">
                <a16:creationId xmlns:a16="http://schemas.microsoft.com/office/drawing/2014/main" id="{FBA917BA-F53E-60AE-9DE7-F017B509DE8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a:t>Week-5</a:t>
            </a:r>
            <a:endParaRPr lang="en-US" dirty="0"/>
          </a:p>
        </p:txBody>
      </p:sp>
    </p:spTree>
    <p:extLst>
      <p:ext uri="{BB962C8B-B14F-4D97-AF65-F5344CB8AC3E}">
        <p14:creationId xmlns:p14="http://schemas.microsoft.com/office/powerpoint/2010/main" val="28220082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17" name="bk object 17"/>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18" name="bk object 18"/>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450040" y="422936"/>
            <a:ext cx="8243918" cy="7493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329584" y="1662087"/>
            <a:ext cx="8484830" cy="1874520"/>
          </a:xfrm>
          <a:prstGeom prst="rect">
            <a:avLst/>
          </a:prstGeom>
        </p:spPr>
        <p:txBody>
          <a:bodyPr wrap="square" lIns="0" tIns="0" rIns="0" bIns="0">
            <a:spAutoFit/>
          </a:bodyPr>
          <a:lstStyle>
            <a:lvl1pPr>
              <a:defRPr sz="24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2" name="www.monash.edu.au">
            <a:extLst>
              <a:ext uri="{FF2B5EF4-FFF2-40B4-BE49-F238E27FC236}">
                <a16:creationId xmlns:a16="http://schemas.microsoft.com/office/drawing/2014/main" id="{6C5A1932-339F-2B59-AA68-9DC6C40F9AA6}"/>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13" name="Slide Number">
            <a:extLst>
              <a:ext uri="{FF2B5EF4-FFF2-40B4-BE49-F238E27FC236}">
                <a16:creationId xmlns:a16="http://schemas.microsoft.com/office/drawing/2014/main" id="{670A58DF-E724-EC06-E22C-E44FE03E2DB5}"/>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/60</a:t>
            </a:r>
          </a:p>
        </p:txBody>
      </p:sp>
      <p:sp>
        <p:nvSpPr>
          <p:cNvPr id="14" name="Holder 5">
            <a:extLst>
              <a:ext uri="{FF2B5EF4-FFF2-40B4-BE49-F238E27FC236}">
                <a16:creationId xmlns:a16="http://schemas.microsoft.com/office/drawing/2014/main" id="{5DE556A7-82F5-38D7-3AE7-A005596FBCDD}"/>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295374554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transition spd="med"/>
  <p:hf hd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en.wikipedia.org/wiki/Congestion_game" TargetMode="Externa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en.wikipedia.org/wiki/Congestion_game" TargetMode="Externa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en.wikipedia.org/wiki/Congestion_game"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en.wikipedia.org/wiki/Congestion_game" TargetMode="Externa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2.png"/><Relationship Id="rId50" Type="http://schemas.openxmlformats.org/officeDocument/2006/relationships/image" Target="../media/image55.png"/><Relationship Id="rId55" Type="http://schemas.openxmlformats.org/officeDocument/2006/relationships/image" Target="../media/image60.png"/><Relationship Id="rId63" Type="http://schemas.openxmlformats.org/officeDocument/2006/relationships/image" Target="../media/image68.png"/><Relationship Id="rId7" Type="http://schemas.openxmlformats.org/officeDocument/2006/relationships/image" Target="../media/image12.png"/><Relationship Id="rId2" Type="http://schemas.openxmlformats.org/officeDocument/2006/relationships/notesSlide" Target="../notesSlides/notesSlide11.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41" Type="http://schemas.openxmlformats.org/officeDocument/2006/relationships/image" Target="../media/image46.png"/><Relationship Id="rId54" Type="http://schemas.openxmlformats.org/officeDocument/2006/relationships/image" Target="../media/image59.png"/><Relationship Id="rId6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3" Type="http://schemas.openxmlformats.org/officeDocument/2006/relationships/image" Target="../media/image58.png"/><Relationship Id="rId58" Type="http://schemas.openxmlformats.org/officeDocument/2006/relationships/image" Target="../media/image63.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49" Type="http://schemas.openxmlformats.org/officeDocument/2006/relationships/image" Target="../media/image54.png"/><Relationship Id="rId57" Type="http://schemas.openxmlformats.org/officeDocument/2006/relationships/image" Target="../media/image62.png"/><Relationship Id="rId61" Type="http://schemas.openxmlformats.org/officeDocument/2006/relationships/image" Target="../media/image66.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6.png"/><Relationship Id="rId44" Type="http://schemas.openxmlformats.org/officeDocument/2006/relationships/image" Target="../media/image49.png"/><Relationship Id="rId52" Type="http://schemas.openxmlformats.org/officeDocument/2006/relationships/image" Target="../media/image57.png"/><Relationship Id="rId60" Type="http://schemas.openxmlformats.org/officeDocument/2006/relationships/image" Target="../media/image65.png"/><Relationship Id="rId65" Type="http://schemas.openxmlformats.org/officeDocument/2006/relationships/image" Target="../media/image70.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64" Type="http://schemas.openxmlformats.org/officeDocument/2006/relationships/image" Target="../media/image69.png"/><Relationship Id="rId8" Type="http://schemas.openxmlformats.org/officeDocument/2006/relationships/image" Target="../media/image13.png"/><Relationship Id="rId51" Type="http://schemas.openxmlformats.org/officeDocument/2006/relationships/image" Target="../media/image56.png"/><Relationship Id="rId3" Type="http://schemas.openxmlformats.org/officeDocument/2006/relationships/image" Target="../media/image8.jp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59" Type="http://schemas.openxmlformats.org/officeDocument/2006/relationships/image" Target="../media/image6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8.png"/><Relationship Id="rId4" Type="http://schemas.openxmlformats.org/officeDocument/2006/relationships/image" Target="../media/image87.png"/></Relationships>
</file>

<file path=ppt/slides/_rels/slide41.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4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7.jpg"/></Relationships>
</file>

<file path=ppt/slides/_rels/slide4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99.jpg"/></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monash.edu.au/"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04.jpg"/><Relationship Id="rId4" Type="http://schemas.openxmlformats.org/officeDocument/2006/relationships/image" Target="../media/image103.jp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3"/>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3130514"/>
            <a:chOff x="-1" y="2861721"/>
            <a:chExt cx="8515351" cy="3130514"/>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4873206"/>
              <a:ext cx="8515350" cy="1119029"/>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0000"/>
                  </a:solidFill>
                  <a:effectLst/>
                  <a:uLnTx/>
                  <a:uFillTx/>
                  <a:latin typeface="Arial"/>
                  <a:cs typeface="Arial"/>
                  <a:sym typeface="Gill Sans"/>
                </a:rPr>
                <a:t>Week 8: </a:t>
              </a:r>
              <a:r>
                <a:rPr lang="en-US" sz="3200" dirty="0">
                  <a:solidFill>
                    <a:srgbClr val="00669D"/>
                  </a:solidFill>
                  <a:latin typeface="Arial"/>
                  <a:cs typeface="Arial"/>
                </a:rPr>
                <a:t>Popula</a:t>
              </a:r>
              <a:r>
                <a:rPr lang="en-US" sz="3200" spc="-15" dirty="0">
                  <a:solidFill>
                    <a:srgbClr val="00669D"/>
                  </a:solidFill>
                  <a:latin typeface="Arial"/>
                  <a:cs typeface="Arial"/>
                </a:rPr>
                <a:t>t</a:t>
              </a:r>
              <a:r>
                <a:rPr lang="en-US" sz="3200" dirty="0">
                  <a:solidFill>
                    <a:srgbClr val="00669D"/>
                  </a:solidFill>
                  <a:latin typeface="Arial"/>
                  <a:cs typeface="Arial"/>
                </a:rPr>
                <a:t>ion</a:t>
              </a:r>
              <a:r>
                <a:rPr lang="en-US" sz="3200" spc="-5" dirty="0">
                  <a:solidFill>
                    <a:srgbClr val="00669D"/>
                  </a:solidFill>
                  <a:latin typeface="Arial"/>
                  <a:cs typeface="Arial"/>
                </a:rPr>
                <a:t> </a:t>
              </a:r>
              <a:r>
                <a:rPr lang="en-US" sz="3200" spc="-30" dirty="0">
                  <a:solidFill>
                    <a:srgbClr val="00669D"/>
                  </a:solidFill>
                  <a:latin typeface="Arial"/>
                  <a:cs typeface="Arial"/>
                </a:rPr>
                <a:t>G</a:t>
              </a:r>
              <a:r>
                <a:rPr lang="en-US" sz="3200" dirty="0">
                  <a:solidFill>
                    <a:srgbClr val="00669D"/>
                  </a:solidFill>
                  <a:latin typeface="Arial"/>
                  <a:cs typeface="Arial"/>
                </a:rPr>
                <a:t>ames</a:t>
              </a:r>
              <a:r>
                <a:rPr lang="en-US" sz="3200" spc="-5" dirty="0">
                  <a:solidFill>
                    <a:srgbClr val="00669D"/>
                  </a:solidFill>
                  <a:latin typeface="Arial"/>
                  <a:cs typeface="Arial"/>
                </a:rPr>
                <a:t> </a:t>
              </a:r>
              <a:r>
                <a:rPr lang="en-US" sz="3200" dirty="0">
                  <a:solidFill>
                    <a:srgbClr val="00669D"/>
                  </a:solidFill>
                  <a:latin typeface="Arial"/>
                  <a:cs typeface="Arial"/>
                </a:rPr>
                <a:t>and </a:t>
              </a:r>
              <a:br>
                <a:rPr lang="en-US" sz="3200" dirty="0">
                  <a:solidFill>
                    <a:srgbClr val="00669D"/>
                  </a:solidFill>
                  <a:latin typeface="Arial"/>
                  <a:cs typeface="Arial"/>
                </a:rPr>
              </a:br>
              <a:r>
                <a:rPr lang="en-US" sz="3200" dirty="0">
                  <a:solidFill>
                    <a:srgbClr val="00669D"/>
                  </a:solidFill>
                  <a:latin typeface="Arial"/>
                  <a:cs typeface="Arial"/>
                </a:rPr>
                <a:t>              Evolu</a:t>
              </a:r>
              <a:r>
                <a:rPr lang="en-US" sz="3200" spc="-15" dirty="0">
                  <a:solidFill>
                    <a:srgbClr val="00669D"/>
                  </a:solidFill>
                  <a:latin typeface="Arial"/>
                  <a:cs typeface="Arial"/>
                </a:rPr>
                <a:t>t</a:t>
              </a:r>
              <a:r>
                <a:rPr lang="en-US" sz="3200" dirty="0">
                  <a:solidFill>
                    <a:srgbClr val="00669D"/>
                  </a:solidFill>
                  <a:latin typeface="Arial"/>
                  <a:cs typeface="Arial"/>
                </a:rPr>
                <a:t>ionary</a:t>
              </a:r>
              <a:r>
                <a:rPr lang="en-US" sz="3200" spc="-5" dirty="0">
                  <a:solidFill>
                    <a:srgbClr val="00669D"/>
                  </a:solidFill>
                  <a:latin typeface="Arial"/>
                  <a:cs typeface="Arial"/>
                </a:rPr>
                <a:t> </a:t>
              </a:r>
              <a:r>
                <a:rPr lang="en-US" sz="3200" spc="-30" dirty="0">
                  <a:solidFill>
                    <a:srgbClr val="00669D"/>
                  </a:solidFill>
                  <a:latin typeface="Arial"/>
                  <a:cs typeface="Arial"/>
                </a:rPr>
                <a:t>G</a:t>
              </a:r>
              <a:r>
                <a:rPr lang="en-US" sz="3200" dirty="0">
                  <a:solidFill>
                    <a:srgbClr val="00669D"/>
                  </a:solidFill>
                  <a:latin typeface="Arial"/>
                  <a:cs typeface="Arial"/>
                </a:rPr>
                <a:t>ame</a:t>
              </a:r>
              <a:r>
                <a:rPr lang="en-US" sz="3200" spc="-60" dirty="0">
                  <a:solidFill>
                    <a:srgbClr val="00669D"/>
                  </a:solidFill>
                  <a:latin typeface="Arial"/>
                  <a:cs typeface="Arial"/>
                </a:rPr>
                <a:t> </a:t>
              </a:r>
              <a:r>
                <a:rPr lang="en-US" sz="3200" spc="-25" dirty="0">
                  <a:solidFill>
                    <a:srgbClr val="00669D"/>
                  </a:solidFill>
                  <a:latin typeface="Arial"/>
                  <a:cs typeface="Arial"/>
                </a:rPr>
                <a:t>T</a:t>
              </a:r>
              <a:r>
                <a:rPr lang="en-US" sz="3200" dirty="0">
                  <a:solidFill>
                    <a:srgbClr val="00669D"/>
                  </a:solidFill>
                  <a:latin typeface="Arial"/>
                  <a:cs typeface="Arial"/>
                </a:rPr>
                <a:t>heory</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5"/>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889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419099" y="2104276"/>
            <a:ext cx="7418705" cy="1077218"/>
          </a:xfrm>
          <a:prstGeom prst="rect">
            <a:avLst/>
          </a:prstGeom>
        </p:spPr>
        <p:txBody>
          <a:bodyPr vert="horz" wrap="square" lIns="0" tIns="0" rIns="0" bIns="0" rtlCol="0">
            <a:spAutoFit/>
          </a:bodyPr>
          <a:lstStyle/>
          <a:p>
            <a:pPr marL="12700" marR="5080" lvl="0" indent="0" algn="l" defTabSz="914400" rtl="0" eaLnBrk="1" fontAlgn="auto" latinLnBrk="0" hangingPunct="1">
              <a:lnSpc>
                <a:spcPts val="2100"/>
              </a:lnSpc>
              <a:spcBef>
                <a:spcPts val="0"/>
              </a:spcBef>
              <a:spcAft>
                <a:spcPts val="0"/>
              </a:spcAft>
              <a:buClrTx/>
              <a:buSzTx/>
              <a:buFontTx/>
              <a:buNone/>
              <a:tabLst/>
              <a:defRPr/>
            </a:pPr>
            <a:r>
              <a:rPr kumimoji="0" sz="1800" b="0" i="0" u="none" strike="noStrike" kern="1200" cap="none" spc="-10" normalizeH="0" baseline="0" noProof="0" dirty="0">
                <a:ln>
                  <a:noFill/>
                </a:ln>
                <a:solidFill>
                  <a:srgbClr val="5284B0"/>
                </a:solidFill>
                <a:effectLst/>
                <a:uLnTx/>
                <a:uFillTx/>
                <a:latin typeface="Arial"/>
                <a:ea typeface="+mn-ea"/>
                <a:cs typeface="Arial"/>
              </a:rPr>
              <a:t>This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mater</a:t>
            </a:r>
            <a:r>
              <a:rPr kumimoji="0" sz="1800" b="0" i="0" u="none" strike="noStrike" kern="1200" cap="none" spc="-5" normalizeH="0" baseline="0" noProof="0" dirty="0">
                <a:ln>
                  <a:noFill/>
                </a:ln>
                <a:solidFill>
                  <a:srgbClr val="5284B0"/>
                </a:solidFill>
                <a:effectLst/>
                <a:uLnTx/>
                <a:uFillTx/>
                <a:latin typeface="Arial"/>
                <a:ea typeface="+mn-ea"/>
                <a:cs typeface="Arial"/>
              </a:rPr>
              <a:t>i</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5" normalizeH="0" baseline="0" noProof="0" dirty="0">
                <a:ln>
                  <a:noFill/>
                </a:ln>
                <a:solidFill>
                  <a:srgbClr val="5284B0"/>
                </a:solidFill>
                <a:effectLst/>
                <a:uLnTx/>
                <a:uFillTx/>
                <a:latin typeface="Arial"/>
                <a:ea typeface="+mn-ea"/>
                <a:cs typeface="Arial"/>
              </a:rPr>
              <a:t>l </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0" normalizeH="0" baseline="0" noProof="0" dirty="0">
                <a:ln>
                  <a:noFill/>
                </a:ln>
                <a:solidFill>
                  <a:srgbClr val="5284B0"/>
                </a:solidFill>
                <a:effectLst/>
                <a:uLnTx/>
                <a:uFillTx/>
                <a:latin typeface="Arial"/>
                <a:ea typeface="+mn-ea"/>
                <a:cs typeface="Arial"/>
              </a:rPr>
              <a:t>c</a:t>
            </a:r>
            <a:r>
              <a:rPr kumimoji="0" sz="1800" b="0" i="0" u="none" strike="noStrike" kern="1200" cap="none" spc="-10" normalizeH="0" baseline="0" noProof="0" dirty="0">
                <a:ln>
                  <a:noFill/>
                </a:ln>
                <a:solidFill>
                  <a:srgbClr val="5284B0"/>
                </a:solidFill>
                <a:effectLst/>
                <a:uLnTx/>
                <a:uFillTx/>
                <a:latin typeface="Arial"/>
                <a:ea typeface="+mn-ea"/>
                <a:cs typeface="Arial"/>
              </a:rPr>
              <a:t>lud</a:t>
            </a:r>
            <a:r>
              <a:rPr kumimoji="0" sz="1800" b="0" i="0" u="none" strike="noStrike" kern="1200" cap="none" spc="0" normalizeH="0" baseline="0" noProof="0" dirty="0">
                <a:ln>
                  <a:noFill/>
                </a:ln>
                <a:solidFill>
                  <a:srgbClr val="5284B0"/>
                </a:solidFill>
                <a:effectLst/>
                <a:uLnTx/>
                <a:uFillTx/>
                <a:latin typeface="Arial"/>
                <a:ea typeface="+mn-ea"/>
                <a:cs typeface="Arial"/>
              </a:rPr>
              <a:t>es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c</a:t>
            </a:r>
            <a:r>
              <a:rPr kumimoji="0" sz="1800" b="0" i="0" u="none" strike="noStrike" kern="1200" cap="none" spc="-15" normalizeH="0" baseline="0" noProof="0" dirty="0">
                <a:ln>
                  <a:noFill/>
                </a:ln>
                <a:solidFill>
                  <a:srgbClr val="5284B0"/>
                </a:solidFill>
                <a:effectLst/>
                <a:uLnTx/>
                <a:uFillTx/>
                <a:latin typeface="Arial"/>
                <a:ea typeface="+mn-ea"/>
                <a:cs typeface="Arial"/>
              </a:rPr>
              <a:t>on</a:t>
            </a:r>
            <a:r>
              <a:rPr kumimoji="0" sz="1800" b="0" i="0" u="none" strike="noStrike" kern="1200" cap="none" spc="0" normalizeH="0" baseline="0" noProof="0" dirty="0">
                <a:ln>
                  <a:noFill/>
                </a:ln>
                <a:solidFill>
                  <a:srgbClr val="5284B0"/>
                </a:solidFill>
                <a:effectLst/>
                <a:uLnTx/>
                <a:uFillTx/>
                <a:latin typeface="Arial"/>
                <a:ea typeface="+mn-ea"/>
                <a:cs typeface="Arial"/>
              </a:rPr>
              <a:t>te</a:t>
            </a:r>
            <a:r>
              <a:rPr kumimoji="0" sz="1800" b="0" i="0" u="none" strike="noStrike" kern="1200" cap="none" spc="-15" normalizeH="0" baseline="0" noProof="0" dirty="0">
                <a:ln>
                  <a:noFill/>
                </a:ln>
                <a:solidFill>
                  <a:srgbClr val="5284B0"/>
                </a:solidFill>
                <a:effectLst/>
                <a:uLnTx/>
                <a:uFillTx/>
                <a:latin typeface="Arial"/>
                <a:ea typeface="+mn-ea"/>
                <a:cs typeface="Arial"/>
              </a:rPr>
              <a:t>n</a:t>
            </a:r>
            <a:r>
              <a:rPr kumimoji="0" sz="1800" b="0" i="0" u="none" strike="noStrike" kern="1200" cap="none" spc="0" normalizeH="0" baseline="0" noProof="0" dirty="0">
                <a:ln>
                  <a:noFill/>
                </a:ln>
                <a:solidFill>
                  <a:srgbClr val="5284B0"/>
                </a:solidFill>
                <a:effectLst/>
                <a:uLnTx/>
                <a:uFillTx/>
                <a:latin typeface="Arial"/>
                <a:ea typeface="+mn-ea"/>
                <a:cs typeface="Arial"/>
              </a:rPr>
              <a:t>t</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5" normalizeH="0" baseline="0" noProof="0" dirty="0">
                <a:ln>
                  <a:noFill/>
                </a:ln>
                <a:solidFill>
                  <a:srgbClr val="5284B0"/>
                </a:solidFill>
                <a:effectLst/>
                <a:uLnTx/>
                <a:uFillTx/>
                <a:latin typeface="Arial"/>
                <a:ea typeface="+mn-ea"/>
                <a:cs typeface="Arial"/>
              </a:rPr>
              <a:t>d</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5" normalizeH="0" baseline="0" noProof="0" dirty="0">
                <a:ln>
                  <a:noFill/>
                </a:ln>
                <a:solidFill>
                  <a:srgbClr val="5284B0"/>
                </a:solidFill>
                <a:effectLst/>
                <a:uLnTx/>
                <a:uFillTx/>
                <a:latin typeface="Arial"/>
                <a:ea typeface="+mn-ea"/>
                <a:cs typeface="Arial"/>
              </a:rPr>
              <a:t>p</a:t>
            </a:r>
            <a:r>
              <a:rPr kumimoji="0" sz="1800" b="0" i="0" u="none" strike="noStrike" kern="1200" cap="none" spc="0" normalizeH="0" baseline="0" noProof="0" dirty="0">
                <a:ln>
                  <a:noFill/>
                </a:ln>
                <a:solidFill>
                  <a:srgbClr val="5284B0"/>
                </a:solidFill>
                <a:effectLst/>
                <a:uLnTx/>
                <a:uFillTx/>
                <a:latin typeface="Arial"/>
                <a:ea typeface="+mn-ea"/>
                <a:cs typeface="Arial"/>
              </a:rPr>
              <a:t>te</a:t>
            </a:r>
            <a:r>
              <a:rPr kumimoji="0" sz="1800" b="0" i="0" u="none" strike="noStrike" kern="1200" cap="none" spc="-15" normalizeH="0" baseline="0" noProof="0" dirty="0">
                <a:ln>
                  <a:noFill/>
                </a:ln>
                <a:solidFill>
                  <a:srgbClr val="5284B0"/>
                </a:solidFill>
                <a:effectLst/>
                <a:uLnTx/>
                <a:uFillTx/>
                <a:latin typeface="Arial"/>
                <a:ea typeface="+mn-ea"/>
                <a:cs typeface="Arial"/>
              </a:rPr>
              <a:t>d</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fr</a:t>
            </a:r>
            <a:r>
              <a:rPr kumimoji="0" sz="1800" b="0" i="0" u="none" strike="noStrike" kern="1200" cap="none" spc="-15" normalizeH="0" baseline="0" noProof="0" dirty="0">
                <a:ln>
                  <a:noFill/>
                </a:ln>
                <a:solidFill>
                  <a:srgbClr val="5284B0"/>
                </a:solidFill>
                <a:effectLst/>
                <a:uLnTx/>
                <a:uFillTx/>
                <a:latin typeface="Arial"/>
                <a:ea typeface="+mn-ea"/>
                <a:cs typeface="Arial"/>
              </a:rPr>
              <a:t>o</a:t>
            </a:r>
            <a:r>
              <a:rPr kumimoji="0" sz="1800" b="0" i="0" u="none" strike="noStrike" kern="1200" cap="none" spc="0" normalizeH="0" baseline="0" noProof="0" dirty="0">
                <a:ln>
                  <a:noFill/>
                </a:ln>
                <a:solidFill>
                  <a:srgbClr val="5284B0"/>
                </a:solidFill>
                <a:effectLst/>
                <a:uLnTx/>
                <a:uFillTx/>
                <a:latin typeface="Arial"/>
                <a:ea typeface="+mn-ea"/>
                <a:cs typeface="Arial"/>
              </a:rPr>
              <a:t>m</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0" normalizeH="0" baseline="0" noProof="0" dirty="0">
                <a:ln>
                  <a:noFill/>
                </a:ln>
                <a:solidFill>
                  <a:srgbClr val="5284B0"/>
                </a:solidFill>
                <a:effectLst/>
                <a:uLnTx/>
                <a:uFillTx/>
                <a:latin typeface="Arial"/>
                <a:ea typeface="+mn-ea"/>
                <a:cs typeface="Arial"/>
              </a:rPr>
              <a:t>str</a:t>
            </a:r>
            <a:r>
              <a:rPr kumimoji="0" sz="1800" b="0" i="0" u="none" strike="noStrike" kern="1200" cap="none" spc="-15" normalizeH="0" baseline="0" noProof="0" dirty="0">
                <a:ln>
                  <a:noFill/>
                </a:ln>
                <a:solidFill>
                  <a:srgbClr val="5284B0"/>
                </a:solidFill>
                <a:effectLst/>
                <a:uLnTx/>
                <a:uFillTx/>
                <a:latin typeface="Arial"/>
                <a:ea typeface="+mn-ea"/>
                <a:cs typeface="Arial"/>
              </a:rPr>
              <a:t>u</a:t>
            </a:r>
            <a:r>
              <a:rPr kumimoji="0" sz="1800" b="0" i="0" u="none" strike="noStrike" kern="1200" cap="none" spc="0" normalizeH="0" baseline="0" noProof="0" dirty="0">
                <a:ln>
                  <a:noFill/>
                </a:ln>
                <a:solidFill>
                  <a:srgbClr val="5284B0"/>
                </a:solidFill>
                <a:effectLst/>
                <a:uLnTx/>
                <a:uFillTx/>
                <a:latin typeface="Arial"/>
                <a:ea typeface="+mn-ea"/>
                <a:cs typeface="Arial"/>
              </a:rPr>
              <a:t>c</a:t>
            </a:r>
            <a:r>
              <a:rPr kumimoji="0" sz="1800" b="0" i="0" u="none" strike="noStrike" kern="1200" cap="none" spc="-10" normalizeH="0" baseline="0" noProof="0" dirty="0">
                <a:ln>
                  <a:noFill/>
                </a:ln>
                <a:solidFill>
                  <a:srgbClr val="5284B0"/>
                </a:solidFill>
                <a:effectLst/>
                <a:uLnTx/>
                <a:uFillTx/>
                <a:latin typeface="Arial"/>
                <a:ea typeface="+mn-ea"/>
                <a:cs typeface="Arial"/>
              </a:rPr>
              <a:t>tion</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5" normalizeH="0" baseline="0" noProof="0" dirty="0">
                <a:ln>
                  <a:noFill/>
                </a:ln>
                <a:solidFill>
                  <a:srgbClr val="5284B0"/>
                </a:solidFill>
                <a:effectLst/>
                <a:uLnTx/>
                <a:uFillTx/>
                <a:latin typeface="Arial"/>
                <a:ea typeface="+mn-ea"/>
                <a:cs typeface="Arial"/>
              </a:rPr>
              <a:t>l </a:t>
            </a:r>
            <a:r>
              <a:rPr kumimoji="0" sz="1800" b="0" i="0" u="none" strike="noStrike" kern="1200" cap="none" spc="0" normalizeH="0" baseline="0" noProof="0" dirty="0">
                <a:ln>
                  <a:noFill/>
                </a:ln>
                <a:solidFill>
                  <a:srgbClr val="5284B0"/>
                </a:solidFill>
                <a:effectLst/>
                <a:uLnTx/>
                <a:uFillTx/>
                <a:latin typeface="Arial"/>
                <a:ea typeface="+mn-ea"/>
                <a:cs typeface="Arial"/>
              </a:rPr>
              <a:t>res</a:t>
            </a:r>
            <a:r>
              <a:rPr kumimoji="0" sz="1800" b="0" i="0" u="none" strike="noStrike" kern="1200" cap="none" spc="-15" normalizeH="0" baseline="0" noProof="0" dirty="0">
                <a:ln>
                  <a:noFill/>
                </a:ln>
                <a:solidFill>
                  <a:srgbClr val="5284B0"/>
                </a:solidFill>
                <a:effectLst/>
                <a:uLnTx/>
                <a:uFillTx/>
                <a:latin typeface="Arial"/>
                <a:ea typeface="+mn-ea"/>
                <a:cs typeface="Arial"/>
              </a:rPr>
              <a:t>ou</a:t>
            </a:r>
            <a:r>
              <a:rPr kumimoji="0" sz="1800" b="0" i="0" u="none" strike="noStrike" kern="1200" cap="none" spc="0" normalizeH="0" baseline="0" noProof="0" dirty="0">
                <a:ln>
                  <a:noFill/>
                </a:ln>
                <a:solidFill>
                  <a:srgbClr val="5284B0"/>
                </a:solidFill>
                <a:effectLst/>
                <a:uLnTx/>
                <a:uFillTx/>
                <a:latin typeface="Arial"/>
                <a:ea typeface="+mn-ea"/>
                <a:cs typeface="Arial"/>
              </a:rPr>
              <a:t>rces ma</a:t>
            </a:r>
            <a:r>
              <a:rPr kumimoji="0" sz="1800" b="0" i="0" u="none" strike="noStrike" kern="1200" cap="none" spc="-15" normalizeH="0" baseline="0" noProof="0" dirty="0">
                <a:ln>
                  <a:noFill/>
                </a:ln>
                <a:solidFill>
                  <a:srgbClr val="5284B0"/>
                </a:solidFill>
                <a:effectLst/>
                <a:uLnTx/>
                <a:uFillTx/>
                <a:latin typeface="Arial"/>
                <a:ea typeface="+mn-ea"/>
                <a:cs typeface="Arial"/>
              </a:rPr>
              <a:t>d</a:t>
            </a:r>
            <a:r>
              <a:rPr kumimoji="0" sz="1800" b="0" i="0" u="none" strike="noStrike" kern="1200" cap="none" spc="0" normalizeH="0" baseline="0" noProof="0" dirty="0">
                <a:ln>
                  <a:noFill/>
                </a:ln>
                <a:solidFill>
                  <a:srgbClr val="5284B0"/>
                </a:solidFill>
                <a:effectLst/>
                <a:uLnTx/>
                <a:uFillTx/>
                <a:latin typeface="Arial"/>
                <a:ea typeface="+mn-ea"/>
                <a:cs typeface="Arial"/>
              </a:rPr>
              <a:t>e</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ava</a:t>
            </a:r>
            <a:r>
              <a:rPr kumimoji="0" sz="1800" b="0" i="0" u="none" strike="noStrike" kern="1200" cap="none" spc="-5" normalizeH="0" baseline="0" noProof="0" dirty="0">
                <a:ln>
                  <a:noFill/>
                </a:ln>
                <a:solidFill>
                  <a:srgbClr val="5284B0"/>
                </a:solidFill>
                <a:effectLst/>
                <a:uLnTx/>
                <a:uFillTx/>
                <a:latin typeface="Arial"/>
                <a:ea typeface="+mn-ea"/>
                <a:cs typeface="Arial"/>
              </a:rPr>
              <a:t>il</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0" normalizeH="0" baseline="0" noProof="0" dirty="0">
                <a:ln>
                  <a:noFill/>
                </a:ln>
                <a:solidFill>
                  <a:srgbClr val="5284B0"/>
                </a:solidFill>
                <a:effectLst/>
                <a:uLnTx/>
                <a:uFillTx/>
                <a:latin typeface="Arial"/>
                <a:ea typeface="+mn-ea"/>
                <a:cs typeface="Arial"/>
              </a:rPr>
              <a:t>bl</a:t>
            </a:r>
            <a:r>
              <a:rPr kumimoji="0" sz="1800" b="0" i="0" u="none" strike="noStrike" kern="1200" cap="none" spc="0" normalizeH="0" baseline="0" noProof="0" dirty="0">
                <a:ln>
                  <a:noFill/>
                </a:ln>
                <a:solidFill>
                  <a:srgbClr val="5284B0"/>
                </a:solidFill>
                <a:effectLst/>
                <a:uLnTx/>
                <a:uFillTx/>
                <a:latin typeface="Arial"/>
                <a:ea typeface="+mn-ea"/>
                <a:cs typeface="Arial"/>
              </a:rPr>
              <a:t>e</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b</a:t>
            </a:r>
            <a:r>
              <a:rPr kumimoji="0" sz="1800" b="0" i="0" u="none" strike="noStrike" kern="1200" cap="none" spc="0" normalizeH="0" baseline="0" noProof="0" dirty="0">
                <a:ln>
                  <a:noFill/>
                </a:ln>
                <a:solidFill>
                  <a:srgbClr val="5284B0"/>
                </a:solidFill>
                <a:effectLst/>
                <a:uLnTx/>
                <a:uFillTx/>
                <a:latin typeface="Arial"/>
                <a:ea typeface="+mn-ea"/>
                <a:cs typeface="Arial"/>
              </a:rPr>
              <a:t>y</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0" normalizeH="0" baseline="0" noProof="0" dirty="0">
                <a:ln>
                  <a:noFill/>
                </a:ln>
                <a:solidFill>
                  <a:srgbClr val="5284B0"/>
                </a:solidFill>
                <a:effectLst/>
                <a:uLnTx/>
                <a:uFillTx/>
                <a:latin typeface="Arial"/>
                <a:ea typeface="+mn-ea"/>
                <a:cs typeface="Arial"/>
              </a:rPr>
              <a:t>th</a:t>
            </a:r>
            <a:r>
              <a:rPr kumimoji="0" sz="1800" b="0" i="0" u="none" strike="noStrike" kern="1200" cap="none" spc="0" normalizeH="0" baseline="0" noProof="0" dirty="0">
                <a:ln>
                  <a:noFill/>
                </a:ln>
                <a:solidFill>
                  <a:srgbClr val="5284B0"/>
                </a:solidFill>
                <a:effectLst/>
                <a:uLnTx/>
                <a:uFillTx/>
                <a:latin typeface="Arial"/>
                <a:ea typeface="+mn-ea"/>
                <a:cs typeface="Arial"/>
              </a:rPr>
              <a:t>e</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0" normalizeH="0" baseline="0" noProof="0" dirty="0">
                <a:ln>
                  <a:noFill/>
                </a:ln>
                <a:solidFill>
                  <a:srgbClr val="5284B0"/>
                </a:solidFill>
                <a:effectLst/>
                <a:uLnTx/>
                <a:uFillTx/>
                <a:latin typeface="Arial"/>
                <a:ea typeface="+mn-ea"/>
                <a:cs typeface="Arial"/>
              </a:rPr>
              <a:t>utho</a:t>
            </a:r>
            <a:r>
              <a:rPr kumimoji="0" sz="1800" b="0" i="0" u="none" strike="noStrike" kern="1200" cap="none" spc="0" normalizeH="0" baseline="0" noProof="0" dirty="0">
                <a:ln>
                  <a:noFill/>
                </a:ln>
                <a:solidFill>
                  <a:srgbClr val="5284B0"/>
                </a:solidFill>
                <a:effectLst/>
                <a:uLnTx/>
                <a:uFillTx/>
                <a:latin typeface="Arial"/>
                <a:ea typeface="+mn-ea"/>
                <a:cs typeface="Arial"/>
              </a:rPr>
              <a:t>rs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o</a:t>
            </a:r>
            <a:r>
              <a:rPr kumimoji="0" sz="1800" b="0" i="0" u="none" strike="noStrike" kern="1200" cap="none" spc="0" normalizeH="0" baseline="0" noProof="0" dirty="0">
                <a:ln>
                  <a:noFill/>
                </a:ln>
                <a:solidFill>
                  <a:srgbClr val="5284B0"/>
                </a:solidFill>
                <a:effectLst/>
                <a:uLnTx/>
                <a:uFillTx/>
                <a:latin typeface="Arial"/>
                <a:ea typeface="+mn-ea"/>
                <a:cs typeface="Arial"/>
              </a:rPr>
              <a:t>f</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ou</a:t>
            </a:r>
            <a:r>
              <a:rPr kumimoji="0" sz="1800" b="0" i="0" u="none" strike="noStrike" kern="1200" cap="none" spc="0" normalizeH="0" baseline="0" noProof="0" dirty="0">
                <a:ln>
                  <a:noFill/>
                </a:ln>
                <a:solidFill>
                  <a:srgbClr val="5284B0"/>
                </a:solidFill>
                <a:effectLst/>
                <a:uLnTx/>
                <a:uFillTx/>
                <a:latin typeface="Arial"/>
                <a:ea typeface="+mn-ea"/>
                <a:cs typeface="Arial"/>
              </a:rPr>
              <a:t>r</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ma</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tex</a:t>
            </a:r>
            <a:r>
              <a:rPr kumimoji="0" sz="1800" b="0" i="0" u="none" strike="noStrike" kern="1200" cap="none" spc="-10" normalizeH="0" baseline="0" noProof="0" dirty="0">
                <a:ln>
                  <a:noFill/>
                </a:ln>
                <a:solidFill>
                  <a:srgbClr val="5284B0"/>
                </a:solidFill>
                <a:effectLst/>
                <a:uLnTx/>
                <a:uFillTx/>
                <a:latin typeface="Arial"/>
                <a:ea typeface="+mn-ea"/>
                <a:cs typeface="Arial"/>
              </a:rPr>
              <a:t>tboo</a:t>
            </a:r>
            <a:r>
              <a:rPr kumimoji="0" sz="1800" b="0" i="0" u="none" strike="noStrike" kern="1200" cap="none" spc="0" normalizeH="0" baseline="0" noProof="0" dirty="0">
                <a:ln>
                  <a:noFill/>
                </a:ln>
                <a:solidFill>
                  <a:srgbClr val="5284B0"/>
                </a:solidFill>
                <a:effectLst/>
                <a:uLnTx/>
                <a:uFillTx/>
                <a:latin typeface="Arial"/>
                <a:ea typeface="+mn-ea"/>
                <a:cs typeface="Arial"/>
              </a:rPr>
              <a:t>k</a:t>
            </a:r>
            <a:r>
              <a:rPr kumimoji="0" lang="en-US" sz="1800" b="0" i="0" u="none" strike="noStrike" kern="1200" cap="none" spc="0" normalizeH="0" baseline="0" noProof="0" dirty="0">
                <a:ln>
                  <a:noFill/>
                </a:ln>
                <a:solidFill>
                  <a:srgbClr val="5284B0"/>
                </a:solidFill>
                <a:effectLst/>
                <a:uLnTx/>
                <a:uFillTx/>
                <a:latin typeface="Arial"/>
                <a:ea typeface="+mn-ea"/>
                <a:cs typeface="Arial"/>
              </a:rPr>
              <a:t>, </a:t>
            </a:r>
            <a:r>
              <a:rPr kumimoji="0" lang="en-US" sz="1800" b="1" i="0" u="none" strike="noStrike" kern="1200" cap="none" spc="0" normalizeH="0" baseline="0" noProof="0" dirty="0">
                <a:ln>
                  <a:noFill/>
                </a:ln>
                <a:solidFill>
                  <a:srgbClr val="5284B0"/>
                </a:solidFill>
                <a:effectLst/>
                <a:uLnTx/>
                <a:uFillTx/>
                <a:latin typeface="Arial"/>
                <a:ea typeface="+mn-ea"/>
                <a:cs typeface="Arial"/>
              </a:rPr>
              <a:t>Chapter 6</a:t>
            </a:r>
            <a:r>
              <a:rPr kumimoji="0" sz="1800" b="1"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0" normalizeH="0" baseline="0" noProof="0" dirty="0">
                <a:ln>
                  <a:noFill/>
                </a:ln>
                <a:solidFill>
                  <a:srgbClr val="5284B0"/>
                </a:solidFill>
                <a:effectLst/>
                <a:uLnTx/>
                <a:uFillTx/>
                <a:latin typeface="Arial"/>
                <a:ea typeface="+mn-ea"/>
                <a:cs typeface="Arial"/>
              </a:rPr>
              <a:t>“</a:t>
            </a:r>
            <a:r>
              <a:rPr kumimoji="0" sz="1800" b="1" i="0" u="none" strike="noStrike" kern="1200" cap="none" spc="-10" normalizeH="0" baseline="0" noProof="0" dirty="0">
                <a:ln>
                  <a:noFill/>
                </a:ln>
                <a:solidFill>
                  <a:srgbClr val="5284B0"/>
                </a:solidFill>
                <a:effectLst/>
                <a:uLnTx/>
                <a:uFillTx/>
                <a:latin typeface="Arial"/>
                <a:ea typeface="+mn-ea"/>
                <a:cs typeface="Arial"/>
              </a:rPr>
              <a:t>Multi</a:t>
            </a:r>
            <a:r>
              <a:rPr kumimoji="0" sz="1800" b="1" i="0" u="none" strike="noStrike" kern="1200" cap="none" spc="0" normalizeH="0" baseline="0" noProof="0" dirty="0">
                <a:ln>
                  <a:noFill/>
                </a:ln>
                <a:solidFill>
                  <a:srgbClr val="5284B0"/>
                </a:solidFill>
                <a:effectLst/>
                <a:uLnTx/>
                <a:uFillTx/>
                <a:latin typeface="Arial"/>
                <a:ea typeface="+mn-ea"/>
                <a:cs typeface="Arial"/>
              </a:rPr>
              <a:t>a</a:t>
            </a:r>
            <a:r>
              <a:rPr kumimoji="0" sz="1800" b="1" i="0" u="none" strike="noStrike" kern="1200" cap="none" spc="-15" normalizeH="0" baseline="0" noProof="0" dirty="0">
                <a:ln>
                  <a:noFill/>
                </a:ln>
                <a:solidFill>
                  <a:srgbClr val="5284B0"/>
                </a:solidFill>
                <a:effectLst/>
                <a:uLnTx/>
                <a:uFillTx/>
                <a:latin typeface="Arial"/>
                <a:ea typeface="+mn-ea"/>
                <a:cs typeface="Arial"/>
              </a:rPr>
              <a:t>g</a:t>
            </a:r>
            <a:r>
              <a:rPr kumimoji="0" sz="1800" b="1" i="0" u="none" strike="noStrike" kern="1200" cap="none" spc="0" normalizeH="0" baseline="0" noProof="0" dirty="0">
                <a:ln>
                  <a:noFill/>
                </a:ln>
                <a:solidFill>
                  <a:srgbClr val="5284B0"/>
                </a:solidFill>
                <a:effectLst/>
                <a:uLnTx/>
                <a:uFillTx/>
                <a:latin typeface="Arial"/>
                <a:ea typeface="+mn-ea"/>
                <a:cs typeface="Arial"/>
              </a:rPr>
              <a:t>e</a:t>
            </a:r>
            <a:r>
              <a:rPr kumimoji="0" sz="1800" b="1" i="0" u="none" strike="noStrike" kern="1200" cap="none" spc="-15" normalizeH="0" baseline="0" noProof="0" dirty="0">
                <a:ln>
                  <a:noFill/>
                </a:ln>
                <a:solidFill>
                  <a:srgbClr val="5284B0"/>
                </a:solidFill>
                <a:effectLst/>
                <a:uLnTx/>
                <a:uFillTx/>
                <a:latin typeface="Arial"/>
                <a:ea typeface="+mn-ea"/>
                <a:cs typeface="Arial"/>
              </a:rPr>
              <a:t>n</a:t>
            </a:r>
            <a:r>
              <a:rPr kumimoji="0" sz="1800" b="1" i="0" u="none" strike="noStrike" kern="1200" cap="none" spc="0" normalizeH="0" baseline="0" noProof="0" dirty="0">
                <a:ln>
                  <a:noFill/>
                </a:ln>
                <a:solidFill>
                  <a:srgbClr val="5284B0"/>
                </a:solidFill>
                <a:effectLst/>
                <a:uLnTx/>
                <a:uFillTx/>
                <a:latin typeface="Arial"/>
                <a:ea typeface="+mn-ea"/>
                <a:cs typeface="Arial"/>
              </a:rPr>
              <a:t>t Systems</a:t>
            </a:r>
            <a:r>
              <a:rPr kumimoji="0" sz="1800" b="0" i="0" u="none" strike="noStrike" kern="1200" cap="none" spc="-10" normalizeH="0" baseline="0" noProof="0" dirty="0">
                <a:ln>
                  <a:noFill/>
                </a:ln>
                <a:solidFill>
                  <a:srgbClr val="5284B0"/>
                </a:solidFill>
                <a:effectLst/>
                <a:uLnTx/>
                <a:uFillTx/>
                <a:latin typeface="Arial"/>
                <a:ea typeface="+mn-ea"/>
                <a:cs typeface="Arial"/>
              </a:rPr>
              <a:t>”,</a:t>
            </a:r>
            <a:r>
              <a:rPr kumimoji="0" sz="1800" b="0" i="0" u="none" strike="noStrike" kern="1200" cap="none" spc="-35" normalizeH="0" baseline="0" noProof="0" dirty="0">
                <a:ln>
                  <a:noFill/>
                </a:ln>
                <a:solidFill>
                  <a:srgbClr val="5284B0"/>
                </a:solidFill>
                <a:effectLst/>
                <a:uLnTx/>
                <a:uFillTx/>
                <a:latin typeface="Arial"/>
                <a:ea typeface="+mn-ea"/>
                <a:cs typeface="Arial"/>
              </a:rPr>
              <a:t> </a:t>
            </a:r>
            <a:r>
              <a:rPr kumimoji="0" sz="1800" b="0" i="0" u="none" strike="noStrike" kern="1200" cap="none" spc="-150" normalizeH="0" baseline="0" noProof="0" dirty="0">
                <a:ln>
                  <a:noFill/>
                </a:ln>
                <a:solidFill>
                  <a:srgbClr val="5284B0"/>
                </a:solidFill>
                <a:effectLst/>
                <a:uLnTx/>
                <a:uFillTx/>
                <a:latin typeface="Arial"/>
                <a:ea typeface="+mn-ea"/>
                <a:cs typeface="Arial"/>
              </a:rPr>
              <a:t>Y</a:t>
            </a:r>
            <a:r>
              <a:rPr kumimoji="0" sz="1800" b="0" i="0" u="none" strike="noStrike" kern="1200" cap="none" spc="-15" normalizeH="0" baseline="0" noProof="0" dirty="0">
                <a:ln>
                  <a:noFill/>
                </a:ln>
                <a:solidFill>
                  <a:srgbClr val="5284B0"/>
                </a:solidFill>
                <a:effectLst/>
                <a:uLnTx/>
                <a:uFillTx/>
                <a:latin typeface="Arial"/>
                <a:ea typeface="+mn-ea"/>
                <a:cs typeface="Arial"/>
              </a:rPr>
              <a:t>o</a:t>
            </a:r>
            <a:r>
              <a:rPr kumimoji="0" sz="1800" b="0" i="0" u="none" strike="noStrike" kern="1200" cap="none" spc="0" normalizeH="0" baseline="0" noProof="0" dirty="0">
                <a:ln>
                  <a:noFill/>
                </a:ln>
                <a:solidFill>
                  <a:srgbClr val="5284B0"/>
                </a:solidFill>
                <a:effectLst/>
                <a:uLnTx/>
                <a:uFillTx/>
                <a:latin typeface="Arial"/>
                <a:ea typeface="+mn-ea"/>
                <a:cs typeface="Arial"/>
              </a:rPr>
              <a:t>av</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Shoh</a:t>
            </a:r>
            <a:r>
              <a:rPr kumimoji="0" sz="1800" b="0" i="0" u="none" strike="noStrike" kern="1200" cap="none" spc="0" normalizeH="0" baseline="0" noProof="0" dirty="0">
                <a:ln>
                  <a:noFill/>
                </a:ln>
                <a:solidFill>
                  <a:srgbClr val="5284B0"/>
                </a:solidFill>
                <a:effectLst/>
                <a:uLnTx/>
                <a:uFillTx/>
                <a:latin typeface="Arial"/>
                <a:ea typeface="+mn-ea"/>
                <a:cs typeface="Arial"/>
              </a:rPr>
              <a:t>am</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5" normalizeH="0" baseline="0" noProof="0" dirty="0">
                <a:ln>
                  <a:noFill/>
                </a:ln>
                <a:solidFill>
                  <a:srgbClr val="5284B0"/>
                </a:solidFill>
                <a:effectLst/>
                <a:uLnTx/>
                <a:uFillTx/>
                <a:latin typeface="Arial"/>
                <a:ea typeface="+mn-ea"/>
                <a:cs typeface="Arial"/>
              </a:rPr>
              <a:t>nd</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Kev</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L</a:t>
            </a:r>
            <a:r>
              <a:rPr kumimoji="0" sz="1800" b="0" i="0" u="none" strike="noStrike" kern="1200" cap="none" spc="0" normalizeH="0" baseline="0" noProof="0" dirty="0">
                <a:ln>
                  <a:noFill/>
                </a:ln>
                <a:solidFill>
                  <a:srgbClr val="5284B0"/>
                </a:solidFill>
                <a:effectLst/>
                <a:uLnTx/>
                <a:uFillTx/>
                <a:latin typeface="Arial"/>
                <a:ea typeface="+mn-ea"/>
                <a:cs typeface="Arial"/>
              </a:rPr>
              <a:t>ey</a:t>
            </a:r>
            <a:r>
              <a:rPr kumimoji="0" sz="1800" b="0" i="0" u="none" strike="noStrike" kern="1200" cap="none" spc="-10" normalizeH="0" baseline="0" noProof="0" dirty="0">
                <a:ln>
                  <a:noFill/>
                </a:ln>
                <a:solidFill>
                  <a:srgbClr val="5284B0"/>
                </a:solidFill>
                <a:effectLst/>
                <a:uLnTx/>
                <a:uFillTx/>
                <a:latin typeface="Arial"/>
                <a:ea typeface="+mn-ea"/>
                <a:cs typeface="Arial"/>
              </a:rPr>
              <a:t>ton</a:t>
            </a:r>
            <a:r>
              <a:rPr kumimoji="0" sz="1800" b="0" i="0" u="none" strike="noStrike" kern="1200" cap="none" spc="0" normalizeH="0" baseline="0" noProof="0" dirty="0">
                <a:ln>
                  <a:noFill/>
                </a:ln>
                <a:solidFill>
                  <a:srgbClr val="5284B0"/>
                </a:solidFill>
                <a:effectLst/>
                <a:uLnTx/>
                <a:uFillTx/>
                <a:latin typeface="Arial"/>
                <a:ea typeface="+mn-ea"/>
                <a:cs typeface="Arial"/>
              </a:rPr>
              <a:t>-Br</a:t>
            </a:r>
            <a:r>
              <a:rPr kumimoji="0" sz="1800" b="0" i="0" u="none" strike="noStrike" kern="1200" cap="none" spc="-15" normalizeH="0" baseline="0" noProof="0" dirty="0">
                <a:ln>
                  <a:noFill/>
                </a:ln>
                <a:solidFill>
                  <a:srgbClr val="5284B0"/>
                </a:solidFill>
                <a:effectLst/>
                <a:uLnTx/>
                <a:uFillTx/>
                <a:latin typeface="Arial"/>
                <a:ea typeface="+mn-ea"/>
                <a:cs typeface="Arial"/>
              </a:rPr>
              <a:t>own,</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Cam</a:t>
            </a:r>
            <a:r>
              <a:rPr kumimoji="0" sz="1800" b="0" i="0" u="none" strike="noStrike" kern="1200" cap="none" spc="-15" normalizeH="0" baseline="0" noProof="0" dirty="0">
                <a:ln>
                  <a:noFill/>
                </a:ln>
                <a:solidFill>
                  <a:srgbClr val="5284B0"/>
                </a:solidFill>
                <a:effectLst/>
                <a:uLnTx/>
                <a:uFillTx/>
                <a:latin typeface="Arial"/>
                <a:ea typeface="+mn-ea"/>
                <a:cs typeface="Arial"/>
              </a:rPr>
              <a:t>b</a:t>
            </a:r>
            <a:r>
              <a:rPr kumimoji="0" sz="1800" b="0" i="0" u="none" strike="noStrike" kern="1200" cap="none" spc="0" normalizeH="0" baseline="0" noProof="0" dirty="0">
                <a:ln>
                  <a:noFill/>
                </a:ln>
                <a:solidFill>
                  <a:srgbClr val="5284B0"/>
                </a:solidFill>
                <a:effectLst/>
                <a:uLnTx/>
                <a:uFillTx/>
                <a:latin typeface="Arial"/>
                <a:ea typeface="+mn-ea"/>
                <a:cs typeface="Arial"/>
              </a:rPr>
              <a:t>r</a:t>
            </a:r>
            <a:r>
              <a:rPr kumimoji="0" sz="1800" b="0" i="0" u="none" strike="noStrike" kern="1200" cap="none" spc="-10" normalizeH="0" baseline="0" noProof="0" dirty="0">
                <a:ln>
                  <a:noFill/>
                </a:ln>
                <a:solidFill>
                  <a:srgbClr val="5284B0"/>
                </a:solidFill>
                <a:effectLst/>
                <a:uLnTx/>
                <a:uFillTx/>
                <a:latin typeface="Arial"/>
                <a:ea typeface="+mn-ea"/>
                <a:cs typeface="Arial"/>
              </a:rPr>
              <a:t>idg</a:t>
            </a:r>
            <a:r>
              <a:rPr kumimoji="0" sz="1800" b="0" i="0" u="none" strike="noStrike" kern="1200" cap="none" spc="0" normalizeH="0" baseline="0" noProof="0" dirty="0">
                <a:ln>
                  <a:noFill/>
                </a:ln>
                <a:solidFill>
                  <a:srgbClr val="5284B0"/>
                </a:solidFill>
                <a:effectLst/>
                <a:uLnTx/>
                <a:uFillTx/>
                <a:latin typeface="Arial"/>
                <a:ea typeface="+mn-ea"/>
                <a:cs typeface="Arial"/>
              </a:rPr>
              <a:t>e U</a:t>
            </a:r>
            <a:r>
              <a:rPr kumimoji="0" sz="1800" b="0" i="0" u="none" strike="noStrike" kern="1200" cap="none" spc="-10" normalizeH="0" baseline="0" noProof="0" dirty="0">
                <a:ln>
                  <a:noFill/>
                </a:ln>
                <a:solidFill>
                  <a:srgbClr val="5284B0"/>
                </a:solidFill>
                <a:effectLst/>
                <a:uLnTx/>
                <a:uFillTx/>
                <a:latin typeface="Arial"/>
                <a:ea typeface="+mn-ea"/>
                <a:cs typeface="Arial"/>
              </a:rPr>
              <a:t>ni</a:t>
            </a:r>
            <a:r>
              <a:rPr kumimoji="0" sz="1800" b="0" i="0" u="none" strike="noStrike" kern="1200" cap="none" spc="0" normalizeH="0" baseline="0" noProof="0" dirty="0">
                <a:ln>
                  <a:noFill/>
                </a:ln>
                <a:solidFill>
                  <a:srgbClr val="5284B0"/>
                </a:solidFill>
                <a:effectLst/>
                <a:uLnTx/>
                <a:uFillTx/>
                <a:latin typeface="Arial"/>
                <a:ea typeface="+mn-ea"/>
                <a:cs typeface="Arial"/>
              </a:rPr>
              <a:t>vers</a:t>
            </a:r>
            <a:r>
              <a:rPr kumimoji="0" sz="1800" b="0" i="0" u="none" strike="noStrike" kern="1200" cap="none" spc="-5" normalizeH="0" baseline="0" noProof="0" dirty="0">
                <a:ln>
                  <a:noFill/>
                </a:ln>
                <a:solidFill>
                  <a:srgbClr val="5284B0"/>
                </a:solidFill>
                <a:effectLst/>
                <a:uLnTx/>
                <a:uFillTx/>
                <a:latin typeface="Arial"/>
                <a:ea typeface="+mn-ea"/>
                <a:cs typeface="Arial"/>
              </a:rPr>
              <a:t>i</a:t>
            </a:r>
            <a:r>
              <a:rPr kumimoji="0" sz="1800" b="0" i="0" u="none" strike="noStrike" kern="1200" cap="none" spc="0" normalizeH="0" baseline="0" noProof="0" dirty="0">
                <a:ln>
                  <a:noFill/>
                </a:ln>
                <a:solidFill>
                  <a:srgbClr val="5284B0"/>
                </a:solidFill>
                <a:effectLst/>
                <a:uLnTx/>
                <a:uFillTx/>
                <a:latin typeface="Arial"/>
                <a:ea typeface="+mn-ea"/>
                <a:cs typeface="Arial"/>
              </a:rPr>
              <a:t>ty</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Press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2009</a:t>
            </a:r>
            <a:r>
              <a:rPr kumimoji="0" sz="1800" b="0" i="0" u="none" strike="noStrike" kern="1200" cap="none" spc="-5" normalizeH="0" baseline="0" noProof="0" dirty="0">
                <a:ln>
                  <a:noFill/>
                </a:ln>
                <a:solidFill>
                  <a:srgbClr val="5284B0"/>
                </a:solidFill>
                <a:effectLst/>
                <a:uLnTx/>
                <a:uFillTx/>
                <a:latin typeface="Arial"/>
                <a:ea typeface="+mn-ea"/>
                <a:cs typeface="Arial"/>
              </a:rPr>
              <a:t>.</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5" name="object 5"/>
          <p:cNvSpPr txBox="1"/>
          <p:nvPr/>
        </p:nvSpPr>
        <p:spPr>
          <a:xfrm>
            <a:off x="535940" y="725383"/>
            <a:ext cx="3549650" cy="431800"/>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3200" b="0" i="0" u="none" strike="noStrike" kern="1200" cap="none" spc="0" normalizeH="0" baseline="0" noProof="0" dirty="0">
                <a:ln>
                  <a:noFill/>
                </a:ln>
                <a:solidFill>
                  <a:prstClr val="black"/>
                </a:solidFill>
                <a:effectLst/>
                <a:uLnTx/>
                <a:uFillTx/>
                <a:latin typeface="Arial"/>
                <a:ea typeface="+mn-ea"/>
                <a:cs typeface="Arial"/>
              </a:rPr>
              <a:t>Acknowledgemen</a:t>
            </a:r>
            <a:r>
              <a:rPr kumimoji="0" sz="3200" b="0" i="0" u="none" strike="noStrike" kern="1200" cap="none" spc="-15" normalizeH="0" baseline="0" noProof="0" dirty="0">
                <a:ln>
                  <a:noFill/>
                </a:ln>
                <a:solidFill>
                  <a:prstClr val="black"/>
                </a:solidFill>
                <a:effectLst/>
                <a:uLnTx/>
                <a:uFillTx/>
                <a:latin typeface="Arial"/>
                <a:ea typeface="+mn-ea"/>
                <a:cs typeface="Arial"/>
              </a:rPr>
              <a:t>t</a:t>
            </a:r>
            <a:r>
              <a:rPr kumimoji="0" sz="3200" b="0" i="0" u="none" strike="noStrike" kern="1200" cap="none" spc="0" normalizeH="0" baseline="0" noProof="0" dirty="0">
                <a:ln>
                  <a:noFill/>
                </a:ln>
                <a:solidFill>
                  <a:prstClr val="black"/>
                </a:solidFill>
                <a:effectLst/>
                <a:uLnTx/>
                <a:uFillTx/>
                <a:latin typeface="Arial"/>
                <a:ea typeface="+mn-ea"/>
                <a:cs typeface="Arial"/>
              </a:rPr>
              <a:t>s</a:t>
            </a:r>
            <a:endParaRPr kumimoji="0" sz="3200" b="0" i="0" u="none" strike="noStrike" kern="1200" cap="none" spc="0" normalizeH="0" baseline="0" noProof="0">
              <a:ln>
                <a:noFill/>
              </a:ln>
              <a:solidFill>
                <a:prstClr val="black"/>
              </a:solidFill>
              <a:effectLst/>
              <a:uLnTx/>
              <a:uFillTx/>
              <a:latin typeface="Arial"/>
              <a:ea typeface="+mn-ea"/>
              <a:cs typeface="Arial"/>
            </a:endParaRPr>
          </a:p>
        </p:txBody>
      </p:sp>
      <p:sp>
        <p:nvSpPr>
          <p:cNvPr id="9" name="Slide Number Placeholder 8">
            <a:extLst>
              <a:ext uri="{FF2B5EF4-FFF2-40B4-BE49-F238E27FC236}">
                <a16:creationId xmlns:a16="http://schemas.microsoft.com/office/drawing/2014/main" id="{13617EE7-C6BC-3C8B-35E3-145B65A9492A}"/>
              </a:ext>
            </a:extLst>
          </p:cNvPr>
          <p:cNvSpPr>
            <a:spLocks noGrp="1"/>
          </p:cNvSpPr>
          <p:nvPr>
            <p:ph type="sldNum" sz="quarter"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2000" b="0" i="0" u="none" strike="noStrike" kern="1200" cap="none" spc="0" normalizeH="0" baseline="0" noProof="0" smtClean="0">
                <a:ln>
                  <a:noFill/>
                </a:ln>
                <a:solidFill>
                  <a:prstClr val="black"/>
                </a:solidFill>
                <a:effectLst/>
                <a:uLnTx/>
                <a:uFillTx/>
                <a:latin typeface="Comic Sans MS"/>
                <a:sym typeface="Comic Sans MS"/>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en-US" sz="2000" b="0" i="0" u="none" strike="noStrike" kern="1200" cap="none" spc="0" normalizeH="0" baseline="0" noProof="0" dirty="0">
                <a:ln>
                  <a:noFill/>
                </a:ln>
                <a:solidFill>
                  <a:prstClr val="black"/>
                </a:solidFill>
                <a:effectLst/>
                <a:uLnTx/>
                <a:uFillTx/>
                <a:latin typeface="Comic Sans MS"/>
                <a:sym typeface="Comic Sans MS"/>
              </a:rPr>
              <a:t>/60</a:t>
            </a:r>
          </a:p>
        </p:txBody>
      </p:sp>
      <p:sp>
        <p:nvSpPr>
          <p:cNvPr id="10" name="Footer Placeholder 9">
            <a:extLst>
              <a:ext uri="{FF2B5EF4-FFF2-40B4-BE49-F238E27FC236}">
                <a16:creationId xmlns:a16="http://schemas.microsoft.com/office/drawing/2014/main" id="{7D9F23A6-C995-02F4-A1A6-BFF65C2810B6}"/>
              </a:ext>
            </a:extLst>
          </p:cNvPr>
          <p:cNvSpPr>
            <a:spLocks noGrp="1"/>
          </p:cNvSpPr>
          <p:nvPr>
            <p:ph type="ftr" sz="quarter" idx="5"/>
          </p:nvPr>
        </p:nvSpPr>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Week-8</a:t>
            </a:r>
          </a:p>
        </p:txBody>
      </p:sp>
      <p:sp>
        <p:nvSpPr>
          <p:cNvPr id="11" name="Rectangle 10">
            <a:extLst>
              <a:ext uri="{FF2B5EF4-FFF2-40B4-BE49-F238E27FC236}">
                <a16:creationId xmlns:a16="http://schemas.microsoft.com/office/drawing/2014/main" id="{A33BF24D-1BE7-FE65-5184-22448087A85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1A7ED37A-BF91-3AD3-1550-10F15F1A77F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7CC43A6D-4276-8CFA-C140-36108F4BE9A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889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txBox="1"/>
          <p:nvPr/>
        </p:nvSpPr>
        <p:spPr>
          <a:xfrm>
            <a:off x="535940" y="725383"/>
            <a:ext cx="3549650" cy="492443"/>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a:ea typeface="+mn-ea"/>
                <a:cs typeface="Arial"/>
              </a:rPr>
              <a:t>Quiz – Week 9</a:t>
            </a:r>
            <a:endParaRPr kumimoji="0" sz="3200" b="0" i="0" u="none" strike="noStrike" kern="1200" cap="none" spc="0" normalizeH="0" baseline="0" noProof="0" dirty="0">
              <a:ln>
                <a:noFill/>
              </a:ln>
              <a:solidFill>
                <a:prstClr val="black"/>
              </a:solidFill>
              <a:effectLst/>
              <a:uLnTx/>
              <a:uFillTx/>
              <a:latin typeface="Arial"/>
              <a:ea typeface="+mn-ea"/>
              <a:cs typeface="Arial"/>
            </a:endParaRPr>
          </a:p>
        </p:txBody>
      </p:sp>
      <p:sp>
        <p:nvSpPr>
          <p:cNvPr id="9" name="Slide Number Placeholder 8">
            <a:extLst>
              <a:ext uri="{FF2B5EF4-FFF2-40B4-BE49-F238E27FC236}">
                <a16:creationId xmlns:a16="http://schemas.microsoft.com/office/drawing/2014/main" id="{13617EE7-C6BC-3C8B-35E3-145B65A9492A}"/>
              </a:ext>
            </a:extLst>
          </p:cNvPr>
          <p:cNvSpPr>
            <a:spLocks noGrp="1"/>
          </p:cNvSpPr>
          <p:nvPr>
            <p:ph type="sldNum" sz="quarter"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2000" b="0" i="0" u="none" strike="noStrike" kern="1200" cap="none" spc="0" normalizeH="0" baseline="0" noProof="0" smtClean="0">
                <a:ln>
                  <a:noFill/>
                </a:ln>
                <a:solidFill>
                  <a:prstClr val="black"/>
                </a:solidFill>
                <a:effectLst/>
                <a:uLnTx/>
                <a:uFillTx/>
                <a:latin typeface="Comic Sans MS"/>
                <a:sym typeface="Comic Sans MS"/>
              </a:rPr>
              <a:pPr marL="0" marR="0" lvl="0" indent="0" algn="l" defTabSz="914400" rtl="0" eaLnBrk="1" fontAlgn="auto" latinLnBrk="0" hangingPunct="1">
                <a:lnSpc>
                  <a:spcPct val="100000"/>
                </a:lnSpc>
                <a:spcBef>
                  <a:spcPts val="0"/>
                </a:spcBef>
                <a:spcAft>
                  <a:spcPts val="0"/>
                </a:spcAft>
                <a:buClrTx/>
                <a:buSzTx/>
                <a:buFontTx/>
                <a:buNone/>
                <a:tabLst/>
                <a:defRPr/>
              </a:pPr>
              <a:t>3</a:t>
            </a:fld>
            <a:r>
              <a:rPr kumimoji="0" lang="en-US" sz="2000" b="0" i="0" u="none" strike="noStrike" kern="1200" cap="none" spc="0" normalizeH="0" baseline="0" noProof="0" dirty="0">
                <a:ln>
                  <a:noFill/>
                </a:ln>
                <a:solidFill>
                  <a:prstClr val="black"/>
                </a:solidFill>
                <a:effectLst/>
                <a:uLnTx/>
                <a:uFillTx/>
                <a:latin typeface="Comic Sans MS"/>
                <a:sym typeface="Comic Sans MS"/>
              </a:rPr>
              <a:t>/60</a:t>
            </a:r>
          </a:p>
        </p:txBody>
      </p:sp>
      <p:sp>
        <p:nvSpPr>
          <p:cNvPr id="10" name="Footer Placeholder 9">
            <a:extLst>
              <a:ext uri="{FF2B5EF4-FFF2-40B4-BE49-F238E27FC236}">
                <a16:creationId xmlns:a16="http://schemas.microsoft.com/office/drawing/2014/main" id="{7D9F23A6-C995-02F4-A1A6-BFF65C2810B6}"/>
              </a:ext>
            </a:extLst>
          </p:cNvPr>
          <p:cNvSpPr>
            <a:spLocks noGrp="1"/>
          </p:cNvSpPr>
          <p:nvPr>
            <p:ph type="ftr" sz="quarter" idx="5"/>
          </p:nvPr>
        </p:nvSpPr>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Week-8</a:t>
            </a:r>
          </a:p>
        </p:txBody>
      </p:sp>
      <p:sp>
        <p:nvSpPr>
          <p:cNvPr id="11" name="Rectangle 10">
            <a:extLst>
              <a:ext uri="{FF2B5EF4-FFF2-40B4-BE49-F238E27FC236}">
                <a16:creationId xmlns:a16="http://schemas.microsoft.com/office/drawing/2014/main" id="{A33BF24D-1BE7-FE65-5184-22448087A85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1A7ED37A-BF91-3AD3-1550-10F15F1A77F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7CC43A6D-4276-8CFA-C140-36108F4BE9A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F971E4F3-59B4-7C4F-518B-D93B26CF82D4}"/>
              </a:ext>
            </a:extLst>
          </p:cNvPr>
          <p:cNvSpPr txBox="1"/>
          <p:nvPr/>
        </p:nvSpPr>
        <p:spPr>
          <a:xfrm>
            <a:off x="228600" y="1371600"/>
            <a:ext cx="8153400" cy="46782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60 minutes duration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in your normal lab - be one time, no late admissions !!!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closed book + calculator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On Moodle: bring a laptop (and a calculator)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any computer use other than for Moodle will lead to immediate disqualification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All material up to Week 8 (but excluding Week 2)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Multiple choice and numeric answers: state all results with 2 digits of precision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(executing code, calculating properties and results)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lab exercises are a pretty good guide!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Marking will be fully automatic, 1 point per correct answer. </a:t>
            </a:r>
          </a:p>
          <a:p>
            <a:pPr marL="285750" indent="-285750">
              <a:spcBef>
                <a:spcPts val="1200"/>
              </a:spcBef>
              <a:buSzPct val="140000"/>
              <a:buFont typeface="Arial" panose="020B0604020202020204" pitchFamily="34" charset="0"/>
              <a:buChar char="•"/>
            </a:pPr>
            <a:r>
              <a:rPr lang="en-US" sz="1800" i="0" u="none" strike="noStrike" baseline="0" dirty="0">
                <a:solidFill>
                  <a:srgbClr val="000000"/>
                </a:solidFill>
                <a:latin typeface="AAAAAG+Times-Bold"/>
              </a:rPr>
              <a:t>use SLB and “Essentials of Game Theory” </a:t>
            </a:r>
            <a:endParaRPr lang="en-MY" dirty="0"/>
          </a:p>
        </p:txBody>
      </p:sp>
    </p:spTree>
    <p:extLst>
      <p:ext uri="{BB962C8B-B14F-4D97-AF65-F5344CB8AC3E}">
        <p14:creationId xmlns:p14="http://schemas.microsoft.com/office/powerpoint/2010/main" val="3999335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Example</a:t>
            </a:r>
            <a:r>
              <a:rPr spc="-10" dirty="0"/>
              <a:t>:</a:t>
            </a:r>
            <a:r>
              <a:rPr spc="-5" dirty="0"/>
              <a:t> </a:t>
            </a:r>
            <a:r>
              <a:rPr dirty="0"/>
              <a:t>Sel</a:t>
            </a:r>
            <a:r>
              <a:rPr spc="-15" dirty="0"/>
              <a:t>f</a:t>
            </a:r>
            <a:r>
              <a:rPr dirty="0"/>
              <a:t>ish</a:t>
            </a:r>
            <a:r>
              <a:rPr spc="-5" dirty="0"/>
              <a:t> </a:t>
            </a:r>
            <a:r>
              <a:rPr dirty="0"/>
              <a:t>Rou</a:t>
            </a:r>
            <a:r>
              <a:rPr spc="-15" dirty="0"/>
              <a:t>t</a:t>
            </a:r>
            <a:r>
              <a:rPr dirty="0"/>
              <a:t>ing</a:t>
            </a:r>
          </a:p>
        </p:txBody>
      </p:sp>
      <p:sp>
        <p:nvSpPr>
          <p:cNvPr id="6" name="object 6"/>
          <p:cNvSpPr txBox="1"/>
          <p:nvPr/>
        </p:nvSpPr>
        <p:spPr>
          <a:xfrm>
            <a:off x="784652" y="5029147"/>
            <a:ext cx="1332865" cy="381000"/>
          </a:xfrm>
          <a:prstGeom prst="rect">
            <a:avLst/>
          </a:prstGeom>
        </p:spPr>
        <p:txBody>
          <a:bodyPr vert="horz" wrap="square" lIns="0" tIns="0" rIns="0" bIns="0" rtlCol="0">
            <a:spAutoFit/>
          </a:bodyPr>
          <a:lstStyle/>
          <a:p>
            <a:pPr marL="12700">
              <a:lnSpc>
                <a:spcPct val="100000"/>
              </a:lnSpc>
            </a:pPr>
            <a:r>
              <a:rPr sz="2800" spc="-15" dirty="0">
                <a:latin typeface="Gill Sans MT"/>
                <a:cs typeface="Gill Sans MT"/>
              </a:rPr>
              <a:t>Nash=???</a:t>
            </a:r>
            <a:endParaRPr sz="2800">
              <a:latin typeface="Gill Sans MT"/>
              <a:cs typeface="Gill Sans MT"/>
            </a:endParaRPr>
          </a:p>
        </p:txBody>
      </p:sp>
      <p:sp>
        <p:nvSpPr>
          <p:cNvPr id="7" name="object 7"/>
          <p:cNvSpPr/>
          <p:nvPr/>
        </p:nvSpPr>
        <p:spPr>
          <a:xfrm>
            <a:off x="3302152" y="1618785"/>
            <a:ext cx="5233680" cy="351803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58957" y="1618785"/>
            <a:ext cx="2183723" cy="2231344"/>
          </a:xfrm>
          <a:prstGeom prst="rect">
            <a:avLst/>
          </a:prstGeom>
          <a:blipFill>
            <a:blip r:embed="rId4" cstate="print"/>
            <a:stretch>
              <a:fillRect/>
            </a:stretch>
          </a:blipFill>
        </p:spPr>
        <p:txBody>
          <a:bodyPr wrap="square" lIns="0" tIns="0" rIns="0" bIns="0" rtlCol="0"/>
          <a:lstStyle/>
          <a:p>
            <a:endParaRPr/>
          </a:p>
        </p:txBody>
      </p:sp>
      <p:sp>
        <p:nvSpPr>
          <p:cNvPr id="10" name="TextBox 9">
            <a:extLst>
              <a:ext uri="{FF2B5EF4-FFF2-40B4-BE49-F238E27FC236}">
                <a16:creationId xmlns:a16="http://schemas.microsoft.com/office/drawing/2014/main" id="{D6459A3B-1512-C172-A448-7D7D743F5FBC}"/>
              </a:ext>
            </a:extLst>
          </p:cNvPr>
          <p:cNvSpPr txBox="1"/>
          <p:nvPr/>
        </p:nvSpPr>
        <p:spPr>
          <a:xfrm>
            <a:off x="5486400" y="5715000"/>
            <a:ext cx="2841972" cy="261610"/>
          </a:xfrm>
          <a:prstGeom prst="rect">
            <a:avLst/>
          </a:prstGeom>
          <a:noFill/>
        </p:spPr>
        <p:txBody>
          <a:bodyPr wrap="square">
            <a:spAutoFit/>
          </a:bodyPr>
          <a:lstStyle/>
          <a:p>
            <a:pPr marL="12700">
              <a:lnSpc>
                <a:spcPct val="100000"/>
              </a:lnSpc>
            </a:pPr>
            <a:r>
              <a:rPr lang="en-US" sz="1100" spc="-5"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https://en.w</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ikipedia.o</a:t>
            </a:r>
            <a:r>
              <a:rPr lang="en-US" sz="1100" spc="-3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r</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g/</a:t>
            </a:r>
            <a:r>
              <a:rPr lang="en-US" sz="110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w</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iki/Conge</a:t>
            </a:r>
            <a:r>
              <a:rPr lang="en-US" sz="110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s</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tion_game</a:t>
            </a:r>
            <a:endParaRPr lang="en-US" sz="1100" dirty="0">
              <a:solidFill>
                <a:srgbClr val="0000FF"/>
              </a:solidFill>
              <a:latin typeface="Times New Roman"/>
              <a:cs typeface="Times New Roman"/>
            </a:endParaRPr>
          </a:p>
        </p:txBody>
      </p:sp>
      <p:sp>
        <p:nvSpPr>
          <p:cNvPr id="4" name="Rectangle 3">
            <a:extLst>
              <a:ext uri="{FF2B5EF4-FFF2-40B4-BE49-F238E27FC236}">
                <a16:creationId xmlns:a16="http://schemas.microsoft.com/office/drawing/2014/main" id="{EE58BDFB-1267-D03A-DA16-6F4DB9644FC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F2607BA6-7B8F-1552-444C-A8AC1D5C97C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Slide Number Placeholder 8">
            <a:extLst>
              <a:ext uri="{FF2B5EF4-FFF2-40B4-BE49-F238E27FC236}">
                <a16:creationId xmlns:a16="http://schemas.microsoft.com/office/drawing/2014/main" id="{CB6DBA17-858C-C91B-EE0B-32E8D9FAC8A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a:t>
            </a:fld>
            <a:r>
              <a:rPr lang="en-US" sz="2000" dirty="0">
                <a:solidFill>
                  <a:prstClr val="black"/>
                </a:solidFill>
                <a:latin typeface="Comic Sans MS"/>
                <a:sym typeface="Comic Sans MS"/>
              </a:rPr>
              <a:t>/59</a:t>
            </a:r>
          </a:p>
        </p:txBody>
      </p:sp>
      <p:sp>
        <p:nvSpPr>
          <p:cNvPr id="12" name="Footer Placeholder 9">
            <a:extLst>
              <a:ext uri="{FF2B5EF4-FFF2-40B4-BE49-F238E27FC236}">
                <a16:creationId xmlns:a16="http://schemas.microsoft.com/office/drawing/2014/main" id="{63F2E96D-06B1-77DF-4672-A390B4354F9B}"/>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a:t>
            </a:r>
            <a:r>
              <a:rPr lang="en-US" sz="2000" kern="0" dirty="0">
                <a:solidFill>
                  <a:sysClr val="windowText" lastClr="000000"/>
                </a:solidFill>
                <a:effectLst>
                  <a:outerShdw blurRad="38100" dist="12700" dir="5400000" rotWithShape="0">
                    <a:srgbClr val="000000">
                      <a:alpha val="50000"/>
                    </a:srgbClr>
                  </a:outerShdw>
                </a:effectLst>
                <a:latin typeface="Gill Sans"/>
                <a:cs typeface="Arial"/>
                <a:sym typeface="Arial"/>
              </a:rPr>
              <a:t>7</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endParaRPr>
          </a:p>
        </p:txBody>
      </p:sp>
      <p:sp>
        <p:nvSpPr>
          <p:cNvPr id="13" name="Rectangle 12">
            <a:extLst>
              <a:ext uri="{FF2B5EF4-FFF2-40B4-BE49-F238E27FC236}">
                <a16:creationId xmlns:a16="http://schemas.microsoft.com/office/drawing/2014/main" id="{5030F3D9-FFF5-23A4-06C6-079B994A03D0}"/>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spc="-15" dirty="0"/>
              <a:t>I</a:t>
            </a:r>
            <a:r>
              <a:rPr dirty="0"/>
              <a:t>n</a:t>
            </a:r>
            <a:r>
              <a:rPr spc="-15" dirty="0"/>
              <a:t>t</a:t>
            </a:r>
            <a:r>
              <a:rPr dirty="0"/>
              <a:t>ro</a:t>
            </a:r>
            <a:r>
              <a:rPr spc="-10" dirty="0"/>
              <a:t>:</a:t>
            </a:r>
            <a:r>
              <a:rPr spc="-5" dirty="0"/>
              <a:t> </a:t>
            </a:r>
            <a:r>
              <a:rPr dirty="0"/>
              <a:t>Sel</a:t>
            </a:r>
            <a:r>
              <a:rPr spc="-15" dirty="0"/>
              <a:t>f</a:t>
            </a:r>
            <a:r>
              <a:rPr dirty="0"/>
              <a:t>ish</a:t>
            </a:r>
            <a:r>
              <a:rPr spc="-5" dirty="0"/>
              <a:t> </a:t>
            </a:r>
            <a:r>
              <a:rPr dirty="0"/>
              <a:t>Rou</a:t>
            </a:r>
            <a:r>
              <a:rPr spc="-15" dirty="0"/>
              <a:t>t</a:t>
            </a:r>
            <a:r>
              <a:rPr dirty="0"/>
              <a:t>ing</a:t>
            </a:r>
            <a:r>
              <a:rPr spc="-5" dirty="0"/>
              <a:t> </a:t>
            </a:r>
            <a:r>
              <a:rPr dirty="0"/>
              <a:t>(Example)</a:t>
            </a:r>
          </a:p>
        </p:txBody>
      </p:sp>
      <p:sp>
        <p:nvSpPr>
          <p:cNvPr id="6" name="object 6"/>
          <p:cNvSpPr txBox="1"/>
          <p:nvPr/>
        </p:nvSpPr>
        <p:spPr>
          <a:xfrm>
            <a:off x="144728" y="5029147"/>
            <a:ext cx="2612390" cy="381000"/>
          </a:xfrm>
          <a:prstGeom prst="rect">
            <a:avLst/>
          </a:prstGeom>
        </p:spPr>
        <p:txBody>
          <a:bodyPr vert="horz" wrap="square" lIns="0" tIns="0" rIns="0" bIns="0" rtlCol="0">
            <a:spAutoFit/>
          </a:bodyPr>
          <a:lstStyle/>
          <a:p>
            <a:pPr marL="12700">
              <a:lnSpc>
                <a:spcPct val="100000"/>
              </a:lnSpc>
            </a:pPr>
            <a:r>
              <a:rPr sz="2800" spc="-15" dirty="0">
                <a:latin typeface="Gill Sans MT"/>
                <a:cs typeface="Gill Sans MT"/>
              </a:rPr>
              <a:t>Nash=(A</a:t>
            </a:r>
            <a:r>
              <a:rPr sz="2800" spc="-5" dirty="0">
                <a:latin typeface="Gill Sans MT"/>
                <a:cs typeface="Gill Sans MT"/>
              </a:rPr>
              <a:t>,</a:t>
            </a:r>
            <a:r>
              <a:rPr sz="2800" dirty="0">
                <a:latin typeface="Gill Sans MT"/>
                <a:cs typeface="Gill Sans MT"/>
              </a:rPr>
              <a:t>B</a:t>
            </a:r>
            <a:r>
              <a:rPr sz="2800" spc="-5" dirty="0">
                <a:latin typeface="Gill Sans MT"/>
                <a:cs typeface="Gill Sans MT"/>
              </a:rPr>
              <a:t>)</a:t>
            </a:r>
            <a:r>
              <a:rPr sz="2800" dirty="0">
                <a:latin typeface="Gill Sans MT"/>
                <a:cs typeface="Gill Sans MT"/>
              </a:rPr>
              <a:t>;</a:t>
            </a:r>
            <a:r>
              <a:rPr sz="2800" spc="-285" dirty="0">
                <a:latin typeface="Gill Sans MT"/>
                <a:cs typeface="Gill Sans MT"/>
              </a:rPr>
              <a:t> </a:t>
            </a:r>
            <a:r>
              <a:rPr sz="2800" spc="-5" dirty="0">
                <a:latin typeface="Gill Sans MT"/>
                <a:cs typeface="Gill Sans MT"/>
              </a:rPr>
              <a:t>(</a:t>
            </a:r>
            <a:r>
              <a:rPr sz="2800" dirty="0">
                <a:latin typeface="Gill Sans MT"/>
                <a:cs typeface="Gill Sans MT"/>
              </a:rPr>
              <a:t>B</a:t>
            </a:r>
            <a:r>
              <a:rPr sz="2800" spc="-5" dirty="0">
                <a:latin typeface="Gill Sans MT"/>
                <a:cs typeface="Gill Sans MT"/>
              </a:rPr>
              <a:t>,</a:t>
            </a:r>
            <a:r>
              <a:rPr sz="2800" dirty="0">
                <a:latin typeface="Gill Sans MT"/>
                <a:cs typeface="Gill Sans MT"/>
              </a:rPr>
              <a:t>A)</a:t>
            </a:r>
            <a:endParaRPr sz="2800">
              <a:latin typeface="Gill Sans MT"/>
              <a:cs typeface="Gill Sans MT"/>
            </a:endParaRPr>
          </a:p>
        </p:txBody>
      </p:sp>
      <p:sp>
        <p:nvSpPr>
          <p:cNvPr id="7" name="object 7"/>
          <p:cNvSpPr/>
          <p:nvPr/>
        </p:nvSpPr>
        <p:spPr>
          <a:xfrm>
            <a:off x="3302152" y="1618785"/>
            <a:ext cx="5233680" cy="351803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58957" y="1618785"/>
            <a:ext cx="2183723" cy="2231344"/>
          </a:xfrm>
          <a:prstGeom prst="rect">
            <a:avLst/>
          </a:prstGeom>
          <a:blipFill>
            <a:blip r:embed="rId4" cstate="print"/>
            <a:stretch>
              <a:fillRect/>
            </a:stretch>
          </a:blipFill>
        </p:spPr>
        <p:txBody>
          <a:bodyPr wrap="square" lIns="0" tIns="0" rIns="0" bIns="0" rtlCol="0"/>
          <a:lstStyle/>
          <a:p>
            <a:endParaRPr/>
          </a:p>
        </p:txBody>
      </p:sp>
      <p:sp>
        <p:nvSpPr>
          <p:cNvPr id="9" name="TextBox 8">
            <a:extLst>
              <a:ext uri="{FF2B5EF4-FFF2-40B4-BE49-F238E27FC236}">
                <a16:creationId xmlns:a16="http://schemas.microsoft.com/office/drawing/2014/main" id="{6C7E40A1-8DE0-5975-4067-63804CD96E5A}"/>
              </a:ext>
            </a:extLst>
          </p:cNvPr>
          <p:cNvSpPr txBox="1"/>
          <p:nvPr/>
        </p:nvSpPr>
        <p:spPr>
          <a:xfrm>
            <a:off x="5486400" y="5715000"/>
            <a:ext cx="2841972" cy="261610"/>
          </a:xfrm>
          <a:prstGeom prst="rect">
            <a:avLst/>
          </a:prstGeom>
          <a:noFill/>
        </p:spPr>
        <p:txBody>
          <a:bodyPr wrap="square">
            <a:spAutoFit/>
          </a:bodyPr>
          <a:lstStyle/>
          <a:p>
            <a:pPr marL="12700">
              <a:lnSpc>
                <a:spcPct val="100000"/>
              </a:lnSpc>
            </a:pPr>
            <a:r>
              <a:rPr lang="en-US" sz="1100" spc="-5"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https://en.w</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ikipedia.o</a:t>
            </a:r>
            <a:r>
              <a:rPr lang="en-US" sz="1100" spc="-3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r</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g/</a:t>
            </a:r>
            <a:r>
              <a:rPr lang="en-US" sz="110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w</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iki/Conge</a:t>
            </a:r>
            <a:r>
              <a:rPr lang="en-US" sz="110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s</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tion_game</a:t>
            </a:r>
            <a:endParaRPr lang="en-US" sz="1100" dirty="0">
              <a:solidFill>
                <a:srgbClr val="0000FF"/>
              </a:solidFill>
              <a:latin typeface="Times New Roman"/>
              <a:cs typeface="Times New Roman"/>
            </a:endParaRPr>
          </a:p>
        </p:txBody>
      </p:sp>
      <p:sp>
        <p:nvSpPr>
          <p:cNvPr id="11" name="Rectangle 10">
            <a:extLst>
              <a:ext uri="{FF2B5EF4-FFF2-40B4-BE49-F238E27FC236}">
                <a16:creationId xmlns:a16="http://schemas.microsoft.com/office/drawing/2014/main" id="{D1E89018-3755-7622-BDF4-4164143DE1C1}"/>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8B2216E-9515-F4F3-76FC-90179F7413B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Slide Number Placeholder 8">
            <a:extLst>
              <a:ext uri="{FF2B5EF4-FFF2-40B4-BE49-F238E27FC236}">
                <a16:creationId xmlns:a16="http://schemas.microsoft.com/office/drawing/2014/main" id="{EF35A5E4-9307-0AD3-8753-49635B450E7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a:t>
            </a:fld>
            <a:r>
              <a:rPr lang="en-US" sz="2000" dirty="0">
                <a:solidFill>
                  <a:prstClr val="black"/>
                </a:solidFill>
                <a:latin typeface="Comic Sans MS"/>
                <a:sym typeface="Comic Sans MS"/>
              </a:rPr>
              <a:t>/59</a:t>
            </a:r>
          </a:p>
        </p:txBody>
      </p:sp>
      <p:sp>
        <p:nvSpPr>
          <p:cNvPr id="14" name="Footer Placeholder 9">
            <a:extLst>
              <a:ext uri="{FF2B5EF4-FFF2-40B4-BE49-F238E27FC236}">
                <a16:creationId xmlns:a16="http://schemas.microsoft.com/office/drawing/2014/main" id="{EB6D990F-13D4-BEA5-BF3B-B880EC0EE38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FB826D11-0689-4BE8-DD32-ABB899655DE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Conge</a:t>
            </a:r>
            <a:r>
              <a:rPr spc="-20" dirty="0"/>
              <a:t>s</a:t>
            </a:r>
            <a:r>
              <a:rPr spc="-15" dirty="0"/>
              <a:t>t</a:t>
            </a:r>
            <a:r>
              <a:rPr dirty="0"/>
              <a:t>ion</a:t>
            </a:r>
            <a:r>
              <a:rPr spc="-5" dirty="0"/>
              <a:t> </a:t>
            </a:r>
            <a:r>
              <a:rPr spc="-30" dirty="0"/>
              <a:t>G</a:t>
            </a:r>
            <a:r>
              <a:rPr dirty="0"/>
              <a:t>ames</a:t>
            </a:r>
            <a:r>
              <a:rPr spc="-5" dirty="0"/>
              <a:t> </a:t>
            </a:r>
            <a:r>
              <a:rPr dirty="0"/>
              <a:t>(De</a:t>
            </a:r>
            <a:r>
              <a:rPr spc="-15" dirty="0"/>
              <a:t>f</a:t>
            </a:r>
            <a:r>
              <a:rPr dirty="0"/>
              <a:t>)</a:t>
            </a:r>
          </a:p>
        </p:txBody>
      </p:sp>
      <p:sp>
        <p:nvSpPr>
          <p:cNvPr id="6" name="object 6"/>
          <p:cNvSpPr/>
          <p:nvPr/>
        </p:nvSpPr>
        <p:spPr>
          <a:xfrm>
            <a:off x="207462" y="2797078"/>
            <a:ext cx="8100425" cy="2373000"/>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296447" y="1899454"/>
            <a:ext cx="7767320" cy="368300"/>
          </a:xfrm>
          <a:prstGeom prst="rect">
            <a:avLst/>
          </a:prstGeom>
        </p:spPr>
        <p:txBody>
          <a:bodyPr vert="horz" wrap="square" lIns="0" tIns="0" rIns="0" bIns="0" rtlCol="0">
            <a:spAutoFit/>
          </a:bodyPr>
          <a:lstStyle/>
          <a:p>
            <a:pPr marL="12700">
              <a:lnSpc>
                <a:spcPct val="100000"/>
              </a:lnSpc>
            </a:pPr>
            <a:r>
              <a:rPr sz="2700" dirty="0">
                <a:latin typeface="Times New Roman"/>
                <a:cs typeface="Times New Roman"/>
              </a:rPr>
              <a:t>S</a:t>
            </a:r>
            <a:r>
              <a:rPr sz="2700" spc="-20" dirty="0">
                <a:latin typeface="Times New Roman"/>
                <a:cs typeface="Times New Roman"/>
              </a:rPr>
              <a:t>e</a:t>
            </a:r>
            <a:r>
              <a:rPr sz="2700" spc="-10" dirty="0">
                <a:latin typeface="Times New Roman"/>
                <a:cs typeface="Times New Roman"/>
              </a:rPr>
              <a:t>lfi</a:t>
            </a:r>
            <a:r>
              <a:rPr sz="2700" dirty="0">
                <a:latin typeface="Times New Roman"/>
                <a:cs typeface="Times New Roman"/>
              </a:rPr>
              <a:t>sh </a:t>
            </a:r>
            <a:r>
              <a:rPr sz="2700" spc="-15" dirty="0">
                <a:latin typeface="Times New Roman"/>
                <a:cs typeface="Times New Roman"/>
              </a:rPr>
              <a:t>routi</a:t>
            </a:r>
            <a:r>
              <a:rPr sz="2700" dirty="0">
                <a:latin typeface="Times New Roman"/>
                <a:cs typeface="Times New Roman"/>
              </a:rPr>
              <a:t>ng </a:t>
            </a:r>
            <a:r>
              <a:rPr sz="2700" spc="-10" dirty="0">
                <a:latin typeface="Times New Roman"/>
                <a:cs typeface="Times New Roman"/>
              </a:rPr>
              <a:t>i</a:t>
            </a:r>
            <a:r>
              <a:rPr sz="2700" dirty="0">
                <a:latin typeface="Times New Roman"/>
                <a:cs typeface="Times New Roman"/>
              </a:rPr>
              <a:t>s </a:t>
            </a:r>
            <a:r>
              <a:rPr sz="2700" spc="-15" dirty="0">
                <a:latin typeface="Times New Roman"/>
                <a:cs typeface="Times New Roman"/>
              </a:rPr>
              <a:t>a</a:t>
            </a:r>
            <a:r>
              <a:rPr sz="2700" spc="-5" dirty="0">
                <a:latin typeface="Times New Roman"/>
                <a:cs typeface="Times New Roman"/>
              </a:rPr>
              <a:t> </a:t>
            </a:r>
            <a:r>
              <a:rPr sz="2700" spc="-15" dirty="0">
                <a:latin typeface="Times New Roman"/>
                <a:cs typeface="Times New Roman"/>
              </a:rPr>
              <a:t>p</a:t>
            </a:r>
            <a:r>
              <a:rPr sz="2700" spc="-20" dirty="0">
                <a:latin typeface="Times New Roman"/>
                <a:cs typeface="Times New Roman"/>
              </a:rPr>
              <a:t>a</a:t>
            </a:r>
            <a:r>
              <a:rPr sz="2700" spc="-10" dirty="0">
                <a:latin typeface="Times New Roman"/>
                <a:cs typeface="Times New Roman"/>
              </a:rPr>
              <a:t>rti</a:t>
            </a:r>
            <a:r>
              <a:rPr sz="2700" spc="-20" dirty="0">
                <a:latin typeface="Times New Roman"/>
                <a:cs typeface="Times New Roman"/>
              </a:rPr>
              <a:t>c</a:t>
            </a:r>
            <a:r>
              <a:rPr sz="2700" spc="-15" dirty="0">
                <a:latin typeface="Times New Roman"/>
                <a:cs typeface="Times New Roman"/>
              </a:rPr>
              <a:t>ul</a:t>
            </a:r>
            <a:r>
              <a:rPr sz="2700" spc="-20" dirty="0">
                <a:latin typeface="Times New Roman"/>
                <a:cs typeface="Times New Roman"/>
              </a:rPr>
              <a:t>a</a:t>
            </a:r>
            <a:r>
              <a:rPr sz="2700" dirty="0">
                <a:latin typeface="Times New Roman"/>
                <a:cs typeface="Times New Roman"/>
              </a:rPr>
              <a:t>r </a:t>
            </a:r>
            <a:r>
              <a:rPr sz="2700" spc="-15" dirty="0">
                <a:latin typeface="Times New Roman"/>
                <a:cs typeface="Times New Roman"/>
              </a:rPr>
              <a:t>form</a:t>
            </a:r>
            <a:r>
              <a:rPr sz="2700" dirty="0">
                <a:latin typeface="Times New Roman"/>
                <a:cs typeface="Times New Roman"/>
              </a:rPr>
              <a:t> of </a:t>
            </a:r>
            <a:r>
              <a:rPr sz="2700" spc="-15" dirty="0">
                <a:latin typeface="Times New Roman"/>
                <a:cs typeface="Times New Roman"/>
              </a:rPr>
              <a:t>a</a:t>
            </a:r>
            <a:r>
              <a:rPr sz="2700" spc="-5" dirty="0">
                <a:latin typeface="Times New Roman"/>
                <a:cs typeface="Times New Roman"/>
              </a:rPr>
              <a:t> </a:t>
            </a:r>
            <a:r>
              <a:rPr sz="2700" spc="-20" dirty="0">
                <a:latin typeface="Times New Roman"/>
                <a:cs typeface="Times New Roman"/>
              </a:rPr>
              <a:t>c</a:t>
            </a:r>
            <a:r>
              <a:rPr sz="2700" spc="-15" dirty="0">
                <a:latin typeface="Times New Roman"/>
                <a:cs typeface="Times New Roman"/>
              </a:rPr>
              <a:t>ong</a:t>
            </a:r>
            <a:r>
              <a:rPr sz="2700" spc="-20" dirty="0">
                <a:latin typeface="Times New Roman"/>
                <a:cs typeface="Times New Roman"/>
              </a:rPr>
              <a:t>e</a:t>
            </a:r>
            <a:r>
              <a:rPr sz="2700" dirty="0">
                <a:latin typeface="Times New Roman"/>
                <a:cs typeface="Times New Roman"/>
              </a:rPr>
              <a:t>s</a:t>
            </a:r>
            <a:r>
              <a:rPr sz="2700" spc="-10" dirty="0">
                <a:latin typeface="Times New Roman"/>
                <a:cs typeface="Times New Roman"/>
              </a:rPr>
              <a:t>ti</a:t>
            </a:r>
            <a:r>
              <a:rPr sz="2700" dirty="0">
                <a:latin typeface="Times New Roman"/>
                <a:cs typeface="Times New Roman"/>
              </a:rPr>
              <a:t>on </a:t>
            </a:r>
            <a:r>
              <a:rPr sz="2700" spc="-15" dirty="0">
                <a:latin typeface="Times New Roman"/>
                <a:cs typeface="Times New Roman"/>
              </a:rPr>
              <a:t>g</a:t>
            </a:r>
            <a:r>
              <a:rPr sz="2700" spc="-20" dirty="0">
                <a:latin typeface="Times New Roman"/>
                <a:cs typeface="Times New Roman"/>
              </a:rPr>
              <a:t>ame</a:t>
            </a:r>
            <a:endParaRPr sz="2700">
              <a:latin typeface="Times New Roman"/>
              <a:cs typeface="Times New Roman"/>
            </a:endParaRPr>
          </a:p>
        </p:txBody>
      </p:sp>
      <p:sp>
        <p:nvSpPr>
          <p:cNvPr id="8" name="TextBox 7">
            <a:extLst>
              <a:ext uri="{FF2B5EF4-FFF2-40B4-BE49-F238E27FC236}">
                <a16:creationId xmlns:a16="http://schemas.microsoft.com/office/drawing/2014/main" id="{9C0C8373-A21B-1E0C-BF1B-943778EC62F4}"/>
              </a:ext>
            </a:extLst>
          </p:cNvPr>
          <p:cNvSpPr txBox="1"/>
          <p:nvPr/>
        </p:nvSpPr>
        <p:spPr>
          <a:xfrm>
            <a:off x="5486400" y="5715000"/>
            <a:ext cx="2841972" cy="261610"/>
          </a:xfrm>
          <a:prstGeom prst="rect">
            <a:avLst/>
          </a:prstGeom>
          <a:noFill/>
        </p:spPr>
        <p:txBody>
          <a:bodyPr wrap="square">
            <a:spAutoFit/>
          </a:bodyPr>
          <a:lstStyle/>
          <a:p>
            <a:pPr marL="12700">
              <a:lnSpc>
                <a:spcPct val="100000"/>
              </a:lnSpc>
            </a:pPr>
            <a:r>
              <a:rPr lang="en-US" sz="1100" spc="-5"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https://en.w</a:t>
            </a:r>
            <a:r>
              <a:rPr lang="en-US" sz="1100" spc="-1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ikipedia.o</a:t>
            </a:r>
            <a:r>
              <a:rPr lang="en-US" sz="1100" spc="-3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r</a:t>
            </a:r>
            <a:r>
              <a:rPr lang="en-US" sz="1100" spc="-1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g/</a:t>
            </a:r>
            <a:r>
              <a:rPr lang="en-US" sz="110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w</a:t>
            </a:r>
            <a:r>
              <a:rPr lang="en-US" sz="1100" spc="-1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iki/Conge</a:t>
            </a:r>
            <a:r>
              <a:rPr lang="en-US" sz="110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s</a:t>
            </a:r>
            <a:r>
              <a:rPr lang="en-US" sz="1100" spc="-10" dirty="0">
                <a:solidFill>
                  <a:srgbClr val="0000FF"/>
                </a:solidFill>
                <a:latin typeface="Times New Roman"/>
                <a:cs typeface="Times New Roman"/>
                <a:hlinkClick r:id="rId4">
                  <a:extLst>
                    <a:ext uri="{A12FA001-AC4F-418D-AE19-62706E023703}">
                      <ahyp:hlinkClr xmlns:ahyp="http://schemas.microsoft.com/office/drawing/2018/hyperlinkcolor" val="tx"/>
                    </a:ext>
                  </a:extLst>
                </a:hlinkClick>
              </a:rPr>
              <a:t>tion_game</a:t>
            </a:r>
            <a:endParaRPr lang="en-US" sz="1100" dirty="0">
              <a:solidFill>
                <a:srgbClr val="0000FF"/>
              </a:solidFill>
              <a:latin typeface="Times New Roman"/>
              <a:cs typeface="Times New Roman"/>
            </a:endParaRPr>
          </a:p>
        </p:txBody>
      </p:sp>
      <p:sp>
        <p:nvSpPr>
          <p:cNvPr id="3" name="Rectangle 2">
            <a:extLst>
              <a:ext uri="{FF2B5EF4-FFF2-40B4-BE49-F238E27FC236}">
                <a16:creationId xmlns:a16="http://schemas.microsoft.com/office/drawing/2014/main" id="{3882F817-9094-240A-E8D2-1484B9EA2C5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045CF00A-B84C-8ACE-128B-2F3A94EE617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156FD1BF-BE4D-68E7-7AD6-164BBA16D9EA}"/>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6</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AF0B7104-8661-A417-18B6-374B8CFBE02F}"/>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D027A2C5-DEF6-9CA4-42D2-E9003DCDB56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9144000" cy="45719"/>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p:nvPr/>
        </p:nvSpPr>
        <p:spPr>
          <a:xfrm>
            <a:off x="483586" y="1219200"/>
            <a:ext cx="8243918" cy="4729500"/>
          </a:xfrm>
          <a:prstGeom prst="rect">
            <a:avLst/>
          </a:prstGeom>
        </p:spPr>
        <p:txBody>
          <a:bodyPr vert="horz" wrap="square" lIns="0" tIns="0" rIns="0" bIns="0" rtlCol="0">
            <a:spAutoFit/>
          </a:bodyPr>
          <a:lstStyle/>
          <a:p>
            <a:pPr marL="12700" marR="1068070">
              <a:lnSpc>
                <a:spcPts val="6200"/>
              </a:lnSpc>
            </a:pPr>
            <a:r>
              <a:rPr sz="2700" dirty="0">
                <a:latin typeface="Times New Roman"/>
                <a:cs typeface="Times New Roman"/>
              </a:rPr>
              <a:t>P</a:t>
            </a:r>
            <a:r>
              <a:rPr sz="2700" spc="-15" dirty="0">
                <a:latin typeface="Times New Roman"/>
                <a:cs typeface="Times New Roman"/>
              </a:rPr>
              <a:t>opul</a:t>
            </a:r>
            <a:r>
              <a:rPr sz="2700" spc="-20" dirty="0">
                <a:latin typeface="Times New Roman"/>
                <a:cs typeface="Times New Roman"/>
              </a:rPr>
              <a:t>a</a:t>
            </a:r>
            <a:r>
              <a:rPr sz="2700" spc="-10" dirty="0">
                <a:latin typeface="Times New Roman"/>
                <a:cs typeface="Times New Roman"/>
              </a:rPr>
              <a:t>ti</a:t>
            </a:r>
            <a:r>
              <a:rPr sz="2700" dirty="0">
                <a:latin typeface="Times New Roman"/>
                <a:cs typeface="Times New Roman"/>
              </a:rPr>
              <a:t>on </a:t>
            </a:r>
            <a:r>
              <a:rPr sz="2700" spc="-15" dirty="0">
                <a:latin typeface="Times New Roman"/>
                <a:cs typeface="Times New Roman"/>
              </a:rPr>
              <a:t>g</a:t>
            </a:r>
            <a:r>
              <a:rPr sz="2700" spc="-20" dirty="0">
                <a:latin typeface="Times New Roman"/>
                <a:cs typeface="Times New Roman"/>
              </a:rPr>
              <a:t>a</a:t>
            </a:r>
            <a:r>
              <a:rPr sz="2700" spc="-25" dirty="0">
                <a:latin typeface="Times New Roman"/>
                <a:cs typeface="Times New Roman"/>
              </a:rPr>
              <a:t>m</a:t>
            </a:r>
            <a:r>
              <a:rPr sz="2700" spc="-20" dirty="0">
                <a:latin typeface="Times New Roman"/>
                <a:cs typeface="Times New Roman"/>
              </a:rPr>
              <a:t>e</a:t>
            </a:r>
            <a:r>
              <a:rPr sz="2700" dirty="0">
                <a:latin typeface="Times New Roman"/>
                <a:cs typeface="Times New Roman"/>
              </a:rPr>
              <a:t>s </a:t>
            </a:r>
            <a:r>
              <a:rPr sz="2700" spc="-20" dirty="0">
                <a:latin typeface="Times New Roman"/>
                <a:cs typeface="Times New Roman"/>
              </a:rPr>
              <a:t>a</a:t>
            </a:r>
            <a:r>
              <a:rPr sz="2700" spc="-15" dirty="0">
                <a:latin typeface="Times New Roman"/>
                <a:cs typeface="Times New Roman"/>
              </a:rPr>
              <a:t>re</a:t>
            </a:r>
            <a:r>
              <a:rPr sz="2700" spc="-5" dirty="0">
                <a:latin typeface="Times New Roman"/>
                <a:cs typeface="Times New Roman"/>
              </a:rPr>
              <a:t> </a:t>
            </a:r>
            <a:r>
              <a:rPr sz="2700" spc="-15" dirty="0">
                <a:latin typeface="Times New Roman"/>
                <a:cs typeface="Times New Roman"/>
              </a:rPr>
              <a:t>pl</a:t>
            </a:r>
            <a:r>
              <a:rPr sz="2700" spc="-20" dirty="0">
                <a:latin typeface="Times New Roman"/>
                <a:cs typeface="Times New Roman"/>
              </a:rPr>
              <a:t>a</a:t>
            </a:r>
            <a:r>
              <a:rPr sz="2700" spc="-15" dirty="0">
                <a:latin typeface="Times New Roman"/>
                <a:cs typeface="Times New Roman"/>
              </a:rPr>
              <a:t>y</a:t>
            </a:r>
            <a:r>
              <a:rPr sz="2700" spc="-20" dirty="0">
                <a:latin typeface="Times New Roman"/>
                <a:cs typeface="Times New Roman"/>
              </a:rPr>
              <a:t>e</a:t>
            </a:r>
            <a:r>
              <a:rPr sz="2700" dirty="0">
                <a:latin typeface="Times New Roman"/>
                <a:cs typeface="Times New Roman"/>
              </a:rPr>
              <a:t>d </a:t>
            </a:r>
            <a:r>
              <a:rPr sz="2700" spc="-10" dirty="0">
                <a:latin typeface="Times New Roman"/>
                <a:cs typeface="Times New Roman"/>
              </a:rPr>
              <a:t>i</a:t>
            </a:r>
            <a:r>
              <a:rPr sz="2700" dirty="0">
                <a:latin typeface="Times New Roman"/>
                <a:cs typeface="Times New Roman"/>
              </a:rPr>
              <a:t>n </a:t>
            </a:r>
            <a:r>
              <a:rPr sz="2700" spc="-10" dirty="0">
                <a:latin typeface="Times New Roman"/>
                <a:cs typeface="Times New Roman"/>
              </a:rPr>
              <a:t>l</a:t>
            </a:r>
            <a:r>
              <a:rPr sz="2700" spc="-20" dirty="0">
                <a:latin typeface="Times New Roman"/>
                <a:cs typeface="Times New Roman"/>
              </a:rPr>
              <a:t>a</a:t>
            </a:r>
            <a:r>
              <a:rPr sz="2700" spc="-50" dirty="0">
                <a:latin typeface="Times New Roman"/>
                <a:cs typeface="Times New Roman"/>
              </a:rPr>
              <a:t>r</a:t>
            </a:r>
            <a:r>
              <a:rPr sz="2700" spc="-15" dirty="0">
                <a:latin typeface="Times New Roman"/>
                <a:cs typeface="Times New Roman"/>
              </a:rPr>
              <a:t>ge</a:t>
            </a:r>
            <a:r>
              <a:rPr sz="2700" spc="-5" dirty="0">
                <a:latin typeface="Times New Roman"/>
                <a:cs typeface="Times New Roman"/>
              </a:rPr>
              <a:t> </a:t>
            </a:r>
            <a:r>
              <a:rPr sz="2700" spc="-15" dirty="0">
                <a:latin typeface="Times New Roman"/>
                <a:cs typeface="Times New Roman"/>
              </a:rPr>
              <a:t>popul</a:t>
            </a:r>
            <a:r>
              <a:rPr sz="2700" spc="-20" dirty="0">
                <a:latin typeface="Times New Roman"/>
                <a:cs typeface="Times New Roman"/>
              </a:rPr>
              <a:t>a</a:t>
            </a:r>
            <a:r>
              <a:rPr sz="2700" spc="-10" dirty="0">
                <a:latin typeface="Times New Roman"/>
                <a:cs typeface="Times New Roman"/>
              </a:rPr>
              <a:t>ti</a:t>
            </a:r>
            <a:r>
              <a:rPr sz="2700" dirty="0">
                <a:latin typeface="Times New Roman"/>
                <a:cs typeface="Times New Roman"/>
              </a:rPr>
              <a:t>ons. </a:t>
            </a:r>
            <a:r>
              <a:rPr sz="2700" spc="-20" dirty="0">
                <a:latin typeface="Times New Roman"/>
                <a:cs typeface="Times New Roman"/>
              </a:rPr>
              <a:t>Al</a:t>
            </a:r>
            <a:r>
              <a:rPr sz="2700" spc="-10" dirty="0">
                <a:latin typeface="Times New Roman"/>
                <a:cs typeface="Times New Roman"/>
              </a:rPr>
              <a:t>l</a:t>
            </a:r>
            <a:r>
              <a:rPr sz="2700" dirty="0">
                <a:latin typeface="Times New Roman"/>
                <a:cs typeface="Times New Roman"/>
              </a:rPr>
              <a:t> </a:t>
            </a:r>
            <a:r>
              <a:rPr sz="2700" b="1" dirty="0">
                <a:latin typeface="Times New Roman"/>
                <a:cs typeface="Times New Roman"/>
              </a:rPr>
              <a:t>p</a:t>
            </a:r>
            <a:r>
              <a:rPr sz="2700" b="1" spc="-15" dirty="0">
                <a:latin typeface="Times New Roman"/>
                <a:cs typeface="Times New Roman"/>
              </a:rPr>
              <a:t>lay</a:t>
            </a:r>
            <a:r>
              <a:rPr sz="2700" b="1" spc="-20" dirty="0">
                <a:latin typeface="Times New Roman"/>
                <a:cs typeface="Times New Roman"/>
              </a:rPr>
              <a:t>er</a:t>
            </a:r>
            <a:r>
              <a:rPr sz="2700" b="1" dirty="0">
                <a:latin typeface="Times New Roman"/>
                <a:cs typeface="Times New Roman"/>
              </a:rPr>
              <a:t>s </a:t>
            </a:r>
            <a:r>
              <a:rPr sz="2700" b="1" spc="-15" dirty="0">
                <a:latin typeface="Times New Roman"/>
                <a:cs typeface="Times New Roman"/>
              </a:rPr>
              <a:t>a</a:t>
            </a:r>
            <a:r>
              <a:rPr sz="2700" b="1" spc="-65" dirty="0">
                <a:latin typeface="Times New Roman"/>
                <a:cs typeface="Times New Roman"/>
              </a:rPr>
              <a:t>r</a:t>
            </a:r>
            <a:r>
              <a:rPr sz="2700" b="1" spc="-15" dirty="0">
                <a:latin typeface="Times New Roman"/>
                <a:cs typeface="Times New Roman"/>
              </a:rPr>
              <a:t>e</a:t>
            </a:r>
            <a:r>
              <a:rPr sz="2700" b="1" spc="-5" dirty="0">
                <a:latin typeface="Times New Roman"/>
                <a:cs typeface="Times New Roman"/>
              </a:rPr>
              <a:t> </a:t>
            </a:r>
            <a:r>
              <a:rPr sz="2700" b="1" spc="-10" dirty="0">
                <a:latin typeface="Times New Roman"/>
                <a:cs typeface="Times New Roman"/>
              </a:rPr>
              <a:t>i</a:t>
            </a:r>
            <a:r>
              <a:rPr sz="2700" b="1" dirty="0">
                <a:latin typeface="Times New Roman"/>
                <a:cs typeface="Times New Roman"/>
              </a:rPr>
              <a:t>nd</a:t>
            </a:r>
            <a:r>
              <a:rPr sz="2700" b="1" spc="-10" dirty="0">
                <a:latin typeface="Times New Roman"/>
                <a:cs typeface="Times New Roman"/>
              </a:rPr>
              <a:t>i</a:t>
            </a:r>
            <a:r>
              <a:rPr sz="2700" b="1" dirty="0">
                <a:latin typeface="Times New Roman"/>
                <a:cs typeface="Times New Roman"/>
              </a:rPr>
              <a:t>s</a:t>
            </a:r>
            <a:r>
              <a:rPr sz="2700" b="1" spc="-10" dirty="0">
                <a:latin typeface="Times New Roman"/>
                <a:cs typeface="Times New Roman"/>
              </a:rPr>
              <a:t>ti</a:t>
            </a:r>
            <a:r>
              <a:rPr sz="2700" b="1" dirty="0">
                <a:latin typeface="Times New Roman"/>
                <a:cs typeface="Times New Roman"/>
              </a:rPr>
              <a:t>ngu</a:t>
            </a:r>
            <a:r>
              <a:rPr sz="2700" b="1" spc="-10" dirty="0">
                <a:latin typeface="Times New Roman"/>
                <a:cs typeface="Times New Roman"/>
              </a:rPr>
              <a:t>i</a:t>
            </a:r>
            <a:r>
              <a:rPr sz="2700" b="1" dirty="0">
                <a:latin typeface="Times New Roman"/>
                <a:cs typeface="Times New Roman"/>
              </a:rPr>
              <a:t>shab</a:t>
            </a:r>
            <a:r>
              <a:rPr sz="2700" b="1" spc="-10" dirty="0">
                <a:latin typeface="Times New Roman"/>
                <a:cs typeface="Times New Roman"/>
              </a:rPr>
              <a:t>l</a:t>
            </a:r>
            <a:r>
              <a:rPr sz="2700" b="1" spc="-20" dirty="0">
                <a:latin typeface="Times New Roman"/>
                <a:cs typeface="Times New Roman"/>
              </a:rPr>
              <a:t>e</a:t>
            </a:r>
            <a:r>
              <a:rPr sz="2700" dirty="0">
                <a:latin typeface="Times New Roman"/>
                <a:cs typeface="Times New Roman"/>
              </a:rPr>
              <a:t>.</a:t>
            </a:r>
          </a:p>
          <a:p>
            <a:pPr marL="12700">
              <a:lnSpc>
                <a:spcPts val="2330"/>
              </a:lnSpc>
            </a:pPr>
            <a:r>
              <a:rPr sz="2700" spc="-25" dirty="0">
                <a:latin typeface="Times New Roman"/>
                <a:cs typeface="Times New Roman"/>
              </a:rPr>
              <a:t>T</a:t>
            </a:r>
            <a:r>
              <a:rPr sz="2700" spc="-15" dirty="0">
                <a:latin typeface="Times New Roman"/>
                <a:cs typeface="Times New Roman"/>
              </a:rPr>
              <a:t>h</a:t>
            </a:r>
            <a:r>
              <a:rPr sz="2700" spc="-20" dirty="0">
                <a:latin typeface="Times New Roman"/>
                <a:cs typeface="Times New Roman"/>
              </a:rPr>
              <a:t>e</a:t>
            </a:r>
            <a:r>
              <a:rPr sz="2700" dirty="0">
                <a:latin typeface="Times New Roman"/>
                <a:cs typeface="Times New Roman"/>
              </a:rPr>
              <a:t>y </a:t>
            </a:r>
            <a:r>
              <a:rPr sz="2700" spc="-15" dirty="0">
                <a:latin typeface="Times New Roman"/>
                <a:cs typeface="Times New Roman"/>
              </a:rPr>
              <a:t>h</a:t>
            </a:r>
            <a:r>
              <a:rPr sz="2700" spc="-20" dirty="0">
                <a:latin typeface="Times New Roman"/>
                <a:cs typeface="Times New Roman"/>
              </a:rPr>
              <a:t>a</a:t>
            </a:r>
            <a:r>
              <a:rPr sz="2700" spc="-15" dirty="0">
                <a:latin typeface="Times New Roman"/>
                <a:cs typeface="Times New Roman"/>
              </a:rPr>
              <a:t>ve</a:t>
            </a:r>
            <a:r>
              <a:rPr sz="2700" spc="-5" dirty="0">
                <a:latin typeface="Times New Roman"/>
                <a:cs typeface="Times New Roman"/>
              </a:rPr>
              <a:t> </a:t>
            </a:r>
            <a:r>
              <a:rPr sz="2700" spc="-15" dirty="0">
                <a:latin typeface="Times New Roman"/>
                <a:cs typeface="Times New Roman"/>
              </a:rPr>
              <a:t>the</a:t>
            </a:r>
            <a:r>
              <a:rPr sz="2700" spc="-5" dirty="0">
                <a:latin typeface="Times New Roman"/>
                <a:cs typeface="Times New Roman"/>
              </a:rPr>
              <a:t> </a:t>
            </a:r>
            <a:r>
              <a:rPr sz="2700" dirty="0">
                <a:latin typeface="Times New Roman"/>
                <a:cs typeface="Times New Roman"/>
              </a:rPr>
              <a:t>s</a:t>
            </a:r>
            <a:r>
              <a:rPr sz="2700" spc="-20" dirty="0">
                <a:latin typeface="Times New Roman"/>
                <a:cs typeface="Times New Roman"/>
              </a:rPr>
              <a:t>ame</a:t>
            </a:r>
            <a:r>
              <a:rPr sz="2700" spc="-5" dirty="0">
                <a:latin typeface="Times New Roman"/>
                <a:cs typeface="Times New Roman"/>
              </a:rPr>
              <a:t> </a:t>
            </a:r>
            <a:r>
              <a:rPr sz="2700" dirty="0">
                <a:latin typeface="Times New Roman"/>
                <a:cs typeface="Times New Roman"/>
              </a:rPr>
              <a:t>s</a:t>
            </a:r>
            <a:r>
              <a:rPr sz="2700" spc="-10" dirty="0">
                <a:latin typeface="Times New Roman"/>
                <a:cs typeface="Times New Roman"/>
              </a:rPr>
              <a:t>tr</a:t>
            </a:r>
            <a:r>
              <a:rPr sz="2700" spc="-20" dirty="0">
                <a:latin typeface="Times New Roman"/>
                <a:cs typeface="Times New Roman"/>
              </a:rPr>
              <a:t>a</a:t>
            </a:r>
            <a:r>
              <a:rPr sz="2700" spc="-10" dirty="0">
                <a:latin typeface="Times New Roman"/>
                <a:cs typeface="Times New Roman"/>
              </a:rPr>
              <a:t>t</a:t>
            </a:r>
            <a:r>
              <a:rPr sz="2700" spc="-20" dirty="0">
                <a:latin typeface="Times New Roman"/>
                <a:cs typeface="Times New Roman"/>
              </a:rPr>
              <a:t>e</a:t>
            </a:r>
            <a:r>
              <a:rPr sz="2700" dirty="0">
                <a:latin typeface="Times New Roman"/>
                <a:cs typeface="Times New Roman"/>
              </a:rPr>
              <a:t>gy s</a:t>
            </a:r>
            <a:r>
              <a:rPr sz="2700" spc="-20" dirty="0">
                <a:latin typeface="Times New Roman"/>
                <a:cs typeface="Times New Roman"/>
              </a:rPr>
              <a:t>e</a:t>
            </a:r>
            <a:r>
              <a:rPr sz="2700" spc="-10" dirty="0">
                <a:latin typeface="Times New Roman"/>
                <a:cs typeface="Times New Roman"/>
              </a:rPr>
              <a:t>t</a:t>
            </a:r>
            <a:r>
              <a:rPr sz="2700" dirty="0">
                <a:latin typeface="Times New Roman"/>
                <a:cs typeface="Times New Roman"/>
              </a:rPr>
              <a:t>s.</a:t>
            </a:r>
          </a:p>
          <a:p>
            <a:pPr marL="12700">
              <a:lnSpc>
                <a:spcPts val="3170"/>
              </a:lnSpc>
            </a:pPr>
            <a:r>
              <a:rPr sz="2700" spc="-10" dirty="0">
                <a:latin typeface="Times New Roman"/>
                <a:cs typeface="Times New Roman"/>
              </a:rPr>
              <a:t>It </a:t>
            </a:r>
            <a:r>
              <a:rPr sz="2700" spc="-15" dirty="0">
                <a:latin typeface="Times New Roman"/>
                <a:cs typeface="Times New Roman"/>
              </a:rPr>
              <a:t>do</a:t>
            </a:r>
            <a:r>
              <a:rPr sz="2700" spc="-20" dirty="0">
                <a:latin typeface="Times New Roman"/>
                <a:cs typeface="Times New Roman"/>
              </a:rPr>
              <a:t>e</a:t>
            </a:r>
            <a:r>
              <a:rPr sz="2700" dirty="0">
                <a:latin typeface="Times New Roman"/>
                <a:cs typeface="Times New Roman"/>
              </a:rPr>
              <a:t>s </a:t>
            </a:r>
            <a:r>
              <a:rPr sz="2700" spc="-15" dirty="0">
                <a:latin typeface="Times New Roman"/>
                <a:cs typeface="Times New Roman"/>
              </a:rPr>
              <a:t>not</a:t>
            </a:r>
            <a:r>
              <a:rPr sz="2700" dirty="0">
                <a:latin typeface="Times New Roman"/>
                <a:cs typeface="Times New Roman"/>
              </a:rPr>
              <a:t> </a:t>
            </a:r>
            <a:r>
              <a:rPr sz="2700" spc="-25" dirty="0">
                <a:latin typeface="Times New Roman"/>
                <a:cs typeface="Times New Roman"/>
              </a:rPr>
              <a:t>m</a:t>
            </a:r>
            <a:r>
              <a:rPr sz="2700" spc="-20" dirty="0">
                <a:latin typeface="Times New Roman"/>
                <a:cs typeface="Times New Roman"/>
              </a:rPr>
              <a:t>a</a:t>
            </a:r>
            <a:r>
              <a:rPr sz="2700" spc="-10" dirty="0">
                <a:latin typeface="Times New Roman"/>
                <a:cs typeface="Times New Roman"/>
              </a:rPr>
              <a:t>tt</a:t>
            </a:r>
            <a:r>
              <a:rPr sz="2700" spc="-20" dirty="0">
                <a:latin typeface="Times New Roman"/>
                <a:cs typeface="Times New Roman"/>
              </a:rPr>
              <a:t>e</a:t>
            </a:r>
            <a:r>
              <a:rPr sz="2700" spc="-110" dirty="0">
                <a:latin typeface="Times New Roman"/>
                <a:cs typeface="Times New Roman"/>
              </a:rPr>
              <a:t>r</a:t>
            </a:r>
            <a:r>
              <a:rPr sz="2700" dirty="0">
                <a:latin typeface="Times New Roman"/>
                <a:cs typeface="Times New Roman"/>
              </a:rPr>
              <a:t>, who </a:t>
            </a:r>
            <a:r>
              <a:rPr sz="2700" spc="-15" dirty="0">
                <a:latin typeface="Times New Roman"/>
                <a:cs typeface="Times New Roman"/>
              </a:rPr>
              <a:t>pl</a:t>
            </a:r>
            <a:r>
              <a:rPr sz="2700" spc="-20" dirty="0">
                <a:latin typeface="Times New Roman"/>
                <a:cs typeface="Times New Roman"/>
              </a:rPr>
              <a:t>a</a:t>
            </a:r>
            <a:r>
              <a:rPr sz="2700" dirty="0">
                <a:latin typeface="Times New Roman"/>
                <a:cs typeface="Times New Roman"/>
              </a:rPr>
              <a:t>ys w</a:t>
            </a:r>
            <a:r>
              <a:rPr sz="2700" spc="-15" dirty="0">
                <a:latin typeface="Times New Roman"/>
                <a:cs typeface="Times New Roman"/>
              </a:rPr>
              <a:t>hi</a:t>
            </a:r>
            <a:r>
              <a:rPr sz="2700" spc="-20" dirty="0">
                <a:latin typeface="Times New Roman"/>
                <a:cs typeface="Times New Roman"/>
              </a:rPr>
              <a:t>c</a:t>
            </a:r>
            <a:r>
              <a:rPr sz="2700" dirty="0">
                <a:latin typeface="Times New Roman"/>
                <a:cs typeface="Times New Roman"/>
              </a:rPr>
              <a:t>h s</a:t>
            </a:r>
            <a:r>
              <a:rPr sz="2700" spc="-10" dirty="0">
                <a:latin typeface="Times New Roman"/>
                <a:cs typeface="Times New Roman"/>
              </a:rPr>
              <a:t>tr</a:t>
            </a:r>
            <a:r>
              <a:rPr sz="2700" spc="-20" dirty="0">
                <a:latin typeface="Times New Roman"/>
                <a:cs typeface="Times New Roman"/>
              </a:rPr>
              <a:t>a</a:t>
            </a:r>
            <a:r>
              <a:rPr sz="2700" spc="-10" dirty="0">
                <a:latin typeface="Times New Roman"/>
                <a:cs typeface="Times New Roman"/>
              </a:rPr>
              <a:t>t</a:t>
            </a:r>
            <a:r>
              <a:rPr sz="2700" spc="-20" dirty="0">
                <a:latin typeface="Times New Roman"/>
                <a:cs typeface="Times New Roman"/>
              </a:rPr>
              <a:t>e</a:t>
            </a:r>
            <a:r>
              <a:rPr sz="2700" dirty="0">
                <a:latin typeface="Times New Roman"/>
                <a:cs typeface="Times New Roman"/>
              </a:rPr>
              <a:t>g</a:t>
            </a:r>
            <a:r>
              <a:rPr sz="2700" spc="-180" dirty="0">
                <a:latin typeface="Times New Roman"/>
                <a:cs typeface="Times New Roman"/>
              </a:rPr>
              <a:t>y</a:t>
            </a:r>
            <a:r>
              <a:rPr sz="2700" dirty="0">
                <a:latin typeface="Times New Roman"/>
                <a:cs typeface="Times New Roman"/>
              </a:rPr>
              <a:t>.</a:t>
            </a:r>
          </a:p>
          <a:p>
            <a:pPr>
              <a:lnSpc>
                <a:spcPct val="100000"/>
              </a:lnSpc>
              <a:spcBef>
                <a:spcPts val="17"/>
              </a:spcBef>
            </a:pPr>
            <a:endParaRPr sz="2750" dirty="0">
              <a:latin typeface="Times New Roman"/>
              <a:cs typeface="Times New Roman"/>
            </a:endParaRPr>
          </a:p>
          <a:p>
            <a:pPr marL="12700" marR="5080">
              <a:lnSpc>
                <a:spcPts val="3100"/>
              </a:lnSpc>
            </a:pPr>
            <a:r>
              <a:rPr sz="2700" dirty="0">
                <a:latin typeface="Times New Roman"/>
                <a:cs typeface="Times New Roman"/>
              </a:rPr>
              <a:t>O</a:t>
            </a:r>
            <a:r>
              <a:rPr sz="2700" spc="-15" dirty="0">
                <a:latin typeface="Times New Roman"/>
                <a:cs typeface="Times New Roman"/>
              </a:rPr>
              <a:t>nly the</a:t>
            </a:r>
            <a:r>
              <a:rPr sz="2700" spc="-5" dirty="0">
                <a:latin typeface="Times New Roman"/>
                <a:cs typeface="Times New Roman"/>
              </a:rPr>
              <a:t> </a:t>
            </a:r>
            <a:r>
              <a:rPr sz="2700" spc="-15" dirty="0">
                <a:solidFill>
                  <a:srgbClr val="FF0000"/>
                </a:solidFill>
                <a:latin typeface="Times New Roman"/>
                <a:cs typeface="Times New Roman"/>
              </a:rPr>
              <a:t>proport</a:t>
            </a:r>
            <a:r>
              <a:rPr sz="2700" spc="-10" dirty="0">
                <a:solidFill>
                  <a:srgbClr val="FF0000"/>
                </a:solidFill>
                <a:latin typeface="Times New Roman"/>
                <a:cs typeface="Times New Roman"/>
              </a:rPr>
              <a:t>i</a:t>
            </a:r>
            <a:r>
              <a:rPr sz="2700" dirty="0">
                <a:solidFill>
                  <a:srgbClr val="FF0000"/>
                </a:solidFill>
                <a:latin typeface="Times New Roman"/>
                <a:cs typeface="Times New Roman"/>
              </a:rPr>
              <a:t>on</a:t>
            </a:r>
            <a:r>
              <a:rPr sz="2700" dirty="0">
                <a:latin typeface="Times New Roman"/>
                <a:cs typeface="Times New Roman"/>
              </a:rPr>
              <a:t> of </a:t>
            </a:r>
            <a:r>
              <a:rPr sz="2700" spc="-15" dirty="0">
                <a:latin typeface="Times New Roman"/>
                <a:cs typeface="Times New Roman"/>
              </a:rPr>
              <a:t>the</a:t>
            </a:r>
            <a:r>
              <a:rPr sz="2700" spc="-5" dirty="0">
                <a:latin typeface="Times New Roman"/>
                <a:cs typeface="Times New Roman"/>
              </a:rPr>
              <a:t> </a:t>
            </a:r>
            <a:r>
              <a:rPr sz="2700" spc="-15" dirty="0">
                <a:latin typeface="Times New Roman"/>
                <a:cs typeface="Times New Roman"/>
              </a:rPr>
              <a:t>popul</a:t>
            </a:r>
            <a:r>
              <a:rPr sz="2700" spc="-20" dirty="0">
                <a:latin typeface="Times New Roman"/>
                <a:cs typeface="Times New Roman"/>
              </a:rPr>
              <a:t>a</a:t>
            </a:r>
            <a:r>
              <a:rPr sz="2700" spc="-10" dirty="0">
                <a:latin typeface="Times New Roman"/>
                <a:cs typeface="Times New Roman"/>
              </a:rPr>
              <a:t>ti</a:t>
            </a:r>
            <a:r>
              <a:rPr sz="2700" dirty="0">
                <a:latin typeface="Times New Roman"/>
                <a:cs typeface="Times New Roman"/>
              </a:rPr>
              <a:t>on </a:t>
            </a:r>
            <a:r>
              <a:rPr sz="2700" spc="-15" dirty="0">
                <a:latin typeface="Times New Roman"/>
                <a:cs typeface="Times New Roman"/>
              </a:rPr>
              <a:t>pl</a:t>
            </a:r>
            <a:r>
              <a:rPr sz="2700" spc="-20" dirty="0">
                <a:latin typeface="Times New Roman"/>
                <a:cs typeface="Times New Roman"/>
              </a:rPr>
              <a:t>a</a:t>
            </a:r>
            <a:r>
              <a:rPr sz="2700" spc="-15" dirty="0">
                <a:latin typeface="Times New Roman"/>
                <a:cs typeface="Times New Roman"/>
              </a:rPr>
              <a:t>yi</a:t>
            </a:r>
            <a:r>
              <a:rPr sz="2700" dirty="0">
                <a:latin typeface="Times New Roman"/>
                <a:cs typeface="Times New Roman"/>
              </a:rPr>
              <a:t>ng </a:t>
            </a:r>
            <a:r>
              <a:rPr sz="2700" spc="-15" dirty="0">
                <a:latin typeface="Times New Roman"/>
                <a:cs typeface="Times New Roman"/>
              </a:rPr>
              <a:t>a</a:t>
            </a:r>
            <a:r>
              <a:rPr sz="2700" spc="-5" dirty="0">
                <a:latin typeface="Times New Roman"/>
                <a:cs typeface="Times New Roman"/>
              </a:rPr>
              <a:t> </a:t>
            </a:r>
            <a:r>
              <a:rPr sz="2700" spc="-15" dirty="0">
                <a:latin typeface="Times New Roman"/>
                <a:cs typeface="Times New Roman"/>
              </a:rPr>
              <a:t>p</a:t>
            </a:r>
            <a:r>
              <a:rPr sz="2700" spc="-20" dirty="0">
                <a:latin typeface="Times New Roman"/>
                <a:cs typeface="Times New Roman"/>
              </a:rPr>
              <a:t>a</a:t>
            </a:r>
            <a:r>
              <a:rPr sz="2700" spc="-10" dirty="0">
                <a:latin typeface="Times New Roman"/>
                <a:cs typeface="Times New Roman"/>
              </a:rPr>
              <a:t>rti</a:t>
            </a:r>
            <a:r>
              <a:rPr sz="2700" spc="-20" dirty="0">
                <a:latin typeface="Times New Roman"/>
                <a:cs typeface="Times New Roman"/>
              </a:rPr>
              <a:t>c</a:t>
            </a:r>
            <a:r>
              <a:rPr sz="2700" spc="-15" dirty="0">
                <a:latin typeface="Times New Roman"/>
                <a:cs typeface="Times New Roman"/>
              </a:rPr>
              <a:t>ul</a:t>
            </a:r>
            <a:r>
              <a:rPr sz="2700" spc="-20" dirty="0">
                <a:latin typeface="Times New Roman"/>
                <a:cs typeface="Times New Roman"/>
              </a:rPr>
              <a:t>a</a:t>
            </a:r>
            <a:r>
              <a:rPr sz="2700" dirty="0">
                <a:latin typeface="Times New Roman"/>
                <a:cs typeface="Times New Roman"/>
              </a:rPr>
              <a:t>r s</a:t>
            </a:r>
            <a:r>
              <a:rPr sz="2700" spc="-10" dirty="0">
                <a:latin typeface="Times New Roman"/>
                <a:cs typeface="Times New Roman"/>
              </a:rPr>
              <a:t>tr</a:t>
            </a:r>
            <a:r>
              <a:rPr sz="2700" spc="-20" dirty="0">
                <a:latin typeface="Times New Roman"/>
                <a:cs typeface="Times New Roman"/>
              </a:rPr>
              <a:t>a</a:t>
            </a:r>
            <a:r>
              <a:rPr sz="2700" spc="-10" dirty="0">
                <a:latin typeface="Times New Roman"/>
                <a:cs typeface="Times New Roman"/>
              </a:rPr>
              <a:t>t</a:t>
            </a:r>
            <a:r>
              <a:rPr sz="2700" spc="-20" dirty="0">
                <a:latin typeface="Times New Roman"/>
                <a:cs typeface="Times New Roman"/>
              </a:rPr>
              <a:t>e</a:t>
            </a:r>
            <a:r>
              <a:rPr sz="2700" dirty="0">
                <a:latin typeface="Times New Roman"/>
                <a:cs typeface="Times New Roman"/>
              </a:rPr>
              <a:t>gy </a:t>
            </a:r>
            <a:r>
              <a:rPr sz="2700" spc="-25" dirty="0">
                <a:latin typeface="Times New Roman"/>
                <a:cs typeface="Times New Roman"/>
              </a:rPr>
              <a:t>m</a:t>
            </a:r>
            <a:r>
              <a:rPr sz="2700" spc="-20" dirty="0">
                <a:latin typeface="Times New Roman"/>
                <a:cs typeface="Times New Roman"/>
              </a:rPr>
              <a:t>a</a:t>
            </a:r>
            <a:r>
              <a:rPr sz="2700" spc="-10" dirty="0">
                <a:latin typeface="Times New Roman"/>
                <a:cs typeface="Times New Roman"/>
              </a:rPr>
              <a:t>tt</a:t>
            </a:r>
            <a:r>
              <a:rPr sz="2700" spc="-20" dirty="0">
                <a:latin typeface="Times New Roman"/>
                <a:cs typeface="Times New Roman"/>
              </a:rPr>
              <a:t>e</a:t>
            </a:r>
            <a:r>
              <a:rPr sz="2700" dirty="0">
                <a:latin typeface="Times New Roman"/>
                <a:cs typeface="Times New Roman"/>
              </a:rPr>
              <a:t>rs.</a:t>
            </a:r>
          </a:p>
          <a:p>
            <a:pPr>
              <a:lnSpc>
                <a:spcPct val="100000"/>
              </a:lnSpc>
              <a:spcBef>
                <a:spcPts val="52"/>
              </a:spcBef>
            </a:pPr>
            <a:endParaRPr sz="2650" dirty="0">
              <a:latin typeface="Times New Roman"/>
              <a:cs typeface="Times New Roman"/>
            </a:endParaRPr>
          </a:p>
          <a:p>
            <a:pPr marL="12700" marR="790575">
              <a:lnSpc>
                <a:spcPts val="3100"/>
              </a:lnSpc>
              <a:tabLst>
                <a:tab pos="4831715" algn="l"/>
              </a:tabLst>
            </a:pPr>
            <a:r>
              <a:rPr sz="2700" b="1" spc="-25" dirty="0">
                <a:latin typeface="Times New Roman"/>
                <a:cs typeface="Times New Roman"/>
              </a:rPr>
              <a:t>Obs</a:t>
            </a:r>
            <a:r>
              <a:rPr sz="2700" b="1" spc="-20" dirty="0">
                <a:latin typeface="Times New Roman"/>
                <a:cs typeface="Times New Roman"/>
              </a:rPr>
              <a:t>er</a:t>
            </a:r>
            <a:r>
              <a:rPr sz="2700" b="1" spc="-15" dirty="0">
                <a:latin typeface="Times New Roman"/>
                <a:cs typeface="Times New Roman"/>
              </a:rPr>
              <a:t>vati</a:t>
            </a:r>
            <a:r>
              <a:rPr sz="2700" b="1" dirty="0">
                <a:latin typeface="Times New Roman"/>
                <a:cs typeface="Times New Roman"/>
              </a:rPr>
              <a:t>on: Con</a:t>
            </a:r>
            <a:r>
              <a:rPr sz="2700" b="1" spc="-15" dirty="0">
                <a:latin typeface="Times New Roman"/>
                <a:cs typeface="Times New Roman"/>
              </a:rPr>
              <a:t>g</a:t>
            </a:r>
            <a:r>
              <a:rPr sz="2700" b="1" spc="-20" dirty="0">
                <a:latin typeface="Times New Roman"/>
                <a:cs typeface="Times New Roman"/>
              </a:rPr>
              <a:t>e</a:t>
            </a:r>
            <a:r>
              <a:rPr sz="2700" b="1" dirty="0">
                <a:latin typeface="Times New Roman"/>
                <a:cs typeface="Times New Roman"/>
              </a:rPr>
              <a:t>s</a:t>
            </a:r>
            <a:r>
              <a:rPr sz="2700" b="1" spc="-10" dirty="0">
                <a:latin typeface="Times New Roman"/>
                <a:cs typeface="Times New Roman"/>
              </a:rPr>
              <a:t>ti</a:t>
            </a:r>
            <a:r>
              <a:rPr sz="2700" b="1" dirty="0">
                <a:latin typeface="Times New Roman"/>
                <a:cs typeface="Times New Roman"/>
              </a:rPr>
              <a:t>on </a:t>
            </a:r>
            <a:r>
              <a:rPr sz="2700" b="1" spc="-20" dirty="0">
                <a:latin typeface="Times New Roman"/>
                <a:cs typeface="Times New Roman"/>
              </a:rPr>
              <a:t>game</a:t>
            </a:r>
            <a:r>
              <a:rPr sz="2700" b="1" dirty="0">
                <a:latin typeface="Times New Roman"/>
                <a:cs typeface="Times New Roman"/>
              </a:rPr>
              <a:t>s</a:t>
            </a:r>
            <a:r>
              <a:rPr lang="en-US" sz="2700" b="1" dirty="0">
                <a:latin typeface="Times New Roman"/>
                <a:cs typeface="Times New Roman"/>
              </a:rPr>
              <a:t> </a:t>
            </a:r>
            <a:r>
              <a:rPr sz="2700" b="1" spc="-15" dirty="0">
                <a:latin typeface="Times New Roman"/>
                <a:cs typeface="Times New Roman"/>
              </a:rPr>
              <a:t>a</a:t>
            </a:r>
            <a:r>
              <a:rPr sz="2700" b="1" spc="-65" dirty="0">
                <a:latin typeface="Times New Roman"/>
                <a:cs typeface="Times New Roman"/>
              </a:rPr>
              <a:t>r</a:t>
            </a:r>
            <a:r>
              <a:rPr sz="2700" b="1" spc="-15" dirty="0">
                <a:latin typeface="Times New Roman"/>
                <a:cs typeface="Times New Roman"/>
              </a:rPr>
              <a:t>e</a:t>
            </a:r>
            <a:r>
              <a:rPr sz="2700" b="1" spc="-5" dirty="0">
                <a:latin typeface="Times New Roman"/>
                <a:cs typeface="Times New Roman"/>
              </a:rPr>
              <a:t> </a:t>
            </a:r>
            <a:r>
              <a:rPr sz="2700" b="1" dirty="0">
                <a:latin typeface="Times New Roman"/>
                <a:cs typeface="Times New Roman"/>
              </a:rPr>
              <a:t>a p</a:t>
            </a:r>
            <a:r>
              <a:rPr sz="2700" b="1" spc="-15" dirty="0">
                <a:latin typeface="Times New Roman"/>
                <a:cs typeface="Times New Roman"/>
              </a:rPr>
              <a:t>a</a:t>
            </a:r>
            <a:r>
              <a:rPr sz="2700" b="1" spc="-20" dirty="0">
                <a:latin typeface="Times New Roman"/>
                <a:cs typeface="Times New Roman"/>
              </a:rPr>
              <a:t>r</a:t>
            </a:r>
            <a:r>
              <a:rPr sz="2700" b="1" spc="-10" dirty="0">
                <a:latin typeface="Times New Roman"/>
                <a:cs typeface="Times New Roman"/>
              </a:rPr>
              <a:t>ti</a:t>
            </a:r>
            <a:r>
              <a:rPr sz="2700" b="1" spc="-20" dirty="0">
                <a:latin typeface="Times New Roman"/>
                <a:cs typeface="Times New Roman"/>
              </a:rPr>
              <a:t>c</a:t>
            </a:r>
            <a:r>
              <a:rPr sz="2700" b="1" dirty="0">
                <a:latin typeface="Times New Roman"/>
                <a:cs typeface="Times New Roman"/>
              </a:rPr>
              <a:t>u</a:t>
            </a:r>
            <a:r>
              <a:rPr sz="2700" b="1" spc="-15" dirty="0">
                <a:latin typeface="Times New Roman"/>
                <a:cs typeface="Times New Roman"/>
              </a:rPr>
              <a:t>lar</a:t>
            </a:r>
            <a:r>
              <a:rPr sz="2700" b="1" spc="-10" dirty="0">
                <a:latin typeface="Times New Roman"/>
                <a:cs typeface="Times New Roman"/>
              </a:rPr>
              <a:t> fo</a:t>
            </a:r>
            <a:r>
              <a:rPr sz="2700" b="1" spc="-20" dirty="0">
                <a:latin typeface="Times New Roman"/>
                <a:cs typeface="Times New Roman"/>
              </a:rPr>
              <a:t>r</a:t>
            </a:r>
            <a:r>
              <a:rPr sz="2700" b="1" dirty="0">
                <a:latin typeface="Times New Roman"/>
                <a:cs typeface="Times New Roman"/>
              </a:rPr>
              <a:t>m of popu</a:t>
            </a:r>
            <a:r>
              <a:rPr sz="2700" b="1" spc="-10" dirty="0">
                <a:latin typeface="Times New Roman"/>
                <a:cs typeface="Times New Roman"/>
              </a:rPr>
              <a:t>lat</a:t>
            </a:r>
            <a:r>
              <a:rPr sz="2700" b="1" spc="-15" dirty="0">
                <a:latin typeface="Times New Roman"/>
                <a:cs typeface="Times New Roman"/>
              </a:rPr>
              <a:t>i</a:t>
            </a:r>
            <a:r>
              <a:rPr sz="2700" b="1" dirty="0">
                <a:latin typeface="Times New Roman"/>
                <a:cs typeface="Times New Roman"/>
              </a:rPr>
              <a:t>on </a:t>
            </a:r>
            <a:r>
              <a:rPr sz="2700" b="1" spc="-20" dirty="0">
                <a:latin typeface="Times New Roman"/>
                <a:cs typeface="Times New Roman"/>
              </a:rPr>
              <a:t>game</a:t>
            </a:r>
            <a:r>
              <a:rPr sz="2700" b="1" dirty="0">
                <a:latin typeface="Times New Roman"/>
                <a:cs typeface="Times New Roman"/>
              </a:rPr>
              <a:t>.</a:t>
            </a:r>
            <a:endParaRPr sz="2700" dirty="0">
              <a:latin typeface="Times New Roman"/>
              <a:cs typeface="Times New Roman"/>
            </a:endParaRPr>
          </a:p>
        </p:txBody>
      </p:sp>
      <p:sp>
        <p:nvSpPr>
          <p:cNvPr id="7" name="object 7"/>
          <p:cNvSpPr txBox="1">
            <a:spLocks noGrp="1"/>
          </p:cNvSpPr>
          <p:nvPr>
            <p:ph type="title"/>
          </p:nvPr>
        </p:nvSpPr>
        <p:spPr>
          <a:prstGeom prst="rect">
            <a:avLst/>
          </a:prstGeom>
        </p:spPr>
        <p:txBody>
          <a:bodyPr vert="horz" wrap="square" lIns="0" tIns="0" rIns="0" bIns="0" rtlCol="0">
            <a:spAutoFit/>
          </a:bodyPr>
          <a:lstStyle/>
          <a:p>
            <a:pPr>
              <a:lnSpc>
                <a:spcPct val="100000"/>
              </a:lnSpc>
            </a:pPr>
            <a:r>
              <a:rPr dirty="0"/>
              <a:t>Popula</a:t>
            </a:r>
            <a:r>
              <a:rPr spc="-15" dirty="0"/>
              <a:t>t</a:t>
            </a:r>
            <a:r>
              <a:rPr dirty="0"/>
              <a:t>ion</a:t>
            </a:r>
            <a:r>
              <a:rPr spc="-5" dirty="0"/>
              <a:t> </a:t>
            </a:r>
            <a:r>
              <a:rPr spc="-30" dirty="0"/>
              <a:t>G</a:t>
            </a:r>
            <a:r>
              <a:rPr dirty="0"/>
              <a:t>ames</a:t>
            </a:r>
          </a:p>
        </p:txBody>
      </p:sp>
      <p:sp>
        <p:nvSpPr>
          <p:cNvPr id="8" name="Rectangle 7">
            <a:extLst>
              <a:ext uri="{FF2B5EF4-FFF2-40B4-BE49-F238E27FC236}">
                <a16:creationId xmlns:a16="http://schemas.microsoft.com/office/drawing/2014/main" id="{DAC520F0-2CD3-2D35-49E1-984CC51F0C66}"/>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00241EA6-477E-BE24-9E6F-8BE7F1C00B7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8">
            <a:extLst>
              <a:ext uri="{FF2B5EF4-FFF2-40B4-BE49-F238E27FC236}">
                <a16:creationId xmlns:a16="http://schemas.microsoft.com/office/drawing/2014/main" id="{580A4B51-4BD8-2085-2F1B-BEAE130F82A1}"/>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7</a:t>
            </a:fld>
            <a:r>
              <a:rPr lang="en-US" sz="2000" dirty="0">
                <a:solidFill>
                  <a:prstClr val="black"/>
                </a:solidFill>
                <a:latin typeface="Comic Sans MS"/>
                <a:sym typeface="Comic Sans MS"/>
              </a:rPr>
              <a:t>/59</a:t>
            </a:r>
          </a:p>
        </p:txBody>
      </p:sp>
      <p:sp>
        <p:nvSpPr>
          <p:cNvPr id="11" name="Footer Placeholder 9">
            <a:extLst>
              <a:ext uri="{FF2B5EF4-FFF2-40B4-BE49-F238E27FC236}">
                <a16:creationId xmlns:a16="http://schemas.microsoft.com/office/drawing/2014/main" id="{A8311AF6-B0FD-21D9-4A86-16A66540778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2" name="Rectangle 11">
            <a:extLst>
              <a:ext uri="{FF2B5EF4-FFF2-40B4-BE49-F238E27FC236}">
                <a16:creationId xmlns:a16="http://schemas.microsoft.com/office/drawing/2014/main" id="{8CDAC199-F351-BC91-B1B3-E67341E467E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Po</a:t>
            </a:r>
            <a:r>
              <a:rPr spc="-15" dirty="0"/>
              <a:t>t</a:t>
            </a:r>
            <a:r>
              <a:rPr dirty="0"/>
              <a:t>en</a:t>
            </a:r>
            <a:r>
              <a:rPr spc="-15" dirty="0"/>
              <a:t>t</a:t>
            </a:r>
            <a:r>
              <a:rPr dirty="0"/>
              <a:t>ial</a:t>
            </a:r>
            <a:r>
              <a:rPr spc="-5" dirty="0"/>
              <a:t> </a:t>
            </a:r>
            <a:r>
              <a:rPr spc="-30" dirty="0"/>
              <a:t>G</a:t>
            </a:r>
            <a:r>
              <a:rPr dirty="0"/>
              <a:t>ames</a:t>
            </a:r>
          </a:p>
        </p:txBody>
      </p:sp>
      <p:sp>
        <p:nvSpPr>
          <p:cNvPr id="6" name="object 6"/>
          <p:cNvSpPr txBox="1"/>
          <p:nvPr/>
        </p:nvSpPr>
        <p:spPr>
          <a:xfrm>
            <a:off x="377167" y="4365752"/>
            <a:ext cx="1420495" cy="992505"/>
          </a:xfrm>
          <a:prstGeom prst="rect">
            <a:avLst/>
          </a:prstGeom>
        </p:spPr>
        <p:txBody>
          <a:bodyPr vert="horz" wrap="square" lIns="0" tIns="0" rIns="0" bIns="0" rtlCol="0">
            <a:spAutoFit/>
          </a:bodyPr>
          <a:lstStyle/>
          <a:p>
            <a:pPr marL="25400" marR="5080" indent="-13335">
              <a:lnSpc>
                <a:spcPct val="143300"/>
              </a:lnSpc>
            </a:pPr>
            <a:r>
              <a:rPr sz="2800" spc="-25" dirty="0">
                <a:latin typeface="Times New Roman"/>
                <a:cs typeface="Times New Roman"/>
              </a:rPr>
              <a:t>T</a:t>
            </a:r>
            <a:r>
              <a:rPr sz="2800" spc="-15" dirty="0">
                <a:latin typeface="Times New Roman"/>
                <a:cs typeface="Times New Roman"/>
              </a:rPr>
              <a:t>h</a:t>
            </a:r>
            <a:r>
              <a:rPr sz="2800" spc="-20" dirty="0">
                <a:latin typeface="Times New Roman"/>
                <a:cs typeface="Times New Roman"/>
              </a:rPr>
              <a:t>e</a:t>
            </a:r>
            <a:r>
              <a:rPr sz="2800" spc="-15" dirty="0">
                <a:latin typeface="Times New Roman"/>
                <a:cs typeface="Times New Roman"/>
              </a:rPr>
              <a:t>or</a:t>
            </a:r>
            <a:r>
              <a:rPr sz="2800" spc="-20" dirty="0">
                <a:latin typeface="Times New Roman"/>
                <a:cs typeface="Times New Roman"/>
              </a:rPr>
              <a:t>e</a:t>
            </a:r>
            <a:r>
              <a:rPr sz="2800" spc="-15" dirty="0">
                <a:latin typeface="Times New Roman"/>
                <a:cs typeface="Times New Roman"/>
              </a:rPr>
              <a:t>m:</a:t>
            </a:r>
            <a:r>
              <a:rPr sz="2800" spc="-10" dirty="0">
                <a:latin typeface="Times New Roman"/>
                <a:cs typeface="Times New Roman"/>
              </a:rPr>
              <a:t> </a:t>
            </a:r>
            <a:r>
              <a:rPr sz="2800" spc="-25" dirty="0">
                <a:latin typeface="Times New Roman"/>
                <a:cs typeface="Times New Roman"/>
              </a:rPr>
              <a:t>T</a:t>
            </a:r>
            <a:r>
              <a:rPr sz="2800" spc="-15" dirty="0">
                <a:latin typeface="Times New Roman"/>
                <a:cs typeface="Times New Roman"/>
              </a:rPr>
              <a:t>h</a:t>
            </a:r>
            <a:r>
              <a:rPr sz="2800" spc="-20" dirty="0">
                <a:latin typeface="Times New Roman"/>
                <a:cs typeface="Times New Roman"/>
              </a:rPr>
              <a:t>e</a:t>
            </a:r>
            <a:r>
              <a:rPr sz="2800" spc="-15" dirty="0">
                <a:latin typeface="Times New Roman"/>
                <a:cs typeface="Times New Roman"/>
              </a:rPr>
              <a:t>or</a:t>
            </a:r>
            <a:r>
              <a:rPr sz="2800" spc="-20" dirty="0">
                <a:latin typeface="Times New Roman"/>
                <a:cs typeface="Times New Roman"/>
              </a:rPr>
              <a:t>e</a:t>
            </a:r>
            <a:r>
              <a:rPr sz="2800" spc="-15" dirty="0">
                <a:latin typeface="Times New Roman"/>
                <a:cs typeface="Times New Roman"/>
              </a:rPr>
              <a:t>m:</a:t>
            </a:r>
            <a:endParaRPr sz="2800">
              <a:latin typeface="Times New Roman"/>
              <a:cs typeface="Times New Roman"/>
            </a:endParaRPr>
          </a:p>
        </p:txBody>
      </p:sp>
      <p:sp>
        <p:nvSpPr>
          <p:cNvPr id="7" name="object 7"/>
          <p:cNvSpPr txBox="1"/>
          <p:nvPr/>
        </p:nvSpPr>
        <p:spPr>
          <a:xfrm>
            <a:off x="2002767" y="4365752"/>
            <a:ext cx="6127750" cy="1398905"/>
          </a:xfrm>
          <a:prstGeom prst="rect">
            <a:avLst/>
          </a:prstGeom>
        </p:spPr>
        <p:txBody>
          <a:bodyPr vert="horz" wrap="square" lIns="0" tIns="0" rIns="0" bIns="0" rtlCol="0">
            <a:spAutoFit/>
          </a:bodyPr>
          <a:lstStyle/>
          <a:p>
            <a:pPr marL="25400" marR="5080" indent="-13335">
              <a:lnSpc>
                <a:spcPct val="143300"/>
              </a:lnSpc>
            </a:pPr>
            <a:r>
              <a:rPr sz="2800" spc="-25" dirty="0">
                <a:latin typeface="Times New Roman"/>
                <a:cs typeface="Times New Roman"/>
              </a:rPr>
              <a:t>E</a:t>
            </a:r>
            <a:r>
              <a:rPr sz="2800" spc="-15" dirty="0">
                <a:latin typeface="Times New Roman"/>
                <a:cs typeface="Times New Roman"/>
              </a:rPr>
              <a:t>v</a:t>
            </a:r>
            <a:r>
              <a:rPr sz="2800" spc="-20" dirty="0">
                <a:latin typeface="Times New Roman"/>
                <a:cs typeface="Times New Roman"/>
              </a:rPr>
              <a:t>e</a:t>
            </a:r>
            <a:r>
              <a:rPr sz="2800" dirty="0">
                <a:latin typeface="Times New Roman"/>
                <a:cs typeface="Times New Roman"/>
              </a:rPr>
              <a:t>ry </a:t>
            </a:r>
            <a:r>
              <a:rPr sz="2800" spc="-20" dirty="0">
                <a:latin typeface="Times New Roman"/>
                <a:cs typeface="Times New Roman"/>
              </a:rPr>
              <a:t>c</a:t>
            </a:r>
            <a:r>
              <a:rPr sz="2800" spc="-15" dirty="0">
                <a:latin typeface="Times New Roman"/>
                <a:cs typeface="Times New Roman"/>
              </a:rPr>
              <a:t>ong</a:t>
            </a:r>
            <a:r>
              <a:rPr sz="2800" spc="-20" dirty="0">
                <a:latin typeface="Times New Roman"/>
                <a:cs typeface="Times New Roman"/>
              </a:rPr>
              <a:t>e</a:t>
            </a:r>
            <a:r>
              <a:rPr sz="2800" dirty="0">
                <a:latin typeface="Times New Roman"/>
                <a:cs typeface="Times New Roman"/>
              </a:rPr>
              <a:t>s</a:t>
            </a:r>
            <a:r>
              <a:rPr sz="2800" spc="-10" dirty="0">
                <a:latin typeface="Times New Roman"/>
                <a:cs typeface="Times New Roman"/>
              </a:rPr>
              <a:t>ti</a:t>
            </a:r>
            <a:r>
              <a:rPr sz="2800" dirty="0">
                <a:latin typeface="Times New Roman"/>
                <a:cs typeface="Times New Roman"/>
              </a:rPr>
              <a:t>on </a:t>
            </a:r>
            <a:r>
              <a:rPr sz="2800" spc="-15" dirty="0">
                <a:latin typeface="Times New Roman"/>
                <a:cs typeface="Times New Roman"/>
              </a:rPr>
              <a:t>g</a:t>
            </a:r>
            <a:r>
              <a:rPr sz="2800" spc="-20" dirty="0">
                <a:latin typeface="Times New Roman"/>
                <a:cs typeface="Times New Roman"/>
              </a:rPr>
              <a:t>ame</a:t>
            </a:r>
            <a:r>
              <a:rPr sz="2800" spc="-5" dirty="0">
                <a:latin typeface="Times New Roman"/>
                <a:cs typeface="Times New Roman"/>
              </a:rPr>
              <a:t> </a:t>
            </a:r>
            <a:r>
              <a:rPr sz="2800" spc="-10" dirty="0">
                <a:latin typeface="Times New Roman"/>
                <a:cs typeface="Times New Roman"/>
              </a:rPr>
              <a:t>i</a:t>
            </a:r>
            <a:r>
              <a:rPr sz="2800" dirty="0">
                <a:latin typeface="Times New Roman"/>
                <a:cs typeface="Times New Roman"/>
              </a:rPr>
              <a:t>s </a:t>
            </a:r>
            <a:r>
              <a:rPr sz="2800" spc="-15" dirty="0">
                <a:latin typeface="Times New Roman"/>
                <a:cs typeface="Times New Roman"/>
              </a:rPr>
              <a:t>a</a:t>
            </a:r>
            <a:r>
              <a:rPr sz="2800" spc="-5" dirty="0">
                <a:latin typeface="Times New Roman"/>
                <a:cs typeface="Times New Roman"/>
              </a:rPr>
              <a:t> </a:t>
            </a:r>
            <a:r>
              <a:rPr sz="2800" spc="-15" dirty="0">
                <a:latin typeface="Times New Roman"/>
                <a:cs typeface="Times New Roman"/>
              </a:rPr>
              <a:t>pot</a:t>
            </a:r>
            <a:r>
              <a:rPr sz="2800" spc="-20" dirty="0">
                <a:latin typeface="Times New Roman"/>
                <a:cs typeface="Times New Roman"/>
              </a:rPr>
              <a:t>e</a:t>
            </a:r>
            <a:r>
              <a:rPr sz="2800" spc="-10" dirty="0">
                <a:latin typeface="Times New Roman"/>
                <a:cs typeface="Times New Roman"/>
              </a:rPr>
              <a:t>nti</a:t>
            </a:r>
            <a:r>
              <a:rPr sz="2800" spc="-20" dirty="0">
                <a:latin typeface="Times New Roman"/>
                <a:cs typeface="Times New Roman"/>
              </a:rPr>
              <a:t>a</a:t>
            </a:r>
            <a:r>
              <a:rPr sz="2800" spc="-10" dirty="0">
                <a:latin typeface="Times New Roman"/>
                <a:cs typeface="Times New Roman"/>
              </a:rPr>
              <a:t>l</a:t>
            </a:r>
            <a:r>
              <a:rPr sz="2800" dirty="0">
                <a:latin typeface="Times New Roman"/>
                <a:cs typeface="Times New Roman"/>
              </a:rPr>
              <a:t> </a:t>
            </a:r>
            <a:r>
              <a:rPr sz="2800" spc="-15" dirty="0">
                <a:latin typeface="Times New Roman"/>
                <a:cs typeface="Times New Roman"/>
              </a:rPr>
              <a:t>g</a:t>
            </a:r>
            <a:r>
              <a:rPr sz="2800" spc="-20" dirty="0">
                <a:latin typeface="Times New Roman"/>
                <a:cs typeface="Times New Roman"/>
              </a:rPr>
              <a:t>ame</a:t>
            </a:r>
            <a:r>
              <a:rPr sz="2800" spc="-10" dirty="0">
                <a:latin typeface="Times New Roman"/>
                <a:cs typeface="Times New Roman"/>
              </a:rPr>
              <a:t> </a:t>
            </a:r>
            <a:r>
              <a:rPr sz="2800" spc="-25" dirty="0">
                <a:latin typeface="Times New Roman"/>
                <a:cs typeface="Times New Roman"/>
              </a:rPr>
              <a:t>E</a:t>
            </a:r>
            <a:r>
              <a:rPr sz="2800" spc="-15" dirty="0">
                <a:latin typeface="Times New Roman"/>
                <a:cs typeface="Times New Roman"/>
              </a:rPr>
              <a:t>v</a:t>
            </a:r>
            <a:r>
              <a:rPr sz="2800" spc="-20" dirty="0">
                <a:latin typeface="Times New Roman"/>
                <a:cs typeface="Times New Roman"/>
              </a:rPr>
              <a:t>e</a:t>
            </a:r>
            <a:r>
              <a:rPr sz="2800" dirty="0">
                <a:latin typeface="Times New Roman"/>
                <a:cs typeface="Times New Roman"/>
              </a:rPr>
              <a:t>ry </a:t>
            </a:r>
            <a:r>
              <a:rPr sz="2800" spc="-10" dirty="0">
                <a:latin typeface="Times New Roman"/>
                <a:cs typeface="Times New Roman"/>
              </a:rPr>
              <a:t>(finit</a:t>
            </a:r>
            <a:r>
              <a:rPr sz="2800" spc="-20" dirty="0">
                <a:latin typeface="Times New Roman"/>
                <a:cs typeface="Times New Roman"/>
              </a:rPr>
              <a:t>e</a:t>
            </a:r>
            <a:r>
              <a:rPr sz="2800" dirty="0">
                <a:latin typeface="Times New Roman"/>
                <a:cs typeface="Times New Roman"/>
              </a:rPr>
              <a:t>) </a:t>
            </a:r>
            <a:r>
              <a:rPr sz="2800" spc="-15" dirty="0">
                <a:latin typeface="Times New Roman"/>
                <a:cs typeface="Times New Roman"/>
              </a:rPr>
              <a:t>pot</a:t>
            </a:r>
            <a:r>
              <a:rPr sz="2800" spc="-20" dirty="0">
                <a:latin typeface="Times New Roman"/>
                <a:cs typeface="Times New Roman"/>
              </a:rPr>
              <a:t>e</a:t>
            </a:r>
            <a:r>
              <a:rPr sz="2800" spc="-10" dirty="0">
                <a:latin typeface="Times New Roman"/>
                <a:cs typeface="Times New Roman"/>
              </a:rPr>
              <a:t>nti</a:t>
            </a:r>
            <a:r>
              <a:rPr sz="2800" spc="-20" dirty="0">
                <a:latin typeface="Times New Roman"/>
                <a:cs typeface="Times New Roman"/>
              </a:rPr>
              <a:t>a</a:t>
            </a:r>
            <a:r>
              <a:rPr sz="2800" spc="-10" dirty="0">
                <a:latin typeface="Times New Roman"/>
                <a:cs typeface="Times New Roman"/>
              </a:rPr>
              <a:t>l</a:t>
            </a:r>
            <a:r>
              <a:rPr sz="2800" dirty="0">
                <a:latin typeface="Times New Roman"/>
                <a:cs typeface="Times New Roman"/>
              </a:rPr>
              <a:t> </a:t>
            </a:r>
            <a:r>
              <a:rPr sz="2800" spc="-15" dirty="0">
                <a:latin typeface="Times New Roman"/>
                <a:cs typeface="Times New Roman"/>
              </a:rPr>
              <a:t>g</a:t>
            </a:r>
            <a:r>
              <a:rPr sz="2800" spc="-20" dirty="0">
                <a:latin typeface="Times New Roman"/>
                <a:cs typeface="Times New Roman"/>
              </a:rPr>
              <a:t>ame</a:t>
            </a:r>
            <a:r>
              <a:rPr sz="2800" spc="-5" dirty="0">
                <a:latin typeface="Times New Roman"/>
                <a:cs typeface="Times New Roman"/>
              </a:rPr>
              <a:t> </a:t>
            </a:r>
            <a:r>
              <a:rPr sz="2800" spc="-15" dirty="0">
                <a:latin typeface="Times New Roman"/>
                <a:cs typeface="Times New Roman"/>
              </a:rPr>
              <a:t>h</a:t>
            </a:r>
            <a:r>
              <a:rPr sz="2800" spc="-20" dirty="0">
                <a:latin typeface="Times New Roman"/>
                <a:cs typeface="Times New Roman"/>
              </a:rPr>
              <a:t>a</a:t>
            </a:r>
            <a:r>
              <a:rPr sz="2800" dirty="0">
                <a:latin typeface="Times New Roman"/>
                <a:cs typeface="Times New Roman"/>
              </a:rPr>
              <a:t>s</a:t>
            </a:r>
            <a:endParaRPr sz="2800">
              <a:latin typeface="Times New Roman"/>
              <a:cs typeface="Times New Roman"/>
            </a:endParaRPr>
          </a:p>
          <a:p>
            <a:pPr marL="25400">
              <a:lnSpc>
                <a:spcPts val="3200"/>
              </a:lnSpc>
            </a:pPr>
            <a:r>
              <a:rPr sz="2800" spc="-15" dirty="0">
                <a:latin typeface="Times New Roman"/>
                <a:cs typeface="Times New Roman"/>
              </a:rPr>
              <a:t>a </a:t>
            </a:r>
            <a:r>
              <a:rPr sz="2800" u="heavy" spc="-15" dirty="0">
                <a:latin typeface="Times New Roman"/>
                <a:cs typeface="Times New Roman"/>
              </a:rPr>
              <a:t>pure</a:t>
            </a:r>
            <a:r>
              <a:rPr sz="2800" spc="-15" dirty="0">
                <a:latin typeface="Times New Roman"/>
                <a:cs typeface="Times New Roman"/>
              </a:rPr>
              <a:t> N</a:t>
            </a:r>
            <a:r>
              <a:rPr sz="2800" spc="-20" dirty="0">
                <a:latin typeface="Times New Roman"/>
                <a:cs typeface="Times New Roman"/>
              </a:rPr>
              <a:t>a</a:t>
            </a:r>
            <a:r>
              <a:rPr sz="2800" dirty="0">
                <a:latin typeface="Times New Roman"/>
                <a:cs typeface="Times New Roman"/>
              </a:rPr>
              <a:t>sh </a:t>
            </a:r>
            <a:r>
              <a:rPr sz="2800" spc="-25" dirty="0">
                <a:latin typeface="Times New Roman"/>
                <a:cs typeface="Times New Roman"/>
              </a:rPr>
              <a:t>E</a:t>
            </a:r>
            <a:r>
              <a:rPr sz="2800" spc="-15" dirty="0">
                <a:latin typeface="Times New Roman"/>
                <a:cs typeface="Times New Roman"/>
              </a:rPr>
              <a:t>quilibri</a:t>
            </a:r>
            <a:r>
              <a:rPr sz="2800" spc="-20" dirty="0">
                <a:latin typeface="Times New Roman"/>
                <a:cs typeface="Times New Roman"/>
              </a:rPr>
              <a:t>um</a:t>
            </a:r>
            <a:endParaRPr sz="2800">
              <a:latin typeface="Times New Roman"/>
              <a:cs typeface="Times New Roman"/>
            </a:endParaRPr>
          </a:p>
        </p:txBody>
      </p:sp>
      <p:sp>
        <p:nvSpPr>
          <p:cNvPr id="8" name="object 8"/>
          <p:cNvSpPr txBox="1"/>
          <p:nvPr/>
        </p:nvSpPr>
        <p:spPr>
          <a:xfrm>
            <a:off x="350262" y="1656336"/>
            <a:ext cx="8192770" cy="2197735"/>
          </a:xfrm>
          <a:prstGeom prst="rect">
            <a:avLst/>
          </a:prstGeom>
        </p:spPr>
        <p:txBody>
          <a:bodyPr vert="horz" wrap="square" lIns="0" tIns="0" rIns="0" bIns="0" rtlCol="0">
            <a:spAutoFit/>
          </a:bodyPr>
          <a:lstStyle/>
          <a:p>
            <a:pPr marL="12700" marR="5080">
              <a:lnSpc>
                <a:spcPts val="3360"/>
              </a:lnSpc>
            </a:pPr>
            <a:r>
              <a:rPr sz="2800" dirty="0">
                <a:latin typeface="Times New Roman"/>
                <a:cs typeface="Times New Roman"/>
              </a:rPr>
              <a:t>A</a:t>
            </a:r>
            <a:r>
              <a:rPr sz="2800" spc="-155" dirty="0">
                <a:latin typeface="Times New Roman"/>
                <a:cs typeface="Times New Roman"/>
              </a:rPr>
              <a:t> </a:t>
            </a:r>
            <a:r>
              <a:rPr sz="2800" spc="-15" dirty="0">
                <a:latin typeface="Times New Roman"/>
                <a:cs typeface="Times New Roman"/>
              </a:rPr>
              <a:t>g</a:t>
            </a:r>
            <a:r>
              <a:rPr sz="2800" spc="-20" dirty="0">
                <a:latin typeface="Times New Roman"/>
                <a:cs typeface="Times New Roman"/>
              </a:rPr>
              <a:t>ame</a:t>
            </a:r>
            <a:r>
              <a:rPr sz="2800" dirty="0">
                <a:latin typeface="Times New Roman"/>
                <a:cs typeface="Times New Roman"/>
              </a:rPr>
              <a:t> </a:t>
            </a:r>
            <a:r>
              <a:rPr sz="2900" i="1" dirty="0">
                <a:latin typeface="Times New Roman"/>
                <a:cs typeface="Times New Roman"/>
              </a:rPr>
              <a:t>G</a:t>
            </a:r>
            <a:r>
              <a:rPr sz="2900" i="1" spc="145" dirty="0">
                <a:latin typeface="Times New Roman"/>
                <a:cs typeface="Times New Roman"/>
              </a:rPr>
              <a:t> </a:t>
            </a:r>
            <a:r>
              <a:rPr sz="2900" spc="245" dirty="0">
                <a:latin typeface="Century"/>
                <a:cs typeface="Century"/>
              </a:rPr>
              <a:t>=</a:t>
            </a:r>
            <a:r>
              <a:rPr sz="2900" spc="5" dirty="0">
                <a:latin typeface="Century"/>
                <a:cs typeface="Century"/>
              </a:rPr>
              <a:t> </a:t>
            </a:r>
            <a:r>
              <a:rPr sz="2900" dirty="0">
                <a:latin typeface="Century"/>
                <a:cs typeface="Century"/>
              </a:rPr>
              <a:t>(</a:t>
            </a:r>
            <a:r>
              <a:rPr sz="2900" i="1" dirty="0">
                <a:latin typeface="Times New Roman"/>
                <a:cs typeface="Times New Roman"/>
              </a:rPr>
              <a:t>N</a:t>
            </a:r>
            <a:r>
              <a:rPr sz="2900" spc="-85" dirty="0">
                <a:latin typeface="Century"/>
                <a:cs typeface="Century"/>
              </a:rPr>
              <a:t>,</a:t>
            </a:r>
            <a:r>
              <a:rPr sz="2900" spc="-235" dirty="0">
                <a:latin typeface="Century"/>
                <a:cs typeface="Century"/>
              </a:rPr>
              <a:t> </a:t>
            </a:r>
            <a:r>
              <a:rPr sz="2900" i="1" dirty="0">
                <a:latin typeface="Times New Roman"/>
                <a:cs typeface="Times New Roman"/>
              </a:rPr>
              <a:t>A</a:t>
            </a:r>
            <a:r>
              <a:rPr sz="2900" spc="-85" dirty="0">
                <a:latin typeface="Century"/>
                <a:cs typeface="Century"/>
              </a:rPr>
              <a:t>,</a:t>
            </a:r>
            <a:r>
              <a:rPr sz="2900" spc="-320" dirty="0">
                <a:latin typeface="Century"/>
                <a:cs typeface="Century"/>
              </a:rPr>
              <a:t> </a:t>
            </a:r>
            <a:r>
              <a:rPr sz="2900" i="1" dirty="0">
                <a:latin typeface="Times New Roman"/>
                <a:cs typeface="Times New Roman"/>
              </a:rPr>
              <a:t>u</a:t>
            </a:r>
            <a:r>
              <a:rPr sz="2900" dirty="0">
                <a:latin typeface="Century"/>
                <a:cs typeface="Century"/>
              </a:rPr>
              <a:t>)</a:t>
            </a:r>
            <a:r>
              <a:rPr sz="2900" spc="-110" dirty="0">
                <a:latin typeface="Century"/>
                <a:cs typeface="Century"/>
              </a:rPr>
              <a:t> </a:t>
            </a:r>
            <a:r>
              <a:rPr sz="2800" spc="-10" dirty="0">
                <a:latin typeface="Times New Roman"/>
                <a:cs typeface="Times New Roman"/>
              </a:rPr>
              <a:t>i</a:t>
            </a:r>
            <a:r>
              <a:rPr sz="2800" dirty="0">
                <a:latin typeface="Times New Roman"/>
                <a:cs typeface="Times New Roman"/>
              </a:rPr>
              <a:t>s </a:t>
            </a:r>
            <a:r>
              <a:rPr sz="2800" spc="-15" dirty="0">
                <a:latin typeface="Times New Roman"/>
                <a:cs typeface="Times New Roman"/>
              </a:rPr>
              <a:t>a</a:t>
            </a:r>
            <a:r>
              <a:rPr sz="2800" spc="-5" dirty="0">
                <a:latin typeface="Times New Roman"/>
                <a:cs typeface="Times New Roman"/>
              </a:rPr>
              <a:t> </a:t>
            </a:r>
            <a:r>
              <a:rPr sz="2800" spc="-15" dirty="0">
                <a:latin typeface="Times New Roman"/>
                <a:cs typeface="Times New Roman"/>
              </a:rPr>
              <a:t>pot</a:t>
            </a:r>
            <a:r>
              <a:rPr sz="2800" spc="-20" dirty="0">
                <a:latin typeface="Times New Roman"/>
                <a:cs typeface="Times New Roman"/>
              </a:rPr>
              <a:t>e</a:t>
            </a:r>
            <a:r>
              <a:rPr sz="2800" spc="-10" dirty="0">
                <a:latin typeface="Times New Roman"/>
                <a:cs typeface="Times New Roman"/>
              </a:rPr>
              <a:t>nti</a:t>
            </a:r>
            <a:r>
              <a:rPr sz="2800" spc="-20" dirty="0">
                <a:latin typeface="Times New Roman"/>
                <a:cs typeface="Times New Roman"/>
              </a:rPr>
              <a:t>a</a:t>
            </a:r>
            <a:r>
              <a:rPr sz="2800" spc="-10" dirty="0">
                <a:latin typeface="Times New Roman"/>
                <a:cs typeface="Times New Roman"/>
              </a:rPr>
              <a:t>l</a:t>
            </a:r>
            <a:r>
              <a:rPr sz="2800" dirty="0">
                <a:latin typeface="Times New Roman"/>
                <a:cs typeface="Times New Roman"/>
              </a:rPr>
              <a:t> </a:t>
            </a:r>
            <a:r>
              <a:rPr sz="2800" spc="-15" dirty="0">
                <a:latin typeface="Times New Roman"/>
                <a:cs typeface="Times New Roman"/>
              </a:rPr>
              <a:t>g</a:t>
            </a:r>
            <a:r>
              <a:rPr sz="2800" spc="-20" dirty="0">
                <a:latin typeface="Times New Roman"/>
                <a:cs typeface="Times New Roman"/>
              </a:rPr>
              <a:t>ame</a:t>
            </a:r>
            <a:r>
              <a:rPr sz="2800" spc="-5" dirty="0">
                <a:latin typeface="Times New Roman"/>
                <a:cs typeface="Times New Roman"/>
              </a:rPr>
              <a:t> </a:t>
            </a:r>
            <a:r>
              <a:rPr sz="2800" spc="-10" dirty="0">
                <a:latin typeface="Times New Roman"/>
                <a:cs typeface="Times New Roman"/>
              </a:rPr>
              <a:t>i</a:t>
            </a:r>
            <a:r>
              <a:rPr sz="2800" dirty="0">
                <a:latin typeface="Times New Roman"/>
                <a:cs typeface="Times New Roman"/>
              </a:rPr>
              <a:t>f </a:t>
            </a:r>
            <a:r>
              <a:rPr sz="2800" spc="-15" dirty="0">
                <a:latin typeface="Times New Roman"/>
                <a:cs typeface="Times New Roman"/>
              </a:rPr>
              <a:t>th</a:t>
            </a:r>
            <a:r>
              <a:rPr sz="2800" spc="-20" dirty="0">
                <a:latin typeface="Times New Roman"/>
                <a:cs typeface="Times New Roman"/>
              </a:rPr>
              <a:t>e</a:t>
            </a:r>
            <a:r>
              <a:rPr sz="2800" spc="-15" dirty="0">
                <a:latin typeface="Times New Roman"/>
                <a:cs typeface="Times New Roman"/>
              </a:rPr>
              <a:t>re</a:t>
            </a:r>
            <a:r>
              <a:rPr sz="2800" spc="-5" dirty="0">
                <a:latin typeface="Times New Roman"/>
                <a:cs typeface="Times New Roman"/>
              </a:rPr>
              <a:t> </a:t>
            </a:r>
            <a:r>
              <a:rPr sz="2800" spc="-20" dirty="0">
                <a:latin typeface="Times New Roman"/>
                <a:cs typeface="Times New Roman"/>
              </a:rPr>
              <a:t>e</a:t>
            </a:r>
            <a:r>
              <a:rPr sz="2800" spc="-15" dirty="0">
                <a:latin typeface="Times New Roman"/>
                <a:cs typeface="Times New Roman"/>
              </a:rPr>
              <a:t>xi</a:t>
            </a:r>
            <a:r>
              <a:rPr sz="2800" dirty="0">
                <a:latin typeface="Times New Roman"/>
                <a:cs typeface="Times New Roman"/>
              </a:rPr>
              <a:t>s</a:t>
            </a:r>
            <a:r>
              <a:rPr sz="2800" spc="-10" dirty="0">
                <a:latin typeface="Times New Roman"/>
                <a:cs typeface="Times New Roman"/>
              </a:rPr>
              <a:t>t</a:t>
            </a:r>
            <a:r>
              <a:rPr sz="2800" dirty="0">
                <a:latin typeface="Times New Roman"/>
                <a:cs typeface="Times New Roman"/>
              </a:rPr>
              <a:t>s </a:t>
            </a:r>
            <a:r>
              <a:rPr sz="2800" spc="-15" dirty="0">
                <a:latin typeface="Times New Roman"/>
                <a:cs typeface="Times New Roman"/>
              </a:rPr>
              <a:t>a</a:t>
            </a:r>
            <a:r>
              <a:rPr sz="2800" spc="-10" dirty="0">
                <a:latin typeface="Times New Roman"/>
                <a:cs typeface="Times New Roman"/>
              </a:rPr>
              <a:t> </a:t>
            </a:r>
            <a:r>
              <a:rPr sz="2800" dirty="0">
                <a:latin typeface="Times New Roman"/>
                <a:cs typeface="Times New Roman"/>
              </a:rPr>
              <a:t>(s</a:t>
            </a:r>
            <a:r>
              <a:rPr sz="2800" spc="-15" dirty="0">
                <a:latin typeface="Times New Roman"/>
                <a:cs typeface="Times New Roman"/>
              </a:rPr>
              <a:t>ingl</a:t>
            </a:r>
            <a:r>
              <a:rPr sz="2800" spc="-20" dirty="0">
                <a:latin typeface="Times New Roman"/>
                <a:cs typeface="Times New Roman"/>
              </a:rPr>
              <a:t>e</a:t>
            </a:r>
            <a:r>
              <a:rPr sz="2800" dirty="0">
                <a:latin typeface="Times New Roman"/>
                <a:cs typeface="Times New Roman"/>
              </a:rPr>
              <a:t>) </a:t>
            </a:r>
            <a:r>
              <a:rPr sz="2800" spc="-15" dirty="0">
                <a:latin typeface="Times New Roman"/>
                <a:cs typeface="Times New Roman"/>
              </a:rPr>
              <a:t>functi</a:t>
            </a:r>
            <a:r>
              <a:rPr sz="2800" dirty="0">
                <a:latin typeface="Times New Roman"/>
                <a:cs typeface="Times New Roman"/>
              </a:rPr>
              <a:t>on </a:t>
            </a:r>
            <a:r>
              <a:rPr sz="2900" i="1" dirty="0">
                <a:latin typeface="Times New Roman"/>
                <a:cs typeface="Times New Roman"/>
              </a:rPr>
              <a:t>P</a:t>
            </a:r>
            <a:r>
              <a:rPr sz="2900" i="1" spc="85" dirty="0">
                <a:latin typeface="Times New Roman"/>
                <a:cs typeface="Times New Roman"/>
              </a:rPr>
              <a:t> </a:t>
            </a:r>
            <a:r>
              <a:rPr sz="2900" dirty="0">
                <a:latin typeface="Century"/>
                <a:cs typeface="Century"/>
              </a:rPr>
              <a:t>:</a:t>
            </a:r>
            <a:r>
              <a:rPr sz="2900" spc="5" dirty="0">
                <a:latin typeface="Century"/>
                <a:cs typeface="Century"/>
              </a:rPr>
              <a:t> </a:t>
            </a:r>
            <a:r>
              <a:rPr sz="2900" i="1" dirty="0">
                <a:latin typeface="Times New Roman"/>
                <a:cs typeface="Times New Roman"/>
              </a:rPr>
              <a:t>A</a:t>
            </a:r>
            <a:r>
              <a:rPr sz="2900" i="1" spc="85" dirty="0">
                <a:latin typeface="Times New Roman"/>
                <a:cs typeface="Times New Roman"/>
              </a:rPr>
              <a:t> </a:t>
            </a:r>
            <a:r>
              <a:rPr sz="2900" spc="-30" dirty="0">
                <a:latin typeface="Lucida Sans Unicode"/>
                <a:cs typeface="Lucida Sans Unicode"/>
              </a:rPr>
              <a:t>↦</a:t>
            </a:r>
            <a:r>
              <a:rPr sz="2900" spc="-105" dirty="0">
                <a:latin typeface="Lucida Sans Unicode"/>
                <a:cs typeface="Lucida Sans Unicode"/>
              </a:rPr>
              <a:t> </a:t>
            </a:r>
            <a:r>
              <a:rPr sz="2900" spc="-95" dirty="0">
                <a:latin typeface="Lucida Sans Unicode"/>
                <a:cs typeface="Lucida Sans Unicode"/>
              </a:rPr>
              <a:t>ℝ</a:t>
            </a:r>
            <a:r>
              <a:rPr sz="2900" spc="-220" dirty="0">
                <a:latin typeface="Lucida Sans Unicode"/>
                <a:cs typeface="Lucida Sans Unicode"/>
              </a:rPr>
              <a:t> </a:t>
            </a:r>
            <a:r>
              <a:rPr sz="2800" dirty="0">
                <a:latin typeface="Times New Roman"/>
                <a:cs typeface="Times New Roman"/>
              </a:rPr>
              <a:t>s</a:t>
            </a:r>
            <a:r>
              <a:rPr sz="2800" spc="-15" dirty="0">
                <a:latin typeface="Times New Roman"/>
                <a:cs typeface="Times New Roman"/>
              </a:rPr>
              <a:t>u</a:t>
            </a:r>
            <a:r>
              <a:rPr sz="2800" spc="-20" dirty="0">
                <a:latin typeface="Times New Roman"/>
                <a:cs typeface="Times New Roman"/>
              </a:rPr>
              <a:t>c</a:t>
            </a:r>
            <a:r>
              <a:rPr sz="2800" dirty="0">
                <a:latin typeface="Times New Roman"/>
                <a:cs typeface="Times New Roman"/>
              </a:rPr>
              <a:t>h </a:t>
            </a:r>
            <a:r>
              <a:rPr sz="2800" spc="-15" dirty="0">
                <a:latin typeface="Times New Roman"/>
                <a:cs typeface="Times New Roman"/>
              </a:rPr>
              <a:t>th</a:t>
            </a:r>
            <a:r>
              <a:rPr sz="2800" spc="-20" dirty="0">
                <a:latin typeface="Times New Roman"/>
                <a:cs typeface="Times New Roman"/>
              </a:rPr>
              <a:t>a</a:t>
            </a:r>
            <a:r>
              <a:rPr sz="2800" spc="-10" dirty="0">
                <a:latin typeface="Times New Roman"/>
                <a:cs typeface="Times New Roman"/>
              </a:rPr>
              <a:t>t</a:t>
            </a:r>
            <a:r>
              <a:rPr sz="2800" dirty="0">
                <a:latin typeface="Times New Roman"/>
                <a:cs typeface="Times New Roman"/>
              </a:rPr>
              <a:t> </a:t>
            </a:r>
            <a:r>
              <a:rPr sz="2800" b="1" spc="-15" dirty="0">
                <a:latin typeface="Times New Roman"/>
                <a:cs typeface="Times New Roman"/>
              </a:rPr>
              <a:t>for</a:t>
            </a:r>
            <a:r>
              <a:rPr sz="2800" b="1" dirty="0">
                <a:latin typeface="Times New Roman"/>
                <a:cs typeface="Times New Roman"/>
              </a:rPr>
              <a:t> </a:t>
            </a:r>
            <a:r>
              <a:rPr sz="2800" b="1" spc="-10" dirty="0">
                <a:latin typeface="Times New Roman"/>
                <a:cs typeface="Times New Roman"/>
              </a:rPr>
              <a:t>all</a:t>
            </a:r>
            <a:r>
              <a:rPr sz="2800" b="1" dirty="0">
                <a:latin typeface="Times New Roman"/>
                <a:cs typeface="Times New Roman"/>
              </a:rPr>
              <a:t> </a:t>
            </a:r>
            <a:r>
              <a:rPr sz="2900" i="1" dirty="0">
                <a:latin typeface="Times New Roman"/>
                <a:cs typeface="Times New Roman"/>
              </a:rPr>
              <a:t>i</a:t>
            </a:r>
            <a:r>
              <a:rPr sz="2900" i="1" spc="85" dirty="0">
                <a:latin typeface="Times New Roman"/>
                <a:cs typeface="Times New Roman"/>
              </a:rPr>
              <a:t> </a:t>
            </a:r>
            <a:r>
              <a:rPr sz="2900" spc="-325" dirty="0">
                <a:latin typeface="Lucida Sans Unicode"/>
                <a:cs typeface="Lucida Sans Unicode"/>
              </a:rPr>
              <a:t>∈</a:t>
            </a:r>
            <a:r>
              <a:rPr sz="2900" spc="-105" dirty="0">
                <a:latin typeface="Lucida Sans Unicode"/>
                <a:cs typeface="Lucida Sans Unicode"/>
              </a:rPr>
              <a:t> </a:t>
            </a:r>
            <a:r>
              <a:rPr sz="2900" spc="-360" dirty="0">
                <a:latin typeface="Lucida Sans Unicode"/>
                <a:cs typeface="Lucida Sans Unicode"/>
              </a:rPr>
              <a:t>ℕ</a:t>
            </a:r>
            <a:r>
              <a:rPr sz="2800" dirty="0">
                <a:latin typeface="Times New Roman"/>
                <a:cs typeface="Times New Roman"/>
              </a:rPr>
              <a:t>,</a:t>
            </a:r>
          </a:p>
          <a:p>
            <a:pPr marL="12700">
              <a:lnSpc>
                <a:spcPts val="3265"/>
              </a:lnSpc>
            </a:pPr>
            <a:r>
              <a:rPr sz="2800" spc="-20" dirty="0">
                <a:latin typeface="Times New Roman"/>
                <a:cs typeface="Times New Roman"/>
              </a:rPr>
              <a:t>al</a:t>
            </a:r>
            <a:r>
              <a:rPr sz="2800" spc="-10" dirty="0">
                <a:latin typeface="Times New Roman"/>
                <a:cs typeface="Times New Roman"/>
              </a:rPr>
              <a:t>l</a:t>
            </a:r>
            <a:r>
              <a:rPr sz="2800" dirty="0">
                <a:latin typeface="Times New Roman"/>
                <a:cs typeface="Times New Roman"/>
              </a:rPr>
              <a:t> </a:t>
            </a:r>
            <a:r>
              <a:rPr sz="2900" i="1" spc="-95" dirty="0">
                <a:latin typeface="Times New Roman"/>
                <a:cs typeface="Times New Roman"/>
              </a:rPr>
              <a:t>a</a:t>
            </a:r>
            <a:r>
              <a:rPr sz="3075" spc="-322" baseline="-20325" dirty="0">
                <a:latin typeface="Lucida Sans Unicode"/>
                <a:cs typeface="Lucida Sans Unicode"/>
              </a:rPr>
              <a:t>−</a:t>
            </a:r>
            <a:r>
              <a:rPr sz="3075" i="1" spc="7" baseline="-20325" dirty="0">
                <a:latin typeface="Times New Roman"/>
                <a:cs typeface="Times New Roman"/>
              </a:rPr>
              <a:t>i</a:t>
            </a:r>
            <a:r>
              <a:rPr sz="3075" i="1" baseline="-20325" dirty="0">
                <a:latin typeface="Times New Roman"/>
                <a:cs typeface="Times New Roman"/>
              </a:rPr>
              <a:t> </a:t>
            </a:r>
            <a:r>
              <a:rPr sz="3075" i="1" spc="-322" baseline="-20325" dirty="0">
                <a:latin typeface="Times New Roman"/>
                <a:cs typeface="Times New Roman"/>
              </a:rPr>
              <a:t> </a:t>
            </a:r>
            <a:r>
              <a:rPr sz="2900" spc="-325" dirty="0">
                <a:latin typeface="Lucida Sans Unicode"/>
                <a:cs typeface="Lucida Sans Unicode"/>
              </a:rPr>
              <a:t>∈</a:t>
            </a:r>
            <a:r>
              <a:rPr sz="2900" spc="-30" dirty="0">
                <a:latin typeface="Lucida Sans Unicode"/>
                <a:cs typeface="Lucida Sans Unicode"/>
              </a:rPr>
              <a:t> </a:t>
            </a:r>
            <a:r>
              <a:rPr sz="2900" i="1" spc="-105" dirty="0">
                <a:latin typeface="Times New Roman"/>
                <a:cs typeface="Times New Roman"/>
              </a:rPr>
              <a:t>A</a:t>
            </a:r>
            <a:r>
              <a:rPr lang="en-US" sz="3075" spc="-322" baseline="-20325" dirty="0">
                <a:latin typeface="Lucida Sans Unicode"/>
                <a:cs typeface="Lucida Sans Unicode"/>
              </a:rPr>
              <a:t>−</a:t>
            </a:r>
            <a:r>
              <a:rPr sz="2900" i="1" baseline="-25000" dirty="0">
                <a:latin typeface="Times New Roman"/>
                <a:cs typeface="Times New Roman"/>
              </a:rPr>
              <a:t>i</a:t>
            </a:r>
            <a:r>
              <a:rPr sz="2900" i="1" spc="-25" dirty="0">
                <a:latin typeface="Times New Roman"/>
                <a:cs typeface="Times New Roman"/>
              </a:rPr>
              <a:t> </a:t>
            </a:r>
            <a:r>
              <a:rPr sz="2800" spc="-20" dirty="0">
                <a:latin typeface="Times New Roman"/>
                <a:cs typeface="Times New Roman"/>
              </a:rPr>
              <a:t>a</a:t>
            </a:r>
            <a:r>
              <a:rPr sz="2800" dirty="0">
                <a:latin typeface="Times New Roman"/>
                <a:cs typeface="Times New Roman"/>
              </a:rPr>
              <a:t>nd </a:t>
            </a:r>
            <a:r>
              <a:rPr sz="2900" i="1" spc="-95" dirty="0">
                <a:latin typeface="Times New Roman"/>
                <a:cs typeface="Times New Roman"/>
              </a:rPr>
              <a:t>a</a:t>
            </a:r>
            <a:r>
              <a:rPr sz="3075" i="1" spc="7" baseline="-20325" dirty="0">
                <a:latin typeface="Times New Roman"/>
                <a:cs typeface="Times New Roman"/>
              </a:rPr>
              <a:t>i</a:t>
            </a:r>
            <a:r>
              <a:rPr sz="2900" spc="-85" dirty="0">
                <a:latin typeface="Century"/>
                <a:cs typeface="Century"/>
              </a:rPr>
              <a:t>,</a:t>
            </a:r>
            <a:r>
              <a:rPr sz="2900" spc="-320" dirty="0">
                <a:latin typeface="Century"/>
                <a:cs typeface="Century"/>
              </a:rPr>
              <a:t> </a:t>
            </a:r>
            <a:r>
              <a:rPr sz="2900" i="1" spc="-100" dirty="0">
                <a:latin typeface="Times New Roman"/>
                <a:cs typeface="Times New Roman"/>
              </a:rPr>
              <a:t>a</a:t>
            </a:r>
            <a:r>
              <a:rPr sz="3075" i="1" spc="-705" baseline="-20325" dirty="0">
                <a:latin typeface="Times New Roman"/>
                <a:cs typeface="Times New Roman"/>
              </a:rPr>
              <a:t>i</a:t>
            </a:r>
            <a:r>
              <a:rPr sz="2900" spc="-434" dirty="0">
                <a:latin typeface="Lucida Sans Unicode"/>
                <a:cs typeface="Lucida Sans Unicode"/>
              </a:rPr>
              <a:t>′</a:t>
            </a:r>
            <a:r>
              <a:rPr lang="en-US" sz="2800" spc="-10" dirty="0">
                <a:latin typeface="Times New Roman"/>
                <a:cs typeface="Times New Roman"/>
              </a:rPr>
              <a:t> </a:t>
            </a:r>
            <a:r>
              <a:rPr lang="en-US" sz="2800" spc="-325" dirty="0">
                <a:latin typeface="Lucida Sans Unicode"/>
                <a:cs typeface="Lucida Sans Unicode"/>
              </a:rPr>
              <a:t>∈ </a:t>
            </a:r>
            <a:r>
              <a:rPr lang="en-US" sz="2800" i="1" spc="-105" dirty="0">
                <a:latin typeface="Times New Roman"/>
                <a:cs typeface="Times New Roman"/>
              </a:rPr>
              <a:t>A</a:t>
            </a:r>
            <a:r>
              <a:rPr lang="en-US" sz="2800" i="1" baseline="-25000" dirty="0">
                <a:latin typeface="Times New Roman"/>
                <a:cs typeface="Times New Roman"/>
              </a:rPr>
              <a:t>i</a:t>
            </a:r>
            <a:r>
              <a:rPr lang="en-US" sz="2800" i="1" spc="-25" dirty="0">
                <a:latin typeface="Times New Roman"/>
                <a:cs typeface="Times New Roman"/>
              </a:rPr>
              <a:t> ,</a:t>
            </a:r>
            <a:endParaRPr sz="2800" dirty="0">
              <a:latin typeface="Times New Roman"/>
              <a:cs typeface="Times New Roman"/>
            </a:endParaRPr>
          </a:p>
          <a:p>
            <a:pPr>
              <a:lnSpc>
                <a:spcPct val="100000"/>
              </a:lnSpc>
              <a:spcBef>
                <a:spcPts val="15"/>
              </a:spcBef>
            </a:pPr>
            <a:endParaRPr sz="2850" dirty="0">
              <a:latin typeface="Times New Roman"/>
              <a:cs typeface="Times New Roman"/>
            </a:endParaRPr>
          </a:p>
          <a:p>
            <a:pPr marL="12700">
              <a:lnSpc>
                <a:spcPct val="100000"/>
              </a:lnSpc>
            </a:pPr>
            <a:r>
              <a:rPr sz="2900" i="1" spc="-105" dirty="0">
                <a:latin typeface="Times New Roman"/>
                <a:cs typeface="Times New Roman"/>
              </a:rPr>
              <a:t>u</a:t>
            </a:r>
            <a:r>
              <a:rPr sz="3075" i="1" spc="7" baseline="-20325" dirty="0">
                <a:latin typeface="Times New Roman"/>
                <a:cs typeface="Times New Roman"/>
              </a:rPr>
              <a:t>i</a:t>
            </a:r>
            <a:r>
              <a:rPr sz="2900" dirty="0">
                <a:latin typeface="Century"/>
                <a:cs typeface="Century"/>
              </a:rPr>
              <a:t>(</a:t>
            </a:r>
            <a:r>
              <a:rPr sz="2900" i="1" spc="-95" dirty="0">
                <a:latin typeface="Times New Roman"/>
                <a:cs typeface="Times New Roman"/>
              </a:rPr>
              <a:t>a</a:t>
            </a:r>
            <a:r>
              <a:rPr sz="3075" i="1" spc="7" baseline="-20325" dirty="0">
                <a:latin typeface="Times New Roman"/>
                <a:cs typeface="Times New Roman"/>
              </a:rPr>
              <a:t>i</a:t>
            </a:r>
            <a:r>
              <a:rPr sz="2900" spc="-85" dirty="0">
                <a:latin typeface="Century"/>
                <a:cs typeface="Century"/>
              </a:rPr>
              <a:t>,</a:t>
            </a:r>
            <a:r>
              <a:rPr sz="2900" spc="-320" dirty="0">
                <a:latin typeface="Century"/>
                <a:cs typeface="Century"/>
              </a:rPr>
              <a:t> </a:t>
            </a:r>
            <a:r>
              <a:rPr sz="2900" i="1" spc="-95" dirty="0">
                <a:latin typeface="Times New Roman"/>
                <a:cs typeface="Times New Roman"/>
              </a:rPr>
              <a:t>a</a:t>
            </a:r>
            <a:r>
              <a:rPr sz="3075" spc="-322" baseline="-20325" dirty="0">
                <a:latin typeface="Lucida Sans Unicode"/>
                <a:cs typeface="Lucida Sans Unicode"/>
              </a:rPr>
              <a:t>−</a:t>
            </a:r>
            <a:r>
              <a:rPr sz="3075" i="1" spc="7" baseline="-20325" dirty="0">
                <a:latin typeface="Times New Roman"/>
                <a:cs typeface="Times New Roman"/>
              </a:rPr>
              <a:t>i</a:t>
            </a:r>
            <a:r>
              <a:rPr sz="2900" dirty="0">
                <a:latin typeface="Century"/>
                <a:cs typeface="Century"/>
              </a:rPr>
              <a:t>)</a:t>
            </a:r>
            <a:r>
              <a:rPr sz="2900" spc="-160" dirty="0">
                <a:latin typeface="Century"/>
                <a:cs typeface="Century"/>
              </a:rPr>
              <a:t> </a:t>
            </a:r>
            <a:r>
              <a:rPr sz="2900" spc="-325" dirty="0">
                <a:latin typeface="Lucida Sans Unicode"/>
                <a:cs typeface="Lucida Sans Unicode"/>
              </a:rPr>
              <a:t>−</a:t>
            </a:r>
            <a:r>
              <a:rPr sz="2900" spc="-270" dirty="0">
                <a:latin typeface="Lucida Sans Unicode"/>
                <a:cs typeface="Lucida Sans Unicode"/>
              </a:rPr>
              <a:t> </a:t>
            </a:r>
            <a:r>
              <a:rPr sz="2900" i="1" spc="-105" dirty="0">
                <a:latin typeface="Times New Roman"/>
                <a:cs typeface="Times New Roman"/>
              </a:rPr>
              <a:t>u</a:t>
            </a:r>
            <a:r>
              <a:rPr sz="3075" i="1" spc="7" baseline="-20325" dirty="0">
                <a:latin typeface="Times New Roman"/>
                <a:cs typeface="Times New Roman"/>
              </a:rPr>
              <a:t>i</a:t>
            </a:r>
            <a:r>
              <a:rPr sz="2900" dirty="0">
                <a:latin typeface="Century"/>
                <a:cs typeface="Century"/>
              </a:rPr>
              <a:t>(</a:t>
            </a:r>
            <a:r>
              <a:rPr sz="2900" i="1" spc="-100" dirty="0">
                <a:latin typeface="Times New Roman"/>
                <a:cs typeface="Times New Roman"/>
              </a:rPr>
              <a:t>a</a:t>
            </a:r>
            <a:r>
              <a:rPr sz="3075" i="1" spc="-705" baseline="-20325" dirty="0">
                <a:latin typeface="Times New Roman"/>
                <a:cs typeface="Times New Roman"/>
              </a:rPr>
              <a:t>i</a:t>
            </a:r>
            <a:r>
              <a:rPr sz="2900" spc="-390" dirty="0">
                <a:latin typeface="Lucida Sans Unicode"/>
                <a:cs typeface="Lucida Sans Unicode"/>
              </a:rPr>
              <a:t>′</a:t>
            </a:r>
            <a:r>
              <a:rPr sz="2900" spc="-85" dirty="0">
                <a:latin typeface="Century"/>
                <a:cs typeface="Century"/>
              </a:rPr>
              <a:t>,</a:t>
            </a:r>
            <a:r>
              <a:rPr sz="2900" spc="-320" dirty="0">
                <a:latin typeface="Century"/>
                <a:cs typeface="Century"/>
              </a:rPr>
              <a:t> </a:t>
            </a:r>
            <a:r>
              <a:rPr sz="2900" i="1" spc="-95" dirty="0">
                <a:latin typeface="Times New Roman"/>
                <a:cs typeface="Times New Roman"/>
              </a:rPr>
              <a:t>a</a:t>
            </a:r>
            <a:r>
              <a:rPr sz="3075" spc="-322" baseline="-20325" dirty="0">
                <a:latin typeface="Lucida Sans Unicode"/>
                <a:cs typeface="Lucida Sans Unicode"/>
              </a:rPr>
              <a:t>−</a:t>
            </a:r>
            <a:r>
              <a:rPr sz="3075" i="1" spc="7" baseline="-20325" dirty="0">
                <a:latin typeface="Times New Roman"/>
                <a:cs typeface="Times New Roman"/>
              </a:rPr>
              <a:t>i</a:t>
            </a:r>
            <a:r>
              <a:rPr sz="2900" dirty="0">
                <a:latin typeface="Century"/>
                <a:cs typeface="Century"/>
              </a:rPr>
              <a:t>)</a:t>
            </a:r>
            <a:r>
              <a:rPr sz="2900" spc="5" dirty="0">
                <a:latin typeface="Century"/>
                <a:cs typeface="Century"/>
              </a:rPr>
              <a:t> </a:t>
            </a:r>
            <a:r>
              <a:rPr sz="2900" spc="245" dirty="0">
                <a:latin typeface="Century"/>
                <a:cs typeface="Century"/>
              </a:rPr>
              <a:t>=</a:t>
            </a:r>
            <a:r>
              <a:rPr sz="2900" spc="5" dirty="0">
                <a:latin typeface="Century"/>
                <a:cs typeface="Century"/>
              </a:rPr>
              <a:t> </a:t>
            </a:r>
            <a:r>
              <a:rPr sz="2900" i="1" dirty="0">
                <a:latin typeface="Times New Roman"/>
                <a:cs typeface="Times New Roman"/>
              </a:rPr>
              <a:t>P</a:t>
            </a:r>
            <a:r>
              <a:rPr sz="2900" dirty="0">
                <a:latin typeface="Century"/>
                <a:cs typeface="Century"/>
              </a:rPr>
              <a:t>(</a:t>
            </a:r>
            <a:r>
              <a:rPr sz="2900" i="1" spc="-95" dirty="0">
                <a:latin typeface="Times New Roman"/>
                <a:cs typeface="Times New Roman"/>
              </a:rPr>
              <a:t>a</a:t>
            </a:r>
            <a:r>
              <a:rPr sz="3075" i="1" spc="7" baseline="-20325" dirty="0">
                <a:latin typeface="Times New Roman"/>
                <a:cs typeface="Times New Roman"/>
              </a:rPr>
              <a:t>i</a:t>
            </a:r>
            <a:r>
              <a:rPr sz="2900" spc="-85" dirty="0">
                <a:latin typeface="Century"/>
                <a:cs typeface="Century"/>
              </a:rPr>
              <a:t>,</a:t>
            </a:r>
            <a:r>
              <a:rPr sz="2900" spc="-320" dirty="0">
                <a:latin typeface="Century"/>
                <a:cs typeface="Century"/>
              </a:rPr>
              <a:t> </a:t>
            </a:r>
            <a:r>
              <a:rPr sz="2900" i="1" spc="-95" dirty="0">
                <a:latin typeface="Times New Roman"/>
                <a:cs typeface="Times New Roman"/>
              </a:rPr>
              <a:t>a</a:t>
            </a:r>
            <a:r>
              <a:rPr sz="3075" spc="-322" baseline="-20325" dirty="0">
                <a:latin typeface="Lucida Sans Unicode"/>
                <a:cs typeface="Lucida Sans Unicode"/>
              </a:rPr>
              <a:t>−</a:t>
            </a:r>
            <a:r>
              <a:rPr sz="3075" i="1" spc="7" baseline="-20325" dirty="0">
                <a:latin typeface="Times New Roman"/>
                <a:cs typeface="Times New Roman"/>
              </a:rPr>
              <a:t>i</a:t>
            </a:r>
            <a:r>
              <a:rPr sz="2900" dirty="0">
                <a:latin typeface="Century"/>
                <a:cs typeface="Century"/>
              </a:rPr>
              <a:t>)</a:t>
            </a:r>
            <a:r>
              <a:rPr sz="2900" spc="-160" dirty="0">
                <a:latin typeface="Century"/>
                <a:cs typeface="Century"/>
              </a:rPr>
              <a:t> </a:t>
            </a:r>
            <a:r>
              <a:rPr sz="2900" spc="-325" dirty="0">
                <a:latin typeface="Lucida Sans Unicode"/>
                <a:cs typeface="Lucida Sans Unicode"/>
              </a:rPr>
              <a:t>−</a:t>
            </a:r>
            <a:r>
              <a:rPr sz="2900" spc="-270" dirty="0">
                <a:latin typeface="Lucida Sans Unicode"/>
                <a:cs typeface="Lucida Sans Unicode"/>
              </a:rPr>
              <a:t> </a:t>
            </a:r>
            <a:r>
              <a:rPr sz="2900" i="1" dirty="0">
                <a:latin typeface="Times New Roman"/>
                <a:cs typeface="Times New Roman"/>
              </a:rPr>
              <a:t>P</a:t>
            </a:r>
            <a:r>
              <a:rPr sz="2900" dirty="0">
                <a:latin typeface="Century"/>
                <a:cs typeface="Century"/>
              </a:rPr>
              <a:t>(</a:t>
            </a:r>
            <a:r>
              <a:rPr sz="2900" i="1" spc="-100" dirty="0">
                <a:latin typeface="Times New Roman"/>
                <a:cs typeface="Times New Roman"/>
              </a:rPr>
              <a:t>a</a:t>
            </a:r>
            <a:r>
              <a:rPr sz="3075" i="1" spc="-705" baseline="-20325" dirty="0">
                <a:latin typeface="Times New Roman"/>
                <a:cs typeface="Times New Roman"/>
              </a:rPr>
              <a:t>i</a:t>
            </a:r>
            <a:r>
              <a:rPr sz="2900" spc="-390" dirty="0">
                <a:latin typeface="Lucida Sans Unicode"/>
                <a:cs typeface="Lucida Sans Unicode"/>
              </a:rPr>
              <a:t>′</a:t>
            </a:r>
            <a:r>
              <a:rPr sz="2900" spc="-85" dirty="0">
                <a:latin typeface="Century"/>
                <a:cs typeface="Century"/>
              </a:rPr>
              <a:t>,</a:t>
            </a:r>
            <a:r>
              <a:rPr sz="2900" spc="-320" dirty="0">
                <a:latin typeface="Century"/>
                <a:cs typeface="Century"/>
              </a:rPr>
              <a:t> </a:t>
            </a:r>
            <a:r>
              <a:rPr sz="2900" i="1" spc="-95" dirty="0">
                <a:latin typeface="Times New Roman"/>
                <a:cs typeface="Times New Roman"/>
              </a:rPr>
              <a:t>a</a:t>
            </a:r>
            <a:r>
              <a:rPr sz="3075" spc="-322" baseline="-20325" dirty="0">
                <a:latin typeface="Lucida Sans Unicode"/>
                <a:cs typeface="Lucida Sans Unicode"/>
              </a:rPr>
              <a:t>−</a:t>
            </a:r>
            <a:r>
              <a:rPr sz="3075" i="1" spc="7" baseline="-20325" dirty="0">
                <a:latin typeface="Times New Roman"/>
                <a:cs typeface="Times New Roman"/>
              </a:rPr>
              <a:t>i</a:t>
            </a:r>
            <a:r>
              <a:rPr sz="2900" dirty="0">
                <a:latin typeface="Century"/>
                <a:cs typeface="Century"/>
              </a:rPr>
              <a:t>)</a:t>
            </a:r>
          </a:p>
        </p:txBody>
      </p:sp>
      <p:sp>
        <p:nvSpPr>
          <p:cNvPr id="3" name="Rectangle 2">
            <a:extLst>
              <a:ext uri="{FF2B5EF4-FFF2-40B4-BE49-F238E27FC236}">
                <a16:creationId xmlns:a16="http://schemas.microsoft.com/office/drawing/2014/main" id="{4E4BD049-97C5-5F65-28BD-C18369B4E3C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4F7D5BE7-E9E6-2BA4-1074-0A191E1CAE4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C2F9526D-C66C-8342-FC53-5235E384B234}"/>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8</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FE00C2A4-2BE6-DF6E-314C-FA9DB890386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00250924-5A0B-D900-E38C-E65CBACBB01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Myopic</a:t>
            </a:r>
            <a:r>
              <a:rPr spc="-5" dirty="0"/>
              <a:t> </a:t>
            </a:r>
            <a:r>
              <a:rPr dirty="0"/>
              <a:t>Be</a:t>
            </a:r>
            <a:r>
              <a:rPr spc="-20" dirty="0"/>
              <a:t>s</a:t>
            </a:r>
            <a:r>
              <a:rPr spc="-15" dirty="0"/>
              <a:t>t</a:t>
            </a:r>
            <a:r>
              <a:rPr dirty="0"/>
              <a:t>-Response</a:t>
            </a:r>
          </a:p>
        </p:txBody>
      </p:sp>
      <p:sp>
        <p:nvSpPr>
          <p:cNvPr id="6" name="object 6"/>
          <p:cNvSpPr txBox="1"/>
          <p:nvPr/>
        </p:nvSpPr>
        <p:spPr>
          <a:xfrm>
            <a:off x="424874" y="1649165"/>
            <a:ext cx="6957695" cy="787400"/>
          </a:xfrm>
          <a:prstGeom prst="rect">
            <a:avLst/>
          </a:prstGeom>
        </p:spPr>
        <p:txBody>
          <a:bodyPr vert="horz" wrap="square" lIns="0" tIns="0" rIns="0" bIns="0" rtlCol="0">
            <a:spAutoFit/>
          </a:bodyPr>
          <a:lstStyle/>
          <a:p>
            <a:pPr marL="12700" marR="5080">
              <a:lnSpc>
                <a:spcPts val="3200"/>
              </a:lnSpc>
            </a:pPr>
            <a:r>
              <a:rPr sz="2800" spc="-20" dirty="0">
                <a:latin typeface="Times New Roman"/>
                <a:cs typeface="Times New Roman"/>
              </a:rPr>
              <a:t>a</a:t>
            </a:r>
            <a:r>
              <a:rPr sz="2800" spc="-10" dirty="0">
                <a:latin typeface="Times New Roman"/>
                <a:cs typeface="Times New Roman"/>
              </a:rPr>
              <a:t>l</a:t>
            </a:r>
            <a:r>
              <a:rPr sz="2800" dirty="0">
                <a:latin typeface="Times New Roman"/>
                <a:cs typeface="Times New Roman"/>
              </a:rPr>
              <a:t>w</a:t>
            </a:r>
            <a:r>
              <a:rPr sz="2800" spc="-20" dirty="0">
                <a:latin typeface="Times New Roman"/>
                <a:cs typeface="Times New Roman"/>
              </a:rPr>
              <a:t>a</a:t>
            </a:r>
            <a:r>
              <a:rPr sz="2800" dirty="0">
                <a:latin typeface="Times New Roman"/>
                <a:cs typeface="Times New Roman"/>
              </a:rPr>
              <a:t>ys </a:t>
            </a:r>
            <a:r>
              <a:rPr sz="2800" spc="-10" dirty="0">
                <a:latin typeface="Times New Roman"/>
                <a:cs typeface="Times New Roman"/>
              </a:rPr>
              <a:t>t</a:t>
            </a:r>
            <a:r>
              <a:rPr sz="2800" spc="-20" dirty="0">
                <a:latin typeface="Times New Roman"/>
                <a:cs typeface="Times New Roman"/>
              </a:rPr>
              <a:t>e</a:t>
            </a:r>
            <a:r>
              <a:rPr sz="2800" spc="-15" dirty="0">
                <a:latin typeface="Times New Roman"/>
                <a:cs typeface="Times New Roman"/>
              </a:rPr>
              <a:t>rmin</a:t>
            </a:r>
            <a:r>
              <a:rPr sz="2800" spc="-20" dirty="0">
                <a:latin typeface="Times New Roman"/>
                <a:cs typeface="Times New Roman"/>
              </a:rPr>
              <a:t>a</a:t>
            </a:r>
            <a:r>
              <a:rPr sz="2800" spc="-10" dirty="0">
                <a:latin typeface="Times New Roman"/>
                <a:cs typeface="Times New Roman"/>
              </a:rPr>
              <a:t>t</a:t>
            </a:r>
            <a:r>
              <a:rPr sz="2800" spc="-20" dirty="0">
                <a:latin typeface="Times New Roman"/>
                <a:cs typeface="Times New Roman"/>
              </a:rPr>
              <a:t>e</a:t>
            </a:r>
            <a:r>
              <a:rPr sz="2800" dirty="0">
                <a:latin typeface="Times New Roman"/>
                <a:cs typeface="Times New Roman"/>
              </a:rPr>
              <a:t>s w</a:t>
            </a:r>
            <a:r>
              <a:rPr sz="2800" spc="-10" dirty="0">
                <a:latin typeface="Times New Roman"/>
                <a:cs typeface="Times New Roman"/>
              </a:rPr>
              <a:t>it</a:t>
            </a:r>
            <a:r>
              <a:rPr sz="2800" dirty="0">
                <a:latin typeface="Times New Roman"/>
                <a:cs typeface="Times New Roman"/>
              </a:rPr>
              <a:t>h N</a:t>
            </a:r>
            <a:r>
              <a:rPr sz="2800" spc="-20" dirty="0">
                <a:latin typeface="Times New Roman"/>
                <a:cs typeface="Times New Roman"/>
              </a:rPr>
              <a:t>a</a:t>
            </a:r>
            <a:r>
              <a:rPr sz="2800" dirty="0">
                <a:latin typeface="Times New Roman"/>
                <a:cs typeface="Times New Roman"/>
              </a:rPr>
              <a:t>sh for </a:t>
            </a:r>
            <a:r>
              <a:rPr sz="2800" spc="-15" dirty="0">
                <a:latin typeface="Times New Roman"/>
                <a:cs typeface="Times New Roman"/>
              </a:rPr>
              <a:t>pot</a:t>
            </a:r>
            <a:r>
              <a:rPr sz="2800" spc="-20" dirty="0">
                <a:latin typeface="Times New Roman"/>
                <a:cs typeface="Times New Roman"/>
              </a:rPr>
              <a:t>e</a:t>
            </a:r>
            <a:r>
              <a:rPr sz="2800" spc="-10" dirty="0">
                <a:latin typeface="Times New Roman"/>
                <a:cs typeface="Times New Roman"/>
              </a:rPr>
              <a:t>nti</a:t>
            </a:r>
            <a:r>
              <a:rPr sz="2800" spc="-20" dirty="0">
                <a:latin typeface="Times New Roman"/>
                <a:cs typeface="Times New Roman"/>
              </a:rPr>
              <a:t>a</a:t>
            </a:r>
            <a:r>
              <a:rPr sz="2800" spc="-10" dirty="0">
                <a:latin typeface="Times New Roman"/>
                <a:cs typeface="Times New Roman"/>
              </a:rPr>
              <a:t>l</a:t>
            </a:r>
            <a:r>
              <a:rPr sz="2800" dirty="0">
                <a:latin typeface="Times New Roman"/>
                <a:cs typeface="Times New Roman"/>
              </a:rPr>
              <a:t> </a:t>
            </a:r>
            <a:r>
              <a:rPr sz="2800" spc="-15" dirty="0">
                <a:latin typeface="Times New Roman"/>
                <a:cs typeface="Times New Roman"/>
              </a:rPr>
              <a:t>g</a:t>
            </a:r>
            <a:r>
              <a:rPr sz="2800" spc="-20" dirty="0">
                <a:latin typeface="Times New Roman"/>
                <a:cs typeface="Times New Roman"/>
              </a:rPr>
              <a:t>a</a:t>
            </a:r>
            <a:r>
              <a:rPr sz="2800" spc="-25" dirty="0">
                <a:latin typeface="Times New Roman"/>
                <a:cs typeface="Times New Roman"/>
              </a:rPr>
              <a:t>m</a:t>
            </a:r>
            <a:r>
              <a:rPr sz="2800" spc="-20" dirty="0">
                <a:latin typeface="Times New Roman"/>
                <a:cs typeface="Times New Roman"/>
              </a:rPr>
              <a:t>e</a:t>
            </a:r>
            <a:r>
              <a:rPr sz="2800" dirty="0">
                <a:latin typeface="Times New Roman"/>
                <a:cs typeface="Times New Roman"/>
              </a:rPr>
              <a:t>s </a:t>
            </a:r>
            <a:r>
              <a:rPr sz="2800" spc="-15" dirty="0">
                <a:latin typeface="Times New Roman"/>
                <a:cs typeface="Times New Roman"/>
              </a:rPr>
              <a:t>(but</a:t>
            </a:r>
            <a:r>
              <a:rPr sz="2800" dirty="0">
                <a:latin typeface="Times New Roman"/>
                <a:cs typeface="Times New Roman"/>
              </a:rPr>
              <a:t> </a:t>
            </a:r>
            <a:r>
              <a:rPr sz="2800" spc="-20" dirty="0">
                <a:latin typeface="Times New Roman"/>
                <a:cs typeface="Times New Roman"/>
              </a:rPr>
              <a:t>ca</a:t>
            </a:r>
            <a:r>
              <a:rPr sz="2800" dirty="0">
                <a:latin typeface="Times New Roman"/>
                <a:cs typeface="Times New Roman"/>
              </a:rPr>
              <a:t>n </a:t>
            </a:r>
            <a:r>
              <a:rPr sz="2800" spc="-20" dirty="0">
                <a:latin typeface="Times New Roman"/>
                <a:cs typeface="Times New Roman"/>
              </a:rPr>
              <a:t>c</a:t>
            </a:r>
            <a:r>
              <a:rPr sz="2800" spc="-15" dirty="0">
                <a:latin typeface="Times New Roman"/>
                <a:cs typeface="Times New Roman"/>
              </a:rPr>
              <a:t>y</a:t>
            </a:r>
            <a:r>
              <a:rPr sz="2800" spc="-20" dirty="0">
                <a:latin typeface="Times New Roman"/>
                <a:cs typeface="Times New Roman"/>
              </a:rPr>
              <a:t>c</a:t>
            </a:r>
            <a:r>
              <a:rPr sz="2800" spc="-15" dirty="0">
                <a:latin typeface="Times New Roman"/>
                <a:cs typeface="Times New Roman"/>
              </a:rPr>
              <a:t>le</a:t>
            </a:r>
            <a:r>
              <a:rPr sz="2800" spc="-5" dirty="0">
                <a:latin typeface="Times New Roman"/>
                <a:cs typeface="Times New Roman"/>
              </a:rPr>
              <a:t> </a:t>
            </a:r>
            <a:r>
              <a:rPr sz="2800" dirty="0">
                <a:latin typeface="Times New Roman"/>
                <a:cs typeface="Times New Roman"/>
              </a:rPr>
              <a:t>for </a:t>
            </a:r>
            <a:r>
              <a:rPr sz="2800" spc="-15" dirty="0">
                <a:latin typeface="Times New Roman"/>
                <a:cs typeface="Times New Roman"/>
              </a:rPr>
              <a:t>g</a:t>
            </a:r>
            <a:r>
              <a:rPr sz="2800" spc="-20" dirty="0">
                <a:latin typeface="Times New Roman"/>
                <a:cs typeface="Times New Roman"/>
              </a:rPr>
              <a:t>e</a:t>
            </a:r>
            <a:r>
              <a:rPr sz="2800" spc="-15" dirty="0">
                <a:latin typeface="Times New Roman"/>
                <a:cs typeface="Times New Roman"/>
              </a:rPr>
              <a:t>n</a:t>
            </a:r>
            <a:r>
              <a:rPr sz="2800" spc="-20" dirty="0">
                <a:latin typeface="Times New Roman"/>
                <a:cs typeface="Times New Roman"/>
              </a:rPr>
              <a:t>e</a:t>
            </a:r>
            <a:r>
              <a:rPr sz="2800" spc="-10" dirty="0">
                <a:latin typeface="Times New Roman"/>
                <a:cs typeface="Times New Roman"/>
              </a:rPr>
              <a:t>r</a:t>
            </a:r>
            <a:r>
              <a:rPr sz="2800" spc="-20" dirty="0">
                <a:latin typeface="Times New Roman"/>
                <a:cs typeface="Times New Roman"/>
              </a:rPr>
              <a:t>a</a:t>
            </a:r>
            <a:r>
              <a:rPr sz="2800" spc="-10" dirty="0">
                <a:latin typeface="Times New Roman"/>
                <a:cs typeface="Times New Roman"/>
              </a:rPr>
              <a:t>l</a:t>
            </a:r>
            <a:r>
              <a:rPr sz="2800" dirty="0">
                <a:latin typeface="Times New Roman"/>
                <a:cs typeface="Times New Roman"/>
              </a:rPr>
              <a:t> </a:t>
            </a:r>
            <a:r>
              <a:rPr sz="2800" spc="-15" dirty="0">
                <a:latin typeface="Times New Roman"/>
                <a:cs typeface="Times New Roman"/>
              </a:rPr>
              <a:t>g</a:t>
            </a:r>
            <a:r>
              <a:rPr sz="2800" spc="-20" dirty="0">
                <a:latin typeface="Times New Roman"/>
                <a:cs typeface="Times New Roman"/>
              </a:rPr>
              <a:t>a</a:t>
            </a:r>
            <a:r>
              <a:rPr sz="2800" spc="-25" dirty="0">
                <a:latin typeface="Times New Roman"/>
                <a:cs typeface="Times New Roman"/>
              </a:rPr>
              <a:t>m</a:t>
            </a:r>
            <a:r>
              <a:rPr sz="2800" spc="-20" dirty="0">
                <a:latin typeface="Times New Roman"/>
                <a:cs typeface="Times New Roman"/>
              </a:rPr>
              <a:t>e</a:t>
            </a:r>
            <a:r>
              <a:rPr sz="2800" dirty="0">
                <a:latin typeface="Times New Roman"/>
                <a:cs typeface="Times New Roman"/>
              </a:rPr>
              <a:t>s)</a:t>
            </a:r>
            <a:endParaRPr sz="2800">
              <a:latin typeface="Times New Roman"/>
              <a:cs typeface="Times New Roman"/>
            </a:endParaRPr>
          </a:p>
        </p:txBody>
      </p:sp>
      <p:sp>
        <p:nvSpPr>
          <p:cNvPr id="7" name="object 7"/>
          <p:cNvSpPr/>
          <p:nvPr/>
        </p:nvSpPr>
        <p:spPr>
          <a:xfrm>
            <a:off x="388590" y="2958631"/>
            <a:ext cx="7738169" cy="1708294"/>
          </a:xfrm>
          <a:prstGeom prst="rect">
            <a:avLst/>
          </a:prstGeom>
          <a:blipFill>
            <a:blip r:embed="rId3" cstate="print"/>
            <a:stretch>
              <a:fillRect/>
            </a:stretch>
          </a:blipFill>
        </p:spPr>
        <p:txBody>
          <a:bodyPr wrap="square" lIns="0" tIns="0" rIns="0" bIns="0" rtlCol="0"/>
          <a:lstStyle/>
          <a:p>
            <a:endParaRPr/>
          </a:p>
        </p:txBody>
      </p:sp>
      <p:sp>
        <p:nvSpPr>
          <p:cNvPr id="8" name="object 8"/>
          <p:cNvSpPr txBox="1"/>
          <p:nvPr/>
        </p:nvSpPr>
        <p:spPr>
          <a:xfrm>
            <a:off x="424874" y="5029200"/>
            <a:ext cx="7372984" cy="381000"/>
          </a:xfrm>
          <a:prstGeom prst="rect">
            <a:avLst/>
          </a:prstGeom>
        </p:spPr>
        <p:txBody>
          <a:bodyPr vert="horz" wrap="square" lIns="0" tIns="0" rIns="0" bIns="0" rtlCol="0">
            <a:spAutoFit/>
          </a:bodyPr>
          <a:lstStyle/>
          <a:p>
            <a:pPr marL="12700">
              <a:lnSpc>
                <a:spcPct val="100000"/>
              </a:lnSpc>
            </a:pPr>
            <a:r>
              <a:rPr sz="2800" spc="-15" dirty="0">
                <a:solidFill>
                  <a:srgbClr val="C82506"/>
                </a:solidFill>
                <a:latin typeface="Times New Roman"/>
                <a:cs typeface="Times New Roman"/>
              </a:rPr>
              <a:t>but </a:t>
            </a:r>
            <a:r>
              <a:rPr sz="2800" spc="-10" dirty="0">
                <a:solidFill>
                  <a:srgbClr val="C82506"/>
                </a:solidFill>
                <a:latin typeface="Times New Roman"/>
                <a:cs typeface="Times New Roman"/>
              </a:rPr>
              <a:t>is this N</a:t>
            </a:r>
            <a:r>
              <a:rPr sz="2800" spc="-20" dirty="0">
                <a:solidFill>
                  <a:srgbClr val="C82506"/>
                </a:solidFill>
                <a:latin typeface="Times New Roman"/>
                <a:cs typeface="Times New Roman"/>
              </a:rPr>
              <a:t>a</a:t>
            </a:r>
            <a:r>
              <a:rPr sz="2800" dirty="0">
                <a:solidFill>
                  <a:srgbClr val="C82506"/>
                </a:solidFill>
                <a:latin typeface="Times New Roman"/>
                <a:cs typeface="Times New Roman"/>
              </a:rPr>
              <a:t>sh </a:t>
            </a:r>
            <a:r>
              <a:rPr sz="2800" spc="-25" dirty="0">
                <a:solidFill>
                  <a:srgbClr val="C82506"/>
                </a:solidFill>
                <a:latin typeface="Times New Roman"/>
                <a:cs typeface="Times New Roman"/>
              </a:rPr>
              <a:t>E</a:t>
            </a:r>
            <a:r>
              <a:rPr sz="2800" spc="-15" dirty="0">
                <a:solidFill>
                  <a:srgbClr val="C82506"/>
                </a:solidFill>
                <a:latin typeface="Times New Roman"/>
                <a:cs typeface="Times New Roman"/>
              </a:rPr>
              <a:t>quilibri</a:t>
            </a:r>
            <a:r>
              <a:rPr sz="2800" spc="-20" dirty="0">
                <a:solidFill>
                  <a:srgbClr val="C82506"/>
                </a:solidFill>
                <a:latin typeface="Times New Roman"/>
                <a:cs typeface="Times New Roman"/>
              </a:rPr>
              <a:t>um</a:t>
            </a:r>
            <a:r>
              <a:rPr sz="2800" dirty="0">
                <a:solidFill>
                  <a:srgbClr val="C82506"/>
                </a:solidFill>
                <a:latin typeface="Times New Roman"/>
                <a:cs typeface="Times New Roman"/>
              </a:rPr>
              <a:t> </a:t>
            </a:r>
            <a:r>
              <a:rPr sz="2800" spc="-15" dirty="0">
                <a:solidFill>
                  <a:srgbClr val="C82506"/>
                </a:solidFill>
                <a:latin typeface="Times New Roman"/>
                <a:cs typeface="Times New Roman"/>
              </a:rPr>
              <a:t>n</a:t>
            </a:r>
            <a:r>
              <a:rPr sz="2800" spc="-20" dirty="0">
                <a:solidFill>
                  <a:srgbClr val="C82506"/>
                </a:solidFill>
                <a:latin typeface="Times New Roman"/>
                <a:cs typeface="Times New Roman"/>
              </a:rPr>
              <a:t>ece</a:t>
            </a:r>
            <a:r>
              <a:rPr sz="2800" dirty="0">
                <a:solidFill>
                  <a:srgbClr val="C82506"/>
                </a:solidFill>
                <a:latin typeface="Times New Roman"/>
                <a:cs typeface="Times New Roman"/>
              </a:rPr>
              <a:t>ss</a:t>
            </a:r>
            <a:r>
              <a:rPr sz="2800" spc="-20" dirty="0">
                <a:solidFill>
                  <a:srgbClr val="C82506"/>
                </a:solidFill>
                <a:latin typeface="Times New Roman"/>
                <a:cs typeface="Times New Roman"/>
              </a:rPr>
              <a:t>a</a:t>
            </a:r>
            <a:r>
              <a:rPr sz="2800" spc="-10" dirty="0">
                <a:solidFill>
                  <a:srgbClr val="C82506"/>
                </a:solidFill>
                <a:latin typeface="Times New Roman"/>
                <a:cs typeface="Times New Roman"/>
              </a:rPr>
              <a:t>ril</a:t>
            </a:r>
            <a:r>
              <a:rPr sz="2800" dirty="0">
                <a:solidFill>
                  <a:srgbClr val="C82506"/>
                </a:solidFill>
                <a:latin typeface="Times New Roman"/>
                <a:cs typeface="Times New Roman"/>
              </a:rPr>
              <a:t>y pro-s</a:t>
            </a:r>
            <a:r>
              <a:rPr sz="2800" spc="-15" dirty="0">
                <a:solidFill>
                  <a:srgbClr val="C82506"/>
                </a:solidFill>
                <a:latin typeface="Times New Roman"/>
                <a:cs typeface="Times New Roman"/>
              </a:rPr>
              <a:t>o</a:t>
            </a:r>
            <a:r>
              <a:rPr sz="2800" spc="-20" dirty="0">
                <a:solidFill>
                  <a:srgbClr val="C82506"/>
                </a:solidFill>
                <a:latin typeface="Times New Roman"/>
                <a:cs typeface="Times New Roman"/>
              </a:rPr>
              <a:t>c</a:t>
            </a:r>
            <a:r>
              <a:rPr sz="2800" spc="-10" dirty="0">
                <a:solidFill>
                  <a:srgbClr val="C82506"/>
                </a:solidFill>
                <a:latin typeface="Times New Roman"/>
                <a:cs typeface="Times New Roman"/>
              </a:rPr>
              <a:t>i</a:t>
            </a:r>
            <a:r>
              <a:rPr sz="2800" spc="-20" dirty="0">
                <a:solidFill>
                  <a:srgbClr val="C82506"/>
                </a:solidFill>
                <a:latin typeface="Times New Roman"/>
                <a:cs typeface="Times New Roman"/>
              </a:rPr>
              <a:t>a</a:t>
            </a:r>
            <a:r>
              <a:rPr sz="2800" spc="-15" dirty="0">
                <a:solidFill>
                  <a:srgbClr val="C82506"/>
                </a:solidFill>
                <a:latin typeface="Times New Roman"/>
                <a:cs typeface="Times New Roman"/>
              </a:rPr>
              <a:t>l?</a:t>
            </a:r>
            <a:endParaRPr sz="2800" dirty="0">
              <a:latin typeface="Times New Roman"/>
              <a:cs typeface="Times New Roman"/>
            </a:endParaRPr>
          </a:p>
        </p:txBody>
      </p:sp>
      <p:sp>
        <p:nvSpPr>
          <p:cNvPr id="3" name="Rectangle 2">
            <a:extLst>
              <a:ext uri="{FF2B5EF4-FFF2-40B4-BE49-F238E27FC236}">
                <a16:creationId xmlns:a16="http://schemas.microsoft.com/office/drawing/2014/main" id="{A65C24CF-FC89-42F9-CACA-79D28EC3FFC8}"/>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4B2D2730-432D-2666-F4AA-E1CC26090C1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615CA903-F16A-8BA9-7F10-B0C55EB6E15A}"/>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9</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F7960E5F-1576-47A9-3892-5B1A749C7FA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1EAE017B-2BA8-7487-1009-AF5DE6D024B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3" name="TextBox 12">
            <a:extLst>
              <a:ext uri="{FF2B5EF4-FFF2-40B4-BE49-F238E27FC236}">
                <a16:creationId xmlns:a16="http://schemas.microsoft.com/office/drawing/2014/main" id="{8BEA3442-5D00-41AA-EB0B-BCC2BF5130AD}"/>
              </a:ext>
            </a:extLst>
          </p:cNvPr>
          <p:cNvSpPr txBox="1"/>
          <p:nvPr/>
        </p:nvSpPr>
        <p:spPr>
          <a:xfrm>
            <a:off x="357602" y="5539901"/>
            <a:ext cx="8331258" cy="523220"/>
          </a:xfrm>
          <a:prstGeom prst="rect">
            <a:avLst/>
          </a:prstGeom>
          <a:noFill/>
        </p:spPr>
        <p:txBody>
          <a:bodyPr wrap="square">
            <a:spAutoFit/>
          </a:bodyPr>
          <a:lstStyle/>
          <a:p>
            <a:r>
              <a:rPr lang="en-US" sz="1400" b="0" i="0" dirty="0">
                <a:solidFill>
                  <a:schemeClr val="tx2">
                    <a:lumMod val="60000"/>
                    <a:lumOff val="40000"/>
                  </a:schemeClr>
                </a:solidFill>
                <a:effectLst/>
                <a:latin typeface="Söhne"/>
              </a:rPr>
              <a:t>"pro-social" outcome typically refers to an outcome that benefits all players or at least some of the players, as opposed to outcomes that are purely self-interested or competitive. </a:t>
            </a:r>
            <a:endParaRPr lang="en-US" sz="1400" dirty="0">
              <a:solidFill>
                <a:schemeClr val="tx2">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45557"/>
          </a:xfrm>
          <a:prstGeom prst="rect">
            <a:avLst/>
          </a:prstGeom>
        </p:spPr>
        <p:txBody>
          <a:bodyPr vert="horz" wrap="square" lIns="0" tIns="151634" rIns="0" bIns="0" rtlCol="0">
            <a:spAutoFit/>
          </a:bodyPr>
          <a:lstStyle/>
          <a:p>
            <a:pPr marL="12700">
              <a:lnSpc>
                <a:spcPct val="100000"/>
              </a:lnSpc>
            </a:pPr>
            <a:r>
              <a:rPr lang="en-US" sz="3200" dirty="0">
                <a:latin typeface="Arial"/>
                <a:cs typeface="Arial"/>
              </a:rPr>
              <a:t>Sel</a:t>
            </a:r>
            <a:r>
              <a:rPr lang="en-US" sz="3200" spc="-15" dirty="0">
                <a:latin typeface="Arial"/>
                <a:cs typeface="Arial"/>
              </a:rPr>
              <a:t>f</a:t>
            </a:r>
            <a:r>
              <a:rPr lang="en-US" sz="3200" dirty="0">
                <a:latin typeface="Arial"/>
                <a:cs typeface="Arial"/>
              </a:rPr>
              <a:t>ish</a:t>
            </a:r>
            <a:r>
              <a:rPr lang="en-US" sz="3200" spc="-5" dirty="0">
                <a:latin typeface="Arial"/>
                <a:cs typeface="Arial"/>
              </a:rPr>
              <a:t> </a:t>
            </a:r>
            <a:r>
              <a:rPr lang="en-US" sz="3200" dirty="0">
                <a:latin typeface="Arial"/>
                <a:cs typeface="Arial"/>
              </a:rPr>
              <a:t>Rou</a:t>
            </a:r>
            <a:r>
              <a:rPr lang="en-US" sz="3200" spc="-15" dirty="0">
                <a:latin typeface="Arial"/>
                <a:cs typeface="Arial"/>
              </a:rPr>
              <a:t>t</a:t>
            </a:r>
            <a:r>
              <a:rPr lang="en-US" sz="3200" dirty="0">
                <a:latin typeface="Arial"/>
                <a:cs typeface="Arial"/>
              </a:rPr>
              <a:t>ing</a:t>
            </a:r>
            <a:r>
              <a:rPr lang="en-US" sz="3200" spc="-5" dirty="0">
                <a:latin typeface="Arial"/>
                <a:cs typeface="Arial"/>
              </a:rPr>
              <a:t> </a:t>
            </a:r>
            <a:r>
              <a:rPr lang="en-US" sz="3200" dirty="0">
                <a:latin typeface="Arial"/>
                <a:cs typeface="Arial"/>
              </a:rPr>
              <a:t>(Price</a:t>
            </a:r>
            <a:r>
              <a:rPr lang="en-US" sz="3200" spc="-5" dirty="0">
                <a:latin typeface="Arial"/>
                <a:cs typeface="Arial"/>
              </a:rPr>
              <a:t> </a:t>
            </a:r>
            <a:r>
              <a:rPr lang="en-US" sz="3200" dirty="0">
                <a:latin typeface="Arial"/>
                <a:cs typeface="Arial"/>
              </a:rPr>
              <a:t>o</a:t>
            </a:r>
            <a:r>
              <a:rPr lang="en-US" sz="3200" spc="-10" dirty="0">
                <a:latin typeface="Arial"/>
                <a:cs typeface="Arial"/>
              </a:rPr>
              <a:t>f</a:t>
            </a:r>
            <a:r>
              <a:rPr lang="en-US" sz="3200" spc="-180" dirty="0">
                <a:latin typeface="Arial"/>
                <a:cs typeface="Arial"/>
              </a:rPr>
              <a:t> </a:t>
            </a:r>
            <a:r>
              <a:rPr lang="en-US" sz="3200" dirty="0">
                <a:latin typeface="Arial"/>
                <a:cs typeface="Arial"/>
              </a:rPr>
              <a:t>Anarchy)</a:t>
            </a:r>
          </a:p>
        </p:txBody>
      </p:sp>
      <p:sp>
        <p:nvSpPr>
          <p:cNvPr id="7" name="object 7"/>
          <p:cNvSpPr/>
          <p:nvPr/>
        </p:nvSpPr>
        <p:spPr>
          <a:xfrm>
            <a:off x="3302152" y="1618785"/>
            <a:ext cx="5233680" cy="351803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58957" y="1618785"/>
            <a:ext cx="2183723" cy="2231344"/>
          </a:xfrm>
          <a:prstGeom prst="rect">
            <a:avLst/>
          </a:prstGeom>
          <a:blipFill>
            <a:blip r:embed="rId4" cstate="print"/>
            <a:stretch>
              <a:fillRect/>
            </a:stretch>
          </a:blipFill>
        </p:spPr>
        <p:txBody>
          <a:bodyPr wrap="square" lIns="0" tIns="0" rIns="0" bIns="0" rtlCol="0"/>
          <a:lstStyle/>
          <a:p>
            <a:endParaRPr/>
          </a:p>
        </p:txBody>
      </p:sp>
      <p:sp>
        <p:nvSpPr>
          <p:cNvPr id="9" name="TextBox 8">
            <a:extLst>
              <a:ext uri="{FF2B5EF4-FFF2-40B4-BE49-F238E27FC236}">
                <a16:creationId xmlns:a16="http://schemas.microsoft.com/office/drawing/2014/main" id="{6C7E40A1-8DE0-5975-4067-63804CD96E5A}"/>
              </a:ext>
            </a:extLst>
          </p:cNvPr>
          <p:cNvSpPr txBox="1"/>
          <p:nvPr/>
        </p:nvSpPr>
        <p:spPr>
          <a:xfrm>
            <a:off x="5486400" y="5715000"/>
            <a:ext cx="2841972" cy="261610"/>
          </a:xfrm>
          <a:prstGeom prst="rect">
            <a:avLst/>
          </a:prstGeom>
          <a:noFill/>
        </p:spPr>
        <p:txBody>
          <a:bodyPr wrap="square">
            <a:spAutoFit/>
          </a:bodyPr>
          <a:lstStyle/>
          <a:p>
            <a:pPr marL="12700">
              <a:lnSpc>
                <a:spcPct val="100000"/>
              </a:lnSpc>
            </a:pPr>
            <a:r>
              <a:rPr lang="en-US" sz="1100" spc="-5"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https://en.w</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ikipedia.o</a:t>
            </a:r>
            <a:r>
              <a:rPr lang="en-US" sz="1100" spc="-3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r</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g/</a:t>
            </a:r>
            <a:r>
              <a:rPr lang="en-US" sz="110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w</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iki/Conge</a:t>
            </a:r>
            <a:r>
              <a:rPr lang="en-US" sz="110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s</a:t>
            </a:r>
            <a:r>
              <a:rPr lang="en-US" sz="1100" spc="-10" dirty="0">
                <a:solidFill>
                  <a:srgbClr val="0000FF"/>
                </a:solidFill>
                <a:latin typeface="Times New Roman"/>
                <a:cs typeface="Times New Roman"/>
                <a:hlinkClick r:id="rId5">
                  <a:extLst>
                    <a:ext uri="{A12FA001-AC4F-418D-AE19-62706E023703}">
                      <ahyp:hlinkClr xmlns:ahyp="http://schemas.microsoft.com/office/drawing/2018/hyperlinkcolor" val="tx"/>
                    </a:ext>
                  </a:extLst>
                </a:hlinkClick>
              </a:rPr>
              <a:t>tion_game</a:t>
            </a:r>
            <a:endParaRPr lang="en-US" sz="1100" dirty="0">
              <a:solidFill>
                <a:srgbClr val="0000FF"/>
              </a:solidFill>
              <a:latin typeface="Times New Roman"/>
              <a:cs typeface="Times New Roman"/>
            </a:endParaRPr>
          </a:p>
        </p:txBody>
      </p:sp>
      <p:sp>
        <p:nvSpPr>
          <p:cNvPr id="3" name="object 8">
            <a:extLst>
              <a:ext uri="{FF2B5EF4-FFF2-40B4-BE49-F238E27FC236}">
                <a16:creationId xmlns:a16="http://schemas.microsoft.com/office/drawing/2014/main" id="{DE86BA3C-761E-D5FE-DCE6-AA8DCF4074D5}"/>
              </a:ext>
            </a:extLst>
          </p:cNvPr>
          <p:cNvSpPr txBox="1"/>
          <p:nvPr/>
        </p:nvSpPr>
        <p:spPr>
          <a:xfrm>
            <a:off x="76200" y="4755820"/>
            <a:ext cx="2612390" cy="381000"/>
          </a:xfrm>
          <a:prstGeom prst="rect">
            <a:avLst/>
          </a:prstGeom>
        </p:spPr>
        <p:txBody>
          <a:bodyPr vert="horz" wrap="square" lIns="0" tIns="0" rIns="0" bIns="0" rtlCol="0">
            <a:spAutoFit/>
          </a:bodyPr>
          <a:lstStyle/>
          <a:p>
            <a:pPr marL="12700">
              <a:lnSpc>
                <a:spcPct val="100000"/>
              </a:lnSpc>
            </a:pPr>
            <a:r>
              <a:rPr sz="2800" spc="-15" dirty="0">
                <a:latin typeface="Gill Sans MT"/>
                <a:cs typeface="Gill Sans MT"/>
              </a:rPr>
              <a:t>Nash=(A</a:t>
            </a:r>
            <a:r>
              <a:rPr sz="2800" spc="-5" dirty="0">
                <a:latin typeface="Gill Sans MT"/>
                <a:cs typeface="Gill Sans MT"/>
              </a:rPr>
              <a:t>,</a:t>
            </a:r>
            <a:r>
              <a:rPr sz="2800" dirty="0">
                <a:latin typeface="Gill Sans MT"/>
                <a:cs typeface="Gill Sans MT"/>
              </a:rPr>
              <a:t>B</a:t>
            </a:r>
            <a:r>
              <a:rPr sz="2800" spc="-5" dirty="0">
                <a:latin typeface="Gill Sans MT"/>
                <a:cs typeface="Gill Sans MT"/>
              </a:rPr>
              <a:t>)</a:t>
            </a:r>
            <a:r>
              <a:rPr sz="2800" dirty="0">
                <a:latin typeface="Gill Sans MT"/>
                <a:cs typeface="Gill Sans MT"/>
              </a:rPr>
              <a:t>;</a:t>
            </a:r>
            <a:r>
              <a:rPr sz="2800" spc="-285" dirty="0">
                <a:latin typeface="Gill Sans MT"/>
                <a:cs typeface="Gill Sans MT"/>
              </a:rPr>
              <a:t> </a:t>
            </a:r>
            <a:r>
              <a:rPr sz="2800" spc="-5" dirty="0">
                <a:latin typeface="Gill Sans MT"/>
                <a:cs typeface="Gill Sans MT"/>
              </a:rPr>
              <a:t>(</a:t>
            </a:r>
            <a:r>
              <a:rPr sz="2800" dirty="0">
                <a:latin typeface="Gill Sans MT"/>
                <a:cs typeface="Gill Sans MT"/>
              </a:rPr>
              <a:t>B</a:t>
            </a:r>
            <a:r>
              <a:rPr sz="2800" spc="-5" dirty="0">
                <a:latin typeface="Gill Sans MT"/>
                <a:cs typeface="Gill Sans MT"/>
              </a:rPr>
              <a:t>,</a:t>
            </a:r>
            <a:r>
              <a:rPr sz="2800" dirty="0">
                <a:latin typeface="Gill Sans MT"/>
                <a:cs typeface="Gill Sans MT"/>
              </a:rPr>
              <a:t>A)</a:t>
            </a:r>
          </a:p>
        </p:txBody>
      </p:sp>
      <p:sp>
        <p:nvSpPr>
          <p:cNvPr id="4" name="object 12">
            <a:extLst>
              <a:ext uri="{FF2B5EF4-FFF2-40B4-BE49-F238E27FC236}">
                <a16:creationId xmlns:a16="http://schemas.microsoft.com/office/drawing/2014/main" id="{B65F3D0A-C389-4749-F4A1-829757B3252E}"/>
              </a:ext>
            </a:extLst>
          </p:cNvPr>
          <p:cNvSpPr txBox="1"/>
          <p:nvPr/>
        </p:nvSpPr>
        <p:spPr>
          <a:xfrm>
            <a:off x="111113" y="5473398"/>
            <a:ext cx="3399790" cy="381000"/>
          </a:xfrm>
          <a:prstGeom prst="rect">
            <a:avLst/>
          </a:prstGeom>
        </p:spPr>
        <p:txBody>
          <a:bodyPr vert="horz" wrap="square" lIns="0" tIns="0" rIns="0" bIns="0" rtlCol="0">
            <a:spAutoFit/>
          </a:bodyPr>
          <a:lstStyle/>
          <a:p>
            <a:pPr marL="12700">
              <a:lnSpc>
                <a:spcPct val="100000"/>
              </a:lnSpc>
            </a:pPr>
            <a:r>
              <a:rPr sz="2800" dirty="0">
                <a:latin typeface="Gill Sans MT"/>
                <a:cs typeface="Gill Sans MT"/>
              </a:rPr>
              <a:t>he</a:t>
            </a:r>
            <a:r>
              <a:rPr sz="2800" spc="-60" dirty="0">
                <a:latin typeface="Gill Sans MT"/>
                <a:cs typeface="Gill Sans MT"/>
              </a:rPr>
              <a:t>r</a:t>
            </a:r>
            <a:r>
              <a:rPr sz="2800" spc="55" dirty="0">
                <a:latin typeface="Gill Sans MT"/>
                <a:cs typeface="Gill Sans MT"/>
              </a:rPr>
              <a:t>e</a:t>
            </a:r>
            <a:r>
              <a:rPr sz="2800" dirty="0">
                <a:latin typeface="Gill Sans MT"/>
                <a:cs typeface="Gill Sans MT"/>
              </a:rPr>
              <a:t>,</a:t>
            </a:r>
            <a:r>
              <a:rPr sz="2800" spc="-285" dirty="0">
                <a:latin typeface="Gill Sans MT"/>
                <a:cs typeface="Gill Sans MT"/>
              </a:rPr>
              <a:t> </a:t>
            </a:r>
            <a:r>
              <a:rPr sz="2800" spc="-15" dirty="0">
                <a:latin typeface="Gill Sans MT"/>
                <a:cs typeface="Gill Sans MT"/>
              </a:rPr>
              <a:t>Nas</a:t>
            </a:r>
            <a:r>
              <a:rPr sz="2800" dirty="0">
                <a:latin typeface="Gill Sans MT"/>
                <a:cs typeface="Gill Sans MT"/>
              </a:rPr>
              <a:t>h</a:t>
            </a:r>
            <a:r>
              <a:rPr sz="2800" spc="-5" dirty="0">
                <a:latin typeface="Gill Sans MT"/>
                <a:cs typeface="Gill Sans MT"/>
              </a:rPr>
              <a:t> i</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p</a:t>
            </a:r>
            <a:r>
              <a:rPr sz="2800" spc="-85" dirty="0">
                <a:latin typeface="Gill Sans MT"/>
                <a:cs typeface="Gill Sans MT"/>
              </a:rPr>
              <a:t>r</a:t>
            </a:r>
            <a:r>
              <a:rPr sz="2800" spc="-20" dirty="0">
                <a:latin typeface="Gill Sans MT"/>
                <a:cs typeface="Gill Sans MT"/>
              </a:rPr>
              <a:t>o</a:t>
            </a:r>
            <a:r>
              <a:rPr sz="2800" spc="-5" dirty="0">
                <a:latin typeface="Gill Sans MT"/>
                <a:cs typeface="Gill Sans MT"/>
              </a:rPr>
              <a:t>-</a:t>
            </a:r>
            <a:r>
              <a:rPr sz="2800" spc="-15" dirty="0">
                <a:latin typeface="Gill Sans MT"/>
                <a:cs typeface="Gill Sans MT"/>
              </a:rPr>
              <a:t>so</a:t>
            </a:r>
            <a:r>
              <a:rPr sz="2800" dirty="0">
                <a:latin typeface="Gill Sans MT"/>
                <a:cs typeface="Gill Sans MT"/>
              </a:rPr>
              <a:t>c</a:t>
            </a:r>
            <a:r>
              <a:rPr sz="2800" spc="-5" dirty="0">
                <a:latin typeface="Gill Sans MT"/>
                <a:cs typeface="Gill Sans MT"/>
              </a:rPr>
              <a:t>i</a:t>
            </a:r>
            <a:r>
              <a:rPr sz="2800" spc="-15" dirty="0">
                <a:latin typeface="Gill Sans MT"/>
                <a:cs typeface="Gill Sans MT"/>
              </a:rPr>
              <a:t>a</a:t>
            </a:r>
            <a:r>
              <a:rPr sz="2800" dirty="0">
                <a:latin typeface="Gill Sans MT"/>
                <a:cs typeface="Gill Sans MT"/>
              </a:rPr>
              <a:t>l</a:t>
            </a:r>
            <a:endParaRPr sz="2800">
              <a:latin typeface="Gill Sans MT"/>
              <a:cs typeface="Gill Sans MT"/>
            </a:endParaRPr>
          </a:p>
        </p:txBody>
      </p:sp>
      <p:sp>
        <p:nvSpPr>
          <p:cNvPr id="6" name="Rectangle 5">
            <a:extLst>
              <a:ext uri="{FF2B5EF4-FFF2-40B4-BE49-F238E27FC236}">
                <a16:creationId xmlns:a16="http://schemas.microsoft.com/office/drawing/2014/main" id="{2CD51E07-BB1B-39E1-BF58-A78A67BAC4C7}"/>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9B816E1-E6E4-ABFB-42D0-D397294F183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Slide Number Placeholder 8">
            <a:extLst>
              <a:ext uri="{FF2B5EF4-FFF2-40B4-BE49-F238E27FC236}">
                <a16:creationId xmlns:a16="http://schemas.microsoft.com/office/drawing/2014/main" id="{ED5BFB0B-E875-5766-1F9B-DBB2AFEE8E67}"/>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10</a:t>
            </a:fld>
            <a:r>
              <a:rPr lang="en-US" sz="2000" dirty="0">
                <a:solidFill>
                  <a:prstClr val="black"/>
                </a:solidFill>
                <a:latin typeface="Comic Sans MS"/>
                <a:sym typeface="Comic Sans MS"/>
              </a:rPr>
              <a:t>/59</a:t>
            </a:r>
          </a:p>
        </p:txBody>
      </p:sp>
      <p:sp>
        <p:nvSpPr>
          <p:cNvPr id="12" name="Footer Placeholder 9">
            <a:extLst>
              <a:ext uri="{FF2B5EF4-FFF2-40B4-BE49-F238E27FC236}">
                <a16:creationId xmlns:a16="http://schemas.microsoft.com/office/drawing/2014/main" id="{B7C2D13A-CE9D-BC6D-8533-441D7E762F4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3" name="Rectangle 12">
            <a:extLst>
              <a:ext uri="{FF2B5EF4-FFF2-40B4-BE49-F238E27FC236}">
                <a16:creationId xmlns:a16="http://schemas.microsoft.com/office/drawing/2014/main" id="{AF57C557-7F2C-D779-6A4F-F811983D6FA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extLst>
      <p:ext uri="{BB962C8B-B14F-4D97-AF65-F5344CB8AC3E}">
        <p14:creationId xmlns:p14="http://schemas.microsoft.com/office/powerpoint/2010/main" val="1526278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p:nvPr/>
        </p:nvSpPr>
        <p:spPr>
          <a:xfrm>
            <a:off x="439346" y="354763"/>
            <a:ext cx="7758430" cy="431800"/>
          </a:xfrm>
          <a:prstGeom prst="rect">
            <a:avLst/>
          </a:prstGeom>
        </p:spPr>
        <p:txBody>
          <a:bodyPr vert="horz" wrap="square" lIns="0" tIns="0" rIns="0" bIns="0" rtlCol="0">
            <a:spAutoFit/>
          </a:bodyPr>
          <a:lstStyle/>
          <a:p>
            <a:pPr marL="12700">
              <a:lnSpc>
                <a:spcPct val="100000"/>
              </a:lnSpc>
            </a:pPr>
            <a:r>
              <a:rPr sz="3200" dirty="0">
                <a:latin typeface="Arial"/>
                <a:cs typeface="Arial"/>
              </a:rPr>
              <a:t>Braess’</a:t>
            </a:r>
            <a:r>
              <a:rPr sz="3200" spc="-120" dirty="0">
                <a:latin typeface="Arial"/>
                <a:cs typeface="Arial"/>
              </a:rPr>
              <a:t> </a:t>
            </a:r>
            <a:r>
              <a:rPr sz="3200" dirty="0">
                <a:latin typeface="Arial"/>
                <a:cs typeface="Arial"/>
              </a:rPr>
              <a:t>Paradox</a:t>
            </a:r>
            <a:r>
              <a:rPr sz="3200" spc="-5" dirty="0">
                <a:latin typeface="Arial"/>
                <a:cs typeface="Arial"/>
              </a:rPr>
              <a:t> </a:t>
            </a:r>
            <a:r>
              <a:rPr sz="3200" i="1" dirty="0">
                <a:latin typeface="Arial"/>
                <a:cs typeface="Arial"/>
              </a:rPr>
              <a:t>or</a:t>
            </a:r>
            <a:r>
              <a:rPr sz="3200" i="1" spc="-5" dirty="0">
                <a:latin typeface="Arial"/>
                <a:cs typeface="Arial"/>
              </a:rPr>
              <a:t> </a:t>
            </a:r>
            <a:r>
              <a:rPr sz="3200" spc="-25" dirty="0">
                <a:latin typeface="Arial"/>
                <a:cs typeface="Arial"/>
              </a:rPr>
              <a:t>T</a:t>
            </a:r>
            <a:r>
              <a:rPr sz="3200" dirty="0">
                <a:latin typeface="Arial"/>
                <a:cs typeface="Arial"/>
              </a:rPr>
              <a:t>he</a:t>
            </a:r>
            <a:r>
              <a:rPr sz="3200" spc="-5" dirty="0">
                <a:latin typeface="Arial"/>
                <a:cs typeface="Arial"/>
              </a:rPr>
              <a:t> </a:t>
            </a:r>
            <a:r>
              <a:rPr sz="3200" dirty="0">
                <a:latin typeface="Arial"/>
                <a:cs typeface="Arial"/>
              </a:rPr>
              <a:t>problem</a:t>
            </a:r>
            <a:r>
              <a:rPr sz="3200" spc="-5" dirty="0">
                <a:latin typeface="Arial"/>
                <a:cs typeface="Arial"/>
              </a:rPr>
              <a:t> </a:t>
            </a:r>
            <a:r>
              <a:rPr sz="3200" dirty="0">
                <a:latin typeface="Arial"/>
                <a:cs typeface="Arial"/>
              </a:rPr>
              <a:t>wi</a:t>
            </a:r>
            <a:r>
              <a:rPr sz="3200" spc="-15" dirty="0">
                <a:latin typeface="Arial"/>
                <a:cs typeface="Arial"/>
              </a:rPr>
              <a:t>t</a:t>
            </a:r>
            <a:r>
              <a:rPr sz="3200" dirty="0">
                <a:latin typeface="Arial"/>
                <a:cs typeface="Arial"/>
              </a:rPr>
              <a:t>h</a:t>
            </a:r>
            <a:r>
              <a:rPr sz="3200" spc="-5" dirty="0">
                <a:latin typeface="Arial"/>
                <a:cs typeface="Arial"/>
              </a:rPr>
              <a:t> </a:t>
            </a:r>
            <a:r>
              <a:rPr sz="3200" dirty="0">
                <a:latin typeface="Arial"/>
                <a:cs typeface="Arial"/>
              </a:rPr>
              <a:t>Nash</a:t>
            </a:r>
          </a:p>
        </p:txBody>
      </p:sp>
      <p:sp>
        <p:nvSpPr>
          <p:cNvPr id="7" name="object 7"/>
          <p:cNvSpPr/>
          <p:nvPr/>
        </p:nvSpPr>
        <p:spPr>
          <a:xfrm>
            <a:off x="435802" y="1905462"/>
            <a:ext cx="7035664" cy="2240386"/>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840272" y="2382798"/>
            <a:ext cx="810895" cy="240665"/>
          </a:xfrm>
          <a:custGeom>
            <a:avLst/>
            <a:gdLst/>
            <a:ahLst/>
            <a:cxnLst/>
            <a:rect l="l" t="t" r="r" b="b"/>
            <a:pathLst>
              <a:path w="810894" h="240664">
                <a:moveTo>
                  <a:pt x="0" y="240385"/>
                </a:moveTo>
                <a:lnTo>
                  <a:pt x="810666" y="240385"/>
                </a:lnTo>
                <a:lnTo>
                  <a:pt x="810666" y="0"/>
                </a:lnTo>
                <a:lnTo>
                  <a:pt x="0" y="0"/>
                </a:lnTo>
                <a:lnTo>
                  <a:pt x="0" y="240385"/>
                </a:lnTo>
                <a:close/>
              </a:path>
            </a:pathLst>
          </a:custGeom>
          <a:solidFill>
            <a:srgbClr val="FFFFFF"/>
          </a:solidFill>
        </p:spPr>
        <p:txBody>
          <a:bodyPr wrap="square" lIns="0" tIns="0" rIns="0" bIns="0" rtlCol="0"/>
          <a:lstStyle/>
          <a:p>
            <a:endParaRPr/>
          </a:p>
        </p:txBody>
      </p:sp>
      <p:sp>
        <p:nvSpPr>
          <p:cNvPr id="9" name="object 9"/>
          <p:cNvSpPr/>
          <p:nvPr/>
        </p:nvSpPr>
        <p:spPr>
          <a:xfrm>
            <a:off x="876300" y="2476500"/>
            <a:ext cx="139700" cy="15240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939800" y="2451100"/>
            <a:ext cx="127000" cy="190500"/>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977900" y="2476500"/>
            <a:ext cx="139700" cy="152400"/>
          </a:xfrm>
          <a:prstGeom prst="rect">
            <a:avLst/>
          </a:prstGeom>
          <a:blipFill>
            <a:blip r:embed="rId6" cstate="print"/>
            <a:stretch>
              <a:fillRect/>
            </a:stretch>
          </a:blipFill>
        </p:spPr>
        <p:txBody>
          <a:bodyPr wrap="square" lIns="0" tIns="0" rIns="0" bIns="0" rtlCol="0"/>
          <a:lstStyle/>
          <a:p>
            <a:endParaRPr/>
          </a:p>
        </p:txBody>
      </p:sp>
      <p:sp>
        <p:nvSpPr>
          <p:cNvPr id="12" name="object 12"/>
          <p:cNvSpPr/>
          <p:nvPr/>
        </p:nvSpPr>
        <p:spPr>
          <a:xfrm>
            <a:off x="1041400" y="2451100"/>
            <a:ext cx="114300" cy="190500"/>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117600" y="2489200"/>
            <a:ext cx="152400" cy="114300"/>
          </a:xfrm>
          <a:prstGeom prst="rect">
            <a:avLst/>
          </a:prstGeom>
          <a:blipFill>
            <a:blip r:embed="rId8" cstate="print"/>
            <a:stretch>
              <a:fillRect/>
            </a:stretch>
          </a:blipFill>
        </p:spPr>
        <p:txBody>
          <a:bodyPr wrap="square" lIns="0" tIns="0" rIns="0" bIns="0" rtlCol="0"/>
          <a:lstStyle/>
          <a:p>
            <a:endParaRPr/>
          </a:p>
        </p:txBody>
      </p:sp>
      <p:sp>
        <p:nvSpPr>
          <p:cNvPr id="14" name="object 14"/>
          <p:cNvSpPr/>
          <p:nvPr/>
        </p:nvSpPr>
        <p:spPr>
          <a:xfrm>
            <a:off x="1231900" y="2476500"/>
            <a:ext cx="139700" cy="152400"/>
          </a:xfrm>
          <a:prstGeom prst="rect">
            <a:avLst/>
          </a:prstGeom>
          <a:blipFill>
            <a:blip r:embed="rId9" cstate="print"/>
            <a:stretch>
              <a:fillRect/>
            </a:stretch>
          </a:blipFill>
        </p:spPr>
        <p:txBody>
          <a:bodyPr wrap="square" lIns="0" tIns="0" rIns="0" bIns="0" rtlCol="0"/>
          <a:lstStyle/>
          <a:p>
            <a:endParaRPr/>
          </a:p>
        </p:txBody>
      </p:sp>
      <p:sp>
        <p:nvSpPr>
          <p:cNvPr id="15" name="object 15"/>
          <p:cNvSpPr/>
          <p:nvPr/>
        </p:nvSpPr>
        <p:spPr>
          <a:xfrm>
            <a:off x="1308100" y="2451100"/>
            <a:ext cx="127000" cy="177800"/>
          </a:xfrm>
          <a:prstGeom prst="rect">
            <a:avLst/>
          </a:prstGeom>
          <a:blipFill>
            <a:blip r:embed="rId10" cstate="print"/>
            <a:stretch>
              <a:fillRect/>
            </a:stretch>
          </a:blipFill>
        </p:spPr>
        <p:txBody>
          <a:bodyPr wrap="square" lIns="0" tIns="0" rIns="0" bIns="0" rtlCol="0"/>
          <a:lstStyle/>
          <a:p>
            <a:endParaRPr/>
          </a:p>
        </p:txBody>
      </p:sp>
      <p:sp>
        <p:nvSpPr>
          <p:cNvPr id="16" name="object 16"/>
          <p:cNvSpPr/>
          <p:nvPr/>
        </p:nvSpPr>
        <p:spPr>
          <a:xfrm>
            <a:off x="1358900" y="2451100"/>
            <a:ext cx="254000" cy="177800"/>
          </a:xfrm>
          <a:prstGeom prst="rect">
            <a:avLst/>
          </a:prstGeom>
          <a:blipFill>
            <a:blip r:embed="rId11" cstate="print"/>
            <a:stretch>
              <a:fillRect/>
            </a:stretch>
          </a:blipFill>
        </p:spPr>
        <p:txBody>
          <a:bodyPr wrap="square" lIns="0" tIns="0" rIns="0" bIns="0" rtlCol="0"/>
          <a:lstStyle/>
          <a:p>
            <a:endParaRPr/>
          </a:p>
        </p:txBody>
      </p:sp>
      <p:sp>
        <p:nvSpPr>
          <p:cNvPr id="17" name="object 17"/>
          <p:cNvSpPr txBox="1"/>
          <p:nvPr/>
        </p:nvSpPr>
        <p:spPr>
          <a:xfrm>
            <a:off x="902735" y="2460095"/>
            <a:ext cx="68580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50" dirty="0">
                <a:latin typeface="Century"/>
                <a:cs typeface="Century"/>
              </a:rPr>
              <a:t> </a:t>
            </a:r>
            <a:r>
              <a:rPr sz="950" i="1" dirty="0">
                <a:latin typeface="Times New Roman"/>
                <a:cs typeface="Times New Roman"/>
              </a:rPr>
              <a:t>x</a:t>
            </a:r>
            <a:r>
              <a:rPr sz="950" i="1" spc="-55" dirty="0">
                <a:latin typeface="Times New Roman"/>
                <a:cs typeface="Times New Roman"/>
              </a:rPr>
              <a:t> </a:t>
            </a:r>
            <a:r>
              <a:rPr sz="950" spc="50" dirty="0">
                <a:latin typeface="Century"/>
                <a:cs typeface="Century"/>
              </a:rPr>
              <a:t>/</a:t>
            </a:r>
            <a:r>
              <a:rPr sz="950" spc="-55" dirty="0">
                <a:latin typeface="Century"/>
                <a:cs typeface="Century"/>
              </a:rPr>
              <a:t>100</a:t>
            </a:r>
            <a:endParaRPr sz="950">
              <a:latin typeface="Century"/>
              <a:cs typeface="Century"/>
            </a:endParaRPr>
          </a:p>
        </p:txBody>
      </p:sp>
      <p:sp>
        <p:nvSpPr>
          <p:cNvPr id="18" name="object 18"/>
          <p:cNvSpPr/>
          <p:nvPr/>
        </p:nvSpPr>
        <p:spPr>
          <a:xfrm>
            <a:off x="2262099" y="2949958"/>
            <a:ext cx="548640" cy="240665"/>
          </a:xfrm>
          <a:custGeom>
            <a:avLst/>
            <a:gdLst/>
            <a:ahLst/>
            <a:cxnLst/>
            <a:rect l="l" t="t" r="r" b="b"/>
            <a:pathLst>
              <a:path w="548639" h="240664">
                <a:moveTo>
                  <a:pt x="0" y="240385"/>
                </a:moveTo>
                <a:lnTo>
                  <a:pt x="548571" y="240385"/>
                </a:lnTo>
                <a:lnTo>
                  <a:pt x="548571" y="0"/>
                </a:lnTo>
                <a:lnTo>
                  <a:pt x="0" y="0"/>
                </a:lnTo>
                <a:lnTo>
                  <a:pt x="0" y="240385"/>
                </a:lnTo>
                <a:close/>
              </a:path>
            </a:pathLst>
          </a:custGeom>
          <a:solidFill>
            <a:srgbClr val="FFFFFF"/>
          </a:solidFill>
        </p:spPr>
        <p:txBody>
          <a:bodyPr wrap="square" lIns="0" tIns="0" rIns="0" bIns="0" rtlCol="0"/>
          <a:lstStyle/>
          <a:p>
            <a:endParaRPr/>
          </a:p>
        </p:txBody>
      </p:sp>
      <p:sp>
        <p:nvSpPr>
          <p:cNvPr id="19" name="object 19"/>
          <p:cNvSpPr/>
          <p:nvPr/>
        </p:nvSpPr>
        <p:spPr>
          <a:xfrm>
            <a:off x="2286000" y="3048000"/>
            <a:ext cx="139700" cy="139700"/>
          </a:xfrm>
          <a:prstGeom prst="rect">
            <a:avLst/>
          </a:prstGeom>
          <a:blipFill>
            <a:blip r:embed="rId12" cstate="print"/>
            <a:stretch>
              <a:fillRect/>
            </a:stretch>
          </a:blipFill>
        </p:spPr>
        <p:txBody>
          <a:bodyPr wrap="square" lIns="0" tIns="0" rIns="0" bIns="0" rtlCol="0"/>
          <a:lstStyle/>
          <a:p>
            <a:endParaRPr/>
          </a:p>
        </p:txBody>
      </p:sp>
      <p:sp>
        <p:nvSpPr>
          <p:cNvPr id="20" name="object 20"/>
          <p:cNvSpPr/>
          <p:nvPr/>
        </p:nvSpPr>
        <p:spPr>
          <a:xfrm>
            <a:off x="2349500" y="3022600"/>
            <a:ext cx="127000" cy="190500"/>
          </a:xfrm>
          <a:prstGeom prst="rect">
            <a:avLst/>
          </a:prstGeom>
          <a:blipFill>
            <a:blip r:embed="rId13" cstate="print"/>
            <a:stretch>
              <a:fillRect/>
            </a:stretch>
          </a:blipFill>
        </p:spPr>
        <p:txBody>
          <a:bodyPr wrap="square" lIns="0" tIns="0" rIns="0" bIns="0" rtlCol="0"/>
          <a:lstStyle/>
          <a:p>
            <a:endParaRPr/>
          </a:p>
        </p:txBody>
      </p:sp>
      <p:sp>
        <p:nvSpPr>
          <p:cNvPr id="21" name="object 21"/>
          <p:cNvSpPr/>
          <p:nvPr/>
        </p:nvSpPr>
        <p:spPr>
          <a:xfrm>
            <a:off x="2387600" y="3048000"/>
            <a:ext cx="152400" cy="139700"/>
          </a:xfrm>
          <a:prstGeom prst="rect">
            <a:avLst/>
          </a:prstGeom>
          <a:blipFill>
            <a:blip r:embed="rId14" cstate="print"/>
            <a:stretch>
              <a:fillRect/>
            </a:stretch>
          </a:blipFill>
        </p:spPr>
        <p:txBody>
          <a:bodyPr wrap="square" lIns="0" tIns="0" rIns="0" bIns="0" rtlCol="0"/>
          <a:lstStyle/>
          <a:p>
            <a:endParaRPr/>
          </a:p>
        </p:txBody>
      </p:sp>
      <p:sp>
        <p:nvSpPr>
          <p:cNvPr id="22" name="object 22"/>
          <p:cNvSpPr/>
          <p:nvPr/>
        </p:nvSpPr>
        <p:spPr>
          <a:xfrm>
            <a:off x="2451100" y="3022600"/>
            <a:ext cx="114300" cy="190500"/>
          </a:xfrm>
          <a:prstGeom prst="rect">
            <a:avLst/>
          </a:prstGeom>
          <a:blipFill>
            <a:blip r:embed="rId15" cstate="print"/>
            <a:stretch>
              <a:fillRect/>
            </a:stretch>
          </a:blipFill>
        </p:spPr>
        <p:txBody>
          <a:bodyPr wrap="square" lIns="0" tIns="0" rIns="0" bIns="0" rtlCol="0"/>
          <a:lstStyle/>
          <a:p>
            <a:endParaRPr/>
          </a:p>
        </p:txBody>
      </p:sp>
      <p:sp>
        <p:nvSpPr>
          <p:cNvPr id="23" name="object 23"/>
          <p:cNvSpPr/>
          <p:nvPr/>
        </p:nvSpPr>
        <p:spPr>
          <a:xfrm>
            <a:off x="2527300" y="3048000"/>
            <a:ext cx="165100" cy="127000"/>
          </a:xfrm>
          <a:prstGeom prst="rect">
            <a:avLst/>
          </a:prstGeom>
          <a:blipFill>
            <a:blip r:embed="rId16" cstate="print"/>
            <a:stretch>
              <a:fillRect/>
            </a:stretch>
          </a:blipFill>
        </p:spPr>
        <p:txBody>
          <a:bodyPr wrap="square" lIns="0" tIns="0" rIns="0" bIns="0" rtlCol="0"/>
          <a:lstStyle/>
          <a:p>
            <a:endParaRPr/>
          </a:p>
        </p:txBody>
      </p:sp>
      <p:sp>
        <p:nvSpPr>
          <p:cNvPr id="24" name="object 24"/>
          <p:cNvSpPr/>
          <p:nvPr/>
        </p:nvSpPr>
        <p:spPr>
          <a:xfrm>
            <a:off x="2641600" y="3022600"/>
            <a:ext cx="139700" cy="165100"/>
          </a:xfrm>
          <a:prstGeom prst="rect">
            <a:avLst/>
          </a:prstGeom>
          <a:blipFill>
            <a:blip r:embed="rId17" cstate="print"/>
            <a:stretch>
              <a:fillRect/>
            </a:stretch>
          </a:blipFill>
        </p:spPr>
        <p:txBody>
          <a:bodyPr wrap="square" lIns="0" tIns="0" rIns="0" bIns="0" rtlCol="0"/>
          <a:lstStyle/>
          <a:p>
            <a:endParaRPr/>
          </a:p>
        </p:txBody>
      </p:sp>
      <p:sp>
        <p:nvSpPr>
          <p:cNvPr id="25" name="object 25"/>
          <p:cNvSpPr txBox="1"/>
          <p:nvPr/>
        </p:nvSpPr>
        <p:spPr>
          <a:xfrm>
            <a:off x="2315573" y="3027256"/>
            <a:ext cx="441959"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15" dirty="0">
                <a:latin typeface="Century"/>
                <a:cs typeface="Century"/>
              </a:rPr>
              <a:t> </a:t>
            </a:r>
            <a:r>
              <a:rPr sz="950" spc="-55" dirty="0">
                <a:latin typeface="Century"/>
                <a:cs typeface="Century"/>
              </a:rPr>
              <a:t>0</a:t>
            </a:r>
            <a:endParaRPr sz="950">
              <a:latin typeface="Century"/>
              <a:cs typeface="Century"/>
            </a:endParaRPr>
          </a:p>
        </p:txBody>
      </p:sp>
      <p:sp>
        <p:nvSpPr>
          <p:cNvPr id="26" name="object 26"/>
          <p:cNvSpPr/>
          <p:nvPr/>
        </p:nvSpPr>
        <p:spPr>
          <a:xfrm>
            <a:off x="2768184" y="3536675"/>
            <a:ext cx="810895" cy="240665"/>
          </a:xfrm>
          <a:custGeom>
            <a:avLst/>
            <a:gdLst/>
            <a:ahLst/>
            <a:cxnLst/>
            <a:rect l="l" t="t" r="r" b="b"/>
            <a:pathLst>
              <a:path w="810895" h="240664">
                <a:moveTo>
                  <a:pt x="0" y="240385"/>
                </a:moveTo>
                <a:lnTo>
                  <a:pt x="810666" y="240385"/>
                </a:lnTo>
                <a:lnTo>
                  <a:pt x="810666" y="0"/>
                </a:lnTo>
                <a:lnTo>
                  <a:pt x="0" y="0"/>
                </a:lnTo>
                <a:lnTo>
                  <a:pt x="0" y="240385"/>
                </a:lnTo>
                <a:close/>
              </a:path>
            </a:pathLst>
          </a:custGeom>
          <a:solidFill>
            <a:srgbClr val="FFFFFF"/>
          </a:solidFill>
        </p:spPr>
        <p:txBody>
          <a:bodyPr wrap="square" lIns="0" tIns="0" rIns="0" bIns="0" rtlCol="0"/>
          <a:lstStyle/>
          <a:p>
            <a:endParaRPr/>
          </a:p>
        </p:txBody>
      </p:sp>
      <p:sp>
        <p:nvSpPr>
          <p:cNvPr id="27" name="object 27"/>
          <p:cNvSpPr/>
          <p:nvPr/>
        </p:nvSpPr>
        <p:spPr>
          <a:xfrm>
            <a:off x="2806700" y="3632200"/>
            <a:ext cx="139700" cy="152400"/>
          </a:xfrm>
          <a:prstGeom prst="rect">
            <a:avLst/>
          </a:prstGeom>
          <a:blipFill>
            <a:blip r:embed="rId18" cstate="print"/>
            <a:stretch>
              <a:fillRect/>
            </a:stretch>
          </a:blipFill>
        </p:spPr>
        <p:txBody>
          <a:bodyPr wrap="square" lIns="0" tIns="0" rIns="0" bIns="0" rtlCol="0"/>
          <a:lstStyle/>
          <a:p>
            <a:endParaRPr/>
          </a:p>
        </p:txBody>
      </p:sp>
      <p:sp>
        <p:nvSpPr>
          <p:cNvPr id="28" name="object 28"/>
          <p:cNvSpPr/>
          <p:nvPr/>
        </p:nvSpPr>
        <p:spPr>
          <a:xfrm>
            <a:off x="2870200" y="3606800"/>
            <a:ext cx="127000" cy="190500"/>
          </a:xfrm>
          <a:prstGeom prst="rect">
            <a:avLst/>
          </a:prstGeom>
          <a:blipFill>
            <a:blip r:embed="rId19" cstate="print"/>
            <a:stretch>
              <a:fillRect/>
            </a:stretch>
          </a:blipFill>
        </p:spPr>
        <p:txBody>
          <a:bodyPr wrap="square" lIns="0" tIns="0" rIns="0" bIns="0" rtlCol="0"/>
          <a:lstStyle/>
          <a:p>
            <a:endParaRPr/>
          </a:p>
        </p:txBody>
      </p:sp>
      <p:sp>
        <p:nvSpPr>
          <p:cNvPr id="29" name="object 29"/>
          <p:cNvSpPr/>
          <p:nvPr/>
        </p:nvSpPr>
        <p:spPr>
          <a:xfrm>
            <a:off x="2895600" y="3632200"/>
            <a:ext cx="152400" cy="152400"/>
          </a:xfrm>
          <a:prstGeom prst="rect">
            <a:avLst/>
          </a:prstGeom>
          <a:blipFill>
            <a:blip r:embed="rId20" cstate="print"/>
            <a:stretch>
              <a:fillRect/>
            </a:stretch>
          </a:blipFill>
        </p:spPr>
        <p:txBody>
          <a:bodyPr wrap="square" lIns="0" tIns="0" rIns="0" bIns="0" rtlCol="0"/>
          <a:lstStyle/>
          <a:p>
            <a:endParaRPr/>
          </a:p>
        </p:txBody>
      </p:sp>
      <p:sp>
        <p:nvSpPr>
          <p:cNvPr id="30" name="object 30"/>
          <p:cNvSpPr/>
          <p:nvPr/>
        </p:nvSpPr>
        <p:spPr>
          <a:xfrm>
            <a:off x="2959100" y="3606800"/>
            <a:ext cx="127000" cy="190500"/>
          </a:xfrm>
          <a:prstGeom prst="rect">
            <a:avLst/>
          </a:prstGeom>
          <a:blipFill>
            <a:blip r:embed="rId21" cstate="print"/>
            <a:stretch>
              <a:fillRect/>
            </a:stretch>
          </a:blipFill>
        </p:spPr>
        <p:txBody>
          <a:bodyPr wrap="square" lIns="0" tIns="0" rIns="0" bIns="0" rtlCol="0"/>
          <a:lstStyle/>
          <a:p>
            <a:endParaRPr/>
          </a:p>
        </p:txBody>
      </p:sp>
      <p:sp>
        <p:nvSpPr>
          <p:cNvPr id="31" name="object 31"/>
          <p:cNvSpPr/>
          <p:nvPr/>
        </p:nvSpPr>
        <p:spPr>
          <a:xfrm>
            <a:off x="3035300" y="3644900"/>
            <a:ext cx="165100" cy="114300"/>
          </a:xfrm>
          <a:prstGeom prst="rect">
            <a:avLst/>
          </a:prstGeom>
          <a:blipFill>
            <a:blip r:embed="rId22" cstate="print"/>
            <a:stretch>
              <a:fillRect/>
            </a:stretch>
          </a:blipFill>
        </p:spPr>
        <p:txBody>
          <a:bodyPr wrap="square" lIns="0" tIns="0" rIns="0" bIns="0" rtlCol="0"/>
          <a:lstStyle/>
          <a:p>
            <a:endParaRPr/>
          </a:p>
        </p:txBody>
      </p:sp>
      <p:sp>
        <p:nvSpPr>
          <p:cNvPr id="32" name="object 32"/>
          <p:cNvSpPr/>
          <p:nvPr/>
        </p:nvSpPr>
        <p:spPr>
          <a:xfrm>
            <a:off x="3149600" y="3632200"/>
            <a:ext cx="152400" cy="152400"/>
          </a:xfrm>
          <a:prstGeom prst="rect">
            <a:avLst/>
          </a:prstGeom>
          <a:blipFill>
            <a:blip r:embed="rId23" cstate="print"/>
            <a:stretch>
              <a:fillRect/>
            </a:stretch>
          </a:blipFill>
        </p:spPr>
        <p:txBody>
          <a:bodyPr wrap="square" lIns="0" tIns="0" rIns="0" bIns="0" rtlCol="0"/>
          <a:lstStyle/>
          <a:p>
            <a:endParaRPr/>
          </a:p>
        </p:txBody>
      </p:sp>
      <p:sp>
        <p:nvSpPr>
          <p:cNvPr id="33" name="object 33"/>
          <p:cNvSpPr/>
          <p:nvPr/>
        </p:nvSpPr>
        <p:spPr>
          <a:xfrm>
            <a:off x="3238500" y="3606800"/>
            <a:ext cx="127000" cy="177800"/>
          </a:xfrm>
          <a:prstGeom prst="rect">
            <a:avLst/>
          </a:prstGeom>
          <a:blipFill>
            <a:blip r:embed="rId24" cstate="print"/>
            <a:stretch>
              <a:fillRect/>
            </a:stretch>
          </a:blipFill>
        </p:spPr>
        <p:txBody>
          <a:bodyPr wrap="square" lIns="0" tIns="0" rIns="0" bIns="0" rtlCol="0"/>
          <a:lstStyle/>
          <a:p>
            <a:endParaRPr/>
          </a:p>
        </p:txBody>
      </p:sp>
      <p:sp>
        <p:nvSpPr>
          <p:cNvPr id="34" name="object 34"/>
          <p:cNvSpPr/>
          <p:nvPr/>
        </p:nvSpPr>
        <p:spPr>
          <a:xfrm>
            <a:off x="3289300" y="3606800"/>
            <a:ext cx="254000" cy="177800"/>
          </a:xfrm>
          <a:prstGeom prst="rect">
            <a:avLst/>
          </a:prstGeom>
          <a:blipFill>
            <a:blip r:embed="rId25" cstate="print"/>
            <a:stretch>
              <a:fillRect/>
            </a:stretch>
          </a:blipFill>
        </p:spPr>
        <p:txBody>
          <a:bodyPr wrap="square" lIns="0" tIns="0" rIns="0" bIns="0" rtlCol="0"/>
          <a:lstStyle/>
          <a:p>
            <a:endParaRPr/>
          </a:p>
        </p:txBody>
      </p:sp>
      <p:sp>
        <p:nvSpPr>
          <p:cNvPr id="35" name="object 35"/>
          <p:cNvSpPr txBox="1"/>
          <p:nvPr/>
        </p:nvSpPr>
        <p:spPr>
          <a:xfrm>
            <a:off x="2830647" y="3613973"/>
            <a:ext cx="68580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50" dirty="0">
                <a:latin typeface="Century"/>
                <a:cs typeface="Century"/>
              </a:rPr>
              <a:t> </a:t>
            </a:r>
            <a:r>
              <a:rPr sz="950" i="1" dirty="0">
                <a:latin typeface="Times New Roman"/>
                <a:cs typeface="Times New Roman"/>
              </a:rPr>
              <a:t>x</a:t>
            </a:r>
            <a:r>
              <a:rPr sz="950" i="1" spc="-55" dirty="0">
                <a:latin typeface="Times New Roman"/>
                <a:cs typeface="Times New Roman"/>
              </a:rPr>
              <a:t> </a:t>
            </a:r>
            <a:r>
              <a:rPr sz="950" spc="50" dirty="0">
                <a:latin typeface="Century"/>
                <a:cs typeface="Century"/>
              </a:rPr>
              <a:t>/</a:t>
            </a:r>
            <a:r>
              <a:rPr sz="950" spc="-55" dirty="0">
                <a:latin typeface="Century"/>
                <a:cs typeface="Century"/>
              </a:rPr>
              <a:t>100</a:t>
            </a:r>
            <a:endParaRPr sz="950">
              <a:latin typeface="Century"/>
              <a:cs typeface="Century"/>
            </a:endParaRPr>
          </a:p>
        </p:txBody>
      </p:sp>
      <p:sp>
        <p:nvSpPr>
          <p:cNvPr id="36" name="object 36"/>
          <p:cNvSpPr/>
          <p:nvPr/>
        </p:nvSpPr>
        <p:spPr>
          <a:xfrm>
            <a:off x="2768012" y="2394097"/>
            <a:ext cx="615950" cy="240665"/>
          </a:xfrm>
          <a:custGeom>
            <a:avLst/>
            <a:gdLst/>
            <a:ahLst/>
            <a:cxnLst/>
            <a:rect l="l" t="t" r="r" b="b"/>
            <a:pathLst>
              <a:path w="615950" h="240664">
                <a:moveTo>
                  <a:pt x="0" y="240385"/>
                </a:moveTo>
                <a:lnTo>
                  <a:pt x="615439" y="240385"/>
                </a:lnTo>
                <a:lnTo>
                  <a:pt x="615439" y="0"/>
                </a:lnTo>
                <a:lnTo>
                  <a:pt x="0" y="0"/>
                </a:lnTo>
                <a:lnTo>
                  <a:pt x="0" y="240385"/>
                </a:lnTo>
                <a:close/>
              </a:path>
            </a:pathLst>
          </a:custGeom>
          <a:solidFill>
            <a:srgbClr val="FFFFFF"/>
          </a:solidFill>
        </p:spPr>
        <p:txBody>
          <a:bodyPr wrap="square" lIns="0" tIns="0" rIns="0" bIns="0" rtlCol="0"/>
          <a:lstStyle/>
          <a:p>
            <a:endParaRPr/>
          </a:p>
        </p:txBody>
      </p:sp>
      <p:sp>
        <p:nvSpPr>
          <p:cNvPr id="37" name="object 37"/>
          <p:cNvSpPr/>
          <p:nvPr/>
        </p:nvSpPr>
        <p:spPr>
          <a:xfrm>
            <a:off x="2794000" y="2489200"/>
            <a:ext cx="139700" cy="152400"/>
          </a:xfrm>
          <a:prstGeom prst="rect">
            <a:avLst/>
          </a:prstGeom>
          <a:blipFill>
            <a:blip r:embed="rId26" cstate="print"/>
            <a:stretch>
              <a:fillRect/>
            </a:stretch>
          </a:blipFill>
        </p:spPr>
        <p:txBody>
          <a:bodyPr wrap="square" lIns="0" tIns="0" rIns="0" bIns="0" rtlCol="0"/>
          <a:lstStyle/>
          <a:p>
            <a:endParaRPr/>
          </a:p>
        </p:txBody>
      </p:sp>
      <p:sp>
        <p:nvSpPr>
          <p:cNvPr id="38" name="object 38"/>
          <p:cNvSpPr/>
          <p:nvPr/>
        </p:nvSpPr>
        <p:spPr>
          <a:xfrm>
            <a:off x="2857500" y="2463800"/>
            <a:ext cx="127000" cy="190500"/>
          </a:xfrm>
          <a:prstGeom prst="rect">
            <a:avLst/>
          </a:prstGeom>
          <a:blipFill>
            <a:blip r:embed="rId27" cstate="print"/>
            <a:stretch>
              <a:fillRect/>
            </a:stretch>
          </a:blipFill>
        </p:spPr>
        <p:txBody>
          <a:bodyPr wrap="square" lIns="0" tIns="0" rIns="0" bIns="0" rtlCol="0"/>
          <a:lstStyle/>
          <a:p>
            <a:endParaRPr/>
          </a:p>
        </p:txBody>
      </p:sp>
      <p:sp>
        <p:nvSpPr>
          <p:cNvPr id="39" name="object 39"/>
          <p:cNvSpPr/>
          <p:nvPr/>
        </p:nvSpPr>
        <p:spPr>
          <a:xfrm>
            <a:off x="2895600" y="2489200"/>
            <a:ext cx="152400" cy="152400"/>
          </a:xfrm>
          <a:prstGeom prst="rect">
            <a:avLst/>
          </a:prstGeom>
          <a:blipFill>
            <a:blip r:embed="rId28" cstate="print"/>
            <a:stretch>
              <a:fillRect/>
            </a:stretch>
          </a:blipFill>
        </p:spPr>
        <p:txBody>
          <a:bodyPr wrap="square" lIns="0" tIns="0" rIns="0" bIns="0" rtlCol="0"/>
          <a:lstStyle/>
          <a:p>
            <a:endParaRPr/>
          </a:p>
        </p:txBody>
      </p:sp>
      <p:sp>
        <p:nvSpPr>
          <p:cNvPr id="40" name="object 40"/>
          <p:cNvSpPr/>
          <p:nvPr/>
        </p:nvSpPr>
        <p:spPr>
          <a:xfrm>
            <a:off x="2959100" y="2463800"/>
            <a:ext cx="114300" cy="190500"/>
          </a:xfrm>
          <a:prstGeom prst="rect">
            <a:avLst/>
          </a:prstGeom>
          <a:blipFill>
            <a:blip r:embed="rId29" cstate="print"/>
            <a:stretch>
              <a:fillRect/>
            </a:stretch>
          </a:blipFill>
        </p:spPr>
        <p:txBody>
          <a:bodyPr wrap="square" lIns="0" tIns="0" rIns="0" bIns="0" rtlCol="0"/>
          <a:lstStyle/>
          <a:p>
            <a:endParaRPr/>
          </a:p>
        </p:txBody>
      </p:sp>
      <p:sp>
        <p:nvSpPr>
          <p:cNvPr id="41" name="object 41"/>
          <p:cNvSpPr/>
          <p:nvPr/>
        </p:nvSpPr>
        <p:spPr>
          <a:xfrm>
            <a:off x="3035300" y="2501900"/>
            <a:ext cx="165100" cy="114300"/>
          </a:xfrm>
          <a:prstGeom prst="rect">
            <a:avLst/>
          </a:prstGeom>
          <a:blipFill>
            <a:blip r:embed="rId30" cstate="print"/>
            <a:stretch>
              <a:fillRect/>
            </a:stretch>
          </a:blipFill>
        </p:spPr>
        <p:txBody>
          <a:bodyPr wrap="square" lIns="0" tIns="0" rIns="0" bIns="0" rtlCol="0"/>
          <a:lstStyle/>
          <a:p>
            <a:endParaRPr/>
          </a:p>
        </p:txBody>
      </p:sp>
      <p:sp>
        <p:nvSpPr>
          <p:cNvPr id="42" name="object 42"/>
          <p:cNvSpPr/>
          <p:nvPr/>
        </p:nvSpPr>
        <p:spPr>
          <a:xfrm>
            <a:off x="3149600" y="2463800"/>
            <a:ext cx="203200" cy="177800"/>
          </a:xfrm>
          <a:prstGeom prst="rect">
            <a:avLst/>
          </a:prstGeom>
          <a:blipFill>
            <a:blip r:embed="rId31" cstate="print"/>
            <a:stretch>
              <a:fillRect/>
            </a:stretch>
          </a:blipFill>
        </p:spPr>
        <p:txBody>
          <a:bodyPr wrap="square" lIns="0" tIns="0" rIns="0" bIns="0" rtlCol="0"/>
          <a:lstStyle/>
          <a:p>
            <a:endParaRPr/>
          </a:p>
        </p:txBody>
      </p:sp>
      <p:sp>
        <p:nvSpPr>
          <p:cNvPr id="43" name="object 43"/>
          <p:cNvSpPr txBox="1"/>
          <p:nvPr/>
        </p:nvSpPr>
        <p:spPr>
          <a:xfrm>
            <a:off x="2823778" y="2471395"/>
            <a:ext cx="50419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25" dirty="0">
                <a:latin typeface="Century"/>
                <a:cs typeface="Century"/>
              </a:rPr>
              <a:t> </a:t>
            </a:r>
            <a:r>
              <a:rPr sz="950" spc="-55" dirty="0">
                <a:latin typeface="Century"/>
                <a:cs typeface="Century"/>
              </a:rPr>
              <a:t>45</a:t>
            </a:r>
            <a:endParaRPr sz="950">
              <a:latin typeface="Century"/>
              <a:cs typeface="Century"/>
            </a:endParaRPr>
          </a:p>
        </p:txBody>
      </p:sp>
      <p:sp>
        <p:nvSpPr>
          <p:cNvPr id="44" name="object 44"/>
          <p:cNvSpPr/>
          <p:nvPr/>
        </p:nvSpPr>
        <p:spPr>
          <a:xfrm>
            <a:off x="1011551" y="3536675"/>
            <a:ext cx="615950" cy="240665"/>
          </a:xfrm>
          <a:custGeom>
            <a:avLst/>
            <a:gdLst/>
            <a:ahLst/>
            <a:cxnLst/>
            <a:rect l="l" t="t" r="r" b="b"/>
            <a:pathLst>
              <a:path w="615950" h="240664">
                <a:moveTo>
                  <a:pt x="0" y="240385"/>
                </a:moveTo>
                <a:lnTo>
                  <a:pt x="615439" y="240385"/>
                </a:lnTo>
                <a:lnTo>
                  <a:pt x="615439" y="0"/>
                </a:lnTo>
                <a:lnTo>
                  <a:pt x="0" y="0"/>
                </a:lnTo>
                <a:lnTo>
                  <a:pt x="0" y="240385"/>
                </a:lnTo>
                <a:close/>
              </a:path>
            </a:pathLst>
          </a:custGeom>
          <a:solidFill>
            <a:srgbClr val="FFFFFF"/>
          </a:solidFill>
        </p:spPr>
        <p:txBody>
          <a:bodyPr wrap="square" lIns="0" tIns="0" rIns="0" bIns="0" rtlCol="0"/>
          <a:lstStyle/>
          <a:p>
            <a:endParaRPr/>
          </a:p>
        </p:txBody>
      </p:sp>
      <p:sp>
        <p:nvSpPr>
          <p:cNvPr id="45" name="object 45"/>
          <p:cNvSpPr/>
          <p:nvPr/>
        </p:nvSpPr>
        <p:spPr>
          <a:xfrm>
            <a:off x="1041400" y="3632200"/>
            <a:ext cx="139700" cy="152400"/>
          </a:xfrm>
          <a:prstGeom prst="rect">
            <a:avLst/>
          </a:prstGeom>
          <a:blipFill>
            <a:blip r:embed="rId32" cstate="print"/>
            <a:stretch>
              <a:fillRect/>
            </a:stretch>
          </a:blipFill>
        </p:spPr>
        <p:txBody>
          <a:bodyPr wrap="square" lIns="0" tIns="0" rIns="0" bIns="0" rtlCol="0"/>
          <a:lstStyle/>
          <a:p>
            <a:endParaRPr/>
          </a:p>
        </p:txBody>
      </p:sp>
      <p:sp>
        <p:nvSpPr>
          <p:cNvPr id="46" name="object 46"/>
          <p:cNvSpPr/>
          <p:nvPr/>
        </p:nvSpPr>
        <p:spPr>
          <a:xfrm>
            <a:off x="1104900" y="3606800"/>
            <a:ext cx="127000" cy="190500"/>
          </a:xfrm>
          <a:prstGeom prst="rect">
            <a:avLst/>
          </a:prstGeom>
          <a:blipFill>
            <a:blip r:embed="rId33" cstate="print"/>
            <a:stretch>
              <a:fillRect/>
            </a:stretch>
          </a:blipFill>
        </p:spPr>
        <p:txBody>
          <a:bodyPr wrap="square" lIns="0" tIns="0" rIns="0" bIns="0" rtlCol="0"/>
          <a:lstStyle/>
          <a:p>
            <a:endParaRPr/>
          </a:p>
        </p:txBody>
      </p:sp>
      <p:sp>
        <p:nvSpPr>
          <p:cNvPr id="47" name="object 47"/>
          <p:cNvSpPr/>
          <p:nvPr/>
        </p:nvSpPr>
        <p:spPr>
          <a:xfrm>
            <a:off x="1143000" y="3632200"/>
            <a:ext cx="139700" cy="152400"/>
          </a:xfrm>
          <a:prstGeom prst="rect">
            <a:avLst/>
          </a:prstGeom>
          <a:blipFill>
            <a:blip r:embed="rId34" cstate="print"/>
            <a:stretch>
              <a:fillRect/>
            </a:stretch>
          </a:blipFill>
        </p:spPr>
        <p:txBody>
          <a:bodyPr wrap="square" lIns="0" tIns="0" rIns="0" bIns="0" rtlCol="0"/>
          <a:lstStyle/>
          <a:p>
            <a:endParaRPr/>
          </a:p>
        </p:txBody>
      </p:sp>
      <p:sp>
        <p:nvSpPr>
          <p:cNvPr id="48" name="object 48"/>
          <p:cNvSpPr/>
          <p:nvPr/>
        </p:nvSpPr>
        <p:spPr>
          <a:xfrm>
            <a:off x="1206500" y="3606800"/>
            <a:ext cx="114300" cy="190500"/>
          </a:xfrm>
          <a:prstGeom prst="rect">
            <a:avLst/>
          </a:prstGeom>
          <a:blipFill>
            <a:blip r:embed="rId35" cstate="print"/>
            <a:stretch>
              <a:fillRect/>
            </a:stretch>
          </a:blipFill>
        </p:spPr>
        <p:txBody>
          <a:bodyPr wrap="square" lIns="0" tIns="0" rIns="0" bIns="0" rtlCol="0"/>
          <a:lstStyle/>
          <a:p>
            <a:endParaRPr/>
          </a:p>
        </p:txBody>
      </p:sp>
      <p:sp>
        <p:nvSpPr>
          <p:cNvPr id="49" name="object 49"/>
          <p:cNvSpPr/>
          <p:nvPr/>
        </p:nvSpPr>
        <p:spPr>
          <a:xfrm>
            <a:off x="1282700" y="3644900"/>
            <a:ext cx="152400" cy="114300"/>
          </a:xfrm>
          <a:prstGeom prst="rect">
            <a:avLst/>
          </a:prstGeom>
          <a:blipFill>
            <a:blip r:embed="rId36" cstate="print"/>
            <a:stretch>
              <a:fillRect/>
            </a:stretch>
          </a:blipFill>
        </p:spPr>
        <p:txBody>
          <a:bodyPr wrap="square" lIns="0" tIns="0" rIns="0" bIns="0" rtlCol="0"/>
          <a:lstStyle/>
          <a:p>
            <a:endParaRPr/>
          </a:p>
        </p:txBody>
      </p:sp>
      <p:sp>
        <p:nvSpPr>
          <p:cNvPr id="50" name="object 50"/>
          <p:cNvSpPr/>
          <p:nvPr/>
        </p:nvSpPr>
        <p:spPr>
          <a:xfrm>
            <a:off x="1397000" y="3606800"/>
            <a:ext cx="203200" cy="177800"/>
          </a:xfrm>
          <a:prstGeom prst="rect">
            <a:avLst/>
          </a:prstGeom>
          <a:blipFill>
            <a:blip r:embed="rId37" cstate="print"/>
            <a:stretch>
              <a:fillRect/>
            </a:stretch>
          </a:blipFill>
        </p:spPr>
        <p:txBody>
          <a:bodyPr wrap="square" lIns="0" tIns="0" rIns="0" bIns="0" rtlCol="0"/>
          <a:lstStyle/>
          <a:p>
            <a:endParaRPr/>
          </a:p>
        </p:txBody>
      </p:sp>
      <p:sp>
        <p:nvSpPr>
          <p:cNvPr id="51" name="object 51"/>
          <p:cNvSpPr txBox="1"/>
          <p:nvPr/>
        </p:nvSpPr>
        <p:spPr>
          <a:xfrm>
            <a:off x="1067319" y="3613973"/>
            <a:ext cx="50419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25" dirty="0">
                <a:latin typeface="Century"/>
                <a:cs typeface="Century"/>
              </a:rPr>
              <a:t> </a:t>
            </a:r>
            <a:r>
              <a:rPr sz="950" spc="-55" dirty="0">
                <a:latin typeface="Century"/>
                <a:cs typeface="Century"/>
              </a:rPr>
              <a:t>45</a:t>
            </a:r>
            <a:endParaRPr sz="950">
              <a:latin typeface="Century"/>
              <a:cs typeface="Century"/>
            </a:endParaRPr>
          </a:p>
        </p:txBody>
      </p:sp>
      <p:sp>
        <p:nvSpPr>
          <p:cNvPr id="52" name="object 52"/>
          <p:cNvSpPr/>
          <p:nvPr/>
        </p:nvSpPr>
        <p:spPr>
          <a:xfrm>
            <a:off x="4258447" y="2395618"/>
            <a:ext cx="810895" cy="240665"/>
          </a:xfrm>
          <a:custGeom>
            <a:avLst/>
            <a:gdLst/>
            <a:ahLst/>
            <a:cxnLst/>
            <a:rect l="l" t="t" r="r" b="b"/>
            <a:pathLst>
              <a:path w="810895" h="240664">
                <a:moveTo>
                  <a:pt x="0" y="240385"/>
                </a:moveTo>
                <a:lnTo>
                  <a:pt x="810666" y="240385"/>
                </a:lnTo>
                <a:lnTo>
                  <a:pt x="810666" y="0"/>
                </a:lnTo>
                <a:lnTo>
                  <a:pt x="0" y="0"/>
                </a:lnTo>
                <a:lnTo>
                  <a:pt x="0" y="240385"/>
                </a:lnTo>
                <a:close/>
              </a:path>
            </a:pathLst>
          </a:custGeom>
          <a:solidFill>
            <a:srgbClr val="FFFFFF"/>
          </a:solidFill>
        </p:spPr>
        <p:txBody>
          <a:bodyPr wrap="square" lIns="0" tIns="0" rIns="0" bIns="0" rtlCol="0"/>
          <a:lstStyle/>
          <a:p>
            <a:endParaRPr/>
          </a:p>
        </p:txBody>
      </p:sp>
      <p:sp>
        <p:nvSpPr>
          <p:cNvPr id="53" name="object 53"/>
          <p:cNvSpPr/>
          <p:nvPr/>
        </p:nvSpPr>
        <p:spPr>
          <a:xfrm>
            <a:off x="4292600" y="2489200"/>
            <a:ext cx="139700" cy="152400"/>
          </a:xfrm>
          <a:prstGeom prst="rect">
            <a:avLst/>
          </a:prstGeom>
          <a:blipFill>
            <a:blip r:embed="rId38" cstate="print"/>
            <a:stretch>
              <a:fillRect/>
            </a:stretch>
          </a:blipFill>
        </p:spPr>
        <p:txBody>
          <a:bodyPr wrap="square" lIns="0" tIns="0" rIns="0" bIns="0" rtlCol="0"/>
          <a:lstStyle/>
          <a:p>
            <a:endParaRPr/>
          </a:p>
        </p:txBody>
      </p:sp>
      <p:sp>
        <p:nvSpPr>
          <p:cNvPr id="54" name="object 54"/>
          <p:cNvSpPr/>
          <p:nvPr/>
        </p:nvSpPr>
        <p:spPr>
          <a:xfrm>
            <a:off x="4356100" y="2463800"/>
            <a:ext cx="127000" cy="190500"/>
          </a:xfrm>
          <a:prstGeom prst="rect">
            <a:avLst/>
          </a:prstGeom>
          <a:blipFill>
            <a:blip r:embed="rId39" cstate="print"/>
            <a:stretch>
              <a:fillRect/>
            </a:stretch>
          </a:blipFill>
        </p:spPr>
        <p:txBody>
          <a:bodyPr wrap="square" lIns="0" tIns="0" rIns="0" bIns="0" rtlCol="0"/>
          <a:lstStyle/>
          <a:p>
            <a:endParaRPr/>
          </a:p>
        </p:txBody>
      </p:sp>
      <p:sp>
        <p:nvSpPr>
          <p:cNvPr id="55" name="object 55"/>
          <p:cNvSpPr/>
          <p:nvPr/>
        </p:nvSpPr>
        <p:spPr>
          <a:xfrm>
            <a:off x="4394200" y="2489200"/>
            <a:ext cx="139700" cy="152400"/>
          </a:xfrm>
          <a:prstGeom prst="rect">
            <a:avLst/>
          </a:prstGeom>
          <a:blipFill>
            <a:blip r:embed="rId40" cstate="print"/>
            <a:stretch>
              <a:fillRect/>
            </a:stretch>
          </a:blipFill>
        </p:spPr>
        <p:txBody>
          <a:bodyPr wrap="square" lIns="0" tIns="0" rIns="0" bIns="0" rtlCol="0"/>
          <a:lstStyle/>
          <a:p>
            <a:endParaRPr/>
          </a:p>
        </p:txBody>
      </p:sp>
      <p:sp>
        <p:nvSpPr>
          <p:cNvPr id="56" name="object 56"/>
          <p:cNvSpPr/>
          <p:nvPr/>
        </p:nvSpPr>
        <p:spPr>
          <a:xfrm>
            <a:off x="4457700" y="2463800"/>
            <a:ext cx="114300" cy="190500"/>
          </a:xfrm>
          <a:prstGeom prst="rect">
            <a:avLst/>
          </a:prstGeom>
          <a:blipFill>
            <a:blip r:embed="rId41" cstate="print"/>
            <a:stretch>
              <a:fillRect/>
            </a:stretch>
          </a:blipFill>
        </p:spPr>
        <p:txBody>
          <a:bodyPr wrap="square" lIns="0" tIns="0" rIns="0" bIns="0" rtlCol="0"/>
          <a:lstStyle/>
          <a:p>
            <a:endParaRPr/>
          </a:p>
        </p:txBody>
      </p:sp>
      <p:sp>
        <p:nvSpPr>
          <p:cNvPr id="57" name="object 57"/>
          <p:cNvSpPr/>
          <p:nvPr/>
        </p:nvSpPr>
        <p:spPr>
          <a:xfrm>
            <a:off x="4533900" y="2501900"/>
            <a:ext cx="165100" cy="114300"/>
          </a:xfrm>
          <a:prstGeom prst="rect">
            <a:avLst/>
          </a:prstGeom>
          <a:blipFill>
            <a:blip r:embed="rId42" cstate="print"/>
            <a:stretch>
              <a:fillRect/>
            </a:stretch>
          </a:blipFill>
        </p:spPr>
        <p:txBody>
          <a:bodyPr wrap="square" lIns="0" tIns="0" rIns="0" bIns="0" rtlCol="0"/>
          <a:lstStyle/>
          <a:p>
            <a:endParaRPr/>
          </a:p>
        </p:txBody>
      </p:sp>
      <p:sp>
        <p:nvSpPr>
          <p:cNvPr id="58" name="object 58"/>
          <p:cNvSpPr/>
          <p:nvPr/>
        </p:nvSpPr>
        <p:spPr>
          <a:xfrm>
            <a:off x="4648200" y="2489200"/>
            <a:ext cx="139700" cy="152400"/>
          </a:xfrm>
          <a:prstGeom prst="rect">
            <a:avLst/>
          </a:prstGeom>
          <a:blipFill>
            <a:blip r:embed="rId43" cstate="print"/>
            <a:stretch>
              <a:fillRect/>
            </a:stretch>
          </a:blipFill>
        </p:spPr>
        <p:txBody>
          <a:bodyPr wrap="square" lIns="0" tIns="0" rIns="0" bIns="0" rtlCol="0"/>
          <a:lstStyle/>
          <a:p>
            <a:endParaRPr/>
          </a:p>
        </p:txBody>
      </p:sp>
      <p:sp>
        <p:nvSpPr>
          <p:cNvPr id="59" name="object 59"/>
          <p:cNvSpPr/>
          <p:nvPr/>
        </p:nvSpPr>
        <p:spPr>
          <a:xfrm>
            <a:off x="4724400" y="2463800"/>
            <a:ext cx="127000" cy="177800"/>
          </a:xfrm>
          <a:prstGeom prst="rect">
            <a:avLst/>
          </a:prstGeom>
          <a:blipFill>
            <a:blip r:embed="rId44" cstate="print"/>
            <a:stretch>
              <a:fillRect/>
            </a:stretch>
          </a:blipFill>
        </p:spPr>
        <p:txBody>
          <a:bodyPr wrap="square" lIns="0" tIns="0" rIns="0" bIns="0" rtlCol="0"/>
          <a:lstStyle/>
          <a:p>
            <a:endParaRPr/>
          </a:p>
        </p:txBody>
      </p:sp>
      <p:sp>
        <p:nvSpPr>
          <p:cNvPr id="60" name="object 60"/>
          <p:cNvSpPr/>
          <p:nvPr/>
        </p:nvSpPr>
        <p:spPr>
          <a:xfrm>
            <a:off x="4775200" y="2463800"/>
            <a:ext cx="254000" cy="177800"/>
          </a:xfrm>
          <a:prstGeom prst="rect">
            <a:avLst/>
          </a:prstGeom>
          <a:blipFill>
            <a:blip r:embed="rId45" cstate="print"/>
            <a:stretch>
              <a:fillRect/>
            </a:stretch>
          </a:blipFill>
        </p:spPr>
        <p:txBody>
          <a:bodyPr wrap="square" lIns="0" tIns="0" rIns="0" bIns="0" rtlCol="0"/>
          <a:lstStyle/>
          <a:p>
            <a:endParaRPr/>
          </a:p>
        </p:txBody>
      </p:sp>
      <p:sp>
        <p:nvSpPr>
          <p:cNvPr id="61" name="object 61"/>
          <p:cNvSpPr txBox="1"/>
          <p:nvPr/>
        </p:nvSpPr>
        <p:spPr>
          <a:xfrm>
            <a:off x="4320909" y="2472917"/>
            <a:ext cx="68580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50" dirty="0">
                <a:latin typeface="Century"/>
                <a:cs typeface="Century"/>
              </a:rPr>
              <a:t> </a:t>
            </a:r>
            <a:r>
              <a:rPr sz="950" i="1" dirty="0">
                <a:latin typeface="Times New Roman"/>
                <a:cs typeface="Times New Roman"/>
              </a:rPr>
              <a:t>x</a:t>
            </a:r>
            <a:r>
              <a:rPr sz="950" i="1" spc="-55" dirty="0">
                <a:latin typeface="Times New Roman"/>
                <a:cs typeface="Times New Roman"/>
              </a:rPr>
              <a:t> </a:t>
            </a:r>
            <a:r>
              <a:rPr sz="950" spc="50" dirty="0">
                <a:latin typeface="Century"/>
                <a:cs typeface="Century"/>
              </a:rPr>
              <a:t>/</a:t>
            </a:r>
            <a:r>
              <a:rPr sz="950" spc="-55" dirty="0">
                <a:latin typeface="Century"/>
                <a:cs typeface="Century"/>
              </a:rPr>
              <a:t>100</a:t>
            </a:r>
            <a:endParaRPr sz="950">
              <a:latin typeface="Century"/>
              <a:cs typeface="Century"/>
            </a:endParaRPr>
          </a:p>
        </p:txBody>
      </p:sp>
      <p:sp>
        <p:nvSpPr>
          <p:cNvPr id="62" name="object 62"/>
          <p:cNvSpPr/>
          <p:nvPr/>
        </p:nvSpPr>
        <p:spPr>
          <a:xfrm>
            <a:off x="6186359" y="3526897"/>
            <a:ext cx="810895" cy="240665"/>
          </a:xfrm>
          <a:custGeom>
            <a:avLst/>
            <a:gdLst/>
            <a:ahLst/>
            <a:cxnLst/>
            <a:rect l="l" t="t" r="r" b="b"/>
            <a:pathLst>
              <a:path w="810895" h="240664">
                <a:moveTo>
                  <a:pt x="0" y="240385"/>
                </a:moveTo>
                <a:lnTo>
                  <a:pt x="810666" y="240385"/>
                </a:lnTo>
                <a:lnTo>
                  <a:pt x="810666" y="0"/>
                </a:lnTo>
                <a:lnTo>
                  <a:pt x="0" y="0"/>
                </a:lnTo>
                <a:lnTo>
                  <a:pt x="0" y="240385"/>
                </a:lnTo>
                <a:close/>
              </a:path>
            </a:pathLst>
          </a:custGeom>
          <a:solidFill>
            <a:srgbClr val="FFFFFF"/>
          </a:solidFill>
        </p:spPr>
        <p:txBody>
          <a:bodyPr wrap="square" lIns="0" tIns="0" rIns="0" bIns="0" rtlCol="0"/>
          <a:lstStyle/>
          <a:p>
            <a:endParaRPr/>
          </a:p>
        </p:txBody>
      </p:sp>
      <p:sp>
        <p:nvSpPr>
          <p:cNvPr id="63" name="object 63"/>
          <p:cNvSpPr/>
          <p:nvPr/>
        </p:nvSpPr>
        <p:spPr>
          <a:xfrm>
            <a:off x="6223000" y="3619500"/>
            <a:ext cx="139700" cy="152400"/>
          </a:xfrm>
          <a:prstGeom prst="rect">
            <a:avLst/>
          </a:prstGeom>
          <a:blipFill>
            <a:blip r:embed="rId46" cstate="print"/>
            <a:stretch>
              <a:fillRect/>
            </a:stretch>
          </a:blipFill>
        </p:spPr>
        <p:txBody>
          <a:bodyPr wrap="square" lIns="0" tIns="0" rIns="0" bIns="0" rtlCol="0"/>
          <a:lstStyle/>
          <a:p>
            <a:endParaRPr/>
          </a:p>
        </p:txBody>
      </p:sp>
      <p:sp>
        <p:nvSpPr>
          <p:cNvPr id="64" name="object 64"/>
          <p:cNvSpPr/>
          <p:nvPr/>
        </p:nvSpPr>
        <p:spPr>
          <a:xfrm>
            <a:off x="6286500" y="3594100"/>
            <a:ext cx="127000" cy="190500"/>
          </a:xfrm>
          <a:prstGeom prst="rect">
            <a:avLst/>
          </a:prstGeom>
          <a:blipFill>
            <a:blip r:embed="rId47" cstate="print"/>
            <a:stretch>
              <a:fillRect/>
            </a:stretch>
          </a:blipFill>
        </p:spPr>
        <p:txBody>
          <a:bodyPr wrap="square" lIns="0" tIns="0" rIns="0" bIns="0" rtlCol="0"/>
          <a:lstStyle/>
          <a:p>
            <a:endParaRPr/>
          </a:p>
        </p:txBody>
      </p:sp>
      <p:sp>
        <p:nvSpPr>
          <p:cNvPr id="65" name="object 65"/>
          <p:cNvSpPr/>
          <p:nvPr/>
        </p:nvSpPr>
        <p:spPr>
          <a:xfrm>
            <a:off x="6324600" y="3619500"/>
            <a:ext cx="139700" cy="152400"/>
          </a:xfrm>
          <a:prstGeom prst="rect">
            <a:avLst/>
          </a:prstGeom>
          <a:blipFill>
            <a:blip r:embed="rId48" cstate="print"/>
            <a:stretch>
              <a:fillRect/>
            </a:stretch>
          </a:blipFill>
        </p:spPr>
        <p:txBody>
          <a:bodyPr wrap="square" lIns="0" tIns="0" rIns="0" bIns="0" rtlCol="0"/>
          <a:lstStyle/>
          <a:p>
            <a:endParaRPr/>
          </a:p>
        </p:txBody>
      </p:sp>
      <p:sp>
        <p:nvSpPr>
          <p:cNvPr id="66" name="object 66"/>
          <p:cNvSpPr/>
          <p:nvPr/>
        </p:nvSpPr>
        <p:spPr>
          <a:xfrm>
            <a:off x="6388100" y="3594100"/>
            <a:ext cx="114300" cy="190500"/>
          </a:xfrm>
          <a:prstGeom prst="rect">
            <a:avLst/>
          </a:prstGeom>
          <a:blipFill>
            <a:blip r:embed="rId49" cstate="print"/>
            <a:stretch>
              <a:fillRect/>
            </a:stretch>
          </a:blipFill>
        </p:spPr>
        <p:txBody>
          <a:bodyPr wrap="square" lIns="0" tIns="0" rIns="0" bIns="0" rtlCol="0"/>
          <a:lstStyle/>
          <a:p>
            <a:endParaRPr/>
          </a:p>
        </p:txBody>
      </p:sp>
      <p:sp>
        <p:nvSpPr>
          <p:cNvPr id="67" name="object 67"/>
          <p:cNvSpPr/>
          <p:nvPr/>
        </p:nvSpPr>
        <p:spPr>
          <a:xfrm>
            <a:off x="6464300" y="3632200"/>
            <a:ext cx="152400" cy="127000"/>
          </a:xfrm>
          <a:prstGeom prst="rect">
            <a:avLst/>
          </a:prstGeom>
          <a:blipFill>
            <a:blip r:embed="rId50" cstate="print"/>
            <a:stretch>
              <a:fillRect/>
            </a:stretch>
          </a:blipFill>
        </p:spPr>
        <p:txBody>
          <a:bodyPr wrap="square" lIns="0" tIns="0" rIns="0" bIns="0" rtlCol="0"/>
          <a:lstStyle/>
          <a:p>
            <a:endParaRPr/>
          </a:p>
        </p:txBody>
      </p:sp>
      <p:sp>
        <p:nvSpPr>
          <p:cNvPr id="68" name="object 68"/>
          <p:cNvSpPr/>
          <p:nvPr/>
        </p:nvSpPr>
        <p:spPr>
          <a:xfrm>
            <a:off x="6578600" y="3619500"/>
            <a:ext cx="139700" cy="152400"/>
          </a:xfrm>
          <a:prstGeom prst="rect">
            <a:avLst/>
          </a:prstGeom>
          <a:blipFill>
            <a:blip r:embed="rId51" cstate="print"/>
            <a:stretch>
              <a:fillRect/>
            </a:stretch>
          </a:blipFill>
        </p:spPr>
        <p:txBody>
          <a:bodyPr wrap="square" lIns="0" tIns="0" rIns="0" bIns="0" rtlCol="0"/>
          <a:lstStyle/>
          <a:p>
            <a:endParaRPr/>
          </a:p>
        </p:txBody>
      </p:sp>
      <p:sp>
        <p:nvSpPr>
          <p:cNvPr id="69" name="object 69"/>
          <p:cNvSpPr/>
          <p:nvPr/>
        </p:nvSpPr>
        <p:spPr>
          <a:xfrm>
            <a:off x="6654800" y="3594100"/>
            <a:ext cx="127000" cy="177800"/>
          </a:xfrm>
          <a:prstGeom prst="rect">
            <a:avLst/>
          </a:prstGeom>
          <a:blipFill>
            <a:blip r:embed="rId52" cstate="print"/>
            <a:stretch>
              <a:fillRect/>
            </a:stretch>
          </a:blipFill>
        </p:spPr>
        <p:txBody>
          <a:bodyPr wrap="square" lIns="0" tIns="0" rIns="0" bIns="0" rtlCol="0"/>
          <a:lstStyle/>
          <a:p>
            <a:endParaRPr/>
          </a:p>
        </p:txBody>
      </p:sp>
      <p:sp>
        <p:nvSpPr>
          <p:cNvPr id="70" name="object 70"/>
          <p:cNvSpPr/>
          <p:nvPr/>
        </p:nvSpPr>
        <p:spPr>
          <a:xfrm>
            <a:off x="6705600" y="3594100"/>
            <a:ext cx="254000" cy="177800"/>
          </a:xfrm>
          <a:prstGeom prst="rect">
            <a:avLst/>
          </a:prstGeom>
          <a:blipFill>
            <a:blip r:embed="rId53" cstate="print"/>
            <a:stretch>
              <a:fillRect/>
            </a:stretch>
          </a:blipFill>
        </p:spPr>
        <p:txBody>
          <a:bodyPr wrap="square" lIns="0" tIns="0" rIns="0" bIns="0" rtlCol="0"/>
          <a:lstStyle/>
          <a:p>
            <a:endParaRPr/>
          </a:p>
        </p:txBody>
      </p:sp>
      <p:sp>
        <p:nvSpPr>
          <p:cNvPr id="71" name="object 71"/>
          <p:cNvSpPr txBox="1"/>
          <p:nvPr/>
        </p:nvSpPr>
        <p:spPr>
          <a:xfrm>
            <a:off x="6248821" y="3604196"/>
            <a:ext cx="68580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50" dirty="0">
                <a:latin typeface="Century"/>
                <a:cs typeface="Century"/>
              </a:rPr>
              <a:t> </a:t>
            </a:r>
            <a:r>
              <a:rPr sz="950" i="1" dirty="0">
                <a:latin typeface="Times New Roman"/>
                <a:cs typeface="Times New Roman"/>
              </a:rPr>
              <a:t>x</a:t>
            </a:r>
            <a:r>
              <a:rPr sz="950" i="1" spc="-55" dirty="0">
                <a:latin typeface="Times New Roman"/>
                <a:cs typeface="Times New Roman"/>
              </a:rPr>
              <a:t> </a:t>
            </a:r>
            <a:r>
              <a:rPr sz="950" spc="50" dirty="0">
                <a:latin typeface="Century"/>
                <a:cs typeface="Century"/>
              </a:rPr>
              <a:t>/</a:t>
            </a:r>
            <a:r>
              <a:rPr sz="950" spc="-55" dirty="0">
                <a:latin typeface="Century"/>
                <a:cs typeface="Century"/>
              </a:rPr>
              <a:t>100</a:t>
            </a:r>
            <a:endParaRPr sz="950">
              <a:latin typeface="Century"/>
              <a:cs typeface="Century"/>
            </a:endParaRPr>
          </a:p>
        </p:txBody>
      </p:sp>
      <p:sp>
        <p:nvSpPr>
          <p:cNvPr id="72" name="object 72"/>
          <p:cNvSpPr/>
          <p:nvPr/>
        </p:nvSpPr>
        <p:spPr>
          <a:xfrm>
            <a:off x="6186185" y="2406918"/>
            <a:ext cx="615950" cy="240665"/>
          </a:xfrm>
          <a:custGeom>
            <a:avLst/>
            <a:gdLst/>
            <a:ahLst/>
            <a:cxnLst/>
            <a:rect l="l" t="t" r="r" b="b"/>
            <a:pathLst>
              <a:path w="615950" h="240664">
                <a:moveTo>
                  <a:pt x="0" y="240385"/>
                </a:moveTo>
                <a:lnTo>
                  <a:pt x="615439" y="240385"/>
                </a:lnTo>
                <a:lnTo>
                  <a:pt x="615439" y="0"/>
                </a:lnTo>
                <a:lnTo>
                  <a:pt x="0" y="0"/>
                </a:lnTo>
                <a:lnTo>
                  <a:pt x="0" y="240385"/>
                </a:lnTo>
                <a:close/>
              </a:path>
            </a:pathLst>
          </a:custGeom>
          <a:solidFill>
            <a:srgbClr val="FFFFFF"/>
          </a:solidFill>
        </p:spPr>
        <p:txBody>
          <a:bodyPr wrap="square" lIns="0" tIns="0" rIns="0" bIns="0" rtlCol="0"/>
          <a:lstStyle/>
          <a:p>
            <a:endParaRPr/>
          </a:p>
        </p:txBody>
      </p:sp>
      <p:sp>
        <p:nvSpPr>
          <p:cNvPr id="73" name="object 73"/>
          <p:cNvSpPr/>
          <p:nvPr/>
        </p:nvSpPr>
        <p:spPr>
          <a:xfrm>
            <a:off x="6210300" y="2501900"/>
            <a:ext cx="139700" cy="152400"/>
          </a:xfrm>
          <a:prstGeom prst="rect">
            <a:avLst/>
          </a:prstGeom>
          <a:blipFill>
            <a:blip r:embed="rId54" cstate="print"/>
            <a:stretch>
              <a:fillRect/>
            </a:stretch>
          </a:blipFill>
        </p:spPr>
        <p:txBody>
          <a:bodyPr wrap="square" lIns="0" tIns="0" rIns="0" bIns="0" rtlCol="0"/>
          <a:lstStyle/>
          <a:p>
            <a:endParaRPr/>
          </a:p>
        </p:txBody>
      </p:sp>
      <p:sp>
        <p:nvSpPr>
          <p:cNvPr id="74" name="object 74"/>
          <p:cNvSpPr/>
          <p:nvPr/>
        </p:nvSpPr>
        <p:spPr>
          <a:xfrm>
            <a:off x="6286500" y="2476500"/>
            <a:ext cx="114300" cy="190500"/>
          </a:xfrm>
          <a:prstGeom prst="rect">
            <a:avLst/>
          </a:prstGeom>
          <a:blipFill>
            <a:blip r:embed="rId55" cstate="print"/>
            <a:stretch>
              <a:fillRect/>
            </a:stretch>
          </a:blipFill>
        </p:spPr>
        <p:txBody>
          <a:bodyPr wrap="square" lIns="0" tIns="0" rIns="0" bIns="0" rtlCol="0"/>
          <a:lstStyle/>
          <a:p>
            <a:endParaRPr/>
          </a:p>
        </p:txBody>
      </p:sp>
      <p:sp>
        <p:nvSpPr>
          <p:cNvPr id="75" name="object 75"/>
          <p:cNvSpPr/>
          <p:nvPr/>
        </p:nvSpPr>
        <p:spPr>
          <a:xfrm>
            <a:off x="6311900" y="2501900"/>
            <a:ext cx="152400" cy="152400"/>
          </a:xfrm>
          <a:prstGeom prst="rect">
            <a:avLst/>
          </a:prstGeom>
          <a:blipFill>
            <a:blip r:embed="rId56" cstate="print"/>
            <a:stretch>
              <a:fillRect/>
            </a:stretch>
          </a:blipFill>
        </p:spPr>
        <p:txBody>
          <a:bodyPr wrap="square" lIns="0" tIns="0" rIns="0" bIns="0" rtlCol="0"/>
          <a:lstStyle/>
          <a:p>
            <a:endParaRPr/>
          </a:p>
        </p:txBody>
      </p:sp>
      <p:sp>
        <p:nvSpPr>
          <p:cNvPr id="76" name="object 76"/>
          <p:cNvSpPr/>
          <p:nvPr/>
        </p:nvSpPr>
        <p:spPr>
          <a:xfrm>
            <a:off x="6375400" y="2476500"/>
            <a:ext cx="127000" cy="190500"/>
          </a:xfrm>
          <a:prstGeom prst="rect">
            <a:avLst/>
          </a:prstGeom>
          <a:blipFill>
            <a:blip r:embed="rId57" cstate="print"/>
            <a:stretch>
              <a:fillRect/>
            </a:stretch>
          </a:blipFill>
        </p:spPr>
        <p:txBody>
          <a:bodyPr wrap="square" lIns="0" tIns="0" rIns="0" bIns="0" rtlCol="0"/>
          <a:lstStyle/>
          <a:p>
            <a:endParaRPr/>
          </a:p>
        </p:txBody>
      </p:sp>
      <p:sp>
        <p:nvSpPr>
          <p:cNvPr id="77" name="object 77"/>
          <p:cNvSpPr/>
          <p:nvPr/>
        </p:nvSpPr>
        <p:spPr>
          <a:xfrm>
            <a:off x="6451600" y="2514600"/>
            <a:ext cx="165100" cy="114300"/>
          </a:xfrm>
          <a:prstGeom prst="rect">
            <a:avLst/>
          </a:prstGeom>
          <a:blipFill>
            <a:blip r:embed="rId58" cstate="print"/>
            <a:stretch>
              <a:fillRect/>
            </a:stretch>
          </a:blipFill>
        </p:spPr>
        <p:txBody>
          <a:bodyPr wrap="square" lIns="0" tIns="0" rIns="0" bIns="0" rtlCol="0"/>
          <a:lstStyle/>
          <a:p>
            <a:endParaRPr/>
          </a:p>
        </p:txBody>
      </p:sp>
      <p:sp>
        <p:nvSpPr>
          <p:cNvPr id="78" name="object 78"/>
          <p:cNvSpPr/>
          <p:nvPr/>
        </p:nvSpPr>
        <p:spPr>
          <a:xfrm>
            <a:off x="6565900" y="2476500"/>
            <a:ext cx="203200" cy="177800"/>
          </a:xfrm>
          <a:prstGeom prst="rect">
            <a:avLst/>
          </a:prstGeom>
          <a:blipFill>
            <a:blip r:embed="rId59" cstate="print"/>
            <a:stretch>
              <a:fillRect/>
            </a:stretch>
          </a:blipFill>
        </p:spPr>
        <p:txBody>
          <a:bodyPr wrap="square" lIns="0" tIns="0" rIns="0" bIns="0" rtlCol="0"/>
          <a:lstStyle/>
          <a:p>
            <a:endParaRPr/>
          </a:p>
        </p:txBody>
      </p:sp>
      <p:sp>
        <p:nvSpPr>
          <p:cNvPr id="79" name="object 79"/>
          <p:cNvSpPr txBox="1"/>
          <p:nvPr/>
        </p:nvSpPr>
        <p:spPr>
          <a:xfrm>
            <a:off x="6241953" y="2484216"/>
            <a:ext cx="50419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25" dirty="0">
                <a:latin typeface="Century"/>
                <a:cs typeface="Century"/>
              </a:rPr>
              <a:t> </a:t>
            </a:r>
            <a:r>
              <a:rPr sz="950" spc="-55" dirty="0">
                <a:latin typeface="Century"/>
                <a:cs typeface="Century"/>
              </a:rPr>
              <a:t>45</a:t>
            </a:r>
            <a:endParaRPr sz="950">
              <a:latin typeface="Century"/>
              <a:cs typeface="Century"/>
            </a:endParaRPr>
          </a:p>
        </p:txBody>
      </p:sp>
      <p:sp>
        <p:nvSpPr>
          <p:cNvPr id="80" name="object 80"/>
          <p:cNvSpPr/>
          <p:nvPr/>
        </p:nvSpPr>
        <p:spPr>
          <a:xfrm>
            <a:off x="4429726" y="3526897"/>
            <a:ext cx="615950" cy="240665"/>
          </a:xfrm>
          <a:custGeom>
            <a:avLst/>
            <a:gdLst/>
            <a:ahLst/>
            <a:cxnLst/>
            <a:rect l="l" t="t" r="r" b="b"/>
            <a:pathLst>
              <a:path w="615950" h="240664">
                <a:moveTo>
                  <a:pt x="0" y="240385"/>
                </a:moveTo>
                <a:lnTo>
                  <a:pt x="615439" y="240385"/>
                </a:lnTo>
                <a:lnTo>
                  <a:pt x="615439" y="0"/>
                </a:lnTo>
                <a:lnTo>
                  <a:pt x="0" y="0"/>
                </a:lnTo>
                <a:lnTo>
                  <a:pt x="0" y="240385"/>
                </a:lnTo>
                <a:close/>
              </a:path>
            </a:pathLst>
          </a:custGeom>
          <a:solidFill>
            <a:srgbClr val="FFFFFF"/>
          </a:solidFill>
        </p:spPr>
        <p:txBody>
          <a:bodyPr wrap="square" lIns="0" tIns="0" rIns="0" bIns="0" rtlCol="0"/>
          <a:lstStyle/>
          <a:p>
            <a:endParaRPr/>
          </a:p>
        </p:txBody>
      </p:sp>
      <p:sp>
        <p:nvSpPr>
          <p:cNvPr id="81" name="object 81"/>
          <p:cNvSpPr/>
          <p:nvPr/>
        </p:nvSpPr>
        <p:spPr>
          <a:xfrm>
            <a:off x="4457700" y="3619500"/>
            <a:ext cx="139700" cy="152400"/>
          </a:xfrm>
          <a:prstGeom prst="rect">
            <a:avLst/>
          </a:prstGeom>
          <a:blipFill>
            <a:blip r:embed="rId60" cstate="print"/>
            <a:stretch>
              <a:fillRect/>
            </a:stretch>
          </a:blipFill>
        </p:spPr>
        <p:txBody>
          <a:bodyPr wrap="square" lIns="0" tIns="0" rIns="0" bIns="0" rtlCol="0"/>
          <a:lstStyle/>
          <a:p>
            <a:endParaRPr/>
          </a:p>
        </p:txBody>
      </p:sp>
      <p:sp>
        <p:nvSpPr>
          <p:cNvPr id="82" name="object 82"/>
          <p:cNvSpPr/>
          <p:nvPr/>
        </p:nvSpPr>
        <p:spPr>
          <a:xfrm>
            <a:off x="4521200" y="3594100"/>
            <a:ext cx="127000" cy="190500"/>
          </a:xfrm>
          <a:prstGeom prst="rect">
            <a:avLst/>
          </a:prstGeom>
          <a:blipFill>
            <a:blip r:embed="rId61" cstate="print"/>
            <a:stretch>
              <a:fillRect/>
            </a:stretch>
          </a:blipFill>
        </p:spPr>
        <p:txBody>
          <a:bodyPr wrap="square" lIns="0" tIns="0" rIns="0" bIns="0" rtlCol="0"/>
          <a:lstStyle/>
          <a:p>
            <a:endParaRPr/>
          </a:p>
        </p:txBody>
      </p:sp>
      <p:sp>
        <p:nvSpPr>
          <p:cNvPr id="83" name="object 83"/>
          <p:cNvSpPr/>
          <p:nvPr/>
        </p:nvSpPr>
        <p:spPr>
          <a:xfrm>
            <a:off x="4559300" y="3619500"/>
            <a:ext cx="139700" cy="152400"/>
          </a:xfrm>
          <a:prstGeom prst="rect">
            <a:avLst/>
          </a:prstGeom>
          <a:blipFill>
            <a:blip r:embed="rId62" cstate="print"/>
            <a:stretch>
              <a:fillRect/>
            </a:stretch>
          </a:blipFill>
        </p:spPr>
        <p:txBody>
          <a:bodyPr wrap="square" lIns="0" tIns="0" rIns="0" bIns="0" rtlCol="0"/>
          <a:lstStyle/>
          <a:p>
            <a:endParaRPr/>
          </a:p>
        </p:txBody>
      </p:sp>
      <p:sp>
        <p:nvSpPr>
          <p:cNvPr id="84" name="object 84"/>
          <p:cNvSpPr/>
          <p:nvPr/>
        </p:nvSpPr>
        <p:spPr>
          <a:xfrm>
            <a:off x="4622800" y="3594100"/>
            <a:ext cx="114300" cy="190500"/>
          </a:xfrm>
          <a:prstGeom prst="rect">
            <a:avLst/>
          </a:prstGeom>
          <a:blipFill>
            <a:blip r:embed="rId63" cstate="print"/>
            <a:stretch>
              <a:fillRect/>
            </a:stretch>
          </a:blipFill>
        </p:spPr>
        <p:txBody>
          <a:bodyPr wrap="square" lIns="0" tIns="0" rIns="0" bIns="0" rtlCol="0"/>
          <a:lstStyle/>
          <a:p>
            <a:endParaRPr/>
          </a:p>
        </p:txBody>
      </p:sp>
      <p:sp>
        <p:nvSpPr>
          <p:cNvPr id="85" name="object 85"/>
          <p:cNvSpPr/>
          <p:nvPr/>
        </p:nvSpPr>
        <p:spPr>
          <a:xfrm>
            <a:off x="4699000" y="3632200"/>
            <a:ext cx="152400" cy="127000"/>
          </a:xfrm>
          <a:prstGeom prst="rect">
            <a:avLst/>
          </a:prstGeom>
          <a:blipFill>
            <a:blip r:embed="rId64" cstate="print"/>
            <a:stretch>
              <a:fillRect/>
            </a:stretch>
          </a:blipFill>
        </p:spPr>
        <p:txBody>
          <a:bodyPr wrap="square" lIns="0" tIns="0" rIns="0" bIns="0" rtlCol="0"/>
          <a:lstStyle/>
          <a:p>
            <a:endParaRPr/>
          </a:p>
        </p:txBody>
      </p:sp>
      <p:sp>
        <p:nvSpPr>
          <p:cNvPr id="86" name="object 86"/>
          <p:cNvSpPr/>
          <p:nvPr/>
        </p:nvSpPr>
        <p:spPr>
          <a:xfrm>
            <a:off x="4813300" y="3594100"/>
            <a:ext cx="203200" cy="177800"/>
          </a:xfrm>
          <a:prstGeom prst="rect">
            <a:avLst/>
          </a:prstGeom>
          <a:blipFill>
            <a:blip r:embed="rId65" cstate="print"/>
            <a:stretch>
              <a:fillRect/>
            </a:stretch>
          </a:blipFill>
        </p:spPr>
        <p:txBody>
          <a:bodyPr wrap="square" lIns="0" tIns="0" rIns="0" bIns="0" rtlCol="0"/>
          <a:lstStyle/>
          <a:p>
            <a:endParaRPr/>
          </a:p>
        </p:txBody>
      </p:sp>
      <p:sp>
        <p:nvSpPr>
          <p:cNvPr id="87" name="object 87"/>
          <p:cNvSpPr txBox="1"/>
          <p:nvPr/>
        </p:nvSpPr>
        <p:spPr>
          <a:xfrm>
            <a:off x="4485494" y="3604196"/>
            <a:ext cx="504190" cy="156210"/>
          </a:xfrm>
          <a:prstGeom prst="rect">
            <a:avLst/>
          </a:prstGeom>
        </p:spPr>
        <p:txBody>
          <a:bodyPr vert="horz" wrap="square" lIns="0" tIns="0" rIns="0" bIns="0" rtlCol="0">
            <a:spAutoFit/>
          </a:bodyPr>
          <a:lstStyle/>
          <a:p>
            <a:pPr marL="12700">
              <a:lnSpc>
                <a:spcPct val="100000"/>
              </a:lnSpc>
            </a:pPr>
            <a:r>
              <a:rPr sz="950" i="1" dirty="0">
                <a:latin typeface="Times New Roman"/>
                <a:cs typeface="Times New Roman"/>
              </a:rPr>
              <a:t>c</a:t>
            </a:r>
            <a:r>
              <a:rPr sz="950" i="1" spc="-145" dirty="0">
                <a:latin typeface="Times New Roman"/>
                <a:cs typeface="Times New Roman"/>
              </a:rPr>
              <a:t> </a:t>
            </a:r>
            <a:r>
              <a:rPr sz="950" dirty="0">
                <a:latin typeface="Century"/>
                <a:cs typeface="Century"/>
              </a:rPr>
              <a:t>(</a:t>
            </a:r>
            <a:r>
              <a:rPr sz="950" i="1" spc="10" dirty="0">
                <a:latin typeface="Times New Roman"/>
                <a:cs typeface="Times New Roman"/>
              </a:rPr>
              <a:t>x</a:t>
            </a:r>
            <a:r>
              <a:rPr sz="950" dirty="0">
                <a:latin typeface="Century"/>
                <a:cs typeface="Century"/>
              </a:rPr>
              <a:t>) </a:t>
            </a:r>
            <a:r>
              <a:rPr sz="950" spc="70" dirty="0">
                <a:latin typeface="Century"/>
                <a:cs typeface="Century"/>
              </a:rPr>
              <a:t>=</a:t>
            </a:r>
            <a:r>
              <a:rPr sz="950" spc="25" dirty="0">
                <a:latin typeface="Century"/>
                <a:cs typeface="Century"/>
              </a:rPr>
              <a:t> </a:t>
            </a:r>
            <a:r>
              <a:rPr sz="950" spc="-55" dirty="0">
                <a:latin typeface="Century"/>
                <a:cs typeface="Century"/>
              </a:rPr>
              <a:t>45</a:t>
            </a:r>
            <a:endParaRPr sz="950">
              <a:latin typeface="Century"/>
              <a:cs typeface="Century"/>
            </a:endParaRPr>
          </a:p>
        </p:txBody>
      </p:sp>
      <p:sp>
        <p:nvSpPr>
          <p:cNvPr id="88" name="object 88"/>
          <p:cNvSpPr txBox="1"/>
          <p:nvPr/>
        </p:nvSpPr>
        <p:spPr>
          <a:xfrm>
            <a:off x="435865" y="1282997"/>
            <a:ext cx="4176395" cy="381000"/>
          </a:xfrm>
          <a:prstGeom prst="rect">
            <a:avLst/>
          </a:prstGeom>
        </p:spPr>
        <p:txBody>
          <a:bodyPr vert="horz" wrap="square" lIns="0" tIns="0" rIns="0" bIns="0" rtlCol="0">
            <a:spAutoFit/>
          </a:bodyPr>
          <a:lstStyle/>
          <a:p>
            <a:pPr marL="12700">
              <a:lnSpc>
                <a:spcPct val="100000"/>
              </a:lnSpc>
            </a:pPr>
            <a:r>
              <a:rPr sz="2800" dirty="0">
                <a:solidFill>
                  <a:srgbClr val="C82506"/>
                </a:solidFill>
                <a:latin typeface="Times New Roman"/>
                <a:cs typeface="Times New Roman"/>
              </a:rPr>
              <a:t>N</a:t>
            </a:r>
            <a:r>
              <a:rPr sz="2800" spc="-20" dirty="0">
                <a:solidFill>
                  <a:srgbClr val="C82506"/>
                </a:solidFill>
                <a:latin typeface="Times New Roman"/>
                <a:cs typeface="Times New Roman"/>
              </a:rPr>
              <a:t>a</a:t>
            </a:r>
            <a:r>
              <a:rPr sz="2800" dirty="0">
                <a:solidFill>
                  <a:srgbClr val="C82506"/>
                </a:solidFill>
                <a:latin typeface="Times New Roman"/>
                <a:cs typeface="Times New Roman"/>
              </a:rPr>
              <a:t>sh </a:t>
            </a:r>
            <a:r>
              <a:rPr sz="2800" spc="-10" dirty="0">
                <a:solidFill>
                  <a:srgbClr val="C82506"/>
                </a:solidFill>
                <a:latin typeface="Times New Roman"/>
                <a:cs typeface="Times New Roman"/>
              </a:rPr>
              <a:t>i</a:t>
            </a:r>
            <a:r>
              <a:rPr sz="2800" dirty="0">
                <a:solidFill>
                  <a:srgbClr val="C82506"/>
                </a:solidFill>
                <a:latin typeface="Times New Roman"/>
                <a:cs typeface="Times New Roman"/>
              </a:rPr>
              <a:t>sn</a:t>
            </a:r>
            <a:r>
              <a:rPr sz="2800" spc="-55" dirty="0">
                <a:solidFill>
                  <a:srgbClr val="C82506"/>
                </a:solidFill>
                <a:latin typeface="Times New Roman"/>
                <a:cs typeface="Times New Roman"/>
              </a:rPr>
              <a:t>’</a:t>
            </a:r>
            <a:r>
              <a:rPr sz="2800" spc="-10" dirty="0">
                <a:solidFill>
                  <a:srgbClr val="C82506"/>
                </a:solidFill>
                <a:latin typeface="Times New Roman"/>
                <a:cs typeface="Times New Roman"/>
              </a:rPr>
              <a:t>t</a:t>
            </a:r>
            <a:r>
              <a:rPr sz="2800" dirty="0">
                <a:solidFill>
                  <a:srgbClr val="C82506"/>
                </a:solidFill>
                <a:latin typeface="Times New Roman"/>
                <a:cs typeface="Times New Roman"/>
              </a:rPr>
              <a:t> </a:t>
            </a:r>
            <a:r>
              <a:rPr sz="2800" spc="-20" dirty="0">
                <a:solidFill>
                  <a:srgbClr val="C82506"/>
                </a:solidFill>
                <a:latin typeface="Times New Roman"/>
                <a:cs typeface="Times New Roman"/>
              </a:rPr>
              <a:t>a</a:t>
            </a:r>
            <a:r>
              <a:rPr sz="2800" spc="-10" dirty="0">
                <a:solidFill>
                  <a:srgbClr val="C82506"/>
                </a:solidFill>
                <a:latin typeface="Times New Roman"/>
                <a:cs typeface="Times New Roman"/>
              </a:rPr>
              <a:t>l</a:t>
            </a:r>
            <a:r>
              <a:rPr sz="2800" dirty="0">
                <a:solidFill>
                  <a:srgbClr val="C82506"/>
                </a:solidFill>
                <a:latin typeface="Times New Roman"/>
                <a:cs typeface="Times New Roman"/>
              </a:rPr>
              <a:t>w</a:t>
            </a:r>
            <a:r>
              <a:rPr sz="2800" spc="-20" dirty="0">
                <a:solidFill>
                  <a:srgbClr val="C82506"/>
                </a:solidFill>
                <a:latin typeface="Times New Roman"/>
                <a:cs typeface="Times New Roman"/>
              </a:rPr>
              <a:t>a</a:t>
            </a:r>
            <a:r>
              <a:rPr sz="2800" dirty="0">
                <a:solidFill>
                  <a:srgbClr val="C82506"/>
                </a:solidFill>
                <a:latin typeface="Times New Roman"/>
                <a:cs typeface="Times New Roman"/>
              </a:rPr>
              <a:t>ys pro-s</a:t>
            </a:r>
            <a:r>
              <a:rPr sz="2800" spc="-15" dirty="0">
                <a:solidFill>
                  <a:srgbClr val="C82506"/>
                </a:solidFill>
                <a:latin typeface="Times New Roman"/>
                <a:cs typeface="Times New Roman"/>
              </a:rPr>
              <a:t>o</a:t>
            </a:r>
            <a:r>
              <a:rPr sz="2800" spc="-20" dirty="0">
                <a:solidFill>
                  <a:srgbClr val="C82506"/>
                </a:solidFill>
                <a:latin typeface="Times New Roman"/>
                <a:cs typeface="Times New Roman"/>
              </a:rPr>
              <a:t>c</a:t>
            </a:r>
            <a:r>
              <a:rPr sz="2800" spc="-10" dirty="0">
                <a:solidFill>
                  <a:srgbClr val="C82506"/>
                </a:solidFill>
                <a:latin typeface="Times New Roman"/>
                <a:cs typeface="Times New Roman"/>
              </a:rPr>
              <a:t>i</a:t>
            </a:r>
            <a:r>
              <a:rPr sz="2800" spc="-20" dirty="0">
                <a:solidFill>
                  <a:srgbClr val="C82506"/>
                </a:solidFill>
                <a:latin typeface="Times New Roman"/>
                <a:cs typeface="Times New Roman"/>
              </a:rPr>
              <a:t>a</a:t>
            </a:r>
            <a:r>
              <a:rPr sz="2800" spc="-10" dirty="0">
                <a:solidFill>
                  <a:srgbClr val="C82506"/>
                </a:solidFill>
                <a:latin typeface="Times New Roman"/>
                <a:cs typeface="Times New Roman"/>
              </a:rPr>
              <a:t>l</a:t>
            </a:r>
            <a:r>
              <a:rPr sz="2800" dirty="0">
                <a:solidFill>
                  <a:srgbClr val="C82506"/>
                </a:solidFill>
                <a:latin typeface="Times New Roman"/>
                <a:cs typeface="Times New Roman"/>
              </a:rPr>
              <a:t>!</a:t>
            </a:r>
            <a:endParaRPr sz="2800">
              <a:latin typeface="Times New Roman"/>
              <a:cs typeface="Times New Roman"/>
            </a:endParaRPr>
          </a:p>
        </p:txBody>
      </p:sp>
      <p:sp>
        <p:nvSpPr>
          <p:cNvPr id="89" name="object 89"/>
          <p:cNvSpPr txBox="1"/>
          <p:nvPr/>
        </p:nvSpPr>
        <p:spPr>
          <a:xfrm>
            <a:off x="457846" y="4517223"/>
            <a:ext cx="7202170" cy="546100"/>
          </a:xfrm>
          <a:prstGeom prst="rect">
            <a:avLst/>
          </a:prstGeom>
        </p:spPr>
        <p:txBody>
          <a:bodyPr vert="horz" wrap="square" lIns="0" tIns="0" rIns="0" bIns="0" rtlCol="0">
            <a:spAutoFit/>
          </a:bodyPr>
          <a:lstStyle/>
          <a:p>
            <a:pPr marL="12700">
              <a:lnSpc>
                <a:spcPts val="2240"/>
              </a:lnSpc>
            </a:pPr>
            <a:r>
              <a:rPr sz="1900" i="1" spc="-10" dirty="0">
                <a:latin typeface="Times New Roman"/>
                <a:cs typeface="Times New Roman"/>
              </a:rPr>
              <a:t>Removing a ze</a:t>
            </a:r>
            <a:r>
              <a:rPr sz="1900" i="1" spc="-75" dirty="0">
                <a:latin typeface="Times New Roman"/>
                <a:cs typeface="Times New Roman"/>
              </a:rPr>
              <a:t>r</a:t>
            </a:r>
            <a:r>
              <a:rPr sz="1900" i="1" spc="-10" dirty="0">
                <a:latin typeface="Times New Roman"/>
                <a:cs typeface="Times New Roman"/>
              </a:rPr>
              <a:t>o-</a:t>
            </a:r>
            <a:r>
              <a:rPr sz="1900" i="1" spc="-15" dirty="0">
                <a:latin typeface="Times New Roman"/>
                <a:cs typeface="Times New Roman"/>
              </a:rPr>
              <a:t>c</a:t>
            </a:r>
            <a:r>
              <a:rPr sz="1900" i="1" dirty="0">
                <a:latin typeface="Times New Roman"/>
                <a:cs typeface="Times New Roman"/>
              </a:rPr>
              <a:t>os</a:t>
            </a:r>
            <a:r>
              <a:rPr sz="1900" i="1" spc="-10" dirty="0">
                <a:latin typeface="Times New Roman"/>
                <a:cs typeface="Times New Roman"/>
              </a:rPr>
              <a:t>t</a:t>
            </a:r>
            <a:r>
              <a:rPr sz="1900" i="1" dirty="0">
                <a:latin typeface="Times New Roman"/>
                <a:cs typeface="Times New Roman"/>
              </a:rPr>
              <a:t> </a:t>
            </a:r>
            <a:r>
              <a:rPr sz="1900" i="1" spc="-10" dirty="0">
                <a:latin typeface="Times New Roman"/>
                <a:cs typeface="Times New Roman"/>
              </a:rPr>
              <a:t>edge</a:t>
            </a:r>
            <a:r>
              <a:rPr sz="1900" i="1" dirty="0">
                <a:latin typeface="Times New Roman"/>
                <a:cs typeface="Times New Roman"/>
              </a:rPr>
              <a:t> </a:t>
            </a:r>
            <a:r>
              <a:rPr sz="1900" i="1" spc="-10" dirty="0">
                <a:latin typeface="Times New Roman"/>
                <a:cs typeface="Times New Roman"/>
              </a:rPr>
              <a:t>i</a:t>
            </a:r>
            <a:r>
              <a:rPr sz="1900" i="1" dirty="0">
                <a:latin typeface="Times New Roman"/>
                <a:cs typeface="Times New Roman"/>
              </a:rPr>
              <a:t>mp</a:t>
            </a:r>
            <a:r>
              <a:rPr sz="1900" i="1" spc="-75" dirty="0">
                <a:latin typeface="Times New Roman"/>
                <a:cs typeface="Times New Roman"/>
              </a:rPr>
              <a:t>r</a:t>
            </a:r>
            <a:r>
              <a:rPr sz="1900" i="1" spc="-10" dirty="0">
                <a:latin typeface="Times New Roman"/>
                <a:cs typeface="Times New Roman"/>
              </a:rPr>
              <a:t>ove</a:t>
            </a:r>
            <a:r>
              <a:rPr sz="1900" i="1" dirty="0">
                <a:latin typeface="Times New Roman"/>
                <a:cs typeface="Times New Roman"/>
              </a:rPr>
              <a:t>s s</a:t>
            </a:r>
            <a:r>
              <a:rPr sz="1900" i="1" spc="-10" dirty="0">
                <a:latin typeface="Times New Roman"/>
                <a:cs typeface="Times New Roman"/>
              </a:rPr>
              <a:t>ocial</a:t>
            </a:r>
            <a:r>
              <a:rPr sz="1900" i="1" dirty="0">
                <a:latin typeface="Times New Roman"/>
                <a:cs typeface="Times New Roman"/>
              </a:rPr>
              <a:t> </a:t>
            </a:r>
            <a:r>
              <a:rPr sz="1900" i="1" spc="-10" dirty="0">
                <a:latin typeface="Times New Roman"/>
                <a:cs typeface="Times New Roman"/>
              </a:rPr>
              <a:t>welf</a:t>
            </a:r>
            <a:r>
              <a:rPr sz="1900" i="1" dirty="0">
                <a:latin typeface="Times New Roman"/>
                <a:cs typeface="Times New Roman"/>
              </a:rPr>
              <a:t>a</a:t>
            </a:r>
            <a:r>
              <a:rPr sz="1900" i="1" spc="-75" dirty="0">
                <a:latin typeface="Times New Roman"/>
                <a:cs typeface="Times New Roman"/>
              </a:rPr>
              <a:t>r</a:t>
            </a:r>
            <a:r>
              <a:rPr sz="1900" i="1" spc="-10" dirty="0">
                <a:latin typeface="Times New Roman"/>
                <a:cs typeface="Times New Roman"/>
              </a:rPr>
              <a:t>e</a:t>
            </a:r>
            <a:r>
              <a:rPr sz="1900" dirty="0">
                <a:latin typeface="Times New Roman"/>
                <a:cs typeface="Times New Roman"/>
              </a:rPr>
              <a:t>!</a:t>
            </a:r>
            <a:endParaRPr sz="1900">
              <a:latin typeface="Times New Roman"/>
              <a:cs typeface="Times New Roman"/>
            </a:endParaRPr>
          </a:p>
          <a:p>
            <a:pPr marL="12700">
              <a:lnSpc>
                <a:spcPts val="2240"/>
              </a:lnSpc>
            </a:pPr>
            <a:r>
              <a:rPr sz="1900" dirty="0">
                <a:latin typeface="Times New Roman"/>
                <a:cs typeface="Times New Roman"/>
              </a:rPr>
              <a:t>Cons</a:t>
            </a:r>
            <a:r>
              <a:rPr sz="1900" spc="-10" dirty="0">
                <a:latin typeface="Times New Roman"/>
                <a:cs typeface="Times New Roman"/>
              </a:rPr>
              <a:t>ider what is the Nash equilibrium (s</a:t>
            </a:r>
            <a:r>
              <a:rPr sz="1900" spc="-15" dirty="0">
                <a:latin typeface="Times New Roman"/>
                <a:cs typeface="Times New Roman"/>
              </a:rPr>
              <a:t>ame </a:t>
            </a:r>
            <a:r>
              <a:rPr sz="1900" spc="-10" dirty="0">
                <a:latin typeface="Times New Roman"/>
                <a:cs typeface="Times New Roman"/>
              </a:rPr>
              <a:t>travel time) for 4000 players</a:t>
            </a:r>
            <a:endParaRPr sz="1900">
              <a:latin typeface="Times New Roman"/>
              <a:cs typeface="Times New Roman"/>
            </a:endParaRPr>
          </a:p>
        </p:txBody>
      </p:sp>
      <p:sp>
        <p:nvSpPr>
          <p:cNvPr id="90" name="object 90"/>
          <p:cNvSpPr/>
          <p:nvPr/>
        </p:nvSpPr>
        <p:spPr>
          <a:xfrm>
            <a:off x="4195987" y="5586409"/>
            <a:ext cx="429259" cy="0"/>
          </a:xfrm>
          <a:custGeom>
            <a:avLst/>
            <a:gdLst/>
            <a:ahLst/>
            <a:cxnLst/>
            <a:rect l="l" t="t" r="r" b="b"/>
            <a:pathLst>
              <a:path w="429260">
                <a:moveTo>
                  <a:pt x="0" y="0"/>
                </a:moveTo>
                <a:lnTo>
                  <a:pt x="428674" y="0"/>
                </a:lnTo>
              </a:path>
            </a:pathLst>
          </a:custGeom>
          <a:ln w="17912">
            <a:solidFill>
              <a:srgbClr val="000000"/>
            </a:solidFill>
          </a:ln>
        </p:spPr>
        <p:txBody>
          <a:bodyPr wrap="square" lIns="0" tIns="0" rIns="0" bIns="0" rtlCol="0"/>
          <a:lstStyle/>
          <a:p>
            <a:endParaRPr/>
          </a:p>
        </p:txBody>
      </p:sp>
      <p:sp>
        <p:nvSpPr>
          <p:cNvPr id="91" name="object 91"/>
          <p:cNvSpPr/>
          <p:nvPr/>
        </p:nvSpPr>
        <p:spPr>
          <a:xfrm>
            <a:off x="5487995" y="5586409"/>
            <a:ext cx="429259" cy="0"/>
          </a:xfrm>
          <a:custGeom>
            <a:avLst/>
            <a:gdLst/>
            <a:ahLst/>
            <a:cxnLst/>
            <a:rect l="l" t="t" r="r" b="b"/>
            <a:pathLst>
              <a:path w="429260">
                <a:moveTo>
                  <a:pt x="0" y="0"/>
                </a:moveTo>
                <a:lnTo>
                  <a:pt x="428674" y="0"/>
                </a:lnTo>
              </a:path>
            </a:pathLst>
          </a:custGeom>
          <a:ln w="17912">
            <a:solidFill>
              <a:srgbClr val="000000"/>
            </a:solidFill>
          </a:ln>
        </p:spPr>
        <p:txBody>
          <a:bodyPr wrap="square" lIns="0" tIns="0" rIns="0" bIns="0" rtlCol="0"/>
          <a:lstStyle/>
          <a:p>
            <a:endParaRPr/>
          </a:p>
        </p:txBody>
      </p:sp>
      <p:sp>
        <p:nvSpPr>
          <p:cNvPr id="92" name="object 92"/>
          <p:cNvSpPr txBox="1"/>
          <p:nvPr/>
        </p:nvSpPr>
        <p:spPr>
          <a:xfrm>
            <a:off x="457846" y="6019800"/>
            <a:ext cx="7550784" cy="323850"/>
          </a:xfrm>
          <a:prstGeom prst="rect">
            <a:avLst/>
          </a:prstGeom>
        </p:spPr>
        <p:txBody>
          <a:bodyPr vert="horz" wrap="square" lIns="0" tIns="0" rIns="0" bIns="0" rtlCol="0">
            <a:spAutoFit/>
          </a:bodyPr>
          <a:lstStyle/>
          <a:p>
            <a:pPr marL="12700">
              <a:lnSpc>
                <a:spcPct val="100000"/>
              </a:lnSpc>
            </a:pPr>
            <a:r>
              <a:rPr sz="1950" spc="-60" dirty="0">
                <a:latin typeface="Century"/>
                <a:cs typeface="Century"/>
              </a:rPr>
              <a:t>le</a:t>
            </a:r>
            <a:r>
              <a:rPr sz="1950" spc="-35" dirty="0">
                <a:latin typeface="Century"/>
                <a:cs typeface="Century"/>
              </a:rPr>
              <a:t>f</a:t>
            </a:r>
            <a:r>
              <a:rPr sz="1950" spc="-215" dirty="0">
                <a:latin typeface="Century"/>
                <a:cs typeface="Century"/>
              </a:rPr>
              <a:t>t</a:t>
            </a:r>
            <a:r>
              <a:rPr sz="1950" spc="5" dirty="0">
                <a:latin typeface="Century"/>
                <a:cs typeface="Century"/>
              </a:rPr>
              <a:t> :</a:t>
            </a:r>
            <a:r>
              <a:rPr sz="1950" spc="114" dirty="0">
                <a:latin typeface="Century"/>
                <a:cs typeface="Century"/>
              </a:rPr>
              <a:t> </a:t>
            </a:r>
            <a:r>
              <a:rPr sz="1950" i="1" spc="-65" dirty="0">
                <a:latin typeface="Times New Roman"/>
                <a:cs typeface="Times New Roman"/>
              </a:rPr>
              <a:t>x</a:t>
            </a:r>
            <a:r>
              <a:rPr sz="2100" i="1" spc="44" baseline="-19841" dirty="0">
                <a:latin typeface="Times New Roman"/>
                <a:cs typeface="Times New Roman"/>
              </a:rPr>
              <a:t>s</a:t>
            </a:r>
            <a:r>
              <a:rPr sz="2100" i="1" spc="75" baseline="-19841" dirty="0">
                <a:latin typeface="Times New Roman"/>
                <a:cs typeface="Times New Roman"/>
              </a:rPr>
              <a:t>v</a:t>
            </a:r>
            <a:r>
              <a:rPr sz="2100" i="1" baseline="-19841" dirty="0">
                <a:latin typeface="Times New Roman"/>
                <a:cs typeface="Times New Roman"/>
              </a:rPr>
              <a:t>wt </a:t>
            </a:r>
            <a:r>
              <a:rPr sz="2100" i="1" spc="-179" baseline="-19841" dirty="0">
                <a:latin typeface="Times New Roman"/>
                <a:cs typeface="Times New Roman"/>
              </a:rPr>
              <a:t> </a:t>
            </a:r>
            <a:r>
              <a:rPr sz="1950" spc="175" dirty="0">
                <a:latin typeface="Century"/>
                <a:cs typeface="Century"/>
              </a:rPr>
              <a:t>=</a:t>
            </a:r>
            <a:r>
              <a:rPr sz="1950" spc="5" dirty="0">
                <a:latin typeface="Century"/>
                <a:cs typeface="Century"/>
              </a:rPr>
              <a:t> </a:t>
            </a:r>
            <a:r>
              <a:rPr sz="1950" spc="-100" dirty="0">
                <a:latin typeface="Century"/>
                <a:cs typeface="Century"/>
              </a:rPr>
              <a:t>4000</a:t>
            </a:r>
            <a:r>
              <a:rPr sz="1950" spc="125" dirty="0">
                <a:latin typeface="Century"/>
                <a:cs typeface="Century"/>
              </a:rPr>
              <a:t> </a:t>
            </a:r>
            <a:r>
              <a:rPr sz="1950" spc="-100" dirty="0">
                <a:latin typeface="Century"/>
                <a:cs typeface="Century"/>
              </a:rPr>
              <a:t>is</a:t>
            </a:r>
            <a:r>
              <a:rPr sz="1950" spc="114" dirty="0">
                <a:latin typeface="Century"/>
                <a:cs typeface="Century"/>
              </a:rPr>
              <a:t> </a:t>
            </a:r>
            <a:r>
              <a:rPr sz="1950" spc="-200" dirty="0">
                <a:latin typeface="Century"/>
                <a:cs typeface="Century"/>
              </a:rPr>
              <a:t>N</a:t>
            </a:r>
            <a:r>
              <a:rPr sz="1950" spc="-185" dirty="0">
                <a:latin typeface="Century"/>
                <a:cs typeface="Century"/>
              </a:rPr>
              <a:t>ash</a:t>
            </a:r>
            <a:r>
              <a:rPr sz="1950" spc="-70" dirty="0">
                <a:latin typeface="Century"/>
                <a:cs typeface="Century"/>
              </a:rPr>
              <a:t> </a:t>
            </a:r>
            <a:r>
              <a:rPr sz="1900" spc="-10" dirty="0">
                <a:latin typeface="Times New Roman"/>
                <a:cs typeface="Times New Roman"/>
              </a:rPr>
              <a:t>(a</a:t>
            </a:r>
            <a:r>
              <a:rPr sz="1900" dirty="0">
                <a:latin typeface="Times New Roman"/>
                <a:cs typeface="Times New Roman"/>
              </a:rPr>
              <a:t>nd </a:t>
            </a:r>
            <a:r>
              <a:rPr sz="1900" spc="-10" dirty="0">
                <a:latin typeface="Times New Roman"/>
                <a:cs typeface="Times New Roman"/>
              </a:rPr>
              <a:t>c</a:t>
            </a:r>
            <a:r>
              <a:rPr sz="1900" dirty="0">
                <a:latin typeface="Times New Roman"/>
                <a:cs typeface="Times New Roman"/>
              </a:rPr>
              <a:t>os</a:t>
            </a:r>
            <a:r>
              <a:rPr sz="1900" spc="-10" dirty="0">
                <a:latin typeface="Times New Roman"/>
                <a:cs typeface="Times New Roman"/>
              </a:rPr>
              <a:t>t</a:t>
            </a:r>
            <a:r>
              <a:rPr sz="1900" dirty="0">
                <a:latin typeface="Times New Roman"/>
                <a:cs typeface="Times New Roman"/>
              </a:rPr>
              <a:t>s </a:t>
            </a:r>
            <a:r>
              <a:rPr sz="1900" spc="-10" dirty="0">
                <a:latin typeface="Times New Roman"/>
                <a:cs typeface="Times New Roman"/>
              </a:rPr>
              <a:t>eve</a:t>
            </a:r>
            <a:r>
              <a:rPr sz="1900" dirty="0">
                <a:latin typeface="Times New Roman"/>
                <a:cs typeface="Times New Roman"/>
              </a:rPr>
              <a:t>ry </a:t>
            </a:r>
            <a:r>
              <a:rPr sz="1900" spc="-10" dirty="0">
                <a:latin typeface="Times New Roman"/>
                <a:cs typeface="Times New Roman"/>
              </a:rPr>
              <a:t>playe</a:t>
            </a:r>
            <a:r>
              <a:rPr sz="1900" dirty="0">
                <a:latin typeface="Times New Roman"/>
                <a:cs typeface="Times New Roman"/>
              </a:rPr>
              <a:t>r 15 </a:t>
            </a:r>
            <a:r>
              <a:rPr sz="1900" spc="-10" dirty="0">
                <a:latin typeface="Times New Roman"/>
                <a:cs typeface="Times New Roman"/>
              </a:rPr>
              <a:t>minute</a:t>
            </a:r>
            <a:r>
              <a:rPr sz="1900" dirty="0">
                <a:latin typeface="Times New Roman"/>
                <a:cs typeface="Times New Roman"/>
              </a:rPr>
              <a:t>s of </a:t>
            </a:r>
            <a:r>
              <a:rPr sz="1900" spc="-10" dirty="0">
                <a:latin typeface="Times New Roman"/>
                <a:cs typeface="Times New Roman"/>
              </a:rPr>
              <a:t>travel</a:t>
            </a:r>
            <a:r>
              <a:rPr sz="1900" dirty="0">
                <a:latin typeface="Times New Roman"/>
                <a:cs typeface="Times New Roman"/>
              </a:rPr>
              <a:t> </a:t>
            </a:r>
            <a:r>
              <a:rPr sz="1900" spc="-10" dirty="0">
                <a:latin typeface="Times New Roman"/>
                <a:cs typeface="Times New Roman"/>
              </a:rPr>
              <a:t>time</a:t>
            </a:r>
            <a:r>
              <a:rPr sz="1900" dirty="0">
                <a:latin typeface="Times New Roman"/>
                <a:cs typeface="Times New Roman"/>
              </a:rPr>
              <a:t>)</a:t>
            </a:r>
            <a:endParaRPr sz="1900">
              <a:latin typeface="Times New Roman"/>
              <a:cs typeface="Times New Roman"/>
            </a:endParaRPr>
          </a:p>
        </p:txBody>
      </p:sp>
      <p:sp>
        <p:nvSpPr>
          <p:cNvPr id="93" name="object 93"/>
          <p:cNvSpPr txBox="1"/>
          <p:nvPr/>
        </p:nvSpPr>
        <p:spPr>
          <a:xfrm>
            <a:off x="457846" y="5443257"/>
            <a:ext cx="3695065" cy="323850"/>
          </a:xfrm>
          <a:prstGeom prst="rect">
            <a:avLst/>
          </a:prstGeom>
        </p:spPr>
        <p:txBody>
          <a:bodyPr vert="horz" wrap="square" lIns="0" tIns="0" rIns="0" bIns="0" rtlCol="0">
            <a:spAutoFit/>
          </a:bodyPr>
          <a:lstStyle/>
          <a:p>
            <a:pPr marL="12700">
              <a:lnSpc>
                <a:spcPct val="100000"/>
              </a:lnSpc>
            </a:pPr>
            <a:r>
              <a:rPr sz="1950" spc="-175" dirty="0">
                <a:latin typeface="Century"/>
                <a:cs typeface="Century"/>
              </a:rPr>
              <a:t>r</a:t>
            </a:r>
            <a:r>
              <a:rPr sz="1950" spc="-140" dirty="0">
                <a:latin typeface="Century"/>
                <a:cs typeface="Century"/>
              </a:rPr>
              <a:t>ight</a:t>
            </a:r>
            <a:r>
              <a:rPr sz="1950" spc="5" dirty="0">
                <a:latin typeface="Century"/>
                <a:cs typeface="Century"/>
              </a:rPr>
              <a:t> :</a:t>
            </a:r>
            <a:r>
              <a:rPr sz="1950" spc="114" dirty="0">
                <a:latin typeface="Century"/>
                <a:cs typeface="Century"/>
              </a:rPr>
              <a:t> </a:t>
            </a:r>
            <a:r>
              <a:rPr sz="1950" i="1" spc="5" dirty="0">
                <a:latin typeface="Times New Roman"/>
                <a:cs typeface="Times New Roman"/>
              </a:rPr>
              <a:t>n</a:t>
            </a:r>
            <a:r>
              <a:rPr sz="1950" i="1" spc="114" dirty="0">
                <a:latin typeface="Times New Roman"/>
                <a:cs typeface="Times New Roman"/>
              </a:rPr>
              <a:t> </a:t>
            </a:r>
            <a:r>
              <a:rPr sz="1950" spc="175" dirty="0">
                <a:latin typeface="Century"/>
                <a:cs typeface="Century"/>
              </a:rPr>
              <a:t>=</a:t>
            </a:r>
            <a:r>
              <a:rPr sz="1950" spc="5" dirty="0">
                <a:latin typeface="Century"/>
                <a:cs typeface="Century"/>
              </a:rPr>
              <a:t> </a:t>
            </a:r>
            <a:r>
              <a:rPr sz="1950" spc="-100" dirty="0">
                <a:latin typeface="Century"/>
                <a:cs typeface="Century"/>
              </a:rPr>
              <a:t>4000</a:t>
            </a:r>
            <a:r>
              <a:rPr sz="1950" spc="5" dirty="0">
                <a:latin typeface="Century"/>
                <a:cs typeface="Century"/>
              </a:rPr>
              <a:t> </a:t>
            </a:r>
            <a:r>
              <a:rPr sz="1950" spc="175" dirty="0">
                <a:latin typeface="Century"/>
                <a:cs typeface="Century"/>
              </a:rPr>
              <a:t>=</a:t>
            </a:r>
            <a:r>
              <a:rPr sz="1950" spc="15" dirty="0">
                <a:latin typeface="Century"/>
                <a:cs typeface="Century"/>
              </a:rPr>
              <a:t> </a:t>
            </a:r>
            <a:r>
              <a:rPr sz="1950" i="1" spc="-65" dirty="0">
                <a:latin typeface="Times New Roman"/>
                <a:cs typeface="Times New Roman"/>
              </a:rPr>
              <a:t>x</a:t>
            </a:r>
            <a:r>
              <a:rPr sz="2100" i="1" spc="44" baseline="-19841" dirty="0">
                <a:latin typeface="Times New Roman"/>
                <a:cs typeface="Times New Roman"/>
              </a:rPr>
              <a:t>s</a:t>
            </a:r>
            <a:r>
              <a:rPr sz="2100" i="1" baseline="-19841" dirty="0">
                <a:latin typeface="Times New Roman"/>
                <a:cs typeface="Times New Roman"/>
              </a:rPr>
              <a:t>vt</a:t>
            </a:r>
            <a:r>
              <a:rPr sz="2100" i="1" spc="179" baseline="-19841" dirty="0">
                <a:latin typeface="Times New Roman"/>
                <a:cs typeface="Times New Roman"/>
              </a:rPr>
              <a:t> </a:t>
            </a:r>
            <a:r>
              <a:rPr sz="1950" spc="175" dirty="0">
                <a:latin typeface="Century"/>
                <a:cs typeface="Century"/>
              </a:rPr>
              <a:t>+</a:t>
            </a:r>
            <a:r>
              <a:rPr sz="1950" spc="-105" dirty="0">
                <a:latin typeface="Century"/>
                <a:cs typeface="Century"/>
              </a:rPr>
              <a:t> </a:t>
            </a:r>
            <a:r>
              <a:rPr sz="1950" i="1" spc="-65" dirty="0">
                <a:latin typeface="Times New Roman"/>
                <a:cs typeface="Times New Roman"/>
              </a:rPr>
              <a:t>x</a:t>
            </a:r>
            <a:r>
              <a:rPr sz="2100" i="1" spc="67" baseline="-19841" dirty="0">
                <a:latin typeface="Times New Roman"/>
                <a:cs typeface="Times New Roman"/>
              </a:rPr>
              <a:t>s</a:t>
            </a:r>
            <a:r>
              <a:rPr sz="2100" i="1" baseline="-19841" dirty="0">
                <a:latin typeface="Times New Roman"/>
                <a:cs typeface="Times New Roman"/>
              </a:rPr>
              <a:t>wt</a:t>
            </a:r>
            <a:r>
              <a:rPr sz="2100" i="1" spc="232" baseline="-19841" dirty="0">
                <a:latin typeface="Times New Roman"/>
                <a:cs typeface="Times New Roman"/>
              </a:rPr>
              <a:t> </a:t>
            </a:r>
            <a:r>
              <a:rPr sz="1950" spc="-330" dirty="0">
                <a:latin typeface="Lucida Sans Unicode"/>
                <a:cs typeface="Lucida Sans Unicode"/>
              </a:rPr>
              <a:t>∧</a:t>
            </a:r>
            <a:r>
              <a:rPr sz="1950" spc="-175" dirty="0">
                <a:latin typeface="Lucida Sans Unicode"/>
                <a:cs typeface="Lucida Sans Unicode"/>
              </a:rPr>
              <a:t> </a:t>
            </a:r>
            <a:r>
              <a:rPr sz="1950" spc="-100" dirty="0">
                <a:latin typeface="Century"/>
                <a:cs typeface="Century"/>
              </a:rPr>
              <a:t>45</a:t>
            </a:r>
            <a:r>
              <a:rPr sz="1950" spc="-105" dirty="0">
                <a:latin typeface="Century"/>
                <a:cs typeface="Century"/>
              </a:rPr>
              <a:t> </a:t>
            </a:r>
            <a:r>
              <a:rPr sz="1950" spc="175" dirty="0">
                <a:latin typeface="Century"/>
                <a:cs typeface="Century"/>
              </a:rPr>
              <a:t>+</a:t>
            </a:r>
            <a:endParaRPr sz="1950" dirty="0">
              <a:latin typeface="Century"/>
              <a:cs typeface="Century"/>
            </a:endParaRPr>
          </a:p>
        </p:txBody>
      </p:sp>
      <p:sp>
        <p:nvSpPr>
          <p:cNvPr id="94" name="object 94"/>
          <p:cNvSpPr txBox="1"/>
          <p:nvPr/>
        </p:nvSpPr>
        <p:spPr>
          <a:xfrm>
            <a:off x="4244443" y="5254948"/>
            <a:ext cx="1644650" cy="323850"/>
          </a:xfrm>
          <a:prstGeom prst="rect">
            <a:avLst/>
          </a:prstGeom>
        </p:spPr>
        <p:txBody>
          <a:bodyPr vert="horz" wrap="square" lIns="0" tIns="0" rIns="0" bIns="0" rtlCol="0">
            <a:spAutoFit/>
          </a:bodyPr>
          <a:lstStyle/>
          <a:p>
            <a:pPr marL="12700">
              <a:lnSpc>
                <a:spcPct val="100000"/>
              </a:lnSpc>
              <a:tabLst>
                <a:tab pos="1283970" algn="l"/>
              </a:tabLst>
            </a:pPr>
            <a:r>
              <a:rPr sz="2925" i="1" spc="-97" baseline="14245" dirty="0">
                <a:latin typeface="Times New Roman"/>
                <a:cs typeface="Times New Roman"/>
              </a:rPr>
              <a:t>x</a:t>
            </a:r>
            <a:r>
              <a:rPr sz="1400" i="1" spc="30" dirty="0">
                <a:latin typeface="Times New Roman"/>
                <a:cs typeface="Times New Roman"/>
              </a:rPr>
              <a:t>s</a:t>
            </a:r>
            <a:r>
              <a:rPr sz="1400" i="1" dirty="0">
                <a:latin typeface="Times New Roman"/>
                <a:cs typeface="Times New Roman"/>
              </a:rPr>
              <a:t>vt	</a:t>
            </a:r>
            <a:r>
              <a:rPr sz="2925" i="1" spc="-97" baseline="14245" dirty="0">
                <a:latin typeface="Times New Roman"/>
                <a:cs typeface="Times New Roman"/>
              </a:rPr>
              <a:t>x</a:t>
            </a:r>
            <a:r>
              <a:rPr sz="1400" i="1" spc="45" dirty="0">
                <a:latin typeface="Times New Roman"/>
                <a:cs typeface="Times New Roman"/>
              </a:rPr>
              <a:t>s</a:t>
            </a:r>
            <a:r>
              <a:rPr sz="1400" i="1" dirty="0">
                <a:latin typeface="Times New Roman"/>
                <a:cs typeface="Times New Roman"/>
              </a:rPr>
              <a:t>wt</a:t>
            </a:r>
            <a:endParaRPr sz="1400">
              <a:latin typeface="Times New Roman"/>
              <a:cs typeface="Times New Roman"/>
            </a:endParaRPr>
          </a:p>
        </p:txBody>
      </p:sp>
      <p:sp>
        <p:nvSpPr>
          <p:cNvPr id="95" name="object 95"/>
          <p:cNvSpPr txBox="1"/>
          <p:nvPr/>
        </p:nvSpPr>
        <p:spPr>
          <a:xfrm>
            <a:off x="4208503" y="5650664"/>
            <a:ext cx="1696085" cy="278130"/>
          </a:xfrm>
          <a:prstGeom prst="rect">
            <a:avLst/>
          </a:prstGeom>
        </p:spPr>
        <p:txBody>
          <a:bodyPr vert="horz" wrap="square" lIns="0" tIns="0" rIns="0" bIns="0" rtlCol="0">
            <a:spAutoFit/>
          </a:bodyPr>
          <a:lstStyle/>
          <a:p>
            <a:pPr marL="12700">
              <a:lnSpc>
                <a:spcPct val="100000"/>
              </a:lnSpc>
              <a:tabLst>
                <a:tab pos="1304290" algn="l"/>
              </a:tabLst>
            </a:pPr>
            <a:r>
              <a:rPr sz="1950" spc="-100" dirty="0">
                <a:latin typeface="Century"/>
                <a:cs typeface="Century"/>
              </a:rPr>
              <a:t>100	100</a:t>
            </a:r>
            <a:endParaRPr sz="1950">
              <a:latin typeface="Century"/>
              <a:cs typeface="Century"/>
            </a:endParaRPr>
          </a:p>
        </p:txBody>
      </p:sp>
      <p:sp>
        <p:nvSpPr>
          <p:cNvPr id="96" name="object 96"/>
          <p:cNvSpPr txBox="1"/>
          <p:nvPr/>
        </p:nvSpPr>
        <p:spPr>
          <a:xfrm>
            <a:off x="4695211" y="5461542"/>
            <a:ext cx="749300" cy="278130"/>
          </a:xfrm>
          <a:prstGeom prst="rect">
            <a:avLst/>
          </a:prstGeom>
        </p:spPr>
        <p:txBody>
          <a:bodyPr vert="horz" wrap="square" lIns="0" tIns="0" rIns="0" bIns="0" rtlCol="0">
            <a:spAutoFit/>
          </a:bodyPr>
          <a:lstStyle/>
          <a:p>
            <a:pPr marL="12700">
              <a:lnSpc>
                <a:spcPct val="100000"/>
              </a:lnSpc>
            </a:pPr>
            <a:r>
              <a:rPr sz="1950" spc="175" dirty="0">
                <a:latin typeface="Century"/>
                <a:cs typeface="Century"/>
              </a:rPr>
              <a:t>=</a:t>
            </a:r>
            <a:r>
              <a:rPr sz="1950" spc="5" dirty="0">
                <a:latin typeface="Century"/>
                <a:cs typeface="Century"/>
              </a:rPr>
              <a:t> </a:t>
            </a:r>
            <a:r>
              <a:rPr sz="1950" spc="-100" dirty="0">
                <a:latin typeface="Century"/>
                <a:cs typeface="Century"/>
              </a:rPr>
              <a:t>45</a:t>
            </a:r>
            <a:r>
              <a:rPr sz="1950" spc="-105" dirty="0">
                <a:latin typeface="Century"/>
                <a:cs typeface="Century"/>
              </a:rPr>
              <a:t> </a:t>
            </a:r>
            <a:r>
              <a:rPr sz="1950" spc="175" dirty="0">
                <a:latin typeface="Century"/>
                <a:cs typeface="Century"/>
              </a:rPr>
              <a:t>+</a:t>
            </a:r>
            <a:endParaRPr sz="1950">
              <a:latin typeface="Century"/>
              <a:cs typeface="Century"/>
            </a:endParaRPr>
          </a:p>
        </p:txBody>
      </p:sp>
      <p:sp>
        <p:nvSpPr>
          <p:cNvPr id="97" name="object 97"/>
          <p:cNvSpPr txBox="1"/>
          <p:nvPr/>
        </p:nvSpPr>
        <p:spPr>
          <a:xfrm>
            <a:off x="5986623" y="5443257"/>
            <a:ext cx="2972435" cy="323850"/>
          </a:xfrm>
          <a:prstGeom prst="rect">
            <a:avLst/>
          </a:prstGeom>
        </p:spPr>
        <p:txBody>
          <a:bodyPr vert="horz" wrap="square" lIns="0" tIns="0" rIns="0" bIns="0" rtlCol="0">
            <a:spAutoFit/>
          </a:bodyPr>
          <a:lstStyle/>
          <a:p>
            <a:pPr marL="12700">
              <a:lnSpc>
                <a:spcPct val="100000"/>
              </a:lnSpc>
            </a:pPr>
            <a:r>
              <a:rPr sz="1950" dirty="0">
                <a:latin typeface="Lucida Sans Unicode"/>
                <a:cs typeface="Lucida Sans Unicode"/>
              </a:rPr>
              <a:t>⇒</a:t>
            </a:r>
            <a:r>
              <a:rPr sz="1950" spc="-65" dirty="0">
                <a:latin typeface="Lucida Sans Unicode"/>
                <a:cs typeface="Lucida Sans Unicode"/>
              </a:rPr>
              <a:t> </a:t>
            </a:r>
            <a:r>
              <a:rPr sz="1950" i="1" spc="-65" dirty="0">
                <a:latin typeface="Times New Roman"/>
                <a:cs typeface="Times New Roman"/>
              </a:rPr>
              <a:t>x</a:t>
            </a:r>
            <a:r>
              <a:rPr sz="2100" i="1" spc="44" baseline="-19841" dirty="0">
                <a:latin typeface="Times New Roman"/>
                <a:cs typeface="Times New Roman"/>
              </a:rPr>
              <a:t>s</a:t>
            </a:r>
            <a:r>
              <a:rPr sz="2100" i="1" baseline="-19841" dirty="0">
                <a:latin typeface="Times New Roman"/>
                <a:cs typeface="Times New Roman"/>
              </a:rPr>
              <a:t>vt </a:t>
            </a:r>
            <a:r>
              <a:rPr sz="2100" i="1" spc="-179" baseline="-19841" dirty="0">
                <a:latin typeface="Times New Roman"/>
                <a:cs typeface="Times New Roman"/>
              </a:rPr>
              <a:t> </a:t>
            </a:r>
            <a:r>
              <a:rPr sz="1950" spc="175" dirty="0">
                <a:latin typeface="Century"/>
                <a:cs typeface="Century"/>
              </a:rPr>
              <a:t>=</a:t>
            </a:r>
            <a:r>
              <a:rPr sz="1950" spc="15" dirty="0">
                <a:latin typeface="Century"/>
                <a:cs typeface="Century"/>
              </a:rPr>
              <a:t> </a:t>
            </a:r>
            <a:r>
              <a:rPr sz="1950" i="1" spc="-65" dirty="0">
                <a:latin typeface="Times New Roman"/>
                <a:cs typeface="Times New Roman"/>
              </a:rPr>
              <a:t>x</a:t>
            </a:r>
            <a:r>
              <a:rPr sz="2100" i="1" spc="67" baseline="-19841" dirty="0">
                <a:latin typeface="Times New Roman"/>
                <a:cs typeface="Times New Roman"/>
              </a:rPr>
              <a:t>s</a:t>
            </a:r>
            <a:r>
              <a:rPr sz="2100" i="1" baseline="-19841" dirty="0">
                <a:latin typeface="Times New Roman"/>
                <a:cs typeface="Times New Roman"/>
              </a:rPr>
              <a:t>wt </a:t>
            </a:r>
            <a:r>
              <a:rPr sz="2100" i="1" spc="-179" baseline="-19841" dirty="0">
                <a:latin typeface="Times New Roman"/>
                <a:cs typeface="Times New Roman"/>
              </a:rPr>
              <a:t> </a:t>
            </a:r>
            <a:r>
              <a:rPr sz="1950" spc="175" dirty="0">
                <a:latin typeface="Century"/>
                <a:cs typeface="Century"/>
              </a:rPr>
              <a:t>=</a:t>
            </a:r>
            <a:r>
              <a:rPr sz="1950" spc="5" dirty="0">
                <a:latin typeface="Century"/>
                <a:cs typeface="Century"/>
              </a:rPr>
              <a:t> </a:t>
            </a:r>
            <a:r>
              <a:rPr sz="1950" spc="-100" dirty="0">
                <a:latin typeface="Century"/>
                <a:cs typeface="Century"/>
              </a:rPr>
              <a:t>2000</a:t>
            </a:r>
            <a:r>
              <a:rPr sz="1950" spc="125" dirty="0">
                <a:latin typeface="Century"/>
                <a:cs typeface="Century"/>
              </a:rPr>
              <a:t> </a:t>
            </a:r>
            <a:r>
              <a:rPr sz="1950" spc="-100" dirty="0">
                <a:latin typeface="Century"/>
                <a:cs typeface="Century"/>
              </a:rPr>
              <a:t>is</a:t>
            </a:r>
            <a:r>
              <a:rPr sz="1950" spc="114" dirty="0">
                <a:latin typeface="Century"/>
                <a:cs typeface="Century"/>
              </a:rPr>
              <a:t> </a:t>
            </a:r>
            <a:r>
              <a:rPr sz="1950" spc="-200" dirty="0">
                <a:latin typeface="Century"/>
                <a:cs typeface="Century"/>
              </a:rPr>
              <a:t>N</a:t>
            </a:r>
            <a:r>
              <a:rPr sz="1950" spc="-185" dirty="0">
                <a:latin typeface="Century"/>
                <a:cs typeface="Century"/>
              </a:rPr>
              <a:t>ash</a:t>
            </a:r>
            <a:endParaRPr sz="1950">
              <a:latin typeface="Century"/>
              <a:cs typeface="Century"/>
            </a:endParaRPr>
          </a:p>
        </p:txBody>
      </p:sp>
      <p:sp>
        <p:nvSpPr>
          <p:cNvPr id="98" name="Rectangle 97">
            <a:extLst>
              <a:ext uri="{FF2B5EF4-FFF2-40B4-BE49-F238E27FC236}">
                <a16:creationId xmlns:a16="http://schemas.microsoft.com/office/drawing/2014/main" id="{8177E259-F50C-4068-5A20-0A6BBDCDEAB3}"/>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Rectangle 98">
            <a:extLst>
              <a:ext uri="{FF2B5EF4-FFF2-40B4-BE49-F238E27FC236}">
                <a16:creationId xmlns:a16="http://schemas.microsoft.com/office/drawing/2014/main" id="{F52F29B1-4FDB-B7C9-0385-77BF093372A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Slide Number Placeholder 8">
            <a:extLst>
              <a:ext uri="{FF2B5EF4-FFF2-40B4-BE49-F238E27FC236}">
                <a16:creationId xmlns:a16="http://schemas.microsoft.com/office/drawing/2014/main" id="{37CD95DB-5FBD-F86B-0E58-160541E7AF0D}"/>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11</a:t>
            </a:fld>
            <a:r>
              <a:rPr lang="en-US" sz="2000" dirty="0">
                <a:solidFill>
                  <a:prstClr val="black"/>
                </a:solidFill>
                <a:latin typeface="Comic Sans MS"/>
                <a:sym typeface="Comic Sans MS"/>
              </a:rPr>
              <a:t>/59</a:t>
            </a:r>
          </a:p>
        </p:txBody>
      </p:sp>
      <p:sp>
        <p:nvSpPr>
          <p:cNvPr id="101" name="Footer Placeholder 9">
            <a:extLst>
              <a:ext uri="{FF2B5EF4-FFF2-40B4-BE49-F238E27FC236}">
                <a16:creationId xmlns:a16="http://schemas.microsoft.com/office/drawing/2014/main" id="{1BA54925-7D44-69F5-E5F2-188CA0C66BD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2" name="Rectangle 101">
            <a:extLst>
              <a:ext uri="{FF2B5EF4-FFF2-40B4-BE49-F238E27FC236}">
                <a16:creationId xmlns:a16="http://schemas.microsoft.com/office/drawing/2014/main" id="{69E83777-D10D-951A-EC84-48380C78D03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221615" y="574571"/>
            <a:ext cx="5606415" cy="431800"/>
          </a:xfrm>
          <a:prstGeom prst="rect">
            <a:avLst/>
          </a:prstGeom>
        </p:spPr>
        <p:txBody>
          <a:bodyPr vert="horz" wrap="square" lIns="0" tIns="0" rIns="0" bIns="0" rtlCol="0">
            <a:spAutoFit/>
          </a:bodyPr>
          <a:lstStyle/>
          <a:p>
            <a:pPr marL="12700">
              <a:lnSpc>
                <a:spcPct val="100000"/>
              </a:lnSpc>
            </a:pPr>
            <a:r>
              <a:rPr sz="3200" dirty="0">
                <a:latin typeface="Arial"/>
                <a:cs typeface="Arial"/>
              </a:rPr>
              <a:t>Learning</a:t>
            </a:r>
            <a:r>
              <a:rPr sz="3200" spc="-5" dirty="0">
                <a:latin typeface="Arial"/>
                <a:cs typeface="Arial"/>
              </a:rPr>
              <a:t> </a:t>
            </a:r>
            <a:r>
              <a:rPr sz="3200" dirty="0">
                <a:latin typeface="Arial"/>
                <a:cs typeface="Arial"/>
              </a:rPr>
              <a:t>in</a:t>
            </a:r>
            <a:r>
              <a:rPr sz="3200" spc="-5" dirty="0">
                <a:latin typeface="Arial"/>
                <a:cs typeface="Arial"/>
              </a:rPr>
              <a:t> </a:t>
            </a:r>
            <a:r>
              <a:rPr sz="3200" dirty="0">
                <a:latin typeface="Arial"/>
                <a:cs typeface="Arial"/>
              </a:rPr>
              <a:t>Popula</a:t>
            </a:r>
            <a:r>
              <a:rPr sz="3200" spc="-15" dirty="0">
                <a:latin typeface="Arial"/>
                <a:cs typeface="Arial"/>
              </a:rPr>
              <a:t>t</a:t>
            </a:r>
            <a:r>
              <a:rPr sz="3200" dirty="0">
                <a:latin typeface="Arial"/>
                <a:cs typeface="Arial"/>
              </a:rPr>
              <a:t>ions</a:t>
            </a:r>
            <a:r>
              <a:rPr sz="3200" spc="-5" dirty="0">
                <a:latin typeface="Arial"/>
                <a:cs typeface="Arial"/>
              </a:rPr>
              <a:t> </a:t>
            </a:r>
            <a:r>
              <a:rPr sz="3200" dirty="0">
                <a:latin typeface="Arial"/>
                <a:cs typeface="Arial"/>
              </a:rPr>
              <a:t>games</a:t>
            </a:r>
          </a:p>
        </p:txBody>
      </p:sp>
      <p:sp>
        <p:nvSpPr>
          <p:cNvPr id="6" name="object 6"/>
          <p:cNvSpPr txBox="1"/>
          <p:nvPr/>
        </p:nvSpPr>
        <p:spPr>
          <a:xfrm>
            <a:off x="215493" y="2731103"/>
            <a:ext cx="7957184" cy="1943100"/>
          </a:xfrm>
          <a:prstGeom prst="rect">
            <a:avLst/>
          </a:prstGeom>
        </p:spPr>
        <p:txBody>
          <a:bodyPr vert="horz" wrap="square" lIns="0" tIns="0" rIns="0" bIns="0" rtlCol="0">
            <a:spAutoFit/>
          </a:bodyPr>
          <a:lstStyle/>
          <a:p>
            <a:pPr marL="12700" marR="883919">
              <a:lnSpc>
                <a:spcPts val="3100"/>
              </a:lnSpc>
            </a:pPr>
            <a:r>
              <a:rPr sz="2700" i="1" spc="-25" dirty="0">
                <a:latin typeface="Times New Roman"/>
                <a:cs typeface="Times New Roman"/>
              </a:rPr>
              <a:t>M</a:t>
            </a:r>
            <a:r>
              <a:rPr sz="2700" i="1" spc="-20" dirty="0">
                <a:latin typeface="Times New Roman"/>
                <a:cs typeface="Times New Roman"/>
              </a:rPr>
              <a:t>y</a:t>
            </a:r>
            <a:r>
              <a:rPr sz="2700" i="1" spc="-15" dirty="0">
                <a:latin typeface="Times New Roman"/>
                <a:cs typeface="Times New Roman"/>
              </a:rPr>
              <a:t>opic</a:t>
            </a:r>
            <a:r>
              <a:rPr sz="2700" i="1" spc="-5" dirty="0">
                <a:latin typeface="Times New Roman"/>
                <a:cs typeface="Times New Roman"/>
              </a:rPr>
              <a:t> </a:t>
            </a:r>
            <a:r>
              <a:rPr sz="2700" i="1" spc="-15" dirty="0">
                <a:latin typeface="Times New Roman"/>
                <a:cs typeface="Times New Roman"/>
              </a:rPr>
              <a:t>b</a:t>
            </a:r>
            <a:r>
              <a:rPr sz="2700" i="1" spc="-20" dirty="0">
                <a:latin typeface="Times New Roman"/>
                <a:cs typeface="Times New Roman"/>
              </a:rPr>
              <a:t>e</a:t>
            </a:r>
            <a:r>
              <a:rPr sz="2700" i="1" dirty="0">
                <a:latin typeface="Times New Roman"/>
                <a:cs typeface="Times New Roman"/>
              </a:rPr>
              <a:t>s</a:t>
            </a:r>
            <a:r>
              <a:rPr sz="2700" i="1" spc="-10" dirty="0">
                <a:latin typeface="Times New Roman"/>
                <a:cs typeface="Times New Roman"/>
              </a:rPr>
              <a:t>t</a:t>
            </a:r>
            <a:r>
              <a:rPr sz="2700" i="1" dirty="0">
                <a:latin typeface="Times New Roman"/>
                <a:cs typeface="Times New Roman"/>
              </a:rPr>
              <a:t> </a:t>
            </a:r>
            <a:r>
              <a:rPr sz="2700" i="1" spc="-100" dirty="0">
                <a:latin typeface="Times New Roman"/>
                <a:cs typeface="Times New Roman"/>
              </a:rPr>
              <a:t>r</a:t>
            </a:r>
            <a:r>
              <a:rPr sz="2700" i="1" spc="-20" dirty="0">
                <a:latin typeface="Times New Roman"/>
                <a:cs typeface="Times New Roman"/>
              </a:rPr>
              <a:t>e</a:t>
            </a:r>
            <a:r>
              <a:rPr sz="2700" i="1" dirty="0">
                <a:latin typeface="Times New Roman"/>
                <a:cs typeface="Times New Roman"/>
              </a:rPr>
              <a:t>spons</a:t>
            </a:r>
            <a:r>
              <a:rPr sz="2700" i="1" spc="-15" dirty="0">
                <a:latin typeface="Times New Roman"/>
                <a:cs typeface="Times New Roman"/>
              </a:rPr>
              <a:t>e</a:t>
            </a:r>
            <a:r>
              <a:rPr sz="2700" i="1" dirty="0">
                <a:latin typeface="Times New Roman"/>
                <a:cs typeface="Times New Roman"/>
              </a:rPr>
              <a:t> </a:t>
            </a:r>
            <a:r>
              <a:rPr sz="2700" spc="-10" dirty="0">
                <a:latin typeface="Times New Roman"/>
                <a:cs typeface="Times New Roman"/>
              </a:rPr>
              <a:t>i</a:t>
            </a:r>
            <a:r>
              <a:rPr sz="2700" dirty="0">
                <a:latin typeface="Times New Roman"/>
                <a:cs typeface="Times New Roman"/>
              </a:rPr>
              <a:t>s </a:t>
            </a:r>
            <a:r>
              <a:rPr sz="2700" spc="-15" dirty="0">
                <a:latin typeface="Times New Roman"/>
                <a:cs typeface="Times New Roman"/>
              </a:rPr>
              <a:t>one</a:t>
            </a:r>
            <a:r>
              <a:rPr sz="2700" spc="-5" dirty="0">
                <a:latin typeface="Times New Roman"/>
                <a:cs typeface="Times New Roman"/>
              </a:rPr>
              <a:t> </a:t>
            </a:r>
            <a:r>
              <a:rPr sz="2700" spc="-15" dirty="0">
                <a:latin typeface="Times New Roman"/>
                <a:cs typeface="Times New Roman"/>
              </a:rPr>
              <a:t>p</a:t>
            </a:r>
            <a:r>
              <a:rPr sz="2700" spc="-20" dirty="0">
                <a:latin typeface="Times New Roman"/>
                <a:cs typeface="Times New Roman"/>
              </a:rPr>
              <a:t>a</a:t>
            </a:r>
            <a:r>
              <a:rPr sz="2700" spc="-10" dirty="0">
                <a:latin typeface="Times New Roman"/>
                <a:cs typeface="Times New Roman"/>
              </a:rPr>
              <a:t>rti</a:t>
            </a:r>
            <a:r>
              <a:rPr sz="2700" spc="-20" dirty="0">
                <a:latin typeface="Times New Roman"/>
                <a:cs typeface="Times New Roman"/>
              </a:rPr>
              <a:t>c</a:t>
            </a:r>
            <a:r>
              <a:rPr sz="2700" spc="-15" dirty="0">
                <a:latin typeface="Times New Roman"/>
                <a:cs typeface="Times New Roman"/>
              </a:rPr>
              <a:t>ul</a:t>
            </a:r>
            <a:r>
              <a:rPr sz="2700" spc="-20" dirty="0">
                <a:latin typeface="Times New Roman"/>
                <a:cs typeface="Times New Roman"/>
              </a:rPr>
              <a:t>a</a:t>
            </a:r>
            <a:r>
              <a:rPr sz="2700" dirty="0">
                <a:latin typeface="Times New Roman"/>
                <a:cs typeface="Times New Roman"/>
              </a:rPr>
              <a:t>r </a:t>
            </a:r>
            <a:r>
              <a:rPr sz="2700" spc="-15" dirty="0">
                <a:latin typeface="Times New Roman"/>
                <a:cs typeface="Times New Roman"/>
              </a:rPr>
              <a:t>form</a:t>
            </a:r>
            <a:r>
              <a:rPr sz="2700" dirty="0">
                <a:latin typeface="Times New Roman"/>
                <a:cs typeface="Times New Roman"/>
              </a:rPr>
              <a:t> of how </a:t>
            </a:r>
            <a:r>
              <a:rPr sz="2700" spc="-15" dirty="0">
                <a:latin typeface="Times New Roman"/>
                <a:cs typeface="Times New Roman"/>
              </a:rPr>
              <a:t>a</a:t>
            </a:r>
            <a:r>
              <a:rPr sz="2700" spc="-5" dirty="0">
                <a:latin typeface="Times New Roman"/>
                <a:cs typeface="Times New Roman"/>
              </a:rPr>
              <a:t> </a:t>
            </a:r>
            <a:r>
              <a:rPr sz="2700" spc="-15" dirty="0">
                <a:latin typeface="Times New Roman"/>
                <a:cs typeface="Times New Roman"/>
              </a:rPr>
              <a:t>popul</a:t>
            </a:r>
            <a:r>
              <a:rPr sz="2700" spc="-20" dirty="0">
                <a:latin typeface="Times New Roman"/>
                <a:cs typeface="Times New Roman"/>
              </a:rPr>
              <a:t>a</a:t>
            </a:r>
            <a:r>
              <a:rPr sz="2700" spc="-10" dirty="0">
                <a:latin typeface="Times New Roman"/>
                <a:cs typeface="Times New Roman"/>
              </a:rPr>
              <a:t>ti</a:t>
            </a:r>
            <a:r>
              <a:rPr sz="2700" dirty="0">
                <a:latin typeface="Times New Roman"/>
                <a:cs typeface="Times New Roman"/>
              </a:rPr>
              <a:t>on </a:t>
            </a:r>
            <a:r>
              <a:rPr sz="2700" spc="-20" dirty="0">
                <a:latin typeface="Times New Roman"/>
                <a:cs typeface="Times New Roman"/>
              </a:rPr>
              <a:t>ca</a:t>
            </a:r>
            <a:r>
              <a:rPr sz="2700" dirty="0">
                <a:latin typeface="Times New Roman"/>
                <a:cs typeface="Times New Roman"/>
              </a:rPr>
              <a:t>n </a:t>
            </a:r>
            <a:r>
              <a:rPr sz="2700" spc="-10" dirty="0">
                <a:latin typeface="Times New Roman"/>
                <a:cs typeface="Times New Roman"/>
              </a:rPr>
              <a:t>l</a:t>
            </a:r>
            <a:r>
              <a:rPr sz="2700" spc="-20" dirty="0">
                <a:latin typeface="Times New Roman"/>
                <a:cs typeface="Times New Roman"/>
              </a:rPr>
              <a:t>ea</a:t>
            </a:r>
            <a:r>
              <a:rPr sz="2700" dirty="0">
                <a:latin typeface="Times New Roman"/>
                <a:cs typeface="Times New Roman"/>
              </a:rPr>
              <a:t>rn </a:t>
            </a:r>
            <a:r>
              <a:rPr sz="2700" spc="-20" dirty="0">
                <a:latin typeface="Times New Roman"/>
                <a:cs typeface="Times New Roman"/>
              </a:rPr>
              <a:t>“</a:t>
            </a:r>
            <a:r>
              <a:rPr sz="2700" spc="-10" dirty="0">
                <a:latin typeface="Times New Roman"/>
                <a:cs typeface="Times New Roman"/>
              </a:rPr>
              <a:t>t</a:t>
            </a:r>
            <a:r>
              <a:rPr sz="2700" dirty="0">
                <a:latin typeface="Times New Roman"/>
                <a:cs typeface="Times New Roman"/>
              </a:rPr>
              <a:t>o </a:t>
            </a:r>
            <a:r>
              <a:rPr sz="2700" spc="-15" dirty="0">
                <a:latin typeface="Times New Roman"/>
                <a:cs typeface="Times New Roman"/>
              </a:rPr>
              <a:t>pl</a:t>
            </a:r>
            <a:r>
              <a:rPr sz="2700" spc="-20" dirty="0">
                <a:latin typeface="Times New Roman"/>
                <a:cs typeface="Times New Roman"/>
              </a:rPr>
              <a:t>a</a:t>
            </a:r>
            <a:r>
              <a:rPr sz="2700" dirty="0">
                <a:latin typeface="Times New Roman"/>
                <a:cs typeface="Times New Roman"/>
              </a:rPr>
              <a:t>y </a:t>
            </a:r>
            <a:r>
              <a:rPr sz="2700" spc="-15" dirty="0">
                <a:latin typeface="Times New Roman"/>
                <a:cs typeface="Times New Roman"/>
              </a:rPr>
              <a:t>tog</a:t>
            </a:r>
            <a:r>
              <a:rPr sz="2700" spc="-20" dirty="0">
                <a:latin typeface="Times New Roman"/>
                <a:cs typeface="Times New Roman"/>
              </a:rPr>
              <a:t>e</a:t>
            </a:r>
            <a:r>
              <a:rPr sz="2700" spc="-15" dirty="0">
                <a:latin typeface="Times New Roman"/>
                <a:cs typeface="Times New Roman"/>
              </a:rPr>
              <a:t>th</a:t>
            </a:r>
            <a:r>
              <a:rPr sz="2700" spc="-20" dirty="0">
                <a:latin typeface="Times New Roman"/>
                <a:cs typeface="Times New Roman"/>
              </a:rPr>
              <a:t>e</a:t>
            </a:r>
            <a:r>
              <a:rPr sz="2700" spc="-150" dirty="0">
                <a:latin typeface="Times New Roman"/>
                <a:cs typeface="Times New Roman"/>
              </a:rPr>
              <a:t>r</a:t>
            </a:r>
            <a:r>
              <a:rPr sz="2700" spc="-10" dirty="0">
                <a:latin typeface="Times New Roman"/>
                <a:cs typeface="Times New Roman"/>
              </a:rPr>
              <a:t>.”</a:t>
            </a:r>
            <a:endParaRPr sz="2700" dirty="0">
              <a:latin typeface="Times New Roman"/>
              <a:cs typeface="Times New Roman"/>
            </a:endParaRPr>
          </a:p>
          <a:p>
            <a:pPr>
              <a:lnSpc>
                <a:spcPct val="100000"/>
              </a:lnSpc>
              <a:spcBef>
                <a:spcPts val="52"/>
              </a:spcBef>
            </a:pPr>
            <a:endParaRPr sz="2650" dirty="0">
              <a:latin typeface="Times New Roman"/>
              <a:cs typeface="Times New Roman"/>
            </a:endParaRPr>
          </a:p>
          <a:p>
            <a:pPr marL="12700" marR="5080">
              <a:lnSpc>
                <a:spcPts val="3100"/>
              </a:lnSpc>
            </a:pPr>
            <a:r>
              <a:rPr sz="2700" spc="-35" dirty="0">
                <a:latin typeface="Times New Roman"/>
                <a:cs typeface="Times New Roman"/>
              </a:rPr>
              <a:t>W</a:t>
            </a:r>
            <a:r>
              <a:rPr sz="2700" spc="-15" dirty="0">
                <a:latin typeface="Times New Roman"/>
                <a:cs typeface="Times New Roman"/>
              </a:rPr>
              <a:t>h</a:t>
            </a:r>
            <a:r>
              <a:rPr sz="2700" spc="-20" dirty="0">
                <a:latin typeface="Times New Roman"/>
                <a:cs typeface="Times New Roman"/>
              </a:rPr>
              <a:t>a</a:t>
            </a:r>
            <a:r>
              <a:rPr sz="2700" spc="-10" dirty="0">
                <a:latin typeface="Times New Roman"/>
                <a:cs typeface="Times New Roman"/>
              </a:rPr>
              <a:t>t</a:t>
            </a:r>
            <a:r>
              <a:rPr sz="2700" dirty="0">
                <a:latin typeface="Times New Roman"/>
                <a:cs typeface="Times New Roman"/>
              </a:rPr>
              <a:t> </a:t>
            </a:r>
            <a:r>
              <a:rPr sz="2700" spc="-15" dirty="0">
                <a:latin typeface="Times New Roman"/>
                <a:cs typeface="Times New Roman"/>
              </a:rPr>
              <a:t>h</a:t>
            </a:r>
            <a:r>
              <a:rPr sz="2700" spc="-20" dirty="0">
                <a:latin typeface="Times New Roman"/>
                <a:cs typeface="Times New Roman"/>
              </a:rPr>
              <a:t>a</a:t>
            </a:r>
            <a:r>
              <a:rPr sz="2700" spc="-15" dirty="0">
                <a:latin typeface="Times New Roman"/>
                <a:cs typeface="Times New Roman"/>
              </a:rPr>
              <a:t>pp</a:t>
            </a:r>
            <a:r>
              <a:rPr sz="2700" spc="-20" dirty="0">
                <a:latin typeface="Times New Roman"/>
                <a:cs typeface="Times New Roman"/>
              </a:rPr>
              <a:t>e</a:t>
            </a:r>
            <a:r>
              <a:rPr sz="2700" dirty="0">
                <a:latin typeface="Times New Roman"/>
                <a:cs typeface="Times New Roman"/>
              </a:rPr>
              <a:t>ns </a:t>
            </a:r>
            <a:r>
              <a:rPr sz="2700" spc="-10" dirty="0">
                <a:latin typeface="Times New Roman"/>
                <a:cs typeface="Times New Roman"/>
              </a:rPr>
              <a:t>i</a:t>
            </a:r>
            <a:r>
              <a:rPr sz="2700" dirty="0">
                <a:latin typeface="Times New Roman"/>
                <a:cs typeface="Times New Roman"/>
              </a:rPr>
              <a:t>f w</a:t>
            </a:r>
            <a:r>
              <a:rPr sz="2700" spc="-15" dirty="0">
                <a:latin typeface="Times New Roman"/>
                <a:cs typeface="Times New Roman"/>
              </a:rPr>
              <a:t>e</a:t>
            </a:r>
            <a:r>
              <a:rPr sz="2700" spc="-5" dirty="0">
                <a:latin typeface="Times New Roman"/>
                <a:cs typeface="Times New Roman"/>
              </a:rPr>
              <a:t> </a:t>
            </a:r>
            <a:r>
              <a:rPr sz="2700" spc="-20" dirty="0">
                <a:latin typeface="Times New Roman"/>
                <a:cs typeface="Times New Roman"/>
              </a:rPr>
              <a:t>a</a:t>
            </a:r>
            <a:r>
              <a:rPr sz="2700" spc="-15" dirty="0">
                <a:latin typeface="Times New Roman"/>
                <a:cs typeface="Times New Roman"/>
              </a:rPr>
              <a:t>ppl</a:t>
            </a:r>
            <a:r>
              <a:rPr sz="2700" dirty="0">
                <a:latin typeface="Times New Roman"/>
                <a:cs typeface="Times New Roman"/>
              </a:rPr>
              <a:t>y our </a:t>
            </a:r>
            <a:r>
              <a:rPr sz="2700" spc="-15" dirty="0">
                <a:latin typeface="Times New Roman"/>
                <a:cs typeface="Times New Roman"/>
              </a:rPr>
              <a:t>pr</a:t>
            </a:r>
            <a:r>
              <a:rPr sz="2700" spc="-20" dirty="0">
                <a:latin typeface="Times New Roman"/>
                <a:cs typeface="Times New Roman"/>
              </a:rPr>
              <a:t>e</a:t>
            </a:r>
            <a:r>
              <a:rPr sz="2700" spc="-15" dirty="0">
                <a:latin typeface="Times New Roman"/>
                <a:cs typeface="Times New Roman"/>
              </a:rPr>
              <a:t>vi</a:t>
            </a:r>
            <a:r>
              <a:rPr sz="2700" dirty="0">
                <a:latin typeface="Times New Roman"/>
                <a:cs typeface="Times New Roman"/>
              </a:rPr>
              <a:t>ous </a:t>
            </a:r>
            <a:r>
              <a:rPr sz="2700" spc="-15" dirty="0">
                <a:latin typeface="Times New Roman"/>
                <a:cs typeface="Times New Roman"/>
              </a:rPr>
              <a:t>th</a:t>
            </a:r>
            <a:r>
              <a:rPr sz="2700" spc="-20" dirty="0">
                <a:latin typeface="Times New Roman"/>
                <a:cs typeface="Times New Roman"/>
              </a:rPr>
              <a:t>e</a:t>
            </a:r>
            <a:r>
              <a:rPr sz="2700" dirty="0">
                <a:latin typeface="Times New Roman"/>
                <a:cs typeface="Times New Roman"/>
              </a:rPr>
              <a:t>ory of </a:t>
            </a:r>
            <a:r>
              <a:rPr sz="2700" spc="-10" dirty="0">
                <a:latin typeface="Times New Roman"/>
                <a:cs typeface="Times New Roman"/>
              </a:rPr>
              <a:t>l</a:t>
            </a:r>
            <a:r>
              <a:rPr sz="2700" spc="-20" dirty="0">
                <a:latin typeface="Times New Roman"/>
                <a:cs typeface="Times New Roman"/>
              </a:rPr>
              <a:t>ea</a:t>
            </a:r>
            <a:r>
              <a:rPr sz="2700" spc="-10" dirty="0">
                <a:latin typeface="Times New Roman"/>
                <a:cs typeface="Times New Roman"/>
              </a:rPr>
              <a:t>rni</a:t>
            </a:r>
            <a:r>
              <a:rPr sz="2700" dirty="0">
                <a:latin typeface="Times New Roman"/>
                <a:cs typeface="Times New Roman"/>
              </a:rPr>
              <a:t>ng </a:t>
            </a:r>
            <a:r>
              <a:rPr sz="2700" spc="-10" dirty="0">
                <a:latin typeface="Times New Roman"/>
                <a:cs typeface="Times New Roman"/>
              </a:rPr>
              <a:t>(r</a:t>
            </a:r>
            <a:r>
              <a:rPr sz="2700" spc="-20" dirty="0">
                <a:latin typeface="Times New Roman"/>
                <a:cs typeface="Times New Roman"/>
              </a:rPr>
              <a:t>e</a:t>
            </a:r>
            <a:r>
              <a:rPr sz="2700" spc="-15" dirty="0">
                <a:latin typeface="Times New Roman"/>
                <a:cs typeface="Times New Roman"/>
              </a:rPr>
              <a:t>infor</a:t>
            </a:r>
            <a:r>
              <a:rPr sz="2700" spc="-20" dirty="0">
                <a:latin typeface="Times New Roman"/>
                <a:cs typeface="Times New Roman"/>
              </a:rPr>
              <a:t>ce</a:t>
            </a:r>
            <a:r>
              <a:rPr sz="2700" spc="-25" dirty="0">
                <a:latin typeface="Times New Roman"/>
                <a:cs typeface="Times New Roman"/>
              </a:rPr>
              <a:t>m</a:t>
            </a:r>
            <a:r>
              <a:rPr sz="2700" spc="-20" dirty="0">
                <a:latin typeface="Times New Roman"/>
                <a:cs typeface="Times New Roman"/>
              </a:rPr>
              <a:t>e</a:t>
            </a:r>
            <a:r>
              <a:rPr sz="2700" spc="-15" dirty="0">
                <a:latin typeface="Times New Roman"/>
                <a:cs typeface="Times New Roman"/>
              </a:rPr>
              <a:t>nt</a:t>
            </a:r>
            <a:r>
              <a:rPr sz="2700" dirty="0">
                <a:latin typeface="Times New Roman"/>
                <a:cs typeface="Times New Roman"/>
              </a:rPr>
              <a:t> </a:t>
            </a:r>
            <a:r>
              <a:rPr sz="2700" spc="-10" dirty="0">
                <a:latin typeface="Times New Roman"/>
                <a:cs typeface="Times New Roman"/>
              </a:rPr>
              <a:t>l</a:t>
            </a:r>
            <a:r>
              <a:rPr sz="2700" spc="-20" dirty="0">
                <a:latin typeface="Times New Roman"/>
                <a:cs typeface="Times New Roman"/>
              </a:rPr>
              <a:t>ea</a:t>
            </a:r>
            <a:r>
              <a:rPr sz="2700" spc="-10" dirty="0">
                <a:latin typeface="Times New Roman"/>
                <a:cs typeface="Times New Roman"/>
              </a:rPr>
              <a:t>rni</a:t>
            </a:r>
            <a:r>
              <a:rPr sz="2700" dirty="0">
                <a:latin typeface="Times New Roman"/>
                <a:cs typeface="Times New Roman"/>
              </a:rPr>
              <a:t>ng) </a:t>
            </a:r>
            <a:r>
              <a:rPr sz="2700" spc="-10" dirty="0">
                <a:latin typeface="Times New Roman"/>
                <a:cs typeface="Times New Roman"/>
              </a:rPr>
              <a:t>i</a:t>
            </a:r>
            <a:r>
              <a:rPr sz="2700" dirty="0">
                <a:latin typeface="Times New Roman"/>
                <a:cs typeface="Times New Roman"/>
              </a:rPr>
              <a:t>n </a:t>
            </a:r>
            <a:r>
              <a:rPr sz="2700" spc="-15" dirty="0">
                <a:latin typeface="Times New Roman"/>
                <a:cs typeface="Times New Roman"/>
              </a:rPr>
              <a:t>a</a:t>
            </a:r>
            <a:r>
              <a:rPr sz="2700" spc="-5" dirty="0">
                <a:latin typeface="Times New Roman"/>
                <a:cs typeface="Times New Roman"/>
              </a:rPr>
              <a:t> </a:t>
            </a:r>
            <a:r>
              <a:rPr sz="2700" spc="-15" dirty="0">
                <a:latin typeface="Times New Roman"/>
                <a:cs typeface="Times New Roman"/>
              </a:rPr>
              <a:t>popul</a:t>
            </a:r>
            <a:r>
              <a:rPr sz="2700" spc="-20" dirty="0">
                <a:latin typeface="Times New Roman"/>
                <a:cs typeface="Times New Roman"/>
              </a:rPr>
              <a:t>a</a:t>
            </a:r>
            <a:r>
              <a:rPr sz="2700" spc="-10" dirty="0">
                <a:latin typeface="Times New Roman"/>
                <a:cs typeface="Times New Roman"/>
              </a:rPr>
              <a:t>ti</a:t>
            </a:r>
            <a:r>
              <a:rPr sz="2700" dirty="0">
                <a:latin typeface="Times New Roman"/>
                <a:cs typeface="Times New Roman"/>
              </a:rPr>
              <a:t>on of </a:t>
            </a:r>
            <a:r>
              <a:rPr sz="2700" spc="-20" dirty="0">
                <a:latin typeface="Times New Roman"/>
                <a:cs typeface="Times New Roman"/>
              </a:rPr>
              <a:t>a</a:t>
            </a:r>
            <a:r>
              <a:rPr sz="2700" spc="-15" dirty="0">
                <a:latin typeface="Times New Roman"/>
                <a:cs typeface="Times New Roman"/>
              </a:rPr>
              <a:t>g</a:t>
            </a:r>
            <a:r>
              <a:rPr sz="2700" spc="-20" dirty="0">
                <a:latin typeface="Times New Roman"/>
                <a:cs typeface="Times New Roman"/>
              </a:rPr>
              <a:t>e</a:t>
            </a:r>
            <a:r>
              <a:rPr sz="2700" spc="-15" dirty="0">
                <a:latin typeface="Times New Roman"/>
                <a:cs typeface="Times New Roman"/>
              </a:rPr>
              <a:t>nt</a:t>
            </a:r>
            <a:r>
              <a:rPr sz="2700" dirty="0">
                <a:latin typeface="Times New Roman"/>
                <a:cs typeface="Times New Roman"/>
              </a:rPr>
              <a:t>s</a:t>
            </a:r>
            <a:r>
              <a:rPr sz="2700" spc="-15" dirty="0">
                <a:latin typeface="Times New Roman"/>
                <a:cs typeface="Times New Roman"/>
              </a:rPr>
              <a:t>?</a:t>
            </a:r>
            <a:endParaRPr sz="2700" dirty="0">
              <a:latin typeface="Times New Roman"/>
              <a:cs typeface="Times New Roman"/>
            </a:endParaRPr>
          </a:p>
        </p:txBody>
      </p:sp>
      <p:sp>
        <p:nvSpPr>
          <p:cNvPr id="3" name="Rectangle 2">
            <a:extLst>
              <a:ext uri="{FF2B5EF4-FFF2-40B4-BE49-F238E27FC236}">
                <a16:creationId xmlns:a16="http://schemas.microsoft.com/office/drawing/2014/main" id="{9728D95B-779A-54E4-4523-553F21CE9D7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FF05D53B-EA29-ABD5-AEA9-718F3B115BC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06826B44-DD27-F650-DF90-4080EB52AB41}"/>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12</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AADDFE34-1F4B-D9FE-4AAC-AFCE578CCF1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9A7E0113-0381-1E4E-5F90-976B23F83D0D}"/>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7"/>
            <a:ext cx="9144000" cy="5016500"/>
          </a:xfrm>
          <a:custGeom>
            <a:avLst/>
            <a:gdLst/>
            <a:ahLst/>
            <a:cxnLst/>
            <a:rect l="l" t="t" r="r" b="b"/>
            <a:pathLst>
              <a:path w="9144000" h="5016500">
                <a:moveTo>
                  <a:pt x="0" y="0"/>
                </a:moveTo>
                <a:lnTo>
                  <a:pt x="0" y="5015981"/>
                </a:lnTo>
                <a:lnTo>
                  <a:pt x="9143999"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2"/>
                </a:lnTo>
                <a:lnTo>
                  <a:pt x="107903" y="2102528"/>
                </a:lnTo>
                <a:lnTo>
                  <a:pt x="150829" y="2139351"/>
                </a:lnTo>
                <a:lnTo>
                  <a:pt x="199101" y="2169311"/>
                </a:lnTo>
                <a:lnTo>
                  <a:pt x="201644"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6" name="object 6"/>
          <p:cNvSpPr txBox="1"/>
          <p:nvPr/>
        </p:nvSpPr>
        <p:spPr>
          <a:xfrm>
            <a:off x="0" y="234315"/>
            <a:ext cx="9431842" cy="492443"/>
          </a:xfrm>
          <a:prstGeom prst="rect">
            <a:avLst/>
          </a:prstGeom>
        </p:spPr>
        <p:txBody>
          <a:bodyPr vert="horz" wrap="square" lIns="0" tIns="0" rIns="0" bIns="0" rtlCol="0">
            <a:spAutoFit/>
          </a:bodyPr>
          <a:lstStyle/>
          <a:p>
            <a:pPr marL="12700">
              <a:lnSpc>
                <a:spcPct val="100000"/>
              </a:lnSpc>
            </a:pPr>
            <a:r>
              <a:rPr sz="3200" spc="-15" dirty="0">
                <a:latin typeface="Arial"/>
                <a:cs typeface="Arial"/>
              </a:rPr>
              <a:t>I</a:t>
            </a:r>
            <a:r>
              <a:rPr sz="3200" dirty="0">
                <a:latin typeface="Arial"/>
                <a:cs typeface="Arial"/>
              </a:rPr>
              <a:t>ndividual</a:t>
            </a:r>
            <a:r>
              <a:rPr sz="3200" spc="-5" dirty="0">
                <a:latin typeface="Arial"/>
                <a:cs typeface="Arial"/>
              </a:rPr>
              <a:t> </a:t>
            </a:r>
            <a:r>
              <a:rPr sz="3200" dirty="0">
                <a:latin typeface="Arial"/>
                <a:cs typeface="Arial"/>
              </a:rPr>
              <a:t>Learning</a:t>
            </a:r>
            <a:r>
              <a:rPr sz="3200" spc="-10" dirty="0">
                <a:latin typeface="Arial"/>
                <a:cs typeface="Arial"/>
              </a:rPr>
              <a:t>:</a:t>
            </a:r>
            <a:r>
              <a:rPr sz="3200" spc="-5" dirty="0">
                <a:latin typeface="Arial"/>
                <a:cs typeface="Arial"/>
              </a:rPr>
              <a:t> </a:t>
            </a:r>
            <a:r>
              <a:rPr sz="3200" dirty="0">
                <a:latin typeface="Arial"/>
                <a:cs typeface="Arial"/>
              </a:rPr>
              <a:t>Cross-Learning</a:t>
            </a:r>
            <a:r>
              <a:rPr lang="en-US" sz="3200" dirty="0">
                <a:latin typeface="Arial"/>
                <a:cs typeface="Arial"/>
              </a:rPr>
              <a:t> - Stateless RL</a:t>
            </a:r>
            <a:endParaRPr sz="3200" dirty="0">
              <a:latin typeface="Arial"/>
              <a:cs typeface="Arial"/>
            </a:endParaRPr>
          </a:p>
        </p:txBody>
      </p:sp>
      <p:sp>
        <p:nvSpPr>
          <p:cNvPr id="7" name="object 7"/>
          <p:cNvSpPr txBox="1"/>
          <p:nvPr/>
        </p:nvSpPr>
        <p:spPr>
          <a:xfrm>
            <a:off x="547164" y="1267506"/>
            <a:ext cx="7947025" cy="2959735"/>
          </a:xfrm>
          <a:prstGeom prst="rect">
            <a:avLst/>
          </a:prstGeom>
        </p:spPr>
        <p:txBody>
          <a:bodyPr vert="horz" wrap="square" lIns="0" tIns="0" rIns="0" bIns="0" rtlCol="0">
            <a:spAutoFit/>
          </a:bodyPr>
          <a:lstStyle/>
          <a:p>
            <a:pPr marL="241300" indent="-228600">
              <a:lnSpc>
                <a:spcPts val="2680"/>
              </a:lnSpc>
              <a:buFont typeface="Gill Sans MT"/>
              <a:buChar char="•"/>
              <a:tabLst>
                <a:tab pos="241300" algn="l"/>
              </a:tabLst>
            </a:pPr>
            <a:r>
              <a:rPr sz="2300" spc="-10" dirty="0">
                <a:latin typeface="Gill Sans MT"/>
                <a:cs typeface="Gill Sans MT"/>
              </a:rPr>
              <a:t>s</a:t>
            </a:r>
            <a:r>
              <a:rPr sz="2300" dirty="0">
                <a:latin typeface="Gill Sans MT"/>
                <a:cs typeface="Gill Sans MT"/>
              </a:rPr>
              <a:t>impl</a:t>
            </a:r>
            <a:r>
              <a:rPr sz="2300" spc="-10" dirty="0">
                <a:latin typeface="Gill Sans MT"/>
                <a:cs typeface="Gill Sans MT"/>
              </a:rPr>
              <a:t>es</a:t>
            </a:r>
            <a:r>
              <a:rPr sz="2300" dirty="0">
                <a:latin typeface="Gill Sans MT"/>
                <a:cs typeface="Gill Sans MT"/>
              </a:rPr>
              <a:t>t</a:t>
            </a:r>
            <a:r>
              <a:rPr sz="2300" spc="-5" dirty="0">
                <a:latin typeface="Gill Sans MT"/>
                <a:cs typeface="Gill Sans MT"/>
              </a:rPr>
              <a:t> </a:t>
            </a:r>
            <a:r>
              <a:rPr sz="2300" spc="-25" dirty="0">
                <a:latin typeface="Gill Sans MT"/>
                <a:cs typeface="Gill Sans MT"/>
              </a:rPr>
              <a:t>f</a:t>
            </a:r>
            <a:r>
              <a:rPr sz="2300" spc="-15" dirty="0">
                <a:latin typeface="Gill Sans MT"/>
                <a:cs typeface="Gill Sans MT"/>
              </a:rPr>
              <a:t>orm</a:t>
            </a:r>
            <a:r>
              <a:rPr sz="2300" spc="-5" dirty="0">
                <a:latin typeface="Gill Sans MT"/>
                <a:cs typeface="Gill Sans MT"/>
              </a:rPr>
              <a:t> </a:t>
            </a:r>
            <a:r>
              <a:rPr sz="2300" spc="-15" dirty="0">
                <a:latin typeface="Gill Sans MT"/>
                <a:cs typeface="Gill Sans MT"/>
              </a:rPr>
              <a:t>o</a:t>
            </a:r>
            <a:r>
              <a:rPr sz="2300" dirty="0">
                <a:latin typeface="Gill Sans MT"/>
                <a:cs typeface="Gill Sans MT"/>
              </a:rPr>
              <a:t>f</a:t>
            </a:r>
            <a:r>
              <a:rPr sz="2300" spc="-5" dirty="0">
                <a:latin typeface="Gill Sans MT"/>
                <a:cs typeface="Gill Sans MT"/>
              </a:rPr>
              <a:t> </a:t>
            </a:r>
            <a:r>
              <a:rPr sz="2300" dirty="0">
                <a:latin typeface="Gill Sans MT"/>
                <a:cs typeface="Gill Sans MT"/>
              </a:rPr>
              <a:t>RL</a:t>
            </a:r>
            <a:endParaRPr sz="2300">
              <a:latin typeface="Gill Sans MT"/>
              <a:cs typeface="Gill Sans MT"/>
            </a:endParaRPr>
          </a:p>
          <a:p>
            <a:pPr marL="241300" marR="5080" indent="-228600">
              <a:lnSpc>
                <a:spcPts val="2600"/>
              </a:lnSpc>
              <a:spcBef>
                <a:spcPts val="140"/>
              </a:spcBef>
              <a:buFont typeface="Gill Sans MT"/>
              <a:buChar char="•"/>
              <a:tabLst>
                <a:tab pos="241300" algn="l"/>
              </a:tabLst>
            </a:pPr>
            <a:r>
              <a:rPr sz="2300" spc="-15" dirty="0">
                <a:latin typeface="Gill Sans MT"/>
                <a:cs typeface="Gill Sans MT"/>
              </a:rPr>
              <a:t>each</a:t>
            </a:r>
            <a:r>
              <a:rPr sz="2300" spc="-5" dirty="0">
                <a:latin typeface="Gill Sans MT"/>
                <a:cs typeface="Gill Sans MT"/>
              </a:rPr>
              <a:t> </a:t>
            </a:r>
            <a:r>
              <a:rPr sz="2300" dirty="0">
                <a:latin typeface="Gill Sans MT"/>
                <a:cs typeface="Gill Sans MT"/>
              </a:rPr>
              <a:t>pl</a:t>
            </a:r>
            <a:r>
              <a:rPr sz="2300" spc="-105" dirty="0">
                <a:latin typeface="Gill Sans MT"/>
                <a:cs typeface="Gill Sans MT"/>
              </a:rPr>
              <a:t>a</a:t>
            </a:r>
            <a:r>
              <a:rPr sz="2300" spc="-60" dirty="0">
                <a:latin typeface="Gill Sans MT"/>
                <a:cs typeface="Gill Sans MT"/>
              </a:rPr>
              <a:t>y</a:t>
            </a:r>
            <a:r>
              <a:rPr sz="2300" dirty="0">
                <a:latin typeface="Gill Sans MT"/>
                <a:cs typeface="Gill Sans MT"/>
              </a:rPr>
              <a:t>er</a:t>
            </a:r>
            <a:r>
              <a:rPr sz="2300" spc="-5" dirty="0">
                <a:latin typeface="Gill Sans MT"/>
                <a:cs typeface="Gill Sans MT"/>
              </a:rPr>
              <a:t> </a:t>
            </a:r>
            <a:r>
              <a:rPr sz="2300" i="1" spc="-5" dirty="0">
                <a:latin typeface="Gill Sans MT"/>
                <a:cs typeface="Gill Sans MT"/>
              </a:rPr>
              <a:t>i </a:t>
            </a:r>
            <a:r>
              <a:rPr sz="2300" spc="-70" dirty="0">
                <a:latin typeface="Gill Sans MT"/>
                <a:cs typeface="Gill Sans MT"/>
              </a:rPr>
              <a:t>k</a:t>
            </a:r>
            <a:r>
              <a:rPr sz="2300" spc="-15" dirty="0">
                <a:latin typeface="Gill Sans MT"/>
                <a:cs typeface="Gill Sans MT"/>
              </a:rPr>
              <a:t>eeps</a:t>
            </a:r>
            <a:r>
              <a:rPr sz="2300" spc="-5" dirty="0">
                <a:latin typeface="Gill Sans MT"/>
                <a:cs typeface="Gill Sans MT"/>
              </a:rPr>
              <a:t> </a:t>
            </a:r>
            <a:r>
              <a:rPr sz="2300" spc="-10" dirty="0">
                <a:latin typeface="Gill Sans MT"/>
                <a:cs typeface="Gill Sans MT"/>
              </a:rPr>
              <a:t>a</a:t>
            </a:r>
            <a:r>
              <a:rPr sz="2300" spc="-5" dirty="0">
                <a:latin typeface="Gill Sans MT"/>
                <a:cs typeface="Gill Sans MT"/>
              </a:rPr>
              <a:t> </a:t>
            </a:r>
            <a:r>
              <a:rPr sz="2300" spc="-15" dirty="0">
                <a:latin typeface="Gill Sans MT"/>
                <a:cs typeface="Gill Sans MT"/>
              </a:rPr>
              <a:t>p</a:t>
            </a:r>
            <a:r>
              <a:rPr sz="2300" spc="-70" dirty="0">
                <a:latin typeface="Gill Sans MT"/>
                <a:cs typeface="Gill Sans MT"/>
              </a:rPr>
              <a:t>r</a:t>
            </a:r>
            <a:r>
              <a:rPr sz="2300" spc="-15" dirty="0">
                <a:latin typeface="Gill Sans MT"/>
                <a:cs typeface="Gill Sans MT"/>
              </a:rPr>
              <a:t>oba</a:t>
            </a:r>
            <a:r>
              <a:rPr sz="2300" dirty="0">
                <a:latin typeface="Gill Sans MT"/>
                <a:cs typeface="Gill Sans MT"/>
              </a:rPr>
              <a:t>bili</a:t>
            </a:r>
            <a:r>
              <a:rPr sz="2300" spc="-10" dirty="0">
                <a:latin typeface="Gill Sans MT"/>
                <a:cs typeface="Gill Sans MT"/>
              </a:rPr>
              <a:t>ty</a:t>
            </a:r>
            <a:r>
              <a:rPr sz="2300" spc="-5" dirty="0">
                <a:latin typeface="Gill Sans MT"/>
                <a:cs typeface="Gill Sans MT"/>
              </a:rPr>
              <a:t> </a:t>
            </a:r>
            <a:r>
              <a:rPr sz="2300" spc="-25" dirty="0">
                <a:latin typeface="Gill Sans MT"/>
                <a:cs typeface="Gill Sans MT"/>
              </a:rPr>
              <a:t>f</a:t>
            </a:r>
            <a:r>
              <a:rPr sz="2300" spc="-15" dirty="0">
                <a:latin typeface="Gill Sans MT"/>
                <a:cs typeface="Gill Sans MT"/>
              </a:rPr>
              <a:t>or</a:t>
            </a:r>
            <a:r>
              <a:rPr sz="2300" spc="-5" dirty="0">
                <a:latin typeface="Gill Sans MT"/>
                <a:cs typeface="Gill Sans MT"/>
              </a:rPr>
              <a:t> </a:t>
            </a:r>
            <a:r>
              <a:rPr sz="2300" spc="-15" dirty="0">
                <a:latin typeface="Gill Sans MT"/>
                <a:cs typeface="Gill Sans MT"/>
              </a:rPr>
              <a:t>each</a:t>
            </a:r>
            <a:r>
              <a:rPr sz="2300" spc="-5" dirty="0">
                <a:latin typeface="Gill Sans MT"/>
                <a:cs typeface="Gill Sans MT"/>
              </a:rPr>
              <a:t> </a:t>
            </a:r>
            <a:r>
              <a:rPr sz="2300" spc="-15" dirty="0">
                <a:latin typeface="Gill Sans MT"/>
                <a:cs typeface="Gill Sans MT"/>
              </a:rPr>
              <a:t>o</a:t>
            </a:r>
            <a:r>
              <a:rPr sz="2300" dirty="0">
                <a:latin typeface="Gill Sans MT"/>
                <a:cs typeface="Gill Sans MT"/>
              </a:rPr>
              <a:t>f</a:t>
            </a:r>
            <a:r>
              <a:rPr sz="2300" spc="-5" dirty="0">
                <a:latin typeface="Gill Sans MT"/>
                <a:cs typeface="Gill Sans MT"/>
              </a:rPr>
              <a:t> </a:t>
            </a:r>
            <a:r>
              <a:rPr sz="2300" dirty="0">
                <a:latin typeface="Gill Sans MT"/>
                <a:cs typeface="Gill Sans MT"/>
              </a:rPr>
              <a:t>thei</a:t>
            </a:r>
            <a:r>
              <a:rPr sz="2300" spc="-10" dirty="0">
                <a:latin typeface="Gill Sans MT"/>
                <a:cs typeface="Gill Sans MT"/>
              </a:rPr>
              <a:t>r</a:t>
            </a:r>
            <a:r>
              <a:rPr sz="2300" spc="-5" dirty="0">
                <a:latin typeface="Gill Sans MT"/>
                <a:cs typeface="Gill Sans MT"/>
              </a:rPr>
              <a:t> </a:t>
            </a:r>
            <a:r>
              <a:rPr sz="2300" spc="-15" dirty="0">
                <a:latin typeface="Gill Sans MT"/>
                <a:cs typeface="Gill Sans MT"/>
              </a:rPr>
              <a:t>poss</a:t>
            </a:r>
            <a:r>
              <a:rPr sz="2300" dirty="0">
                <a:latin typeface="Gill Sans MT"/>
                <a:cs typeface="Gill Sans MT"/>
              </a:rPr>
              <a:t>ible</a:t>
            </a:r>
            <a:r>
              <a:rPr sz="2300" spc="-5" dirty="0">
                <a:latin typeface="Gill Sans MT"/>
                <a:cs typeface="Gill Sans MT"/>
              </a:rPr>
              <a:t> </a:t>
            </a:r>
            <a:r>
              <a:rPr sz="2300" spc="-10" dirty="0">
                <a:latin typeface="Gill Sans MT"/>
                <a:cs typeface="Gill Sans MT"/>
              </a:rPr>
              <a:t>a</a:t>
            </a:r>
            <a:r>
              <a:rPr sz="2300" dirty="0">
                <a:latin typeface="Gill Sans MT"/>
                <a:cs typeface="Gill Sans MT"/>
              </a:rPr>
              <a:t>ct</a:t>
            </a:r>
            <a:r>
              <a:rPr sz="2300" spc="-5" dirty="0">
                <a:latin typeface="Gill Sans MT"/>
                <a:cs typeface="Gill Sans MT"/>
              </a:rPr>
              <a:t>i</a:t>
            </a:r>
            <a:r>
              <a:rPr sz="2300" spc="-15" dirty="0">
                <a:latin typeface="Gill Sans MT"/>
                <a:cs typeface="Gill Sans MT"/>
              </a:rPr>
              <a:t>ons</a:t>
            </a:r>
            <a:r>
              <a:rPr sz="2300" spc="-10" dirty="0">
                <a:latin typeface="Gill Sans MT"/>
                <a:cs typeface="Gill Sans MT"/>
              </a:rPr>
              <a:t> to</a:t>
            </a:r>
            <a:r>
              <a:rPr sz="2300" spc="-5" dirty="0">
                <a:latin typeface="Gill Sans MT"/>
                <a:cs typeface="Gill Sans MT"/>
              </a:rPr>
              <a:t> </a:t>
            </a:r>
            <a:r>
              <a:rPr sz="2300" dirty="0">
                <a:latin typeface="Gill Sans MT"/>
                <a:cs typeface="Gill Sans MT"/>
              </a:rPr>
              <a:t>e</a:t>
            </a:r>
            <a:r>
              <a:rPr sz="2300" spc="-70" dirty="0">
                <a:latin typeface="Gill Sans MT"/>
                <a:cs typeface="Gill Sans MT"/>
              </a:rPr>
              <a:t>x</a:t>
            </a:r>
            <a:r>
              <a:rPr sz="2300" dirty="0">
                <a:latin typeface="Gill Sans MT"/>
                <a:cs typeface="Gill Sans MT"/>
              </a:rPr>
              <a:t>ecute</a:t>
            </a:r>
            <a:r>
              <a:rPr sz="2300" spc="-5" dirty="0">
                <a:latin typeface="Gill Sans MT"/>
                <a:cs typeface="Gill Sans MT"/>
              </a:rPr>
              <a:t> </a:t>
            </a:r>
            <a:r>
              <a:rPr sz="2300" dirty="0">
                <a:latin typeface="Gill Sans MT"/>
                <a:cs typeface="Gill Sans MT"/>
              </a:rPr>
              <a:t>it.</a:t>
            </a:r>
            <a:endParaRPr sz="2300">
              <a:latin typeface="Gill Sans MT"/>
              <a:cs typeface="Gill Sans MT"/>
            </a:endParaRPr>
          </a:p>
          <a:p>
            <a:pPr marL="241300" indent="-228600">
              <a:lnSpc>
                <a:spcPts val="2540"/>
              </a:lnSpc>
              <a:buFont typeface="Gill Sans MT"/>
              <a:buChar char="•"/>
              <a:tabLst>
                <a:tab pos="241300" algn="l"/>
              </a:tabLst>
            </a:pPr>
            <a:r>
              <a:rPr sz="2300" spc="-10" dirty="0">
                <a:latin typeface="Gill Sans MT"/>
                <a:cs typeface="Gill Sans MT"/>
              </a:rPr>
              <a:t>agents</a:t>
            </a:r>
            <a:r>
              <a:rPr sz="2300" spc="-5" dirty="0">
                <a:latin typeface="Gill Sans MT"/>
                <a:cs typeface="Gill Sans MT"/>
              </a:rPr>
              <a:t> </a:t>
            </a:r>
            <a:r>
              <a:rPr sz="2300" spc="-60" dirty="0">
                <a:latin typeface="Gill Sans MT"/>
                <a:cs typeface="Gill Sans MT"/>
              </a:rPr>
              <a:t>r</a:t>
            </a:r>
            <a:r>
              <a:rPr sz="2300" dirty="0">
                <a:latin typeface="Gill Sans MT"/>
                <a:cs typeface="Gill Sans MT"/>
              </a:rPr>
              <a:t>ein</a:t>
            </a:r>
            <a:r>
              <a:rPr sz="2300" spc="-25" dirty="0">
                <a:latin typeface="Gill Sans MT"/>
                <a:cs typeface="Gill Sans MT"/>
              </a:rPr>
              <a:t>f</a:t>
            </a:r>
            <a:r>
              <a:rPr sz="2300" spc="-15" dirty="0">
                <a:latin typeface="Gill Sans MT"/>
                <a:cs typeface="Gill Sans MT"/>
              </a:rPr>
              <a:t>o</a:t>
            </a:r>
            <a:r>
              <a:rPr sz="2300" spc="-70" dirty="0">
                <a:latin typeface="Gill Sans MT"/>
                <a:cs typeface="Gill Sans MT"/>
              </a:rPr>
              <a:t>r</a:t>
            </a:r>
            <a:r>
              <a:rPr sz="2300" spc="-15" dirty="0">
                <a:latin typeface="Gill Sans MT"/>
                <a:cs typeface="Gill Sans MT"/>
              </a:rPr>
              <a:t>ce</a:t>
            </a:r>
            <a:r>
              <a:rPr sz="2300" spc="-5" dirty="0">
                <a:latin typeface="Gill Sans MT"/>
                <a:cs typeface="Gill Sans MT"/>
              </a:rPr>
              <a:t> </a:t>
            </a:r>
            <a:r>
              <a:rPr sz="2300" spc="-10" dirty="0">
                <a:latin typeface="Gill Sans MT"/>
                <a:cs typeface="Gill Sans MT"/>
              </a:rPr>
              <a:t>thes</a:t>
            </a:r>
            <a:r>
              <a:rPr sz="2300" dirty="0">
                <a:latin typeface="Gill Sans MT"/>
                <a:cs typeface="Gill Sans MT"/>
              </a:rPr>
              <a:t>e</a:t>
            </a:r>
            <a:r>
              <a:rPr sz="2300" spc="-5" dirty="0">
                <a:latin typeface="Gill Sans MT"/>
                <a:cs typeface="Gill Sans MT"/>
              </a:rPr>
              <a:t> </a:t>
            </a:r>
            <a:r>
              <a:rPr sz="2300" spc="-15" dirty="0">
                <a:latin typeface="Gill Sans MT"/>
                <a:cs typeface="Gill Sans MT"/>
              </a:rPr>
              <a:t>p</a:t>
            </a:r>
            <a:r>
              <a:rPr sz="2300" spc="-70" dirty="0">
                <a:latin typeface="Gill Sans MT"/>
                <a:cs typeface="Gill Sans MT"/>
              </a:rPr>
              <a:t>r</a:t>
            </a:r>
            <a:r>
              <a:rPr sz="2300" spc="-15" dirty="0">
                <a:latin typeface="Gill Sans MT"/>
                <a:cs typeface="Gill Sans MT"/>
              </a:rPr>
              <a:t>oba</a:t>
            </a:r>
            <a:r>
              <a:rPr sz="2300" dirty="0">
                <a:latin typeface="Gill Sans MT"/>
                <a:cs typeface="Gill Sans MT"/>
              </a:rPr>
              <a:t>biliti</a:t>
            </a:r>
            <a:r>
              <a:rPr sz="2300" spc="-10" dirty="0">
                <a:latin typeface="Gill Sans MT"/>
                <a:cs typeface="Gill Sans MT"/>
              </a:rPr>
              <a:t>es</a:t>
            </a:r>
            <a:r>
              <a:rPr sz="2300" spc="-5" dirty="0">
                <a:latin typeface="Gill Sans MT"/>
                <a:cs typeface="Gill Sans MT"/>
              </a:rPr>
              <a:t> </a:t>
            </a:r>
            <a:r>
              <a:rPr sz="2300" dirty="0">
                <a:latin typeface="Gill Sans MT"/>
                <a:cs typeface="Gill Sans MT"/>
              </a:rPr>
              <a:t>in</a:t>
            </a:r>
            <a:r>
              <a:rPr sz="2300" spc="-5" dirty="0">
                <a:latin typeface="Gill Sans MT"/>
                <a:cs typeface="Gill Sans MT"/>
              </a:rPr>
              <a:t> </a:t>
            </a:r>
            <a:r>
              <a:rPr sz="2300" dirty="0">
                <a:latin typeface="Gill Sans MT"/>
                <a:cs typeface="Gill Sans MT"/>
              </a:rPr>
              <a:t>the</a:t>
            </a:r>
            <a:r>
              <a:rPr sz="2300" spc="-5" dirty="0">
                <a:latin typeface="Gill Sans MT"/>
                <a:cs typeface="Gill Sans MT"/>
              </a:rPr>
              <a:t> </a:t>
            </a:r>
            <a:r>
              <a:rPr sz="2300" spc="-10" dirty="0">
                <a:latin typeface="Gill Sans MT"/>
                <a:cs typeface="Gill Sans MT"/>
              </a:rPr>
              <a:t>s</a:t>
            </a:r>
            <a:r>
              <a:rPr sz="2300" dirty="0">
                <a:latin typeface="Gill Sans MT"/>
                <a:cs typeface="Gill Sans MT"/>
              </a:rPr>
              <a:t>impl</a:t>
            </a:r>
            <a:r>
              <a:rPr sz="2300" spc="-10" dirty="0">
                <a:latin typeface="Gill Sans MT"/>
                <a:cs typeface="Gill Sans MT"/>
              </a:rPr>
              <a:t>es</a:t>
            </a:r>
            <a:r>
              <a:rPr sz="2300" dirty="0">
                <a:latin typeface="Gill Sans MT"/>
                <a:cs typeface="Gill Sans MT"/>
              </a:rPr>
              <a:t>t</a:t>
            </a:r>
            <a:r>
              <a:rPr sz="2300" spc="-5" dirty="0">
                <a:latin typeface="Gill Sans MT"/>
                <a:cs typeface="Gill Sans MT"/>
              </a:rPr>
              <a:t> </a:t>
            </a:r>
            <a:r>
              <a:rPr sz="2300" spc="-15" dirty="0">
                <a:latin typeface="Gill Sans MT"/>
                <a:cs typeface="Gill Sans MT"/>
              </a:rPr>
              <a:t>poss</a:t>
            </a:r>
            <a:r>
              <a:rPr sz="2300" dirty="0">
                <a:latin typeface="Gill Sans MT"/>
                <a:cs typeface="Gill Sans MT"/>
              </a:rPr>
              <a:t>ible</a:t>
            </a:r>
            <a:r>
              <a:rPr sz="2300" spc="-5" dirty="0">
                <a:latin typeface="Gill Sans MT"/>
                <a:cs typeface="Gill Sans MT"/>
              </a:rPr>
              <a:t> </a:t>
            </a:r>
            <a:r>
              <a:rPr sz="2300" dirty="0">
                <a:latin typeface="Gill Sans MT"/>
                <a:cs typeface="Gill Sans MT"/>
              </a:rPr>
              <a:t>w</a:t>
            </a:r>
            <a:r>
              <a:rPr sz="2300" spc="-105" dirty="0">
                <a:latin typeface="Gill Sans MT"/>
                <a:cs typeface="Gill Sans MT"/>
              </a:rPr>
              <a:t>a</a:t>
            </a:r>
            <a:r>
              <a:rPr sz="2300" dirty="0">
                <a:latin typeface="Gill Sans MT"/>
                <a:cs typeface="Gill Sans MT"/>
              </a:rPr>
              <a:t>y:</a:t>
            </a:r>
            <a:endParaRPr sz="2300">
              <a:latin typeface="Gill Sans MT"/>
              <a:cs typeface="Gill Sans MT"/>
            </a:endParaRPr>
          </a:p>
          <a:p>
            <a:pPr>
              <a:lnSpc>
                <a:spcPct val="100000"/>
              </a:lnSpc>
              <a:spcBef>
                <a:spcPts val="15"/>
              </a:spcBef>
              <a:buFont typeface="Gill Sans MT"/>
              <a:buChar char="•"/>
            </a:pPr>
            <a:endParaRPr sz="2300">
              <a:latin typeface="Times New Roman"/>
              <a:cs typeface="Times New Roman"/>
            </a:endParaRPr>
          </a:p>
          <a:p>
            <a:pPr marL="584200" marR="592455" lvl="1" indent="-228600">
              <a:lnSpc>
                <a:spcPts val="2600"/>
              </a:lnSpc>
              <a:buFont typeface="Gill Sans MT"/>
              <a:buChar char="•"/>
              <a:tabLst>
                <a:tab pos="584200" algn="l"/>
              </a:tabLst>
            </a:pPr>
            <a:r>
              <a:rPr sz="2300" dirty="0">
                <a:latin typeface="Gill Sans MT"/>
                <a:cs typeface="Gill Sans MT"/>
              </a:rPr>
              <a:t>If</a:t>
            </a:r>
            <a:r>
              <a:rPr sz="2300" spc="-5" dirty="0">
                <a:latin typeface="Gill Sans MT"/>
                <a:cs typeface="Gill Sans MT"/>
              </a:rPr>
              <a:t> </a:t>
            </a:r>
            <a:r>
              <a:rPr sz="2300" spc="-10" dirty="0">
                <a:latin typeface="Gill Sans MT"/>
                <a:cs typeface="Gill Sans MT"/>
              </a:rPr>
              <a:t>a</a:t>
            </a:r>
            <a:r>
              <a:rPr sz="2300" dirty="0">
                <a:latin typeface="Gill Sans MT"/>
                <a:cs typeface="Gill Sans MT"/>
              </a:rPr>
              <a:t>ct</a:t>
            </a:r>
            <a:r>
              <a:rPr sz="2300" spc="-5" dirty="0">
                <a:latin typeface="Gill Sans MT"/>
                <a:cs typeface="Gill Sans MT"/>
              </a:rPr>
              <a:t>i</a:t>
            </a:r>
            <a:r>
              <a:rPr sz="2300" spc="-15" dirty="0">
                <a:latin typeface="Gill Sans MT"/>
                <a:cs typeface="Gill Sans MT"/>
              </a:rPr>
              <a:t>o</a:t>
            </a:r>
            <a:r>
              <a:rPr sz="2300" dirty="0">
                <a:latin typeface="Gill Sans MT"/>
                <a:cs typeface="Gill Sans MT"/>
              </a:rPr>
              <a:t>n</a:t>
            </a:r>
            <a:r>
              <a:rPr sz="2300" spc="-5" dirty="0">
                <a:latin typeface="Gill Sans MT"/>
                <a:cs typeface="Gill Sans MT"/>
              </a:rPr>
              <a:t> </a:t>
            </a:r>
            <a:r>
              <a:rPr sz="2300" i="1" spc="-5" dirty="0">
                <a:latin typeface="Gill Sans MT"/>
                <a:cs typeface="Gill Sans MT"/>
              </a:rPr>
              <a:t>j </a:t>
            </a:r>
            <a:r>
              <a:rPr sz="2300" dirty="0">
                <a:latin typeface="Gill Sans MT"/>
                <a:cs typeface="Gill Sans MT"/>
              </a:rPr>
              <a:t>i</a:t>
            </a:r>
            <a:r>
              <a:rPr sz="2300" spc="-10" dirty="0">
                <a:latin typeface="Gill Sans MT"/>
                <a:cs typeface="Gill Sans MT"/>
              </a:rPr>
              <a:t>s</a:t>
            </a:r>
            <a:r>
              <a:rPr sz="2300" spc="-5" dirty="0">
                <a:latin typeface="Gill Sans MT"/>
                <a:cs typeface="Gill Sans MT"/>
              </a:rPr>
              <a:t> </a:t>
            </a:r>
            <a:r>
              <a:rPr sz="2300" dirty="0">
                <a:latin typeface="Gill Sans MT"/>
                <a:cs typeface="Gill Sans MT"/>
              </a:rPr>
              <a:t>pi</a:t>
            </a:r>
            <a:r>
              <a:rPr sz="2300" spc="-10" dirty="0">
                <a:latin typeface="Gill Sans MT"/>
                <a:cs typeface="Gill Sans MT"/>
              </a:rPr>
              <a:t>c</a:t>
            </a:r>
            <a:r>
              <a:rPr sz="2300" spc="-85" dirty="0">
                <a:latin typeface="Gill Sans MT"/>
                <a:cs typeface="Gill Sans MT"/>
              </a:rPr>
              <a:t>k</a:t>
            </a:r>
            <a:r>
              <a:rPr sz="2300" spc="-15" dirty="0">
                <a:latin typeface="Gill Sans MT"/>
                <a:cs typeface="Gill Sans MT"/>
              </a:rPr>
              <a:t>ed</a:t>
            </a:r>
            <a:r>
              <a:rPr sz="2300" dirty="0">
                <a:latin typeface="Gill Sans MT"/>
                <a:cs typeface="Gill Sans MT"/>
              </a:rPr>
              <a:t>,</a:t>
            </a:r>
            <a:r>
              <a:rPr sz="2300" spc="-235" dirty="0">
                <a:latin typeface="Gill Sans MT"/>
                <a:cs typeface="Gill Sans MT"/>
              </a:rPr>
              <a:t> </a:t>
            </a:r>
            <a:r>
              <a:rPr sz="2300" dirty="0">
                <a:latin typeface="Gill Sans MT"/>
                <a:cs typeface="Gill Sans MT"/>
              </a:rPr>
              <a:t>it</a:t>
            </a:r>
            <a:r>
              <a:rPr sz="2300" spc="-5" dirty="0">
                <a:latin typeface="Gill Sans MT"/>
                <a:cs typeface="Gill Sans MT"/>
              </a:rPr>
              <a:t> </a:t>
            </a:r>
            <a:r>
              <a:rPr sz="2300" dirty="0">
                <a:latin typeface="Gill Sans MT"/>
                <a:cs typeface="Gill Sans MT"/>
              </a:rPr>
              <a:t>i</a:t>
            </a:r>
            <a:r>
              <a:rPr sz="2300" spc="-10" dirty="0">
                <a:latin typeface="Gill Sans MT"/>
                <a:cs typeface="Gill Sans MT"/>
              </a:rPr>
              <a:t>s</a:t>
            </a:r>
            <a:r>
              <a:rPr sz="2300" spc="-5" dirty="0">
                <a:latin typeface="Gill Sans MT"/>
                <a:cs typeface="Gill Sans MT"/>
              </a:rPr>
              <a:t> </a:t>
            </a:r>
            <a:r>
              <a:rPr sz="2300" spc="-60" dirty="0">
                <a:latin typeface="Gill Sans MT"/>
                <a:cs typeface="Gill Sans MT"/>
              </a:rPr>
              <a:t>r</a:t>
            </a:r>
            <a:r>
              <a:rPr sz="2300" dirty="0">
                <a:latin typeface="Gill Sans MT"/>
                <a:cs typeface="Gill Sans MT"/>
              </a:rPr>
              <a:t>ein</a:t>
            </a:r>
            <a:r>
              <a:rPr sz="2300" spc="-25" dirty="0">
                <a:latin typeface="Gill Sans MT"/>
                <a:cs typeface="Gill Sans MT"/>
              </a:rPr>
              <a:t>f</a:t>
            </a:r>
            <a:r>
              <a:rPr sz="2300" spc="-15" dirty="0">
                <a:latin typeface="Gill Sans MT"/>
                <a:cs typeface="Gill Sans MT"/>
              </a:rPr>
              <a:t>o</a:t>
            </a:r>
            <a:r>
              <a:rPr sz="2300" spc="-70" dirty="0">
                <a:latin typeface="Gill Sans MT"/>
                <a:cs typeface="Gill Sans MT"/>
              </a:rPr>
              <a:t>r</a:t>
            </a:r>
            <a:r>
              <a:rPr sz="2300" spc="-15" dirty="0">
                <a:latin typeface="Gill Sans MT"/>
                <a:cs typeface="Gill Sans MT"/>
              </a:rPr>
              <a:t>ced</a:t>
            </a:r>
            <a:r>
              <a:rPr sz="2300" spc="-5" dirty="0">
                <a:latin typeface="Gill Sans MT"/>
                <a:cs typeface="Gill Sans MT"/>
              </a:rPr>
              <a:t> </a:t>
            </a:r>
            <a:r>
              <a:rPr sz="2300" spc="-15" dirty="0">
                <a:latin typeface="Gill Sans MT"/>
                <a:cs typeface="Gill Sans MT"/>
              </a:rPr>
              <a:t>p</a:t>
            </a:r>
            <a:r>
              <a:rPr sz="2300" spc="-70" dirty="0">
                <a:latin typeface="Gill Sans MT"/>
                <a:cs typeface="Gill Sans MT"/>
              </a:rPr>
              <a:t>r</a:t>
            </a:r>
            <a:r>
              <a:rPr sz="2300" spc="-15" dirty="0">
                <a:latin typeface="Gill Sans MT"/>
                <a:cs typeface="Gill Sans MT"/>
              </a:rPr>
              <a:t>opo</a:t>
            </a:r>
            <a:r>
              <a:rPr sz="2300" spc="30" dirty="0">
                <a:latin typeface="Gill Sans MT"/>
                <a:cs typeface="Gill Sans MT"/>
              </a:rPr>
              <a:t>r</a:t>
            </a:r>
            <a:r>
              <a:rPr sz="2300" dirty="0">
                <a:latin typeface="Gill Sans MT"/>
                <a:cs typeface="Gill Sans MT"/>
              </a:rPr>
              <a:t>ti</a:t>
            </a:r>
            <a:r>
              <a:rPr sz="2300" spc="-15" dirty="0">
                <a:latin typeface="Gill Sans MT"/>
                <a:cs typeface="Gill Sans MT"/>
              </a:rPr>
              <a:t>ona</a:t>
            </a:r>
            <a:r>
              <a:rPr sz="2300" dirty="0">
                <a:latin typeface="Gill Sans MT"/>
                <a:cs typeface="Gill Sans MT"/>
              </a:rPr>
              <a:t>te</a:t>
            </a:r>
            <a:r>
              <a:rPr sz="2300" spc="-25" dirty="0">
                <a:latin typeface="Gill Sans MT"/>
                <a:cs typeface="Gill Sans MT"/>
              </a:rPr>
              <a:t>l</a:t>
            </a:r>
            <a:r>
              <a:rPr sz="2300" spc="-10" dirty="0">
                <a:latin typeface="Gill Sans MT"/>
                <a:cs typeface="Gill Sans MT"/>
              </a:rPr>
              <a:t>y</a:t>
            </a:r>
            <a:r>
              <a:rPr sz="2300" spc="-5" dirty="0">
                <a:latin typeface="Gill Sans MT"/>
                <a:cs typeface="Gill Sans MT"/>
              </a:rPr>
              <a:t> </a:t>
            </a:r>
            <a:r>
              <a:rPr sz="2300" spc="-15" dirty="0">
                <a:latin typeface="Gill Sans MT"/>
                <a:cs typeface="Gill Sans MT"/>
              </a:rPr>
              <a:t>to</a:t>
            </a:r>
            <a:r>
              <a:rPr sz="2300" spc="-5" dirty="0">
                <a:latin typeface="Gill Sans MT"/>
                <a:cs typeface="Gill Sans MT"/>
              </a:rPr>
              <a:t> </a:t>
            </a:r>
            <a:r>
              <a:rPr sz="2300" dirty="0">
                <a:latin typeface="Gill Sans MT"/>
                <a:cs typeface="Gill Sans MT"/>
              </a:rPr>
              <a:t>the ut</a:t>
            </a:r>
            <a:r>
              <a:rPr sz="2300" spc="-5" dirty="0">
                <a:latin typeface="Gill Sans MT"/>
                <a:cs typeface="Gill Sans MT"/>
              </a:rPr>
              <a:t>i</a:t>
            </a:r>
            <a:r>
              <a:rPr sz="2300" dirty="0">
                <a:latin typeface="Gill Sans MT"/>
                <a:cs typeface="Gill Sans MT"/>
              </a:rPr>
              <a:t>li</a:t>
            </a:r>
            <a:r>
              <a:rPr sz="2300" spc="-10" dirty="0">
                <a:latin typeface="Gill Sans MT"/>
                <a:cs typeface="Gill Sans MT"/>
              </a:rPr>
              <a:t>ty</a:t>
            </a:r>
            <a:r>
              <a:rPr sz="2300" spc="-5" dirty="0">
                <a:latin typeface="Gill Sans MT"/>
                <a:cs typeface="Gill Sans MT"/>
              </a:rPr>
              <a:t> </a:t>
            </a:r>
            <a:r>
              <a:rPr sz="2300" dirty="0">
                <a:latin typeface="Gill Sans MT"/>
                <a:cs typeface="Gill Sans MT"/>
              </a:rPr>
              <a:t>(</a:t>
            </a:r>
            <a:r>
              <a:rPr sz="2300" spc="-15" dirty="0">
                <a:latin typeface="Gill Sans MT"/>
                <a:cs typeface="Gill Sans MT"/>
              </a:rPr>
              <a:t>p</a:t>
            </a:r>
            <a:r>
              <a:rPr sz="2300" spc="-105" dirty="0">
                <a:latin typeface="Gill Sans MT"/>
                <a:cs typeface="Gill Sans MT"/>
              </a:rPr>
              <a:t>a</a:t>
            </a:r>
            <a:r>
              <a:rPr sz="2300" spc="-60" dirty="0">
                <a:latin typeface="Gill Sans MT"/>
                <a:cs typeface="Gill Sans MT"/>
              </a:rPr>
              <a:t>y</a:t>
            </a:r>
            <a:r>
              <a:rPr sz="2300" spc="-15" dirty="0">
                <a:latin typeface="Gill Sans MT"/>
                <a:cs typeface="Gill Sans MT"/>
              </a:rPr>
              <a:t>o</a:t>
            </a:r>
            <a:r>
              <a:rPr sz="2300" dirty="0">
                <a:latin typeface="Gill Sans MT"/>
                <a:cs typeface="Gill Sans MT"/>
              </a:rPr>
              <a:t>ff)</a:t>
            </a:r>
            <a:r>
              <a:rPr sz="2300" spc="-5" dirty="0">
                <a:latin typeface="Gill Sans MT"/>
                <a:cs typeface="Gill Sans MT"/>
              </a:rPr>
              <a:t> </a:t>
            </a:r>
            <a:r>
              <a:rPr sz="2300" dirty="0">
                <a:latin typeface="Gill Sans MT"/>
                <a:cs typeface="Gill Sans MT"/>
              </a:rPr>
              <a:t>experi</a:t>
            </a:r>
            <a:r>
              <a:rPr sz="2300" spc="-15" dirty="0">
                <a:latin typeface="Gill Sans MT"/>
                <a:cs typeface="Gill Sans MT"/>
              </a:rPr>
              <a:t>enced</a:t>
            </a:r>
            <a:r>
              <a:rPr sz="2300" dirty="0">
                <a:latin typeface="Gill Sans MT"/>
                <a:cs typeface="Gill Sans MT"/>
              </a:rPr>
              <a:t>;</a:t>
            </a:r>
            <a:endParaRPr sz="2300">
              <a:latin typeface="Gill Sans MT"/>
              <a:cs typeface="Gill Sans MT"/>
            </a:endParaRPr>
          </a:p>
          <a:p>
            <a:pPr marL="584200" marR="1220470" lvl="1" indent="-228600">
              <a:lnSpc>
                <a:spcPts val="2600"/>
              </a:lnSpc>
              <a:buFont typeface="Gill Sans MT"/>
              <a:buChar char="•"/>
              <a:tabLst>
                <a:tab pos="584200" algn="l"/>
              </a:tabLst>
            </a:pPr>
            <a:r>
              <a:rPr sz="2300" dirty="0">
                <a:latin typeface="Gill Sans MT"/>
                <a:cs typeface="Gill Sans MT"/>
              </a:rPr>
              <a:t>If</a:t>
            </a:r>
            <a:r>
              <a:rPr sz="2300" spc="-5" dirty="0">
                <a:latin typeface="Gill Sans MT"/>
                <a:cs typeface="Gill Sans MT"/>
              </a:rPr>
              <a:t> </a:t>
            </a:r>
            <a:r>
              <a:rPr sz="2300" spc="-10" dirty="0">
                <a:latin typeface="Gill Sans MT"/>
                <a:cs typeface="Gill Sans MT"/>
              </a:rPr>
              <a:t>a</a:t>
            </a:r>
            <a:r>
              <a:rPr sz="2300" dirty="0">
                <a:latin typeface="Gill Sans MT"/>
                <a:cs typeface="Gill Sans MT"/>
              </a:rPr>
              <a:t>n</a:t>
            </a:r>
            <a:r>
              <a:rPr sz="2300" spc="-5" dirty="0">
                <a:latin typeface="Gill Sans MT"/>
                <a:cs typeface="Gill Sans MT"/>
              </a:rPr>
              <a:t> </a:t>
            </a:r>
            <a:r>
              <a:rPr sz="2300" spc="-10" dirty="0">
                <a:latin typeface="Gill Sans MT"/>
                <a:cs typeface="Gill Sans MT"/>
              </a:rPr>
              <a:t>a</a:t>
            </a:r>
            <a:r>
              <a:rPr sz="2300" dirty="0">
                <a:latin typeface="Gill Sans MT"/>
                <a:cs typeface="Gill Sans MT"/>
              </a:rPr>
              <a:t>ct</a:t>
            </a:r>
            <a:r>
              <a:rPr sz="2300" spc="-5" dirty="0">
                <a:latin typeface="Gill Sans MT"/>
                <a:cs typeface="Gill Sans MT"/>
              </a:rPr>
              <a:t>i</a:t>
            </a:r>
            <a:r>
              <a:rPr sz="2300" spc="-15" dirty="0">
                <a:latin typeface="Gill Sans MT"/>
                <a:cs typeface="Gill Sans MT"/>
              </a:rPr>
              <a:t>o</a:t>
            </a:r>
            <a:r>
              <a:rPr sz="2300" dirty="0">
                <a:latin typeface="Gill Sans MT"/>
                <a:cs typeface="Gill Sans MT"/>
              </a:rPr>
              <a:t>n</a:t>
            </a:r>
            <a:r>
              <a:rPr sz="2300" spc="-5" dirty="0">
                <a:latin typeface="Gill Sans MT"/>
                <a:cs typeface="Gill Sans MT"/>
              </a:rPr>
              <a:t> </a:t>
            </a:r>
            <a:r>
              <a:rPr sz="2300" dirty="0">
                <a:latin typeface="Gill Sans MT"/>
                <a:cs typeface="Gill Sans MT"/>
              </a:rPr>
              <a:t>i</a:t>
            </a:r>
            <a:r>
              <a:rPr sz="2300" spc="-10" dirty="0">
                <a:latin typeface="Gill Sans MT"/>
                <a:cs typeface="Gill Sans MT"/>
              </a:rPr>
              <a:t>s</a:t>
            </a:r>
            <a:r>
              <a:rPr sz="2300" spc="-5" dirty="0">
                <a:latin typeface="Gill Sans MT"/>
                <a:cs typeface="Gill Sans MT"/>
              </a:rPr>
              <a:t> </a:t>
            </a:r>
            <a:r>
              <a:rPr sz="2300" spc="-15" dirty="0">
                <a:latin typeface="Gill Sans MT"/>
                <a:cs typeface="Gill Sans MT"/>
              </a:rPr>
              <a:t>no</a:t>
            </a:r>
            <a:r>
              <a:rPr sz="2300" dirty="0">
                <a:latin typeface="Gill Sans MT"/>
                <a:cs typeface="Gill Sans MT"/>
              </a:rPr>
              <a:t>t</a:t>
            </a:r>
            <a:r>
              <a:rPr sz="2300" spc="-5" dirty="0">
                <a:latin typeface="Gill Sans MT"/>
                <a:cs typeface="Gill Sans MT"/>
              </a:rPr>
              <a:t> </a:t>
            </a:r>
            <a:r>
              <a:rPr sz="2300" dirty="0">
                <a:latin typeface="Gill Sans MT"/>
                <a:cs typeface="Gill Sans MT"/>
              </a:rPr>
              <a:t>pi</a:t>
            </a:r>
            <a:r>
              <a:rPr sz="2300" spc="-10" dirty="0">
                <a:latin typeface="Gill Sans MT"/>
                <a:cs typeface="Gill Sans MT"/>
              </a:rPr>
              <a:t>c</a:t>
            </a:r>
            <a:r>
              <a:rPr sz="2300" spc="-85" dirty="0">
                <a:latin typeface="Gill Sans MT"/>
                <a:cs typeface="Gill Sans MT"/>
              </a:rPr>
              <a:t>k</a:t>
            </a:r>
            <a:r>
              <a:rPr sz="2300" spc="-15" dirty="0">
                <a:latin typeface="Gill Sans MT"/>
                <a:cs typeface="Gill Sans MT"/>
              </a:rPr>
              <a:t>ed</a:t>
            </a:r>
            <a:r>
              <a:rPr sz="2300" dirty="0">
                <a:latin typeface="Gill Sans MT"/>
                <a:cs typeface="Gill Sans MT"/>
              </a:rPr>
              <a:t>,</a:t>
            </a:r>
            <a:r>
              <a:rPr sz="2300" spc="-235" dirty="0">
                <a:latin typeface="Gill Sans MT"/>
                <a:cs typeface="Gill Sans MT"/>
              </a:rPr>
              <a:t> </a:t>
            </a:r>
            <a:r>
              <a:rPr sz="2300" dirty="0">
                <a:latin typeface="Gill Sans MT"/>
                <a:cs typeface="Gill Sans MT"/>
              </a:rPr>
              <a:t>i</a:t>
            </a:r>
            <a:r>
              <a:rPr sz="2300" spc="-10" dirty="0">
                <a:latin typeface="Gill Sans MT"/>
                <a:cs typeface="Gill Sans MT"/>
              </a:rPr>
              <a:t>ts</a:t>
            </a:r>
            <a:r>
              <a:rPr sz="2300" spc="-5" dirty="0">
                <a:latin typeface="Gill Sans MT"/>
                <a:cs typeface="Gill Sans MT"/>
              </a:rPr>
              <a:t> </a:t>
            </a:r>
            <a:r>
              <a:rPr sz="2300" spc="-15" dirty="0">
                <a:latin typeface="Gill Sans MT"/>
                <a:cs typeface="Gill Sans MT"/>
              </a:rPr>
              <a:t>p</a:t>
            </a:r>
            <a:r>
              <a:rPr sz="2300" spc="-70" dirty="0">
                <a:latin typeface="Gill Sans MT"/>
                <a:cs typeface="Gill Sans MT"/>
              </a:rPr>
              <a:t>r</a:t>
            </a:r>
            <a:r>
              <a:rPr sz="2300" spc="-15" dirty="0">
                <a:latin typeface="Gill Sans MT"/>
                <a:cs typeface="Gill Sans MT"/>
              </a:rPr>
              <a:t>oba</a:t>
            </a:r>
            <a:r>
              <a:rPr sz="2300" dirty="0">
                <a:latin typeface="Gill Sans MT"/>
                <a:cs typeface="Gill Sans MT"/>
              </a:rPr>
              <a:t>bili</a:t>
            </a:r>
            <a:r>
              <a:rPr sz="2300" spc="-10" dirty="0">
                <a:latin typeface="Gill Sans MT"/>
                <a:cs typeface="Gill Sans MT"/>
              </a:rPr>
              <a:t>ty</a:t>
            </a:r>
            <a:r>
              <a:rPr sz="2300" spc="-5" dirty="0">
                <a:latin typeface="Gill Sans MT"/>
                <a:cs typeface="Gill Sans MT"/>
              </a:rPr>
              <a:t> </a:t>
            </a:r>
            <a:r>
              <a:rPr sz="2300" dirty="0">
                <a:latin typeface="Gill Sans MT"/>
                <a:cs typeface="Gill Sans MT"/>
              </a:rPr>
              <a:t>i</a:t>
            </a:r>
            <a:r>
              <a:rPr sz="2300" spc="-10" dirty="0">
                <a:latin typeface="Gill Sans MT"/>
                <a:cs typeface="Gill Sans MT"/>
              </a:rPr>
              <a:t>s</a:t>
            </a:r>
            <a:r>
              <a:rPr sz="2300" spc="-5" dirty="0">
                <a:latin typeface="Gill Sans MT"/>
                <a:cs typeface="Gill Sans MT"/>
              </a:rPr>
              <a:t> </a:t>
            </a:r>
            <a:r>
              <a:rPr sz="2300" spc="-15" dirty="0">
                <a:latin typeface="Gill Sans MT"/>
                <a:cs typeface="Gill Sans MT"/>
              </a:rPr>
              <a:t>dec</a:t>
            </a:r>
            <a:r>
              <a:rPr sz="2300" spc="-60" dirty="0">
                <a:latin typeface="Gill Sans MT"/>
                <a:cs typeface="Gill Sans MT"/>
              </a:rPr>
              <a:t>r</a:t>
            </a:r>
            <a:r>
              <a:rPr sz="2300" spc="-15" dirty="0">
                <a:latin typeface="Gill Sans MT"/>
                <a:cs typeface="Gill Sans MT"/>
              </a:rPr>
              <a:t>eased</a:t>
            </a:r>
            <a:r>
              <a:rPr sz="2300" spc="-10" dirty="0">
                <a:latin typeface="Gill Sans MT"/>
                <a:cs typeface="Gill Sans MT"/>
              </a:rPr>
              <a:t> acco</a:t>
            </a:r>
            <a:r>
              <a:rPr sz="2300" spc="-45" dirty="0">
                <a:latin typeface="Gill Sans MT"/>
                <a:cs typeface="Gill Sans MT"/>
              </a:rPr>
              <a:t>r</a:t>
            </a:r>
            <a:r>
              <a:rPr sz="2300" spc="-15" dirty="0">
                <a:latin typeface="Gill Sans MT"/>
                <a:cs typeface="Gill Sans MT"/>
              </a:rPr>
              <a:t>d</a:t>
            </a:r>
            <a:r>
              <a:rPr sz="2300" dirty="0">
                <a:latin typeface="Gill Sans MT"/>
                <a:cs typeface="Gill Sans MT"/>
              </a:rPr>
              <a:t>i</a:t>
            </a:r>
            <a:r>
              <a:rPr sz="2300" spc="-15" dirty="0">
                <a:latin typeface="Gill Sans MT"/>
                <a:cs typeface="Gill Sans MT"/>
              </a:rPr>
              <a:t>ng</a:t>
            </a:r>
            <a:r>
              <a:rPr sz="2300" spc="-25" dirty="0">
                <a:latin typeface="Gill Sans MT"/>
                <a:cs typeface="Gill Sans MT"/>
              </a:rPr>
              <a:t>l</a:t>
            </a:r>
            <a:r>
              <a:rPr sz="2300" spc="-195" dirty="0">
                <a:latin typeface="Gill Sans MT"/>
                <a:cs typeface="Gill Sans MT"/>
              </a:rPr>
              <a:t>y</a:t>
            </a:r>
            <a:r>
              <a:rPr sz="2300" dirty="0">
                <a:latin typeface="Gill Sans MT"/>
                <a:cs typeface="Gill Sans MT"/>
              </a:rPr>
              <a:t>.</a:t>
            </a:r>
            <a:endParaRPr sz="2300">
              <a:latin typeface="Gill Sans MT"/>
              <a:cs typeface="Gill Sans MT"/>
            </a:endParaRPr>
          </a:p>
        </p:txBody>
      </p:sp>
      <p:sp>
        <p:nvSpPr>
          <p:cNvPr id="8" name="object 8"/>
          <p:cNvSpPr txBox="1"/>
          <p:nvPr/>
        </p:nvSpPr>
        <p:spPr>
          <a:xfrm>
            <a:off x="894848" y="5839723"/>
            <a:ext cx="5704840" cy="406400"/>
          </a:xfrm>
          <a:prstGeom prst="rect">
            <a:avLst/>
          </a:prstGeom>
        </p:spPr>
        <p:txBody>
          <a:bodyPr vert="horz" wrap="square" lIns="0" tIns="0" rIns="0" bIns="0" rtlCol="0">
            <a:spAutoFit/>
          </a:bodyPr>
          <a:lstStyle/>
          <a:p>
            <a:pPr marL="12700" marR="5080">
              <a:lnSpc>
                <a:spcPts val="1600"/>
              </a:lnSpc>
            </a:pPr>
            <a:r>
              <a:rPr sz="1400" i="1" spc="-10" dirty="0">
                <a:latin typeface="Times New Roman"/>
                <a:cs typeface="Times New Roman"/>
              </a:rPr>
              <a:t>Bö</a:t>
            </a:r>
            <a:r>
              <a:rPr sz="1400" i="1" spc="-55" dirty="0">
                <a:latin typeface="Times New Roman"/>
                <a:cs typeface="Times New Roman"/>
              </a:rPr>
              <a:t>r</a:t>
            </a:r>
            <a:r>
              <a:rPr sz="1400" i="1" spc="-10" dirty="0">
                <a:latin typeface="Times New Roman"/>
                <a:cs typeface="Times New Roman"/>
              </a:rPr>
              <a:t>ge</a:t>
            </a:r>
            <a:r>
              <a:rPr sz="1400" i="1" dirty="0">
                <a:latin typeface="Times New Roman"/>
                <a:cs typeface="Times New Roman"/>
              </a:rPr>
              <a:t>rs and Sar</a:t>
            </a:r>
            <a:r>
              <a:rPr sz="1400" i="1" spc="-5" dirty="0">
                <a:latin typeface="Times New Roman"/>
                <a:cs typeface="Times New Roman"/>
              </a:rPr>
              <a:t>i</a:t>
            </a:r>
            <a:r>
              <a:rPr sz="1400" i="1" dirty="0">
                <a:latin typeface="Times New Roman"/>
                <a:cs typeface="Times New Roman"/>
              </a:rPr>
              <a:t>n, L</a:t>
            </a:r>
            <a:r>
              <a:rPr sz="1400" i="1" spc="-10" dirty="0">
                <a:latin typeface="Times New Roman"/>
                <a:cs typeface="Times New Roman"/>
              </a:rPr>
              <a:t>e</a:t>
            </a:r>
            <a:r>
              <a:rPr sz="1400" i="1" dirty="0">
                <a:latin typeface="Times New Roman"/>
                <a:cs typeface="Times New Roman"/>
              </a:rPr>
              <a:t>ar</a:t>
            </a:r>
            <a:r>
              <a:rPr sz="1400" i="1" spc="-10" dirty="0">
                <a:latin typeface="Times New Roman"/>
                <a:cs typeface="Times New Roman"/>
              </a:rPr>
              <a:t>ni</a:t>
            </a:r>
            <a:r>
              <a:rPr sz="1400" i="1" dirty="0">
                <a:latin typeface="Times New Roman"/>
                <a:cs typeface="Times New Roman"/>
              </a:rPr>
              <a:t>ng Th</a:t>
            </a:r>
            <a:r>
              <a:rPr sz="1400" i="1" spc="-55" dirty="0">
                <a:latin typeface="Times New Roman"/>
                <a:cs typeface="Times New Roman"/>
              </a:rPr>
              <a:t>r</a:t>
            </a:r>
            <a:r>
              <a:rPr sz="1400" i="1" dirty="0">
                <a:latin typeface="Times New Roman"/>
                <a:cs typeface="Times New Roman"/>
              </a:rPr>
              <a:t>ough </a:t>
            </a:r>
            <a:r>
              <a:rPr sz="1400" i="1" spc="-10" dirty="0">
                <a:latin typeface="Times New Roman"/>
                <a:cs typeface="Times New Roman"/>
              </a:rPr>
              <a:t>Reinf</a:t>
            </a:r>
            <a:r>
              <a:rPr sz="1400" i="1" dirty="0">
                <a:latin typeface="Times New Roman"/>
                <a:cs typeface="Times New Roman"/>
              </a:rPr>
              <a:t>o</a:t>
            </a:r>
            <a:r>
              <a:rPr sz="1400" i="1" spc="-55" dirty="0">
                <a:latin typeface="Times New Roman"/>
                <a:cs typeface="Times New Roman"/>
              </a:rPr>
              <a:t>r</a:t>
            </a:r>
            <a:r>
              <a:rPr sz="1400" i="1" spc="-10" dirty="0">
                <a:latin typeface="Times New Roman"/>
                <a:cs typeface="Times New Roman"/>
              </a:rPr>
              <a:t>ce</a:t>
            </a:r>
            <a:r>
              <a:rPr sz="1400" i="1" dirty="0">
                <a:latin typeface="Times New Roman"/>
                <a:cs typeface="Times New Roman"/>
              </a:rPr>
              <a:t>m</a:t>
            </a:r>
            <a:r>
              <a:rPr sz="1400" i="1" spc="-10" dirty="0">
                <a:latin typeface="Times New Roman"/>
                <a:cs typeface="Times New Roman"/>
              </a:rPr>
              <a:t>ent</a:t>
            </a:r>
            <a:r>
              <a:rPr sz="1400" i="1" dirty="0">
                <a:latin typeface="Times New Roman"/>
                <a:cs typeface="Times New Roman"/>
              </a:rPr>
              <a:t> and </a:t>
            </a:r>
            <a:r>
              <a:rPr sz="1400" i="1" spc="-10" dirty="0">
                <a:latin typeface="Times New Roman"/>
                <a:cs typeface="Times New Roman"/>
              </a:rPr>
              <a:t>Replicat</a:t>
            </a:r>
            <a:r>
              <a:rPr sz="1400" i="1" dirty="0">
                <a:latin typeface="Times New Roman"/>
                <a:cs typeface="Times New Roman"/>
              </a:rPr>
              <a:t>or D</a:t>
            </a:r>
            <a:r>
              <a:rPr sz="1400" i="1" spc="-10" dirty="0">
                <a:latin typeface="Times New Roman"/>
                <a:cs typeface="Times New Roman"/>
              </a:rPr>
              <a:t>y</a:t>
            </a:r>
            <a:r>
              <a:rPr sz="1400" i="1" dirty="0">
                <a:latin typeface="Times New Roman"/>
                <a:cs typeface="Times New Roman"/>
              </a:rPr>
              <a:t>nam</a:t>
            </a:r>
            <a:r>
              <a:rPr sz="1400" i="1" spc="-5" dirty="0">
                <a:latin typeface="Times New Roman"/>
                <a:cs typeface="Times New Roman"/>
              </a:rPr>
              <a:t>ic</a:t>
            </a:r>
            <a:r>
              <a:rPr sz="1400" i="1" dirty="0">
                <a:latin typeface="Times New Roman"/>
                <a:cs typeface="Times New Roman"/>
              </a:rPr>
              <a:t>s, </a:t>
            </a:r>
            <a:r>
              <a:rPr sz="1400" i="1" spc="-10" dirty="0">
                <a:latin typeface="Times New Roman"/>
                <a:cs typeface="Times New Roman"/>
              </a:rPr>
              <a:t>J</a:t>
            </a:r>
            <a:r>
              <a:rPr sz="1400" i="1" dirty="0">
                <a:latin typeface="Times New Roman"/>
                <a:cs typeface="Times New Roman"/>
              </a:rPr>
              <a:t>our</a:t>
            </a:r>
            <a:r>
              <a:rPr sz="1400" i="1" spc="-10" dirty="0">
                <a:latin typeface="Times New Roman"/>
                <a:cs typeface="Times New Roman"/>
              </a:rPr>
              <a:t>nal</a:t>
            </a:r>
            <a:r>
              <a:rPr sz="1400" i="1" dirty="0">
                <a:latin typeface="Times New Roman"/>
                <a:cs typeface="Times New Roman"/>
              </a:rPr>
              <a:t> </a:t>
            </a:r>
            <a:r>
              <a:rPr sz="1400" i="1" spc="-10" dirty="0">
                <a:latin typeface="Times New Roman"/>
                <a:cs typeface="Times New Roman"/>
              </a:rPr>
              <a:t>of</a:t>
            </a:r>
            <a:r>
              <a:rPr sz="1400" i="1" dirty="0">
                <a:latin typeface="Times New Roman"/>
                <a:cs typeface="Times New Roman"/>
              </a:rPr>
              <a:t>  </a:t>
            </a:r>
            <a:r>
              <a:rPr sz="1400" i="1" spc="-10" dirty="0">
                <a:latin typeface="Times New Roman"/>
                <a:cs typeface="Times New Roman"/>
              </a:rPr>
              <a:t>ec</a:t>
            </a:r>
            <a:r>
              <a:rPr sz="1400" i="1" dirty="0">
                <a:latin typeface="Times New Roman"/>
                <a:cs typeface="Times New Roman"/>
              </a:rPr>
              <a:t>onom</a:t>
            </a:r>
            <a:r>
              <a:rPr sz="1400" i="1" spc="-5" dirty="0">
                <a:latin typeface="Times New Roman"/>
                <a:cs typeface="Times New Roman"/>
              </a:rPr>
              <a:t>ic</a:t>
            </a:r>
            <a:r>
              <a:rPr sz="1400" i="1" dirty="0">
                <a:latin typeface="Times New Roman"/>
                <a:cs typeface="Times New Roman"/>
              </a:rPr>
              <a:t> </a:t>
            </a:r>
            <a:r>
              <a:rPr sz="1400" i="1" spc="-10" dirty="0">
                <a:latin typeface="Times New Roman"/>
                <a:cs typeface="Times New Roman"/>
              </a:rPr>
              <a:t>the</a:t>
            </a:r>
            <a:r>
              <a:rPr sz="1400" i="1" dirty="0">
                <a:latin typeface="Times New Roman"/>
                <a:cs typeface="Times New Roman"/>
              </a:rPr>
              <a:t>or</a:t>
            </a:r>
            <a:r>
              <a:rPr sz="1400" i="1" spc="-10" dirty="0">
                <a:latin typeface="Times New Roman"/>
                <a:cs typeface="Times New Roman"/>
              </a:rPr>
              <a:t>y</a:t>
            </a:r>
            <a:r>
              <a:rPr sz="1400" i="1" dirty="0">
                <a:latin typeface="Times New Roman"/>
                <a:cs typeface="Times New Roman"/>
              </a:rPr>
              <a:t> 77,  </a:t>
            </a:r>
            <a:r>
              <a:rPr sz="1400" i="1" spc="-105" dirty="0">
                <a:latin typeface="Times New Roman"/>
                <a:cs typeface="Times New Roman"/>
              </a:rPr>
              <a:t>1</a:t>
            </a:r>
            <a:r>
              <a:rPr sz="1400" i="1" dirty="0">
                <a:latin typeface="Times New Roman"/>
                <a:cs typeface="Times New Roman"/>
              </a:rPr>
              <a:t>14 (1997)</a:t>
            </a:r>
            <a:endParaRPr sz="1400" dirty="0">
              <a:latin typeface="Times New Roman"/>
              <a:cs typeface="Times New Roman"/>
            </a:endParaRPr>
          </a:p>
        </p:txBody>
      </p:sp>
      <p:sp>
        <p:nvSpPr>
          <p:cNvPr id="9" name="object 9"/>
          <p:cNvSpPr/>
          <p:nvPr/>
        </p:nvSpPr>
        <p:spPr>
          <a:xfrm>
            <a:off x="821531" y="4481569"/>
            <a:ext cx="5280439" cy="1098058"/>
          </a:xfrm>
          <a:prstGeom prst="rect">
            <a:avLst/>
          </a:prstGeom>
          <a:blipFill>
            <a:blip r:embed="rId3" cstate="print"/>
            <a:stretch>
              <a:fillRect/>
            </a:stretch>
          </a:blipFill>
        </p:spPr>
        <p:txBody>
          <a:bodyPr wrap="square" lIns="0" tIns="0" rIns="0" bIns="0" rtlCol="0"/>
          <a:lstStyle/>
          <a:p>
            <a:endParaRPr/>
          </a:p>
        </p:txBody>
      </p:sp>
      <p:sp>
        <p:nvSpPr>
          <p:cNvPr id="10" name="Rectangle 9">
            <a:extLst>
              <a:ext uri="{FF2B5EF4-FFF2-40B4-BE49-F238E27FC236}">
                <a16:creationId xmlns:a16="http://schemas.microsoft.com/office/drawing/2014/main" id="{7B171E69-65AA-189A-8492-9A41120A430E}"/>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4124D848-5AF6-97EE-0719-2096A80D266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Slide Number Placeholder 8">
            <a:extLst>
              <a:ext uri="{FF2B5EF4-FFF2-40B4-BE49-F238E27FC236}">
                <a16:creationId xmlns:a16="http://schemas.microsoft.com/office/drawing/2014/main" id="{869E3B12-335F-0C86-2D30-CB44E0C9217A}"/>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13</a:t>
            </a:fld>
            <a:r>
              <a:rPr lang="en-US" sz="2000" dirty="0">
                <a:solidFill>
                  <a:prstClr val="black"/>
                </a:solidFill>
                <a:latin typeface="Comic Sans MS"/>
                <a:sym typeface="Comic Sans MS"/>
              </a:rPr>
              <a:t>/59</a:t>
            </a:r>
          </a:p>
        </p:txBody>
      </p:sp>
      <p:sp>
        <p:nvSpPr>
          <p:cNvPr id="13" name="Footer Placeholder 9">
            <a:extLst>
              <a:ext uri="{FF2B5EF4-FFF2-40B4-BE49-F238E27FC236}">
                <a16:creationId xmlns:a16="http://schemas.microsoft.com/office/drawing/2014/main" id="{64B460C9-3A80-DF0B-B23C-6D827DDFE2B9}"/>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4" name="Rectangle 13">
            <a:extLst>
              <a:ext uri="{FF2B5EF4-FFF2-40B4-BE49-F238E27FC236}">
                <a16:creationId xmlns:a16="http://schemas.microsoft.com/office/drawing/2014/main" id="{D62E1649-B980-A338-EBF4-7B957AC9C75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Cross</a:t>
            </a:r>
            <a:r>
              <a:rPr spc="-5" dirty="0"/>
              <a:t> </a:t>
            </a:r>
            <a:r>
              <a:rPr dirty="0"/>
              <a:t>Learning</a:t>
            </a:r>
            <a:r>
              <a:rPr spc="-5" dirty="0"/>
              <a:t> </a:t>
            </a:r>
            <a:r>
              <a:rPr dirty="0"/>
              <a:t>Dynamics</a:t>
            </a:r>
          </a:p>
        </p:txBody>
      </p:sp>
      <mc:AlternateContent xmlns:mc="http://schemas.openxmlformats.org/markup-compatibility/2006" xmlns:a14="http://schemas.microsoft.com/office/drawing/2010/main">
        <mc:Choice Requires="a14">
          <p:sp>
            <p:nvSpPr>
              <p:cNvPr id="6" name="object 6"/>
              <p:cNvSpPr txBox="1"/>
              <p:nvPr/>
            </p:nvSpPr>
            <p:spPr>
              <a:xfrm>
                <a:off x="349885" y="1980511"/>
                <a:ext cx="7346315" cy="1981889"/>
              </a:xfrm>
              <a:prstGeom prst="rect">
                <a:avLst/>
              </a:prstGeom>
            </p:spPr>
            <p:txBody>
              <a:bodyPr vert="horz" wrap="square" lIns="0" tIns="0" rIns="0" bIns="0" rtlCol="0">
                <a:spAutoFit/>
              </a:bodyPr>
              <a:lstStyle/>
              <a:p>
                <a:pPr marL="12700">
                  <a:lnSpc>
                    <a:spcPct val="100000"/>
                  </a:lnSpc>
                </a:pPr>
                <a:r>
                  <a:rPr lang="en-US" sz="2600" spc="-40" dirty="0">
                    <a:latin typeface="Gill Sans MT"/>
                    <a:cs typeface="Gill Sans MT"/>
                  </a:rPr>
                  <a:t>F</a:t>
                </a:r>
                <a:r>
                  <a:rPr lang="en-US" sz="2600" spc="-15" dirty="0">
                    <a:latin typeface="Gill Sans MT"/>
                    <a:cs typeface="Gill Sans MT"/>
                  </a:rPr>
                  <a:t>or</a:t>
                </a:r>
                <a:r>
                  <a:rPr lang="en-US" sz="2600" spc="-5" dirty="0">
                    <a:latin typeface="Gill Sans MT"/>
                    <a:cs typeface="Gill Sans MT"/>
                  </a:rPr>
                  <a:t> </a:t>
                </a:r>
                <a:r>
                  <a:rPr lang="en-US" sz="2600" spc="-15" dirty="0">
                    <a:latin typeface="Gill Sans MT"/>
                    <a:cs typeface="Gill Sans MT"/>
                  </a:rPr>
                  <a:t>a</a:t>
                </a:r>
                <a:r>
                  <a:rPr lang="en-US" sz="2600" spc="-5" dirty="0">
                    <a:latin typeface="Gill Sans MT"/>
                    <a:cs typeface="Gill Sans MT"/>
                  </a:rPr>
                  <a:t> </a:t>
                </a:r>
                <a:r>
                  <a:rPr lang="en-US" sz="2600" dirty="0">
                    <a:latin typeface="Gill Sans MT"/>
                    <a:cs typeface="Gill Sans MT"/>
                  </a:rPr>
                  <a:t>t</a:t>
                </a:r>
                <a:r>
                  <a:rPr lang="en-US" sz="2600" spc="-55" dirty="0">
                    <a:latin typeface="Gill Sans MT"/>
                    <a:cs typeface="Gill Sans MT"/>
                  </a:rPr>
                  <a:t>w</a:t>
                </a:r>
                <a:r>
                  <a:rPr lang="en-US" sz="2600" spc="-15" dirty="0">
                    <a:latin typeface="Gill Sans MT"/>
                    <a:cs typeface="Gill Sans MT"/>
                  </a:rPr>
                  <a:t>o</a:t>
                </a:r>
                <a:r>
                  <a:rPr lang="en-US" sz="2600" spc="-5" dirty="0">
                    <a:latin typeface="Gill Sans MT"/>
                    <a:cs typeface="Gill Sans MT"/>
                  </a:rPr>
                  <a:t>-</a:t>
                </a:r>
                <a:r>
                  <a:rPr lang="en-US" sz="2600" spc="-15" dirty="0">
                    <a:latin typeface="Gill Sans MT"/>
                    <a:cs typeface="Gill Sans MT"/>
                  </a:rPr>
                  <a:t>a</a:t>
                </a:r>
                <a:r>
                  <a:rPr lang="en-US" sz="2600" dirty="0">
                    <a:latin typeface="Gill Sans MT"/>
                    <a:cs typeface="Gill Sans MT"/>
                  </a:rPr>
                  <a:t>ct</a:t>
                </a:r>
                <a:r>
                  <a:rPr lang="en-US" sz="2600" spc="-5" dirty="0">
                    <a:latin typeface="Gill Sans MT"/>
                    <a:cs typeface="Gill Sans MT"/>
                  </a:rPr>
                  <a:t>i</a:t>
                </a:r>
                <a:r>
                  <a:rPr lang="en-US" sz="2600" spc="-15" dirty="0">
                    <a:latin typeface="Gill Sans MT"/>
                    <a:cs typeface="Gill Sans MT"/>
                  </a:rPr>
                  <a:t>o</a:t>
                </a:r>
                <a:r>
                  <a:rPr lang="en-US" sz="2600" dirty="0">
                    <a:latin typeface="Gill Sans MT"/>
                    <a:cs typeface="Gill Sans MT"/>
                  </a:rPr>
                  <a:t>n</a:t>
                </a:r>
                <a:r>
                  <a:rPr lang="en-US" sz="2600" spc="-5" dirty="0">
                    <a:latin typeface="Gill Sans MT"/>
                    <a:cs typeface="Gill Sans MT"/>
                  </a:rPr>
                  <a:t> </a:t>
                </a:r>
                <a:r>
                  <a:rPr lang="en-US" sz="2600" spc="-15" dirty="0">
                    <a:latin typeface="Gill Sans MT"/>
                    <a:cs typeface="Gill Sans MT"/>
                  </a:rPr>
                  <a:t>sys</a:t>
                </a:r>
                <a:r>
                  <a:rPr lang="en-US" sz="2600" dirty="0">
                    <a:latin typeface="Gill Sans MT"/>
                    <a:cs typeface="Gill Sans MT"/>
                  </a:rPr>
                  <a:t>tem,</a:t>
                </a:r>
                <a:r>
                  <a:rPr lang="en-US" sz="2600" spc="-265" dirty="0">
                    <a:latin typeface="Gill Sans MT"/>
                    <a:cs typeface="Gill Sans MT"/>
                  </a:rPr>
                  <a:t> </a:t>
                </a:r>
                <a:r>
                  <a:rPr lang="en-US" sz="2600" dirty="0">
                    <a:latin typeface="Gill Sans MT"/>
                    <a:cs typeface="Gill Sans MT"/>
                  </a:rPr>
                  <a:t>the</a:t>
                </a:r>
                <a:r>
                  <a:rPr lang="en-US" sz="2600" spc="-5" dirty="0">
                    <a:latin typeface="Gill Sans MT"/>
                    <a:cs typeface="Gill Sans MT"/>
                  </a:rPr>
                  <a:t> </a:t>
                </a:r>
                <a:r>
                  <a:rPr lang="en-US" sz="2600" dirty="0">
                    <a:latin typeface="Gill Sans MT"/>
                    <a:cs typeface="Gill Sans MT"/>
                  </a:rPr>
                  <a:t>pl</a:t>
                </a:r>
                <a:r>
                  <a:rPr lang="en-US" sz="2600" spc="-120" dirty="0">
                    <a:latin typeface="Gill Sans MT"/>
                    <a:cs typeface="Gill Sans MT"/>
                  </a:rPr>
                  <a:t>a</a:t>
                </a:r>
                <a:r>
                  <a:rPr lang="en-US" sz="2600" spc="-70" dirty="0">
                    <a:latin typeface="Gill Sans MT"/>
                    <a:cs typeface="Gill Sans MT"/>
                  </a:rPr>
                  <a:t>y</a:t>
                </a:r>
                <a:r>
                  <a:rPr lang="en-US" sz="2600" dirty="0">
                    <a:latin typeface="Gill Sans MT"/>
                    <a:cs typeface="Gill Sans MT"/>
                  </a:rPr>
                  <a:t>er</a:t>
                </a:r>
                <a:r>
                  <a:rPr lang="en-US" sz="2600" spc="-5" dirty="0">
                    <a:latin typeface="Gill Sans MT"/>
                    <a:cs typeface="Gill Sans MT"/>
                  </a:rPr>
                  <a:t> </a:t>
                </a:r>
                <a:r>
                  <a:rPr lang="en-US" sz="2600" spc="-15" dirty="0">
                    <a:latin typeface="Gill Sans MT"/>
                    <a:cs typeface="Gill Sans MT"/>
                  </a:rPr>
                  <a:t>o</a:t>
                </a:r>
                <a:r>
                  <a:rPr lang="en-US" sz="2600" dirty="0">
                    <a:latin typeface="Gill Sans MT"/>
                    <a:cs typeface="Gill Sans MT"/>
                  </a:rPr>
                  <a:t>n</a:t>
                </a:r>
                <a:r>
                  <a:rPr lang="en-US" sz="2600" spc="-30" dirty="0">
                    <a:latin typeface="Gill Sans MT"/>
                    <a:cs typeface="Gill Sans MT"/>
                  </a:rPr>
                  <a:t>l</a:t>
                </a:r>
                <a:r>
                  <a:rPr lang="en-US" sz="2600" spc="-15" dirty="0">
                    <a:latin typeface="Gill Sans MT"/>
                    <a:cs typeface="Gill Sans MT"/>
                  </a:rPr>
                  <a:t>y</a:t>
                </a:r>
                <a:r>
                  <a:rPr lang="en-US" sz="2600" spc="-5" dirty="0">
                    <a:latin typeface="Gill Sans MT"/>
                    <a:cs typeface="Gill Sans MT"/>
                  </a:rPr>
                  <a:t> </a:t>
                </a:r>
                <a:r>
                  <a:rPr lang="en-US" sz="2600" spc="-15" dirty="0">
                    <a:latin typeface="Gill Sans MT"/>
                    <a:cs typeface="Gill Sans MT"/>
                  </a:rPr>
                  <a:t>needs</a:t>
                </a:r>
                <a:r>
                  <a:rPr lang="en-US" sz="2600" spc="-5" dirty="0">
                    <a:latin typeface="Gill Sans MT"/>
                    <a:cs typeface="Gill Sans MT"/>
                  </a:rPr>
                  <a:t> </a:t>
                </a:r>
                <a:r>
                  <a:rPr lang="en-US" sz="2600" spc="-15" dirty="0">
                    <a:latin typeface="Gill Sans MT"/>
                    <a:cs typeface="Gill Sans MT"/>
                  </a:rPr>
                  <a:t>to</a:t>
                </a:r>
                <a:r>
                  <a:rPr lang="en-US" sz="2600" spc="-5" dirty="0">
                    <a:latin typeface="Gill Sans MT"/>
                    <a:cs typeface="Gill Sans MT"/>
                  </a:rPr>
                  <a:t> </a:t>
                </a:r>
                <a:r>
                  <a:rPr lang="en-US" sz="2600" spc="-80" dirty="0">
                    <a:latin typeface="Gill Sans MT"/>
                    <a:cs typeface="Gill Sans MT"/>
                  </a:rPr>
                  <a:t>k</a:t>
                </a:r>
                <a:r>
                  <a:rPr lang="en-US" sz="2600" dirty="0">
                    <a:latin typeface="Gill Sans MT"/>
                    <a:cs typeface="Gill Sans MT"/>
                  </a:rPr>
                  <a:t>eep </a:t>
                </a:r>
                <a:r>
                  <a:rPr lang="en-US" sz="2600" spc="-15" dirty="0">
                    <a:latin typeface="Gill Sans MT"/>
                    <a:cs typeface="Gill Sans MT"/>
                  </a:rPr>
                  <a:t>track</a:t>
                </a:r>
                <a:r>
                  <a:rPr lang="en-US" sz="2600" spc="-5" dirty="0">
                    <a:latin typeface="Gill Sans MT"/>
                    <a:cs typeface="Gill Sans MT"/>
                  </a:rPr>
                  <a:t> </a:t>
                </a:r>
                <a:r>
                  <a:rPr lang="en-US" sz="2600" spc="-15" dirty="0">
                    <a:latin typeface="Gill Sans MT"/>
                    <a:cs typeface="Gill Sans MT"/>
                  </a:rPr>
                  <a:t>o</a:t>
                </a:r>
                <a:r>
                  <a:rPr lang="en-US" sz="2600" dirty="0">
                    <a:latin typeface="Gill Sans MT"/>
                    <a:cs typeface="Gill Sans MT"/>
                  </a:rPr>
                  <a:t>f</a:t>
                </a:r>
                <a:r>
                  <a:rPr lang="en-US" sz="2600" spc="-5" dirty="0">
                    <a:latin typeface="Gill Sans MT"/>
                    <a:cs typeface="Gill Sans MT"/>
                  </a:rPr>
                  <a:t> </a:t>
                </a:r>
                <a:r>
                  <a:rPr lang="en-US" sz="2600" spc="-15" dirty="0">
                    <a:latin typeface="Gill Sans MT"/>
                    <a:cs typeface="Gill Sans MT"/>
                  </a:rPr>
                  <a:t>o</a:t>
                </a:r>
                <a:r>
                  <a:rPr lang="en-US" sz="2600" dirty="0">
                    <a:latin typeface="Gill Sans MT"/>
                    <a:cs typeface="Gill Sans MT"/>
                  </a:rPr>
                  <a:t>ne</a:t>
                </a:r>
                <a:r>
                  <a:rPr lang="en-US" sz="2600" spc="-5" dirty="0">
                    <a:latin typeface="Gill Sans MT"/>
                    <a:cs typeface="Gill Sans MT"/>
                  </a:rPr>
                  <a:t> </a:t>
                </a:r>
                <a:r>
                  <a:rPr lang="en-US" sz="2600" spc="-15" dirty="0">
                    <a:latin typeface="Gill Sans MT"/>
                    <a:cs typeface="Gill Sans MT"/>
                  </a:rPr>
                  <a:t>p</a:t>
                </a:r>
                <a:r>
                  <a:rPr lang="en-US" sz="2600" spc="-80" dirty="0">
                    <a:latin typeface="Gill Sans MT"/>
                    <a:cs typeface="Gill Sans MT"/>
                  </a:rPr>
                  <a:t>r</a:t>
                </a:r>
                <a:r>
                  <a:rPr lang="en-US" sz="2600" spc="-15" dirty="0">
                    <a:latin typeface="Gill Sans MT"/>
                    <a:cs typeface="Gill Sans MT"/>
                  </a:rPr>
                  <a:t>oba</a:t>
                </a:r>
                <a:r>
                  <a:rPr lang="en-US" sz="2600" dirty="0">
                    <a:latin typeface="Gill Sans MT"/>
                    <a:cs typeface="Gill Sans MT"/>
                  </a:rPr>
                  <a:t>bili</a:t>
                </a:r>
                <a:r>
                  <a:rPr lang="en-US" sz="2600" spc="-10" dirty="0">
                    <a:latin typeface="Gill Sans MT"/>
                    <a:cs typeface="Gill Sans MT"/>
                  </a:rPr>
                  <a:t>ty</a:t>
                </a:r>
                <a:r>
                  <a:rPr lang="en-US" sz="2600" spc="-5" dirty="0">
                    <a:latin typeface="Gill Sans MT"/>
                    <a:cs typeface="Gill Sans MT"/>
                  </a:rPr>
                  <a:t> </a:t>
                </a:r>
                <a:r>
                  <a:rPr lang="en-US" sz="2600" spc="-10" dirty="0">
                    <a:latin typeface="Gill Sans MT"/>
                    <a:cs typeface="Gill Sans MT"/>
                  </a:rPr>
                  <a:t>s</a:t>
                </a:r>
                <a:r>
                  <a:rPr lang="en-US" sz="2600" dirty="0">
                    <a:latin typeface="Gill Sans MT"/>
                    <a:cs typeface="Gill Sans MT"/>
                  </a:rPr>
                  <a:t>i</a:t>
                </a:r>
                <a:r>
                  <a:rPr lang="en-US" sz="2600" spc="-15" dirty="0">
                    <a:latin typeface="Gill Sans MT"/>
                    <a:cs typeface="Gill Sans MT"/>
                  </a:rPr>
                  <a:t>nce</a:t>
                </a:r>
                <a:r>
                  <a:rPr lang="en-US" sz="2600" spc="-5" dirty="0">
                    <a:latin typeface="Gill Sans MT"/>
                    <a:cs typeface="Gill Sans MT"/>
                  </a:rPr>
                  <a:t> </a:t>
                </a:r>
                <a14:m>
                  <m:oMath xmlns:m="http://schemas.openxmlformats.org/officeDocument/2006/math">
                    <m:sSubSup>
                      <m:sSubSupPr>
                        <m:ctrlPr>
                          <a:rPr lang="en-US" sz="2600" b="0" i="1" spc="-5" smtClean="0">
                            <a:latin typeface="Cambria Math" panose="02040503050406030204" pitchFamily="18" charset="0"/>
                            <a:cs typeface="Gill Sans MT"/>
                          </a:rPr>
                        </m:ctrlPr>
                      </m:sSubSupPr>
                      <m:e>
                        <m:r>
                          <a:rPr lang="en-US" sz="2600" b="0" i="1" spc="-5" smtClean="0">
                            <a:latin typeface="Cambria Math" panose="02040503050406030204" pitchFamily="18" charset="0"/>
                            <a:cs typeface="Gill Sans MT"/>
                          </a:rPr>
                          <m:t>𝑝</m:t>
                        </m:r>
                      </m:e>
                      <m:sub>
                        <m:r>
                          <a:rPr lang="en-US" sz="2600" b="0" i="1" spc="-5" smtClean="0">
                            <a:latin typeface="Cambria Math" panose="02040503050406030204" pitchFamily="18" charset="0"/>
                            <a:cs typeface="Gill Sans MT"/>
                          </a:rPr>
                          <m:t>2</m:t>
                        </m:r>
                      </m:sub>
                      <m:sup>
                        <m:r>
                          <a:rPr lang="en-US" sz="2600" b="0" i="1" spc="-5" smtClean="0">
                            <a:latin typeface="Cambria Math" panose="02040503050406030204" pitchFamily="18" charset="0"/>
                            <a:cs typeface="Gill Sans MT"/>
                          </a:rPr>
                          <m:t>𝑖</m:t>
                        </m:r>
                      </m:sup>
                    </m:sSubSup>
                    <m:r>
                      <a:rPr lang="en-US" sz="2600" b="0" i="1" spc="-5" smtClean="0">
                        <a:latin typeface="Cambria Math" panose="02040503050406030204" pitchFamily="18" charset="0"/>
                        <a:cs typeface="Gill Sans MT"/>
                      </a:rPr>
                      <m:t>=</m:t>
                    </m:r>
                    <m:r>
                      <a:rPr lang="en-US" sz="2600" b="0" i="1" spc="-5" smtClean="0">
                        <a:latin typeface="Cambria Math" panose="02040503050406030204" pitchFamily="18" charset="0"/>
                        <a:cs typeface="Gill Sans MT"/>
                      </a:rPr>
                      <m:t>1</m:t>
                    </m:r>
                    <m:r>
                      <a:rPr lang="en-US" sz="2600" b="0" i="1" spc="-5" smtClean="0">
                        <a:latin typeface="Cambria Math" panose="02040503050406030204" pitchFamily="18" charset="0"/>
                        <a:cs typeface="Gill Sans MT"/>
                      </a:rPr>
                      <m:t>−</m:t>
                    </m:r>
                    <m:sSubSup>
                      <m:sSubSupPr>
                        <m:ctrlPr>
                          <a:rPr lang="en-US" sz="2600" b="0" i="1" spc="-5" smtClean="0">
                            <a:latin typeface="Cambria Math" panose="02040503050406030204" pitchFamily="18" charset="0"/>
                            <a:cs typeface="Gill Sans MT"/>
                          </a:rPr>
                        </m:ctrlPr>
                      </m:sSubSupPr>
                      <m:e>
                        <m:r>
                          <a:rPr lang="en-US" sz="2600" b="0" i="1" spc="-5" smtClean="0">
                            <a:latin typeface="Cambria Math" panose="02040503050406030204" pitchFamily="18" charset="0"/>
                            <a:cs typeface="Gill Sans MT"/>
                          </a:rPr>
                          <m:t>𝑝</m:t>
                        </m:r>
                      </m:e>
                      <m:sub>
                        <m:r>
                          <a:rPr lang="en-US" sz="2600" b="0" i="1" spc="-5" smtClean="0">
                            <a:latin typeface="Cambria Math" panose="02040503050406030204" pitchFamily="18" charset="0"/>
                            <a:cs typeface="Gill Sans MT"/>
                          </a:rPr>
                          <m:t>1</m:t>
                        </m:r>
                      </m:sub>
                      <m:sup>
                        <m:r>
                          <a:rPr lang="en-US" sz="2600" b="0" i="1" spc="-5" smtClean="0">
                            <a:latin typeface="Cambria Math" panose="02040503050406030204" pitchFamily="18" charset="0"/>
                            <a:cs typeface="Gill Sans MT"/>
                          </a:rPr>
                          <m:t>𝑖</m:t>
                        </m:r>
                      </m:sup>
                    </m:sSubSup>
                  </m:oMath>
                </a14:m>
                <a:r>
                  <a:rPr lang="en-US" sz="2600" dirty="0">
                    <a:latin typeface="Gill Sans MT"/>
                    <a:cs typeface="Gill Sans MT"/>
                  </a:rPr>
                  <a:t>.</a:t>
                </a:r>
                <a:r>
                  <a:rPr lang="en-US" sz="2600" spc="-265" dirty="0">
                    <a:latin typeface="Gill Sans MT"/>
                    <a:cs typeface="Gill Sans MT"/>
                  </a:rPr>
                  <a:t> </a:t>
                </a:r>
                <a:r>
                  <a:rPr lang="en-US" sz="2600" dirty="0">
                    <a:latin typeface="Gill Sans MT"/>
                    <a:cs typeface="Gill Sans MT"/>
                  </a:rPr>
                  <a:t>Let</a:t>
                </a:r>
                <a:r>
                  <a:rPr lang="en-US" sz="2600" spc="-5" dirty="0">
                    <a:latin typeface="Gill Sans MT"/>
                    <a:cs typeface="Gill Sans MT"/>
                  </a:rPr>
                  <a:t> </a:t>
                </a:r>
                <a:r>
                  <a:rPr lang="en-US" sz="2600" dirty="0">
                    <a:latin typeface="Gill Sans MT"/>
                    <a:cs typeface="Gill Sans MT"/>
                  </a:rPr>
                  <a:t>the</a:t>
                </a:r>
                <a:r>
                  <a:rPr lang="en-US" sz="2600" spc="-5" dirty="0">
                    <a:latin typeface="Gill Sans MT"/>
                    <a:cs typeface="Gill Sans MT"/>
                  </a:rPr>
                  <a:t> </a:t>
                </a:r>
                <a:r>
                  <a:rPr lang="en-US" sz="2600" spc="-15" dirty="0">
                    <a:latin typeface="Gill Sans MT"/>
                    <a:cs typeface="Gill Sans MT"/>
                  </a:rPr>
                  <a:t>second </a:t>
                </a:r>
                <a:r>
                  <a:rPr lang="en-US" sz="2600" dirty="0">
                    <a:latin typeface="Gill Sans MT"/>
                    <a:cs typeface="Gill Sans MT"/>
                  </a:rPr>
                  <a:t>pl</a:t>
                </a:r>
                <a:r>
                  <a:rPr lang="en-US" sz="2600" spc="-120" dirty="0">
                    <a:latin typeface="Gill Sans MT"/>
                    <a:cs typeface="Gill Sans MT"/>
                  </a:rPr>
                  <a:t>a</a:t>
                </a:r>
                <a:r>
                  <a:rPr lang="en-US" sz="2600" spc="-70" dirty="0">
                    <a:latin typeface="Gill Sans MT"/>
                    <a:cs typeface="Gill Sans MT"/>
                  </a:rPr>
                  <a:t>y</a:t>
                </a:r>
                <a:r>
                  <a:rPr lang="en-US" sz="2600" dirty="0">
                    <a:latin typeface="Gill Sans MT"/>
                    <a:cs typeface="Gill Sans MT"/>
                  </a:rPr>
                  <a:t>er</a:t>
                </a:r>
                <a:r>
                  <a:rPr lang="en-US" sz="2600" spc="-210" dirty="0">
                    <a:latin typeface="Gill Sans MT"/>
                    <a:cs typeface="Gill Sans MT"/>
                  </a:rPr>
                  <a:t>’</a:t>
                </a:r>
                <a:r>
                  <a:rPr lang="en-US" sz="2600" spc="-10" dirty="0">
                    <a:latin typeface="Gill Sans MT"/>
                    <a:cs typeface="Gill Sans MT"/>
                  </a:rPr>
                  <a:t>s</a:t>
                </a:r>
                <a:r>
                  <a:rPr lang="en-US" sz="2600" spc="-5" dirty="0">
                    <a:latin typeface="Gill Sans MT"/>
                    <a:cs typeface="Gill Sans MT"/>
                  </a:rPr>
                  <a:t> </a:t>
                </a:r>
                <a:r>
                  <a:rPr lang="en-US" sz="2600" spc="-15" dirty="0">
                    <a:latin typeface="Gill Sans MT"/>
                    <a:cs typeface="Gill Sans MT"/>
                  </a:rPr>
                  <a:t>a</a:t>
                </a:r>
                <a:r>
                  <a:rPr lang="en-US" sz="2600" dirty="0">
                    <a:latin typeface="Gill Sans MT"/>
                    <a:cs typeface="Gill Sans MT"/>
                  </a:rPr>
                  <a:t>ct</a:t>
                </a:r>
                <a:r>
                  <a:rPr lang="en-US" sz="2600" spc="-5" dirty="0">
                    <a:latin typeface="Gill Sans MT"/>
                    <a:cs typeface="Gill Sans MT"/>
                  </a:rPr>
                  <a:t>i</a:t>
                </a:r>
                <a:r>
                  <a:rPr lang="en-US" sz="2600" spc="-15" dirty="0">
                    <a:latin typeface="Gill Sans MT"/>
                    <a:cs typeface="Gill Sans MT"/>
                  </a:rPr>
                  <a:t>o</a:t>
                </a:r>
                <a:r>
                  <a:rPr lang="en-US" sz="2600" dirty="0">
                    <a:latin typeface="Gill Sans MT"/>
                    <a:cs typeface="Gill Sans MT"/>
                  </a:rPr>
                  <a:t>n</a:t>
                </a:r>
                <a:r>
                  <a:rPr lang="en-US" sz="2600" spc="-5" dirty="0">
                    <a:latin typeface="Gill Sans MT"/>
                    <a:cs typeface="Gill Sans MT"/>
                  </a:rPr>
                  <a:t> </a:t>
                </a:r>
                <a:r>
                  <a:rPr lang="en-US" sz="2600" dirty="0">
                    <a:latin typeface="Gill Sans MT"/>
                    <a:cs typeface="Gill Sans MT"/>
                  </a:rPr>
                  <a:t>be</a:t>
                </a:r>
                <a:r>
                  <a:rPr lang="en-US" sz="2600" spc="-5" dirty="0">
                    <a:latin typeface="Gill Sans MT"/>
                    <a:cs typeface="Gill Sans MT"/>
                  </a:rPr>
                  <a:t> </a:t>
                </a:r>
                <a:r>
                  <a:rPr lang="en-US" sz="2600" i="1" dirty="0">
                    <a:latin typeface="Gill Sans MT"/>
                    <a:cs typeface="Gill Sans MT"/>
                  </a:rPr>
                  <a:t>k</a:t>
                </a:r>
              </a:p>
              <a:p>
                <a:pPr marL="12700">
                  <a:lnSpc>
                    <a:spcPct val="100000"/>
                  </a:lnSpc>
                  <a:spcBef>
                    <a:spcPts val="2400"/>
                  </a:spcBef>
                </a:pPr>
                <a14:m>
                  <m:oMath xmlns:m="http://schemas.openxmlformats.org/officeDocument/2006/math">
                    <m:sSubSup>
                      <m:sSubSupPr>
                        <m:ctrlPr>
                          <a:rPr lang="en-US" sz="2600" b="0" i="1" smtClean="0">
                            <a:latin typeface="Cambria Math" panose="02040503050406030204" pitchFamily="18" charset="0"/>
                            <a:cs typeface="Gill Sans MT"/>
                          </a:rPr>
                        </m:ctrlPr>
                      </m:sSubSupPr>
                      <m:e>
                        <m:r>
                          <a:rPr lang="en-US" sz="2600" b="0" i="1" smtClean="0">
                            <a:latin typeface="Cambria Math" panose="02040503050406030204" pitchFamily="18" charset="0"/>
                            <a:cs typeface="Gill Sans MT"/>
                          </a:rPr>
                          <m:t>𝑝</m:t>
                        </m:r>
                      </m:e>
                      <m:sub>
                        <m:r>
                          <a:rPr lang="en-US" sz="2600" b="0" i="1" smtClean="0">
                            <a:latin typeface="Cambria Math" panose="02040503050406030204" pitchFamily="18" charset="0"/>
                            <a:cs typeface="Gill Sans MT"/>
                          </a:rPr>
                          <m:t>1</m:t>
                        </m:r>
                      </m:sub>
                      <m:sup>
                        <m:r>
                          <a:rPr lang="en-US" sz="2600" b="0" i="1" smtClean="0">
                            <a:latin typeface="Cambria Math" panose="02040503050406030204" pitchFamily="18" charset="0"/>
                            <a:cs typeface="Gill Sans MT"/>
                          </a:rPr>
                          <m:t>𝑖</m:t>
                        </m:r>
                      </m:sup>
                    </m:sSubSup>
                    <m:r>
                      <a:rPr lang="en-US" sz="2600" b="0" i="1" smtClean="0">
                        <a:latin typeface="Cambria Math" panose="02040503050406030204" pitchFamily="18" charset="0"/>
                        <a:ea typeface="Cambria Math" panose="02040503050406030204" pitchFamily="18" charset="0"/>
                        <a:cs typeface="Gill Sans MT"/>
                      </a:rPr>
                      <m:t>⟵</m:t>
                    </m:r>
                    <m:sSub>
                      <m:sSubPr>
                        <m:ctrlPr>
                          <a:rPr lang="en-US" sz="2600" b="0" i="1" smtClean="0">
                            <a:latin typeface="Cambria Math" panose="02040503050406030204" pitchFamily="18" charset="0"/>
                            <a:ea typeface="Cambria Math" panose="02040503050406030204" pitchFamily="18" charset="0"/>
                            <a:cs typeface="Gill Sans MT"/>
                          </a:rPr>
                        </m:ctrlPr>
                      </m:sSubPr>
                      <m:e>
                        <m:r>
                          <a:rPr lang="en-US" sz="2600" b="0" i="1" smtClean="0">
                            <a:latin typeface="Cambria Math" panose="02040503050406030204" pitchFamily="18" charset="0"/>
                            <a:ea typeface="Cambria Math" panose="02040503050406030204" pitchFamily="18" charset="0"/>
                            <a:cs typeface="Gill Sans MT"/>
                          </a:rPr>
                          <m:t>𝑈</m:t>
                        </m:r>
                      </m:e>
                      <m:sub>
                        <m:r>
                          <a:rPr lang="en-US" sz="2600" b="0" i="1" smtClean="0">
                            <a:latin typeface="Cambria Math" panose="02040503050406030204" pitchFamily="18" charset="0"/>
                            <a:ea typeface="Cambria Math" panose="02040503050406030204" pitchFamily="18" charset="0"/>
                            <a:cs typeface="Gill Sans MT"/>
                          </a:rPr>
                          <m:t>1</m:t>
                        </m:r>
                        <m:r>
                          <a:rPr lang="en-US" sz="2600" b="0" i="1" smtClean="0">
                            <a:latin typeface="Cambria Math" panose="02040503050406030204" pitchFamily="18" charset="0"/>
                            <a:ea typeface="Cambria Math" panose="02040503050406030204" pitchFamily="18" charset="0"/>
                            <a:cs typeface="Gill Sans MT"/>
                          </a:rPr>
                          <m:t>,</m:t>
                        </m:r>
                        <m:r>
                          <a:rPr lang="en-US" sz="2600" b="0" i="1" smtClean="0">
                            <a:latin typeface="Cambria Math" panose="02040503050406030204" pitchFamily="18" charset="0"/>
                            <a:ea typeface="Cambria Math" panose="02040503050406030204" pitchFamily="18" charset="0"/>
                            <a:cs typeface="Gill Sans MT"/>
                          </a:rPr>
                          <m:t>𝑘</m:t>
                        </m:r>
                      </m:sub>
                    </m:sSub>
                    <m:r>
                      <a:rPr lang="en-US" sz="2600" b="0" i="1" smtClean="0">
                        <a:latin typeface="Cambria Math" panose="02040503050406030204" pitchFamily="18" charset="0"/>
                        <a:ea typeface="Cambria Math" panose="02040503050406030204" pitchFamily="18" charset="0"/>
                        <a:cs typeface="Gill Sans MT"/>
                      </a:rPr>
                      <m:t>+</m:t>
                    </m:r>
                    <m:d>
                      <m:dPr>
                        <m:ctrlPr>
                          <a:rPr lang="en-US" sz="2600" b="0" i="1" smtClean="0">
                            <a:latin typeface="Cambria Math" panose="02040503050406030204" pitchFamily="18" charset="0"/>
                            <a:ea typeface="Cambria Math" panose="02040503050406030204" pitchFamily="18" charset="0"/>
                            <a:cs typeface="Gill Sans MT"/>
                          </a:rPr>
                        </m:ctrlPr>
                      </m:dPr>
                      <m:e>
                        <m:r>
                          <a:rPr lang="en-US" sz="2600" b="0" i="1" smtClean="0">
                            <a:latin typeface="Cambria Math" panose="02040503050406030204" pitchFamily="18" charset="0"/>
                            <a:ea typeface="Cambria Math" panose="02040503050406030204" pitchFamily="18" charset="0"/>
                            <a:cs typeface="Gill Sans MT"/>
                          </a:rPr>
                          <m:t>1</m:t>
                        </m:r>
                        <m:r>
                          <a:rPr lang="en-US" sz="2600" b="0" i="1" smtClean="0">
                            <a:latin typeface="Cambria Math" panose="02040503050406030204" pitchFamily="18" charset="0"/>
                            <a:ea typeface="Cambria Math" panose="02040503050406030204" pitchFamily="18" charset="0"/>
                            <a:cs typeface="Gill Sans MT"/>
                          </a:rPr>
                          <m:t>−</m:t>
                        </m:r>
                        <m:sSub>
                          <m:sSubPr>
                            <m:ctrlPr>
                              <a:rPr lang="en-US" sz="2600" b="0" i="1" smtClean="0">
                                <a:latin typeface="Cambria Math" panose="02040503050406030204" pitchFamily="18" charset="0"/>
                                <a:ea typeface="Cambria Math" panose="02040503050406030204" pitchFamily="18" charset="0"/>
                                <a:cs typeface="Gill Sans MT"/>
                              </a:rPr>
                            </m:ctrlPr>
                          </m:sSubPr>
                          <m:e>
                            <m:r>
                              <a:rPr lang="en-US" sz="2600" b="0" i="1" smtClean="0">
                                <a:latin typeface="Cambria Math" panose="02040503050406030204" pitchFamily="18" charset="0"/>
                                <a:ea typeface="Cambria Math" panose="02040503050406030204" pitchFamily="18" charset="0"/>
                                <a:cs typeface="Gill Sans MT"/>
                              </a:rPr>
                              <m:t>𝑈</m:t>
                            </m:r>
                          </m:e>
                          <m:sub>
                            <m:r>
                              <a:rPr lang="en-US" sz="2600" b="0" i="1" smtClean="0">
                                <a:latin typeface="Cambria Math" panose="02040503050406030204" pitchFamily="18" charset="0"/>
                                <a:ea typeface="Cambria Math" panose="02040503050406030204" pitchFamily="18" charset="0"/>
                                <a:cs typeface="Gill Sans MT"/>
                              </a:rPr>
                              <m:t>1</m:t>
                            </m:r>
                            <m:r>
                              <a:rPr lang="en-US" sz="2600" b="0" i="1" smtClean="0">
                                <a:latin typeface="Cambria Math" panose="02040503050406030204" pitchFamily="18" charset="0"/>
                                <a:ea typeface="Cambria Math" panose="02040503050406030204" pitchFamily="18" charset="0"/>
                                <a:cs typeface="Gill Sans MT"/>
                              </a:rPr>
                              <m:t>,</m:t>
                            </m:r>
                            <m:r>
                              <a:rPr lang="en-US" sz="2600" b="0" i="1" smtClean="0">
                                <a:latin typeface="Cambria Math" panose="02040503050406030204" pitchFamily="18" charset="0"/>
                                <a:ea typeface="Cambria Math" panose="02040503050406030204" pitchFamily="18" charset="0"/>
                                <a:cs typeface="Gill Sans MT"/>
                              </a:rPr>
                              <m:t>𝑘</m:t>
                            </m:r>
                          </m:sub>
                        </m:sSub>
                      </m:e>
                    </m:d>
                    <m:r>
                      <a:rPr lang="en-US" sz="2600" b="0" i="1" smtClean="0">
                        <a:latin typeface="Cambria Math" panose="02040503050406030204" pitchFamily="18" charset="0"/>
                        <a:ea typeface="Cambria Math" panose="02040503050406030204" pitchFamily="18" charset="0"/>
                        <a:cs typeface="Gill Sans MT"/>
                      </a:rPr>
                      <m:t>.</m:t>
                    </m:r>
                    <m:sSubSup>
                      <m:sSubSupPr>
                        <m:ctrlPr>
                          <a:rPr lang="en-US" sz="2600" b="0" i="1" smtClean="0">
                            <a:latin typeface="Cambria Math" panose="02040503050406030204" pitchFamily="18" charset="0"/>
                            <a:ea typeface="Cambria Math" panose="02040503050406030204" pitchFamily="18" charset="0"/>
                            <a:cs typeface="Gill Sans MT"/>
                          </a:rPr>
                        </m:ctrlPr>
                      </m:sSubSupPr>
                      <m:e>
                        <m:r>
                          <a:rPr lang="en-US" sz="2600" b="0" i="1" smtClean="0">
                            <a:latin typeface="Cambria Math" panose="02040503050406030204" pitchFamily="18" charset="0"/>
                            <a:ea typeface="Cambria Math" panose="02040503050406030204" pitchFamily="18" charset="0"/>
                            <a:cs typeface="Gill Sans MT"/>
                          </a:rPr>
                          <m:t>𝑝</m:t>
                        </m:r>
                      </m:e>
                      <m:sub>
                        <m:r>
                          <a:rPr lang="en-US" sz="2600" b="0" i="1" smtClean="0">
                            <a:latin typeface="Cambria Math" panose="02040503050406030204" pitchFamily="18" charset="0"/>
                            <a:ea typeface="Cambria Math" panose="02040503050406030204" pitchFamily="18" charset="0"/>
                            <a:cs typeface="Gill Sans MT"/>
                          </a:rPr>
                          <m:t>1</m:t>
                        </m:r>
                      </m:sub>
                      <m:sup>
                        <m:r>
                          <a:rPr lang="en-US" sz="2600" b="0" i="1" smtClean="0">
                            <a:latin typeface="Cambria Math" panose="02040503050406030204" pitchFamily="18" charset="0"/>
                            <a:ea typeface="Cambria Math" panose="02040503050406030204" pitchFamily="18" charset="0"/>
                            <a:cs typeface="Gill Sans MT"/>
                          </a:rPr>
                          <m:t>𝑖</m:t>
                        </m:r>
                      </m:sup>
                    </m:sSubSup>
                  </m:oMath>
                </a14:m>
                <a:r>
                  <a:rPr lang="en-US" sz="2600" dirty="0">
                    <a:latin typeface="Gill Sans MT"/>
                    <a:cs typeface="Gill Sans MT"/>
                  </a:rPr>
                  <a:t> </a:t>
                </a:r>
                <a:endParaRPr sz="2600" dirty="0">
                  <a:latin typeface="Gill Sans MT"/>
                  <a:cs typeface="Gill Sans MT"/>
                </a:endParaRPr>
              </a:p>
            </p:txBody>
          </p:sp>
        </mc:Choice>
        <mc:Fallback xmlns="">
          <p:sp>
            <p:nvSpPr>
              <p:cNvPr id="6" name="object 6"/>
              <p:cNvSpPr txBox="1">
                <a:spLocks noRot="1" noChangeAspect="1" noMove="1" noResize="1" noEditPoints="1" noAdjustHandles="1" noChangeArrowheads="1" noChangeShapeType="1" noTextEdit="1"/>
              </p:cNvSpPr>
              <p:nvPr/>
            </p:nvSpPr>
            <p:spPr>
              <a:xfrm>
                <a:off x="349885" y="1980511"/>
                <a:ext cx="7346315" cy="1981889"/>
              </a:xfrm>
              <a:prstGeom prst="rect">
                <a:avLst/>
              </a:prstGeom>
              <a:blipFill>
                <a:blip r:embed="rId3"/>
                <a:stretch>
                  <a:fillRect l="-2570" t="-5231" r="-21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9"/>
              <p:cNvSpPr txBox="1"/>
              <p:nvPr/>
            </p:nvSpPr>
            <p:spPr>
              <a:xfrm>
                <a:off x="430857" y="4379580"/>
                <a:ext cx="7720965" cy="769441"/>
              </a:xfrm>
              <a:prstGeom prst="rect">
                <a:avLst/>
              </a:prstGeom>
            </p:spPr>
            <p:txBody>
              <a:bodyPr vert="horz" wrap="square" lIns="0" tIns="0" rIns="0" bIns="0" rtlCol="0">
                <a:spAutoFit/>
              </a:bodyPr>
              <a:lstStyle/>
              <a:p>
                <a:pPr marL="12700" marR="5080">
                  <a:lnSpc>
                    <a:spcPts val="3000"/>
                  </a:lnSpc>
                </a:pPr>
                <a:r>
                  <a:rPr sz="2600" dirty="0">
                    <a:latin typeface="Gill Sans MT"/>
                    <a:cs typeface="Gill Sans MT"/>
                  </a:rPr>
                  <a:t>i.e</a:t>
                </a:r>
                <a:r>
                  <a:rPr sz="2600" spc="-5" dirty="0">
                    <a:latin typeface="Gill Sans MT"/>
                    <a:cs typeface="Gill Sans MT"/>
                  </a:rPr>
                  <a:t> </a:t>
                </a:r>
                <a:r>
                  <a:rPr sz="2600" dirty="0">
                    <a:latin typeface="Gill Sans MT"/>
                    <a:cs typeface="Gill Sans MT"/>
                  </a:rPr>
                  <a:t>thi</a:t>
                </a:r>
                <a:r>
                  <a:rPr sz="2600" spc="-10" dirty="0">
                    <a:latin typeface="Gill Sans MT"/>
                    <a:cs typeface="Gill Sans MT"/>
                  </a:rPr>
                  <a:t>s</a:t>
                </a:r>
                <a:r>
                  <a:rPr sz="2600" spc="-5" dirty="0">
                    <a:latin typeface="Gill Sans MT"/>
                    <a:cs typeface="Gill Sans MT"/>
                  </a:rPr>
                  <a:t> </a:t>
                </a:r>
                <a:r>
                  <a:rPr sz="2600" spc="-15" dirty="0">
                    <a:latin typeface="Gill Sans MT"/>
                    <a:cs typeface="Gill Sans MT"/>
                  </a:rPr>
                  <a:t>p</a:t>
                </a:r>
                <a:r>
                  <a:rPr sz="2600" spc="-80" dirty="0">
                    <a:latin typeface="Gill Sans MT"/>
                    <a:cs typeface="Gill Sans MT"/>
                  </a:rPr>
                  <a:t>r</a:t>
                </a:r>
                <a:r>
                  <a:rPr sz="2600" spc="-15" dirty="0">
                    <a:latin typeface="Gill Sans MT"/>
                    <a:cs typeface="Gill Sans MT"/>
                  </a:rPr>
                  <a:t>oba</a:t>
                </a:r>
                <a:r>
                  <a:rPr sz="2600" dirty="0">
                    <a:latin typeface="Gill Sans MT"/>
                    <a:cs typeface="Gill Sans MT"/>
                  </a:rPr>
                  <a:t>bili</a:t>
                </a:r>
                <a:r>
                  <a:rPr sz="2600" spc="-10" dirty="0">
                    <a:latin typeface="Gill Sans MT"/>
                    <a:cs typeface="Gill Sans MT"/>
                  </a:rPr>
                  <a:t>ty</a:t>
                </a:r>
                <a:r>
                  <a:rPr sz="2600" spc="-5" dirty="0">
                    <a:latin typeface="Gill Sans MT"/>
                    <a:cs typeface="Gill Sans MT"/>
                  </a:rPr>
                  <a:t> </a:t>
                </a:r>
                <a:r>
                  <a:rPr sz="2600" dirty="0">
                    <a:latin typeface="Gill Sans MT"/>
                    <a:cs typeface="Gill Sans MT"/>
                  </a:rPr>
                  <a:t>i</a:t>
                </a:r>
                <a:r>
                  <a:rPr sz="2600" spc="-10" dirty="0">
                    <a:latin typeface="Gill Sans MT"/>
                    <a:cs typeface="Gill Sans MT"/>
                  </a:rPr>
                  <a:t>s</a:t>
                </a:r>
                <a:r>
                  <a:rPr sz="2600" spc="-5" dirty="0">
                    <a:latin typeface="Gill Sans MT"/>
                    <a:cs typeface="Gill Sans MT"/>
                  </a:rPr>
                  <a:t> </a:t>
                </a:r>
                <a:r>
                  <a:rPr sz="2600" dirty="0">
                    <a:latin typeface="Gill Sans MT"/>
                    <a:cs typeface="Gill Sans MT"/>
                  </a:rPr>
                  <a:t>i</a:t>
                </a:r>
                <a:r>
                  <a:rPr sz="2600" spc="-15" dirty="0">
                    <a:latin typeface="Gill Sans MT"/>
                    <a:cs typeface="Gill Sans MT"/>
                  </a:rPr>
                  <a:t>nterpo</a:t>
                </a:r>
                <a:r>
                  <a:rPr sz="2600" dirty="0">
                    <a:latin typeface="Gill Sans MT"/>
                    <a:cs typeface="Gill Sans MT"/>
                  </a:rPr>
                  <a:t>l</a:t>
                </a:r>
                <a:r>
                  <a:rPr sz="2600" spc="-15" dirty="0">
                    <a:latin typeface="Gill Sans MT"/>
                    <a:cs typeface="Gill Sans MT"/>
                  </a:rPr>
                  <a:t>ated</a:t>
                </a:r>
                <a:r>
                  <a:rPr sz="2600" spc="-5" dirty="0">
                    <a:latin typeface="Gill Sans MT"/>
                    <a:cs typeface="Gill Sans MT"/>
                  </a:rPr>
                  <a:t> </a:t>
                </a:r>
                <a:r>
                  <a:rPr sz="2600" spc="-10" dirty="0">
                    <a:latin typeface="Gill Sans MT"/>
                    <a:cs typeface="Gill Sans MT"/>
                  </a:rPr>
                  <a:t>t</a:t>
                </a:r>
                <a:r>
                  <a:rPr sz="2600" spc="-45" dirty="0">
                    <a:latin typeface="Gill Sans MT"/>
                    <a:cs typeface="Gill Sans MT"/>
                  </a:rPr>
                  <a:t>o</a:t>
                </a:r>
                <a:r>
                  <a:rPr sz="2600" dirty="0">
                    <a:latin typeface="Gill Sans MT"/>
                    <a:cs typeface="Gill Sans MT"/>
                  </a:rPr>
                  <a:t>w</a:t>
                </a:r>
                <a:r>
                  <a:rPr sz="2600" spc="-15" dirty="0">
                    <a:latin typeface="Gill Sans MT"/>
                    <a:cs typeface="Gill Sans MT"/>
                  </a:rPr>
                  <a:t>a</a:t>
                </a:r>
                <a:r>
                  <a:rPr sz="2600" spc="-55" dirty="0">
                    <a:latin typeface="Gill Sans MT"/>
                    <a:cs typeface="Gill Sans MT"/>
                  </a:rPr>
                  <a:t>r</a:t>
                </a:r>
                <a:r>
                  <a:rPr sz="2600" spc="-15" dirty="0">
                    <a:latin typeface="Gill Sans MT"/>
                    <a:cs typeface="Gill Sans MT"/>
                  </a:rPr>
                  <a:t>ds</a:t>
                </a:r>
                <a:r>
                  <a:rPr sz="2600" dirty="0">
                    <a:latin typeface="Gill Sans MT"/>
                    <a:cs typeface="Gill Sans MT"/>
                  </a:rPr>
                  <a:t> </a:t>
                </a:r>
                <a14:m>
                  <m:oMath xmlns:m="http://schemas.openxmlformats.org/officeDocument/2006/math">
                    <m:r>
                      <a:rPr lang="en-US" sz="2600" i="1" dirty="0" smtClean="0">
                        <a:latin typeface="Cambria Math" panose="02040503050406030204" pitchFamily="18" charset="0"/>
                        <a:cs typeface="Gill Sans MT"/>
                      </a:rPr>
                      <m:t>𝑝</m:t>
                    </m:r>
                    <m:r>
                      <a:rPr lang="en-US" sz="2600" i="1" spc="-15" dirty="0">
                        <a:latin typeface="Cambria Math" panose="02040503050406030204" pitchFamily="18" charset="0"/>
                        <a:cs typeface="Gill Sans MT"/>
                      </a:rPr>
                      <m:t>=</m:t>
                    </m:r>
                    <m:r>
                      <a:rPr lang="en-US" sz="2600" i="1" spc="-15" dirty="0">
                        <a:latin typeface="Cambria Math" panose="02040503050406030204" pitchFamily="18" charset="0"/>
                        <a:cs typeface="Gill Sans MT"/>
                      </a:rPr>
                      <m:t>1</m:t>
                    </m:r>
                    <m:r>
                      <a:rPr lang="en-US" sz="2600" i="1" spc="-5" dirty="0">
                        <a:latin typeface="Cambria Math" panose="02040503050406030204" pitchFamily="18" charset="0"/>
                        <a:cs typeface="Gill Sans MT"/>
                      </a:rPr>
                      <m:t> </m:t>
                    </m:r>
                  </m:oMath>
                </a14:m>
                <a:r>
                  <a:rPr sz="2600" spc="-30" dirty="0">
                    <a:latin typeface="Gill Sans MT"/>
                    <a:cs typeface="Gill Sans MT"/>
                  </a:rPr>
                  <a:t>b</a:t>
                </a:r>
                <a:r>
                  <a:rPr sz="2600" spc="-15" dirty="0">
                    <a:latin typeface="Gill Sans MT"/>
                    <a:cs typeface="Gill Sans MT"/>
                  </a:rPr>
                  <a:t>y</a:t>
                </a:r>
                <a:r>
                  <a:rPr sz="2600" spc="-5" dirty="0">
                    <a:latin typeface="Gill Sans MT"/>
                    <a:cs typeface="Gill Sans MT"/>
                  </a:rPr>
                  <a:t> </a:t>
                </a:r>
                <a:r>
                  <a:rPr sz="2600" spc="-15" dirty="0">
                    <a:latin typeface="Gill Sans MT"/>
                    <a:cs typeface="Gill Sans MT"/>
                  </a:rPr>
                  <a:t>a</a:t>
                </a:r>
                <a:r>
                  <a:rPr sz="2600" spc="-5" dirty="0">
                    <a:latin typeface="Gill Sans MT"/>
                    <a:cs typeface="Gill Sans MT"/>
                  </a:rPr>
                  <a:t> </a:t>
                </a:r>
                <a:r>
                  <a:rPr sz="2600" spc="-15" dirty="0">
                    <a:latin typeface="Gill Sans MT"/>
                    <a:cs typeface="Gill Sans MT"/>
                  </a:rPr>
                  <a:t>factor p</a:t>
                </a:r>
                <a:r>
                  <a:rPr sz="2600" spc="-80" dirty="0">
                    <a:latin typeface="Gill Sans MT"/>
                    <a:cs typeface="Gill Sans MT"/>
                  </a:rPr>
                  <a:t>r</a:t>
                </a:r>
                <a:r>
                  <a:rPr sz="2600" spc="-15" dirty="0">
                    <a:latin typeface="Gill Sans MT"/>
                    <a:cs typeface="Gill Sans MT"/>
                  </a:rPr>
                  <a:t>opo</a:t>
                </a:r>
                <a:r>
                  <a:rPr sz="2600" spc="35" dirty="0">
                    <a:latin typeface="Gill Sans MT"/>
                    <a:cs typeface="Gill Sans MT"/>
                  </a:rPr>
                  <a:t>r</a:t>
                </a:r>
                <a:r>
                  <a:rPr sz="2600" dirty="0">
                    <a:latin typeface="Gill Sans MT"/>
                    <a:cs typeface="Gill Sans MT"/>
                  </a:rPr>
                  <a:t>ti</a:t>
                </a:r>
                <a:r>
                  <a:rPr sz="2600" spc="-15" dirty="0">
                    <a:latin typeface="Gill Sans MT"/>
                    <a:cs typeface="Gill Sans MT"/>
                  </a:rPr>
                  <a:t>ona</a:t>
                </a:r>
                <a:r>
                  <a:rPr sz="2600" dirty="0">
                    <a:latin typeface="Gill Sans MT"/>
                    <a:cs typeface="Gill Sans MT"/>
                  </a:rPr>
                  <a:t>te</a:t>
                </a:r>
                <a:r>
                  <a:rPr sz="2600" spc="-5" dirty="0">
                    <a:latin typeface="Gill Sans MT"/>
                    <a:cs typeface="Gill Sans MT"/>
                  </a:rPr>
                  <a:t> </a:t>
                </a:r>
                <a:r>
                  <a:rPr sz="2600" spc="-15" dirty="0">
                    <a:latin typeface="Gill Sans MT"/>
                    <a:cs typeface="Gill Sans MT"/>
                  </a:rPr>
                  <a:t>to</a:t>
                </a:r>
                <a:r>
                  <a:rPr sz="2600" spc="-5" dirty="0">
                    <a:latin typeface="Gill Sans MT"/>
                    <a:cs typeface="Gill Sans MT"/>
                  </a:rPr>
                  <a:t> </a:t>
                </a:r>
                <a:r>
                  <a:rPr sz="2600" dirty="0">
                    <a:latin typeface="Gill Sans MT"/>
                    <a:cs typeface="Gill Sans MT"/>
                  </a:rPr>
                  <a:t>the</a:t>
                </a:r>
                <a:r>
                  <a:rPr sz="2600" spc="-5" dirty="0">
                    <a:latin typeface="Gill Sans MT"/>
                    <a:cs typeface="Gill Sans MT"/>
                  </a:rPr>
                  <a:t> </a:t>
                </a:r>
                <a:r>
                  <a:rPr sz="2600" dirty="0">
                    <a:latin typeface="Gill Sans MT"/>
                    <a:cs typeface="Gill Sans MT"/>
                  </a:rPr>
                  <a:t>p</a:t>
                </a:r>
                <a:r>
                  <a:rPr sz="2600" spc="-120" dirty="0">
                    <a:latin typeface="Gill Sans MT"/>
                    <a:cs typeface="Gill Sans MT"/>
                  </a:rPr>
                  <a:t>a</a:t>
                </a:r>
                <a:r>
                  <a:rPr sz="2600" spc="-70" dirty="0">
                    <a:latin typeface="Gill Sans MT"/>
                    <a:cs typeface="Gill Sans MT"/>
                  </a:rPr>
                  <a:t>y</a:t>
                </a:r>
                <a:r>
                  <a:rPr sz="2600" spc="-15" dirty="0">
                    <a:latin typeface="Gill Sans MT"/>
                    <a:cs typeface="Gill Sans MT"/>
                  </a:rPr>
                  <a:t>o</a:t>
                </a:r>
                <a:r>
                  <a:rPr sz="2600" dirty="0">
                    <a:latin typeface="Gill Sans MT"/>
                    <a:cs typeface="Gill Sans MT"/>
                  </a:rPr>
                  <a:t>ff.</a:t>
                </a:r>
              </a:p>
            </p:txBody>
          </p:sp>
        </mc:Choice>
        <mc:Fallback xmlns="">
          <p:sp>
            <p:nvSpPr>
              <p:cNvPr id="9" name="object 9"/>
              <p:cNvSpPr txBox="1">
                <a:spLocks noRot="1" noChangeAspect="1" noMove="1" noResize="1" noEditPoints="1" noAdjustHandles="1" noChangeArrowheads="1" noChangeShapeType="1" noTextEdit="1"/>
              </p:cNvSpPr>
              <p:nvPr/>
            </p:nvSpPr>
            <p:spPr>
              <a:xfrm>
                <a:off x="430857" y="4379580"/>
                <a:ext cx="7720965" cy="769441"/>
              </a:xfrm>
              <a:prstGeom prst="rect">
                <a:avLst/>
              </a:prstGeom>
              <a:blipFill>
                <a:blip r:embed="rId4"/>
                <a:stretch>
                  <a:fillRect l="-2449" t="-14173" b="-24409"/>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29DE8DF4-8522-F152-DD82-3036D0712AC1}"/>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EAB46E68-CBC3-35CE-38FC-2B35F7272E6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E8F73EA3-815E-A3C4-1C57-5A5ABF38365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14</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4BF74014-786D-E8EB-958B-A4E0F0CBD270}"/>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AE9CC828-53A6-EC0A-98DF-A7336E9BD92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p:nvPr/>
        </p:nvSpPr>
        <p:spPr>
          <a:xfrm>
            <a:off x="1319311" y="1143000"/>
            <a:ext cx="5402944" cy="3406856"/>
          </a:xfrm>
          <a:prstGeom prst="rect">
            <a:avLst/>
          </a:prstGeom>
          <a:blipFill>
            <a:blip r:embed="rId3" cstate="print"/>
            <a:stretch>
              <a:fillRect/>
            </a:stretch>
          </a:blipFill>
        </p:spPr>
        <p:txBody>
          <a:bodyPr wrap="square" lIns="0" tIns="0" rIns="0" bIns="0" rtlCol="0"/>
          <a:lstStyle/>
          <a:p>
            <a:endParaRPr dirty="0"/>
          </a:p>
        </p:txBody>
      </p:sp>
      <p:sp>
        <p:nvSpPr>
          <p:cNvPr id="7" name="object 7"/>
          <p:cNvSpPr txBox="1"/>
          <p:nvPr/>
        </p:nvSpPr>
        <p:spPr>
          <a:xfrm>
            <a:off x="7208690" y="2238494"/>
            <a:ext cx="1393825" cy="1016000"/>
          </a:xfrm>
          <a:prstGeom prst="rect">
            <a:avLst/>
          </a:prstGeom>
        </p:spPr>
        <p:txBody>
          <a:bodyPr vert="horz" wrap="square" lIns="0" tIns="0" rIns="0" bIns="0" rtlCol="0">
            <a:spAutoFit/>
          </a:bodyPr>
          <a:lstStyle/>
          <a:p>
            <a:pPr marL="306070" marR="298450" algn="ctr">
              <a:lnSpc>
                <a:spcPts val="1600"/>
              </a:lnSpc>
            </a:pPr>
            <a:r>
              <a:rPr sz="1400" spc="-10" dirty="0">
                <a:latin typeface="Gill Sans MT"/>
                <a:cs typeface="Gill Sans MT"/>
              </a:rPr>
              <a:t>scatterplot p</a:t>
            </a:r>
            <a:r>
              <a:rPr sz="1400" spc="-45" dirty="0">
                <a:latin typeface="Gill Sans MT"/>
                <a:cs typeface="Gill Sans MT"/>
              </a:rPr>
              <a:t>r</a:t>
            </a:r>
            <a:r>
              <a:rPr sz="1400" spc="-10" dirty="0">
                <a:latin typeface="Gill Sans MT"/>
                <a:cs typeface="Gill Sans MT"/>
              </a:rPr>
              <a:t>oba</a:t>
            </a:r>
            <a:r>
              <a:rPr sz="1400" dirty="0">
                <a:latin typeface="Gill Sans MT"/>
                <a:cs typeface="Gill Sans MT"/>
              </a:rPr>
              <a:t>bili</a:t>
            </a:r>
            <a:r>
              <a:rPr sz="1400" spc="-10" dirty="0">
                <a:latin typeface="Gill Sans MT"/>
                <a:cs typeface="Gill Sans MT"/>
              </a:rPr>
              <a:t>ty</a:t>
            </a:r>
            <a:endParaRPr sz="1400">
              <a:latin typeface="Gill Sans MT"/>
              <a:cs typeface="Gill Sans MT"/>
            </a:endParaRPr>
          </a:p>
          <a:p>
            <a:pPr marL="12700" marR="5080" algn="ctr">
              <a:lnSpc>
                <a:spcPts val="1600"/>
              </a:lnSpc>
            </a:pPr>
            <a:r>
              <a:rPr sz="1400" spc="-15" dirty="0">
                <a:latin typeface="Gill Sans MT"/>
                <a:cs typeface="Gill Sans MT"/>
              </a:rPr>
              <a:t>f</a:t>
            </a:r>
            <a:r>
              <a:rPr sz="1400" spc="-10" dirty="0">
                <a:latin typeface="Gill Sans MT"/>
                <a:cs typeface="Gill Sans MT"/>
              </a:rPr>
              <a:t>or</a:t>
            </a:r>
            <a:r>
              <a:rPr sz="1400" spc="-5" dirty="0">
                <a:latin typeface="Gill Sans MT"/>
                <a:cs typeface="Gill Sans MT"/>
              </a:rPr>
              <a:t> </a:t>
            </a:r>
            <a:r>
              <a:rPr sz="1400" spc="-10" dirty="0">
                <a:latin typeface="Gill Sans MT"/>
                <a:cs typeface="Gill Sans MT"/>
              </a:rPr>
              <a:t>each</a:t>
            </a:r>
            <a:r>
              <a:rPr sz="1400" spc="-5" dirty="0">
                <a:latin typeface="Gill Sans MT"/>
                <a:cs typeface="Gill Sans MT"/>
              </a:rPr>
              <a:t> </a:t>
            </a:r>
            <a:r>
              <a:rPr sz="1400" dirty="0">
                <a:latin typeface="Gill Sans MT"/>
                <a:cs typeface="Gill Sans MT"/>
              </a:rPr>
              <a:t>i</a:t>
            </a:r>
            <a:r>
              <a:rPr sz="1400" spc="-10" dirty="0">
                <a:latin typeface="Gill Sans MT"/>
                <a:cs typeface="Gill Sans MT"/>
              </a:rPr>
              <a:t>nd</a:t>
            </a:r>
            <a:r>
              <a:rPr sz="1400" dirty="0">
                <a:latin typeface="Gill Sans MT"/>
                <a:cs typeface="Gill Sans MT"/>
              </a:rPr>
              <a:t>ivi</a:t>
            </a:r>
            <a:r>
              <a:rPr sz="1400" spc="-10" dirty="0">
                <a:latin typeface="Gill Sans MT"/>
                <a:cs typeface="Gill Sans MT"/>
              </a:rPr>
              <a:t>dua</a:t>
            </a:r>
            <a:r>
              <a:rPr sz="1400" dirty="0">
                <a:latin typeface="Gill Sans MT"/>
                <a:cs typeface="Gill Sans MT"/>
              </a:rPr>
              <a:t>l (w</a:t>
            </a:r>
            <a:r>
              <a:rPr sz="1400" spc="-10" dirty="0">
                <a:latin typeface="Gill Sans MT"/>
                <a:cs typeface="Gill Sans MT"/>
              </a:rPr>
              <a:t>ho</a:t>
            </a:r>
            <a:r>
              <a:rPr sz="1400" dirty="0">
                <a:latin typeface="Gill Sans MT"/>
                <a:cs typeface="Gill Sans MT"/>
              </a:rPr>
              <a:t>le</a:t>
            </a:r>
            <a:r>
              <a:rPr sz="1400" spc="-5" dirty="0">
                <a:latin typeface="Gill Sans MT"/>
                <a:cs typeface="Gill Sans MT"/>
              </a:rPr>
              <a:t> </a:t>
            </a:r>
            <a:r>
              <a:rPr sz="1400" spc="-10" dirty="0">
                <a:latin typeface="Gill Sans MT"/>
                <a:cs typeface="Gill Sans MT"/>
              </a:rPr>
              <a:t>po</a:t>
            </a:r>
            <a:r>
              <a:rPr sz="1400" dirty="0">
                <a:latin typeface="Gill Sans MT"/>
                <a:cs typeface="Gill Sans MT"/>
              </a:rPr>
              <a:t>pul</a:t>
            </a:r>
            <a:r>
              <a:rPr sz="1400" spc="-10" dirty="0">
                <a:latin typeface="Gill Sans MT"/>
                <a:cs typeface="Gill Sans MT"/>
              </a:rPr>
              <a:t>a</a:t>
            </a:r>
            <a:r>
              <a:rPr sz="1400" dirty="0">
                <a:latin typeface="Gill Sans MT"/>
                <a:cs typeface="Gill Sans MT"/>
              </a:rPr>
              <a:t>ti</a:t>
            </a:r>
            <a:r>
              <a:rPr sz="1400" spc="-10" dirty="0">
                <a:latin typeface="Gill Sans MT"/>
                <a:cs typeface="Gill Sans MT"/>
              </a:rPr>
              <a:t>o</a:t>
            </a:r>
            <a:r>
              <a:rPr sz="1400" dirty="0">
                <a:latin typeface="Gill Sans MT"/>
                <a:cs typeface="Gill Sans MT"/>
              </a:rPr>
              <a:t>n) </a:t>
            </a:r>
            <a:r>
              <a:rPr sz="1400" spc="-10" dirty="0">
                <a:latin typeface="Gill Sans MT"/>
                <a:cs typeface="Gill Sans MT"/>
              </a:rPr>
              <a:t>aga</a:t>
            </a:r>
            <a:r>
              <a:rPr sz="1400" dirty="0">
                <a:latin typeface="Gill Sans MT"/>
                <a:cs typeface="Gill Sans MT"/>
              </a:rPr>
              <a:t>i</a:t>
            </a:r>
            <a:r>
              <a:rPr sz="1400" spc="-10" dirty="0">
                <a:latin typeface="Gill Sans MT"/>
                <a:cs typeface="Gill Sans MT"/>
              </a:rPr>
              <a:t>ns</a:t>
            </a:r>
            <a:r>
              <a:rPr sz="1400" dirty="0">
                <a:latin typeface="Gill Sans MT"/>
                <a:cs typeface="Gill Sans MT"/>
              </a:rPr>
              <a:t>t</a:t>
            </a:r>
            <a:r>
              <a:rPr sz="1400" spc="-5" dirty="0">
                <a:latin typeface="Gill Sans MT"/>
                <a:cs typeface="Gill Sans MT"/>
              </a:rPr>
              <a:t> </a:t>
            </a:r>
            <a:r>
              <a:rPr sz="1400" dirty="0">
                <a:latin typeface="Gill Sans MT"/>
                <a:cs typeface="Gill Sans MT"/>
              </a:rPr>
              <a:t>time</a:t>
            </a:r>
            <a:endParaRPr sz="1400">
              <a:latin typeface="Gill Sans MT"/>
              <a:cs typeface="Gill Sans MT"/>
            </a:endParaRPr>
          </a:p>
        </p:txBody>
      </p:sp>
      <p:sp>
        <p:nvSpPr>
          <p:cNvPr id="8" name="object 8"/>
          <p:cNvSpPr txBox="1"/>
          <p:nvPr/>
        </p:nvSpPr>
        <p:spPr>
          <a:xfrm>
            <a:off x="82339" y="4800600"/>
            <a:ext cx="8919210" cy="1615827"/>
          </a:xfrm>
          <a:prstGeom prst="rect">
            <a:avLst/>
          </a:prstGeom>
        </p:spPr>
        <p:txBody>
          <a:bodyPr vert="horz" wrap="square" lIns="0" tIns="0" rIns="0" bIns="0" rtlCol="0">
            <a:spAutoFit/>
          </a:bodyPr>
          <a:lstStyle/>
          <a:p>
            <a:pPr marL="12700" marR="5080">
              <a:lnSpc>
                <a:spcPct val="100000"/>
              </a:lnSpc>
            </a:pPr>
            <a:r>
              <a:rPr sz="1500" dirty="0">
                <a:latin typeface="Times New Roman"/>
                <a:cs typeface="Times New Roman"/>
              </a:rPr>
              <a:t>S</a:t>
            </a:r>
            <a:r>
              <a:rPr sz="1500" spc="-10" dirty="0">
                <a:latin typeface="Times New Roman"/>
                <a:cs typeface="Times New Roman"/>
              </a:rPr>
              <a:t>tudents and tutors are always trying </a:t>
            </a:r>
            <a:r>
              <a:rPr sz="1500" spc="-5" dirty="0">
                <a:latin typeface="Times New Roman"/>
                <a:cs typeface="Times New Roman"/>
              </a:rPr>
              <a:t>to </a:t>
            </a:r>
            <a:r>
              <a:rPr sz="1500" spc="-10" dirty="0">
                <a:latin typeface="Times New Roman"/>
                <a:cs typeface="Times New Roman"/>
              </a:rPr>
              <a:t>come </a:t>
            </a:r>
            <a:r>
              <a:rPr sz="1500" spc="-5" dirty="0">
                <a:latin typeface="Times New Roman"/>
                <a:cs typeface="Times New Roman"/>
              </a:rPr>
              <a:t>to </a:t>
            </a:r>
            <a:r>
              <a:rPr sz="1500" spc="-10" dirty="0">
                <a:latin typeface="Times New Roman"/>
                <a:cs typeface="Times New Roman"/>
              </a:rPr>
              <a:t>arrive for class </a:t>
            </a:r>
            <a:r>
              <a:rPr sz="1500" spc="-5" dirty="0">
                <a:latin typeface="Times New Roman"/>
                <a:cs typeface="Times New Roman"/>
              </a:rPr>
              <a:t>just in </a:t>
            </a:r>
            <a:r>
              <a:rPr sz="1500" spc="-10" dirty="0">
                <a:latin typeface="Times New Roman"/>
                <a:cs typeface="Times New Roman"/>
              </a:rPr>
              <a:t>time. Unfortunatel</a:t>
            </a:r>
            <a:r>
              <a:rPr sz="1500" spc="-100" dirty="0">
                <a:latin typeface="Times New Roman"/>
                <a:cs typeface="Times New Roman"/>
              </a:rPr>
              <a:t>y</a:t>
            </a:r>
            <a:r>
              <a:rPr sz="1500" dirty="0">
                <a:latin typeface="Times New Roman"/>
                <a:cs typeface="Times New Roman"/>
              </a:rPr>
              <a:t>, </a:t>
            </a:r>
            <a:r>
              <a:rPr sz="1500" spc="-10" dirty="0">
                <a:latin typeface="Times New Roman"/>
                <a:cs typeface="Times New Roman"/>
              </a:rPr>
              <a:t>thi</a:t>
            </a:r>
            <a:r>
              <a:rPr sz="1500" dirty="0">
                <a:latin typeface="Times New Roman"/>
                <a:cs typeface="Times New Roman"/>
              </a:rPr>
              <a:t>s </a:t>
            </a:r>
            <a:r>
              <a:rPr sz="1500" spc="-10" dirty="0">
                <a:latin typeface="Times New Roman"/>
                <a:cs typeface="Times New Roman"/>
              </a:rPr>
              <a:t>mea</a:t>
            </a:r>
            <a:r>
              <a:rPr sz="1500" dirty="0">
                <a:latin typeface="Times New Roman"/>
                <a:cs typeface="Times New Roman"/>
              </a:rPr>
              <a:t>ns </a:t>
            </a:r>
            <a:r>
              <a:rPr sz="1500" spc="-10" dirty="0">
                <a:latin typeface="Times New Roman"/>
                <a:cs typeface="Times New Roman"/>
              </a:rPr>
              <a:t>that</a:t>
            </a:r>
            <a:r>
              <a:rPr sz="1500" dirty="0">
                <a:latin typeface="Times New Roman"/>
                <a:cs typeface="Times New Roman"/>
              </a:rPr>
              <a:t> </a:t>
            </a:r>
            <a:r>
              <a:rPr sz="1500" spc="-10" dirty="0">
                <a:latin typeface="Times New Roman"/>
                <a:cs typeface="Times New Roman"/>
              </a:rPr>
              <a:t>everyone arrive</a:t>
            </a:r>
            <a:r>
              <a:rPr sz="1500" dirty="0">
                <a:latin typeface="Times New Roman"/>
                <a:cs typeface="Times New Roman"/>
              </a:rPr>
              <a:t>s </a:t>
            </a:r>
            <a:r>
              <a:rPr sz="1500" spc="-10" dirty="0">
                <a:latin typeface="Times New Roman"/>
                <a:cs typeface="Times New Roman"/>
              </a:rPr>
              <a:t>at</a:t>
            </a:r>
            <a:r>
              <a:rPr sz="1500" dirty="0">
                <a:latin typeface="Times New Roman"/>
                <a:cs typeface="Times New Roman"/>
              </a:rPr>
              <a:t> </a:t>
            </a:r>
            <a:r>
              <a:rPr sz="1500" spc="-10" dirty="0">
                <a:latin typeface="Times New Roman"/>
                <a:cs typeface="Times New Roman"/>
              </a:rPr>
              <a:t>the</a:t>
            </a:r>
            <a:r>
              <a:rPr sz="1500" dirty="0">
                <a:latin typeface="Times New Roman"/>
                <a:cs typeface="Times New Roman"/>
              </a:rPr>
              <a:t> </a:t>
            </a:r>
            <a:r>
              <a:rPr sz="1500" spc="-10" dirty="0">
                <a:latin typeface="Times New Roman"/>
                <a:cs typeface="Times New Roman"/>
              </a:rPr>
              <a:t>ca</a:t>
            </a:r>
            <a:r>
              <a:rPr sz="1500" dirty="0">
                <a:latin typeface="Times New Roman"/>
                <a:cs typeface="Times New Roman"/>
              </a:rPr>
              <a:t>r </a:t>
            </a:r>
            <a:r>
              <a:rPr sz="1500" spc="-10" dirty="0">
                <a:latin typeface="Times New Roman"/>
                <a:cs typeface="Times New Roman"/>
              </a:rPr>
              <a:t>pa</a:t>
            </a:r>
            <a:r>
              <a:rPr sz="1500" dirty="0">
                <a:latin typeface="Times New Roman"/>
                <a:cs typeface="Times New Roman"/>
              </a:rPr>
              <a:t>rk </a:t>
            </a:r>
            <a:r>
              <a:rPr sz="1500" spc="-10" dirty="0">
                <a:latin typeface="Times New Roman"/>
                <a:cs typeface="Times New Roman"/>
              </a:rPr>
              <a:t>at</a:t>
            </a:r>
            <a:r>
              <a:rPr sz="1500" dirty="0">
                <a:latin typeface="Times New Roman"/>
                <a:cs typeface="Times New Roman"/>
              </a:rPr>
              <a:t> </a:t>
            </a:r>
            <a:r>
              <a:rPr sz="1500" spc="-10" dirty="0">
                <a:latin typeface="Times New Roman"/>
                <a:cs typeface="Times New Roman"/>
              </a:rPr>
              <a:t>the</a:t>
            </a:r>
            <a:r>
              <a:rPr sz="1500" dirty="0">
                <a:latin typeface="Times New Roman"/>
                <a:cs typeface="Times New Roman"/>
              </a:rPr>
              <a:t> s</a:t>
            </a:r>
            <a:r>
              <a:rPr sz="1500" spc="-10" dirty="0">
                <a:latin typeface="Times New Roman"/>
                <a:cs typeface="Times New Roman"/>
              </a:rPr>
              <a:t>ame</a:t>
            </a:r>
            <a:r>
              <a:rPr sz="1500" dirty="0">
                <a:latin typeface="Times New Roman"/>
                <a:cs typeface="Times New Roman"/>
              </a:rPr>
              <a:t> </a:t>
            </a:r>
            <a:r>
              <a:rPr sz="1500" spc="-10" dirty="0">
                <a:latin typeface="Times New Roman"/>
                <a:cs typeface="Times New Roman"/>
              </a:rPr>
              <a:t>time</a:t>
            </a:r>
            <a:r>
              <a:rPr sz="1500" dirty="0">
                <a:latin typeface="Times New Roman"/>
                <a:cs typeface="Times New Roman"/>
              </a:rPr>
              <a:t>!</a:t>
            </a:r>
            <a:r>
              <a:rPr sz="1500" spc="-30" dirty="0">
                <a:latin typeface="Times New Roman"/>
                <a:cs typeface="Times New Roman"/>
              </a:rPr>
              <a:t> </a:t>
            </a:r>
            <a:r>
              <a:rPr sz="1500" spc="-10" dirty="0">
                <a:latin typeface="Times New Roman"/>
                <a:cs typeface="Times New Roman"/>
              </a:rPr>
              <a:t>There</a:t>
            </a:r>
            <a:r>
              <a:rPr sz="1500" dirty="0">
                <a:latin typeface="Times New Roman"/>
                <a:cs typeface="Times New Roman"/>
              </a:rPr>
              <a:t> </a:t>
            </a:r>
            <a:r>
              <a:rPr sz="1500" spc="-10" dirty="0">
                <a:latin typeface="Times New Roman"/>
                <a:cs typeface="Times New Roman"/>
              </a:rPr>
              <a:t>are</a:t>
            </a:r>
            <a:r>
              <a:rPr sz="1500" dirty="0">
                <a:latin typeface="Times New Roman"/>
                <a:cs typeface="Times New Roman"/>
              </a:rPr>
              <a:t> </a:t>
            </a:r>
            <a:r>
              <a:rPr sz="1500" spc="-5" dirty="0">
                <a:latin typeface="Times New Roman"/>
                <a:cs typeface="Times New Roman"/>
              </a:rPr>
              <a:t>t</a:t>
            </a:r>
            <a:r>
              <a:rPr sz="1500" dirty="0">
                <a:latin typeface="Times New Roman"/>
                <a:cs typeface="Times New Roman"/>
              </a:rPr>
              <a:t>wo </a:t>
            </a:r>
            <a:r>
              <a:rPr sz="1500" spc="-10" dirty="0">
                <a:latin typeface="Times New Roman"/>
                <a:cs typeface="Times New Roman"/>
              </a:rPr>
              <a:t>di</a:t>
            </a:r>
            <a:r>
              <a:rPr sz="1500" spc="-30" dirty="0">
                <a:latin typeface="Times New Roman"/>
                <a:cs typeface="Times New Roman"/>
              </a:rPr>
              <a:t>f</a:t>
            </a:r>
            <a:r>
              <a:rPr sz="1500" spc="-10" dirty="0">
                <a:latin typeface="Times New Roman"/>
                <a:cs typeface="Times New Roman"/>
              </a:rPr>
              <a:t>ferent</a:t>
            </a:r>
            <a:r>
              <a:rPr sz="1500" dirty="0">
                <a:latin typeface="Times New Roman"/>
                <a:cs typeface="Times New Roman"/>
              </a:rPr>
              <a:t> </a:t>
            </a:r>
            <a:r>
              <a:rPr sz="1500" spc="-10" dirty="0">
                <a:latin typeface="Times New Roman"/>
                <a:cs typeface="Times New Roman"/>
              </a:rPr>
              <a:t>ca</a:t>
            </a:r>
            <a:r>
              <a:rPr sz="1500" dirty="0">
                <a:latin typeface="Times New Roman"/>
                <a:cs typeface="Times New Roman"/>
              </a:rPr>
              <a:t>r </a:t>
            </a:r>
            <a:r>
              <a:rPr sz="1500" spc="-10" dirty="0">
                <a:latin typeface="Times New Roman"/>
                <a:cs typeface="Times New Roman"/>
              </a:rPr>
              <a:t>pa</a:t>
            </a:r>
            <a:r>
              <a:rPr sz="1500" dirty="0">
                <a:latin typeface="Times New Roman"/>
                <a:cs typeface="Times New Roman"/>
              </a:rPr>
              <a:t>rks </a:t>
            </a:r>
            <a:r>
              <a:rPr sz="1500" spc="-10" dirty="0">
                <a:latin typeface="Times New Roman"/>
                <a:cs typeface="Times New Roman"/>
              </a:rPr>
              <a:t>available</a:t>
            </a:r>
            <a:r>
              <a:rPr sz="1500" dirty="0">
                <a:latin typeface="Times New Roman"/>
                <a:cs typeface="Times New Roman"/>
              </a:rPr>
              <a:t>. </a:t>
            </a:r>
            <a:r>
              <a:rPr sz="1500" spc="-10" dirty="0">
                <a:latin typeface="Times New Roman"/>
                <a:cs typeface="Times New Roman"/>
              </a:rPr>
              <a:t>Ca</a:t>
            </a:r>
            <a:r>
              <a:rPr sz="1500" dirty="0">
                <a:latin typeface="Times New Roman"/>
                <a:cs typeface="Times New Roman"/>
              </a:rPr>
              <a:t>r </a:t>
            </a:r>
            <a:r>
              <a:rPr sz="1500" spc="-10" dirty="0">
                <a:latin typeface="Times New Roman"/>
                <a:cs typeface="Times New Roman"/>
              </a:rPr>
              <a:t>pa</a:t>
            </a:r>
            <a:r>
              <a:rPr sz="1500" dirty="0">
                <a:latin typeface="Times New Roman"/>
                <a:cs typeface="Times New Roman"/>
              </a:rPr>
              <a:t>rk </a:t>
            </a:r>
            <a:r>
              <a:rPr sz="1500" i="1" spc="-10" dirty="0">
                <a:latin typeface="Times New Roman"/>
                <a:cs typeface="Times New Roman"/>
              </a:rPr>
              <a:t>A</a:t>
            </a:r>
            <a:r>
              <a:rPr sz="1500" i="1" dirty="0">
                <a:latin typeface="Times New Roman"/>
                <a:cs typeface="Times New Roman"/>
              </a:rPr>
              <a:t> </a:t>
            </a:r>
            <a:r>
              <a:rPr sz="1500" spc="-5" dirty="0">
                <a:latin typeface="Times New Roman"/>
                <a:cs typeface="Times New Roman"/>
              </a:rPr>
              <a:t>i</a:t>
            </a:r>
            <a:r>
              <a:rPr sz="1500" dirty="0">
                <a:latin typeface="Times New Roman"/>
                <a:cs typeface="Times New Roman"/>
              </a:rPr>
              <a:t>s </a:t>
            </a:r>
            <a:r>
              <a:rPr sz="1500" spc="-10" dirty="0">
                <a:latin typeface="Times New Roman"/>
                <a:cs typeface="Times New Roman"/>
              </a:rPr>
              <a:t>la</a:t>
            </a:r>
            <a:r>
              <a:rPr sz="1500" spc="-30" dirty="0">
                <a:latin typeface="Times New Roman"/>
                <a:cs typeface="Times New Roman"/>
              </a:rPr>
              <a:t>r</a:t>
            </a:r>
            <a:r>
              <a:rPr sz="1500" spc="-10" dirty="0">
                <a:latin typeface="Times New Roman"/>
                <a:cs typeface="Times New Roman"/>
              </a:rPr>
              <a:t>ge</a:t>
            </a:r>
            <a:r>
              <a:rPr sz="1500" dirty="0">
                <a:latin typeface="Times New Roman"/>
                <a:cs typeface="Times New Roman"/>
              </a:rPr>
              <a:t> </a:t>
            </a:r>
            <a:r>
              <a:rPr sz="1500" spc="-10" dirty="0">
                <a:latin typeface="Times New Roman"/>
                <a:cs typeface="Times New Roman"/>
              </a:rPr>
              <a:t>but</a:t>
            </a:r>
            <a:r>
              <a:rPr sz="1500" dirty="0">
                <a:latin typeface="Times New Roman"/>
                <a:cs typeface="Times New Roman"/>
              </a:rPr>
              <a:t> </a:t>
            </a:r>
            <a:r>
              <a:rPr sz="1500" spc="-10" dirty="0">
                <a:latin typeface="Times New Roman"/>
                <a:cs typeface="Times New Roman"/>
              </a:rPr>
              <a:t>fa</a:t>
            </a:r>
            <a:r>
              <a:rPr sz="1500" dirty="0">
                <a:latin typeface="Times New Roman"/>
                <a:cs typeface="Times New Roman"/>
              </a:rPr>
              <a:t>r </a:t>
            </a:r>
            <a:r>
              <a:rPr sz="1500" spc="-10" dirty="0">
                <a:latin typeface="Times New Roman"/>
                <a:cs typeface="Times New Roman"/>
              </a:rPr>
              <a:t>a</a:t>
            </a:r>
            <a:r>
              <a:rPr sz="1500" dirty="0">
                <a:latin typeface="Times New Roman"/>
                <a:cs typeface="Times New Roman"/>
              </a:rPr>
              <a:t>w</a:t>
            </a:r>
            <a:r>
              <a:rPr sz="1500" spc="-10" dirty="0">
                <a:latin typeface="Times New Roman"/>
                <a:cs typeface="Times New Roman"/>
              </a:rPr>
              <a:t>a</a:t>
            </a:r>
            <a:r>
              <a:rPr sz="1500" dirty="0">
                <a:latin typeface="Times New Roman"/>
                <a:cs typeface="Times New Roman"/>
              </a:rPr>
              <a:t>y </a:t>
            </a:r>
            <a:r>
              <a:rPr sz="1500" spc="-10" dirty="0">
                <a:latin typeface="Times New Roman"/>
                <a:cs typeface="Times New Roman"/>
              </a:rPr>
              <a:t>from</a:t>
            </a:r>
            <a:r>
              <a:rPr sz="1500" dirty="0">
                <a:latin typeface="Times New Roman"/>
                <a:cs typeface="Times New Roman"/>
              </a:rPr>
              <a:t> </a:t>
            </a:r>
            <a:r>
              <a:rPr sz="1500" spc="-10" dirty="0">
                <a:latin typeface="Times New Roman"/>
                <a:cs typeface="Times New Roman"/>
              </a:rPr>
              <a:t>the</a:t>
            </a:r>
            <a:r>
              <a:rPr sz="1500" dirty="0">
                <a:latin typeface="Times New Roman"/>
                <a:cs typeface="Times New Roman"/>
              </a:rPr>
              <a:t> </a:t>
            </a:r>
            <a:r>
              <a:rPr sz="1500" spc="-10" dirty="0">
                <a:latin typeface="Times New Roman"/>
                <a:cs typeface="Times New Roman"/>
              </a:rPr>
              <a:t>buildi</a:t>
            </a:r>
            <a:r>
              <a:rPr sz="1500" dirty="0">
                <a:latin typeface="Times New Roman"/>
                <a:cs typeface="Times New Roman"/>
              </a:rPr>
              <a:t>ng. </a:t>
            </a:r>
            <a:r>
              <a:rPr sz="1500" spc="-10" dirty="0">
                <a:latin typeface="Times New Roman"/>
                <a:cs typeface="Times New Roman"/>
              </a:rPr>
              <a:t>Ca</a:t>
            </a:r>
            <a:r>
              <a:rPr sz="1500" dirty="0">
                <a:latin typeface="Times New Roman"/>
                <a:cs typeface="Times New Roman"/>
              </a:rPr>
              <a:t>r </a:t>
            </a:r>
            <a:r>
              <a:rPr sz="1500" spc="-10" dirty="0">
                <a:latin typeface="Times New Roman"/>
                <a:cs typeface="Times New Roman"/>
              </a:rPr>
              <a:t>pa</a:t>
            </a:r>
            <a:r>
              <a:rPr sz="1500" dirty="0">
                <a:latin typeface="Times New Roman"/>
                <a:cs typeface="Times New Roman"/>
              </a:rPr>
              <a:t>rk </a:t>
            </a:r>
            <a:r>
              <a:rPr sz="1500" i="1" spc="-10" dirty="0">
                <a:latin typeface="Times New Roman"/>
                <a:cs typeface="Times New Roman"/>
              </a:rPr>
              <a:t>B</a:t>
            </a:r>
            <a:r>
              <a:rPr sz="1500" i="1" dirty="0">
                <a:latin typeface="Times New Roman"/>
                <a:cs typeface="Times New Roman"/>
              </a:rPr>
              <a:t> </a:t>
            </a:r>
            <a:r>
              <a:rPr sz="1500" spc="-5" dirty="0">
                <a:latin typeface="Times New Roman"/>
                <a:cs typeface="Times New Roman"/>
              </a:rPr>
              <a:t>i</a:t>
            </a:r>
            <a:r>
              <a:rPr sz="1500" dirty="0">
                <a:latin typeface="Times New Roman"/>
                <a:cs typeface="Times New Roman"/>
              </a:rPr>
              <a:t>s s</a:t>
            </a:r>
            <a:r>
              <a:rPr sz="1500" spc="-10" dirty="0">
                <a:latin typeface="Times New Roman"/>
                <a:cs typeface="Times New Roman"/>
              </a:rPr>
              <a:t>mall</a:t>
            </a:r>
            <a:r>
              <a:rPr sz="1500" dirty="0">
                <a:latin typeface="Times New Roman"/>
                <a:cs typeface="Times New Roman"/>
              </a:rPr>
              <a:t> </a:t>
            </a:r>
            <a:r>
              <a:rPr sz="1500" spc="-10" dirty="0">
                <a:latin typeface="Times New Roman"/>
                <a:cs typeface="Times New Roman"/>
              </a:rPr>
              <a:t>but</a:t>
            </a:r>
            <a:r>
              <a:rPr sz="1500" dirty="0">
                <a:latin typeface="Times New Roman"/>
                <a:cs typeface="Times New Roman"/>
              </a:rPr>
              <a:t> </a:t>
            </a:r>
            <a:r>
              <a:rPr sz="1500" spc="-10" dirty="0">
                <a:latin typeface="Times New Roman"/>
                <a:cs typeface="Times New Roman"/>
              </a:rPr>
              <a:t>cl</a:t>
            </a:r>
            <a:r>
              <a:rPr sz="1500" dirty="0">
                <a:latin typeface="Times New Roman"/>
                <a:cs typeface="Times New Roman"/>
              </a:rPr>
              <a:t>os</a:t>
            </a:r>
            <a:r>
              <a:rPr sz="1500" spc="-10" dirty="0">
                <a:latin typeface="Times New Roman"/>
                <a:cs typeface="Times New Roman"/>
              </a:rPr>
              <a:t>e</a:t>
            </a:r>
            <a:r>
              <a:rPr sz="1500" dirty="0">
                <a:latin typeface="Times New Roman"/>
                <a:cs typeface="Times New Roman"/>
              </a:rPr>
              <a:t> </a:t>
            </a:r>
            <a:r>
              <a:rPr sz="1500" spc="-5" dirty="0">
                <a:latin typeface="Times New Roman"/>
                <a:cs typeface="Times New Roman"/>
              </a:rPr>
              <a:t>t</a:t>
            </a:r>
            <a:r>
              <a:rPr sz="1500" dirty="0">
                <a:latin typeface="Times New Roman"/>
                <a:cs typeface="Times New Roman"/>
              </a:rPr>
              <a:t>o </a:t>
            </a:r>
            <a:r>
              <a:rPr sz="1500" spc="-10" dirty="0">
                <a:latin typeface="Times New Roman"/>
                <a:cs typeface="Times New Roman"/>
              </a:rPr>
              <a:t>the</a:t>
            </a:r>
            <a:r>
              <a:rPr sz="1500" dirty="0">
                <a:latin typeface="Times New Roman"/>
                <a:cs typeface="Times New Roman"/>
              </a:rPr>
              <a:t> </a:t>
            </a:r>
            <a:r>
              <a:rPr sz="1500" spc="-10" dirty="0">
                <a:latin typeface="Times New Roman"/>
                <a:cs typeface="Times New Roman"/>
              </a:rPr>
              <a:t>buildi</a:t>
            </a:r>
            <a:r>
              <a:rPr sz="1500" dirty="0">
                <a:latin typeface="Times New Roman"/>
                <a:cs typeface="Times New Roman"/>
              </a:rPr>
              <a:t>ng. </a:t>
            </a:r>
            <a:r>
              <a:rPr sz="1500" spc="-5" dirty="0">
                <a:latin typeface="Times New Roman"/>
                <a:cs typeface="Times New Roman"/>
              </a:rPr>
              <a:t>It</a:t>
            </a:r>
            <a:r>
              <a:rPr sz="1500" dirty="0">
                <a:latin typeface="Times New Roman"/>
                <a:cs typeface="Times New Roman"/>
              </a:rPr>
              <a:t> </a:t>
            </a:r>
            <a:r>
              <a:rPr sz="1500" spc="-10" dirty="0">
                <a:latin typeface="Times New Roman"/>
                <a:cs typeface="Times New Roman"/>
              </a:rPr>
              <a:t>take</a:t>
            </a:r>
            <a:r>
              <a:rPr sz="1500" dirty="0">
                <a:latin typeface="Times New Roman"/>
                <a:cs typeface="Times New Roman"/>
              </a:rPr>
              <a:t>s </a:t>
            </a:r>
            <a:r>
              <a:rPr sz="1500" spc="-10" dirty="0">
                <a:latin typeface="Times New Roman"/>
                <a:cs typeface="Times New Roman"/>
              </a:rPr>
              <a:t>onl</a:t>
            </a:r>
            <a:r>
              <a:rPr sz="1500" dirty="0">
                <a:latin typeface="Times New Roman"/>
                <a:cs typeface="Times New Roman"/>
              </a:rPr>
              <a:t>y 2 </a:t>
            </a:r>
            <a:r>
              <a:rPr sz="1500" spc="-10" dirty="0">
                <a:latin typeface="Times New Roman"/>
                <a:cs typeface="Times New Roman"/>
              </a:rPr>
              <a:t>minute</a:t>
            </a:r>
            <a:r>
              <a:rPr sz="1500" dirty="0">
                <a:latin typeface="Times New Roman"/>
                <a:cs typeface="Times New Roman"/>
              </a:rPr>
              <a:t>s </a:t>
            </a:r>
            <a:r>
              <a:rPr sz="1500" spc="-5" dirty="0">
                <a:latin typeface="Times New Roman"/>
                <a:cs typeface="Times New Roman"/>
              </a:rPr>
              <a:t>t</a:t>
            </a:r>
            <a:r>
              <a:rPr sz="1500" dirty="0">
                <a:latin typeface="Times New Roman"/>
                <a:cs typeface="Times New Roman"/>
              </a:rPr>
              <a:t>o w</a:t>
            </a:r>
            <a:r>
              <a:rPr sz="1500" spc="-10" dirty="0">
                <a:latin typeface="Times New Roman"/>
                <a:cs typeface="Times New Roman"/>
              </a:rPr>
              <a:t>al</a:t>
            </a:r>
            <a:r>
              <a:rPr sz="1500" dirty="0">
                <a:latin typeface="Times New Roman"/>
                <a:cs typeface="Times New Roman"/>
              </a:rPr>
              <a:t>k </a:t>
            </a:r>
            <a:r>
              <a:rPr sz="1500" spc="-5" dirty="0">
                <a:latin typeface="Times New Roman"/>
                <a:cs typeface="Times New Roman"/>
              </a:rPr>
              <a:t>t</a:t>
            </a:r>
            <a:r>
              <a:rPr sz="1500" dirty="0">
                <a:latin typeface="Times New Roman"/>
                <a:cs typeface="Times New Roman"/>
              </a:rPr>
              <a:t>o </a:t>
            </a:r>
            <a:r>
              <a:rPr sz="1500" spc="-10" dirty="0">
                <a:latin typeface="Times New Roman"/>
                <a:cs typeface="Times New Roman"/>
              </a:rPr>
              <a:t>the</a:t>
            </a:r>
            <a:r>
              <a:rPr sz="1500" dirty="0">
                <a:latin typeface="Times New Roman"/>
                <a:cs typeface="Times New Roman"/>
              </a:rPr>
              <a:t> </a:t>
            </a:r>
            <a:r>
              <a:rPr sz="1500" spc="-10" dirty="0">
                <a:latin typeface="Times New Roman"/>
                <a:cs typeface="Times New Roman"/>
              </a:rPr>
              <a:t>tutorial</a:t>
            </a:r>
            <a:r>
              <a:rPr sz="1500" dirty="0">
                <a:latin typeface="Times New Roman"/>
                <a:cs typeface="Times New Roman"/>
              </a:rPr>
              <a:t> </a:t>
            </a:r>
            <a:r>
              <a:rPr sz="1500" spc="-10" dirty="0">
                <a:latin typeface="Times New Roman"/>
                <a:cs typeface="Times New Roman"/>
              </a:rPr>
              <a:t>room</a:t>
            </a:r>
            <a:r>
              <a:rPr sz="1500" dirty="0">
                <a:latin typeface="Times New Roman"/>
                <a:cs typeface="Times New Roman"/>
              </a:rPr>
              <a:t>s </a:t>
            </a:r>
            <a:r>
              <a:rPr sz="1500" spc="-10" dirty="0">
                <a:latin typeface="Times New Roman"/>
                <a:cs typeface="Times New Roman"/>
              </a:rPr>
              <a:t>from</a:t>
            </a:r>
            <a:r>
              <a:rPr sz="1500" dirty="0">
                <a:latin typeface="Times New Roman"/>
                <a:cs typeface="Times New Roman"/>
              </a:rPr>
              <a:t> </a:t>
            </a:r>
            <a:r>
              <a:rPr sz="1500" spc="-10" dirty="0">
                <a:latin typeface="Times New Roman"/>
                <a:cs typeface="Times New Roman"/>
              </a:rPr>
              <a:t>ca</a:t>
            </a:r>
            <a:r>
              <a:rPr sz="1500" dirty="0">
                <a:latin typeface="Times New Roman"/>
                <a:cs typeface="Times New Roman"/>
              </a:rPr>
              <a:t>r </a:t>
            </a:r>
            <a:r>
              <a:rPr sz="1500" spc="-10" dirty="0">
                <a:latin typeface="Times New Roman"/>
                <a:cs typeface="Times New Roman"/>
              </a:rPr>
              <a:t>pa</a:t>
            </a:r>
            <a:r>
              <a:rPr sz="1500" dirty="0">
                <a:latin typeface="Times New Roman"/>
                <a:cs typeface="Times New Roman"/>
              </a:rPr>
              <a:t>rk </a:t>
            </a:r>
            <a:r>
              <a:rPr sz="1500" i="1" spc="-10" dirty="0">
                <a:latin typeface="Times New Roman"/>
                <a:cs typeface="Times New Roman"/>
              </a:rPr>
              <a:t>B</a:t>
            </a:r>
            <a:r>
              <a:rPr sz="1500" i="1" dirty="0">
                <a:latin typeface="Times New Roman"/>
                <a:cs typeface="Times New Roman"/>
              </a:rPr>
              <a:t> </a:t>
            </a:r>
            <a:r>
              <a:rPr sz="1500" spc="-10" dirty="0">
                <a:latin typeface="Times New Roman"/>
                <a:cs typeface="Times New Roman"/>
              </a:rPr>
              <a:t>but</a:t>
            </a:r>
            <a:r>
              <a:rPr sz="1500" dirty="0">
                <a:latin typeface="Times New Roman"/>
                <a:cs typeface="Times New Roman"/>
              </a:rPr>
              <a:t> 20 </a:t>
            </a:r>
            <a:r>
              <a:rPr sz="1500" spc="-10" dirty="0">
                <a:latin typeface="Times New Roman"/>
                <a:cs typeface="Times New Roman"/>
              </a:rPr>
              <a:t>minute</a:t>
            </a:r>
            <a:r>
              <a:rPr sz="1500" dirty="0">
                <a:latin typeface="Times New Roman"/>
                <a:cs typeface="Times New Roman"/>
              </a:rPr>
              <a:t>s </a:t>
            </a:r>
            <a:r>
              <a:rPr sz="1500" spc="-10" dirty="0">
                <a:latin typeface="Times New Roman"/>
                <a:cs typeface="Times New Roman"/>
              </a:rPr>
              <a:t>from</a:t>
            </a:r>
            <a:r>
              <a:rPr sz="1500" dirty="0">
                <a:latin typeface="Times New Roman"/>
                <a:cs typeface="Times New Roman"/>
              </a:rPr>
              <a:t> </a:t>
            </a:r>
            <a:r>
              <a:rPr sz="1500" i="1" spc="-10" dirty="0">
                <a:latin typeface="Times New Roman"/>
                <a:cs typeface="Times New Roman"/>
              </a:rPr>
              <a:t>A</a:t>
            </a:r>
            <a:r>
              <a:rPr sz="1500" dirty="0">
                <a:latin typeface="Times New Roman"/>
                <a:cs typeface="Times New Roman"/>
              </a:rPr>
              <a:t>. U</a:t>
            </a:r>
            <a:r>
              <a:rPr sz="1500" spc="-10" dirty="0">
                <a:latin typeface="Times New Roman"/>
                <a:cs typeface="Times New Roman"/>
              </a:rPr>
              <a:t>nfortunatel</a:t>
            </a:r>
            <a:r>
              <a:rPr sz="1500" spc="-100" dirty="0">
                <a:latin typeface="Times New Roman"/>
                <a:cs typeface="Times New Roman"/>
              </a:rPr>
              <a:t>y</a:t>
            </a:r>
            <a:r>
              <a:rPr sz="1500" dirty="0">
                <a:latin typeface="Times New Roman"/>
                <a:cs typeface="Times New Roman"/>
              </a:rPr>
              <a:t>, </a:t>
            </a:r>
            <a:r>
              <a:rPr sz="1500" spc="-5" dirty="0">
                <a:latin typeface="Times New Roman"/>
                <a:cs typeface="Times New Roman"/>
              </a:rPr>
              <a:t>it</a:t>
            </a:r>
            <a:r>
              <a:rPr sz="1500" dirty="0">
                <a:latin typeface="Times New Roman"/>
                <a:cs typeface="Times New Roman"/>
              </a:rPr>
              <a:t> </a:t>
            </a:r>
            <a:r>
              <a:rPr sz="1500" spc="-5" dirty="0">
                <a:latin typeface="Times New Roman"/>
                <a:cs typeface="Times New Roman"/>
              </a:rPr>
              <a:t>i</a:t>
            </a:r>
            <a:r>
              <a:rPr sz="1500" dirty="0">
                <a:latin typeface="Times New Roman"/>
                <a:cs typeface="Times New Roman"/>
              </a:rPr>
              <a:t>s </a:t>
            </a:r>
            <a:r>
              <a:rPr sz="1500" spc="-10" dirty="0">
                <a:latin typeface="Times New Roman"/>
                <a:cs typeface="Times New Roman"/>
              </a:rPr>
              <a:t>neve</a:t>
            </a:r>
            <a:r>
              <a:rPr sz="1500" dirty="0">
                <a:latin typeface="Times New Roman"/>
                <a:cs typeface="Times New Roman"/>
              </a:rPr>
              <a:t>r </a:t>
            </a:r>
            <a:r>
              <a:rPr sz="1500" spc="-10" dirty="0">
                <a:latin typeface="Times New Roman"/>
                <a:cs typeface="Times New Roman"/>
              </a:rPr>
              <a:t>ea</a:t>
            </a:r>
            <a:r>
              <a:rPr sz="1500" dirty="0">
                <a:latin typeface="Times New Roman"/>
                <a:cs typeface="Times New Roman"/>
              </a:rPr>
              <a:t>sy </a:t>
            </a:r>
            <a:r>
              <a:rPr sz="1500" spc="-5" dirty="0">
                <a:latin typeface="Times New Roman"/>
                <a:cs typeface="Times New Roman"/>
              </a:rPr>
              <a:t>t</a:t>
            </a:r>
            <a:r>
              <a:rPr sz="1500" dirty="0">
                <a:latin typeface="Times New Roman"/>
                <a:cs typeface="Times New Roman"/>
              </a:rPr>
              <a:t>o </a:t>
            </a:r>
            <a:r>
              <a:rPr sz="1500" spc="-5" dirty="0">
                <a:latin typeface="Times New Roman"/>
                <a:cs typeface="Times New Roman"/>
              </a:rPr>
              <a:t>fi</a:t>
            </a:r>
            <a:r>
              <a:rPr sz="1500" dirty="0">
                <a:latin typeface="Times New Roman"/>
                <a:cs typeface="Times New Roman"/>
              </a:rPr>
              <a:t>nd </a:t>
            </a:r>
            <a:r>
              <a:rPr sz="1500" spc="-10" dirty="0">
                <a:latin typeface="Times New Roman"/>
                <a:cs typeface="Times New Roman"/>
              </a:rPr>
              <a:t>a</a:t>
            </a:r>
            <a:r>
              <a:rPr sz="1500" dirty="0">
                <a:latin typeface="Times New Roman"/>
                <a:cs typeface="Times New Roman"/>
              </a:rPr>
              <a:t> </a:t>
            </a:r>
            <a:r>
              <a:rPr sz="1500" spc="-10" dirty="0">
                <a:latin typeface="Times New Roman"/>
                <a:cs typeface="Times New Roman"/>
              </a:rPr>
              <a:t>parki</a:t>
            </a:r>
            <a:r>
              <a:rPr sz="1500" dirty="0">
                <a:latin typeface="Times New Roman"/>
                <a:cs typeface="Times New Roman"/>
              </a:rPr>
              <a:t>ng s</a:t>
            </a:r>
            <a:r>
              <a:rPr sz="1500" spc="-10" dirty="0">
                <a:latin typeface="Times New Roman"/>
                <a:cs typeface="Times New Roman"/>
              </a:rPr>
              <a:t>pot</a:t>
            </a:r>
            <a:r>
              <a:rPr sz="1500" dirty="0">
                <a:latin typeface="Times New Roman"/>
                <a:cs typeface="Times New Roman"/>
              </a:rPr>
              <a:t> s</a:t>
            </a:r>
            <a:r>
              <a:rPr sz="1500" spc="-10" dirty="0">
                <a:latin typeface="Times New Roman"/>
                <a:cs typeface="Times New Roman"/>
              </a:rPr>
              <a:t>traight</a:t>
            </a:r>
            <a:r>
              <a:rPr sz="1500" dirty="0">
                <a:latin typeface="Times New Roman"/>
                <a:cs typeface="Times New Roman"/>
              </a:rPr>
              <a:t> </a:t>
            </a:r>
            <a:r>
              <a:rPr sz="1500" spc="-10" dirty="0">
                <a:latin typeface="Times New Roman"/>
                <a:cs typeface="Times New Roman"/>
              </a:rPr>
              <a:t>a</a:t>
            </a:r>
            <a:r>
              <a:rPr sz="1500" dirty="0">
                <a:latin typeface="Times New Roman"/>
                <a:cs typeface="Times New Roman"/>
              </a:rPr>
              <a:t>w</a:t>
            </a:r>
            <a:r>
              <a:rPr sz="1500" spc="-10" dirty="0">
                <a:latin typeface="Times New Roman"/>
                <a:cs typeface="Times New Roman"/>
              </a:rPr>
              <a:t>a</a:t>
            </a:r>
            <a:r>
              <a:rPr sz="1500" dirty="0">
                <a:latin typeface="Times New Roman"/>
                <a:cs typeface="Times New Roman"/>
              </a:rPr>
              <a:t>y </a:t>
            </a:r>
            <a:r>
              <a:rPr sz="1500" spc="-10" dirty="0">
                <a:latin typeface="Times New Roman"/>
                <a:cs typeface="Times New Roman"/>
              </a:rPr>
              <a:t>a</a:t>
            </a:r>
            <a:r>
              <a:rPr sz="1500" dirty="0">
                <a:latin typeface="Times New Roman"/>
                <a:cs typeface="Times New Roman"/>
              </a:rPr>
              <a:t>nd </a:t>
            </a:r>
            <a:r>
              <a:rPr sz="1500" spc="-10" dirty="0">
                <a:latin typeface="Times New Roman"/>
                <a:cs typeface="Times New Roman"/>
              </a:rPr>
              <a:t>the</a:t>
            </a:r>
            <a:r>
              <a:rPr sz="1500" spc="-5" dirty="0">
                <a:latin typeface="Times New Roman"/>
                <a:cs typeface="Times New Roman"/>
              </a:rPr>
              <a:t> </a:t>
            </a:r>
            <a:r>
              <a:rPr sz="1500" dirty="0">
                <a:latin typeface="Times New Roman"/>
                <a:cs typeface="Times New Roman"/>
              </a:rPr>
              <a:t>s</a:t>
            </a:r>
            <a:r>
              <a:rPr sz="1500" spc="-10" dirty="0">
                <a:latin typeface="Times New Roman"/>
                <a:cs typeface="Times New Roman"/>
              </a:rPr>
              <a:t>ituati</a:t>
            </a:r>
            <a:r>
              <a:rPr sz="1500" dirty="0">
                <a:latin typeface="Times New Roman"/>
                <a:cs typeface="Times New Roman"/>
              </a:rPr>
              <a:t>on </a:t>
            </a:r>
            <a:r>
              <a:rPr sz="1500" spc="-10" dirty="0">
                <a:latin typeface="Times New Roman"/>
                <a:cs typeface="Times New Roman"/>
              </a:rPr>
              <a:t>get</a:t>
            </a:r>
            <a:r>
              <a:rPr sz="1500" dirty="0">
                <a:latin typeface="Times New Roman"/>
                <a:cs typeface="Times New Roman"/>
              </a:rPr>
              <a:t>s wors</a:t>
            </a:r>
            <a:r>
              <a:rPr sz="1500" spc="-10" dirty="0">
                <a:latin typeface="Times New Roman"/>
                <a:cs typeface="Times New Roman"/>
              </a:rPr>
              <a:t>e</a:t>
            </a:r>
            <a:r>
              <a:rPr sz="1500" dirty="0">
                <a:latin typeface="Times New Roman"/>
                <a:cs typeface="Times New Roman"/>
              </a:rPr>
              <a:t> </a:t>
            </a:r>
            <a:r>
              <a:rPr lang="en-US" sz="1500" spc="-10" dirty="0">
                <a:latin typeface="Times New Roman"/>
                <a:cs typeface="Times New Roman"/>
              </a:rPr>
              <a:t>when</a:t>
            </a:r>
            <a:r>
              <a:rPr sz="1500" dirty="0">
                <a:latin typeface="Times New Roman"/>
                <a:cs typeface="Times New Roman"/>
              </a:rPr>
              <a:t> </a:t>
            </a:r>
            <a:r>
              <a:rPr sz="1500" spc="-10" dirty="0">
                <a:latin typeface="Times New Roman"/>
                <a:cs typeface="Times New Roman"/>
              </a:rPr>
              <a:t>more</a:t>
            </a:r>
            <a:r>
              <a:rPr sz="1500" dirty="0">
                <a:latin typeface="Times New Roman"/>
                <a:cs typeface="Times New Roman"/>
              </a:rPr>
              <a:t> </a:t>
            </a:r>
            <a:r>
              <a:rPr sz="1500" spc="-10" dirty="0">
                <a:latin typeface="Times New Roman"/>
                <a:cs typeface="Times New Roman"/>
              </a:rPr>
              <a:t>people</a:t>
            </a:r>
            <a:r>
              <a:rPr sz="1500" dirty="0">
                <a:latin typeface="Times New Roman"/>
                <a:cs typeface="Times New Roman"/>
              </a:rPr>
              <a:t> </a:t>
            </a:r>
            <a:r>
              <a:rPr sz="1500" spc="-10" dirty="0">
                <a:latin typeface="Times New Roman"/>
                <a:cs typeface="Times New Roman"/>
              </a:rPr>
              <a:t>are</a:t>
            </a:r>
            <a:r>
              <a:rPr sz="1500" dirty="0">
                <a:latin typeface="Times New Roman"/>
                <a:cs typeface="Times New Roman"/>
              </a:rPr>
              <a:t> </a:t>
            </a:r>
            <a:r>
              <a:rPr sz="1500" spc="-10" dirty="0">
                <a:latin typeface="Times New Roman"/>
                <a:cs typeface="Times New Roman"/>
              </a:rPr>
              <a:t>tryi</a:t>
            </a:r>
            <a:r>
              <a:rPr sz="1500" dirty="0">
                <a:latin typeface="Times New Roman"/>
                <a:cs typeface="Times New Roman"/>
              </a:rPr>
              <a:t>ng </a:t>
            </a:r>
            <a:r>
              <a:rPr sz="1500" spc="-5" dirty="0">
                <a:latin typeface="Times New Roman"/>
                <a:cs typeface="Times New Roman"/>
              </a:rPr>
              <a:t>t</a:t>
            </a:r>
            <a:r>
              <a:rPr sz="1500" dirty="0">
                <a:latin typeface="Times New Roman"/>
                <a:cs typeface="Times New Roman"/>
              </a:rPr>
              <a:t>o </a:t>
            </a:r>
            <a:r>
              <a:rPr sz="1500" spc="-5" dirty="0">
                <a:latin typeface="Times New Roman"/>
                <a:cs typeface="Times New Roman"/>
              </a:rPr>
              <a:t>fi</a:t>
            </a:r>
            <a:r>
              <a:rPr sz="1500" dirty="0">
                <a:latin typeface="Times New Roman"/>
                <a:cs typeface="Times New Roman"/>
              </a:rPr>
              <a:t>nd </a:t>
            </a:r>
            <a:r>
              <a:rPr sz="1500" spc="-10" dirty="0">
                <a:latin typeface="Times New Roman"/>
                <a:cs typeface="Times New Roman"/>
              </a:rPr>
              <a:t>a</a:t>
            </a:r>
            <a:r>
              <a:rPr sz="1500" dirty="0">
                <a:latin typeface="Times New Roman"/>
                <a:cs typeface="Times New Roman"/>
              </a:rPr>
              <a:t> s</a:t>
            </a:r>
            <a:r>
              <a:rPr sz="1500" spc="-10" dirty="0">
                <a:latin typeface="Times New Roman"/>
                <a:cs typeface="Times New Roman"/>
              </a:rPr>
              <a:t>pot</a:t>
            </a:r>
            <a:r>
              <a:rPr sz="1500" dirty="0">
                <a:latin typeface="Times New Roman"/>
                <a:cs typeface="Times New Roman"/>
              </a:rPr>
              <a:t>. If </a:t>
            </a:r>
            <a:r>
              <a:rPr sz="1500" i="1" dirty="0">
                <a:latin typeface="Times New Roman"/>
                <a:cs typeface="Times New Roman"/>
              </a:rPr>
              <a:t>n </a:t>
            </a:r>
            <a:r>
              <a:rPr sz="1500" spc="-10" dirty="0">
                <a:latin typeface="Times New Roman"/>
                <a:cs typeface="Times New Roman"/>
              </a:rPr>
              <a:t>ca</a:t>
            </a:r>
            <a:r>
              <a:rPr sz="1500" dirty="0">
                <a:latin typeface="Times New Roman"/>
                <a:cs typeface="Times New Roman"/>
              </a:rPr>
              <a:t>rs </a:t>
            </a:r>
            <a:r>
              <a:rPr sz="1500" spc="-10" dirty="0">
                <a:latin typeface="Times New Roman"/>
                <a:cs typeface="Times New Roman"/>
              </a:rPr>
              <a:t>arrive</a:t>
            </a:r>
            <a:r>
              <a:rPr sz="1500" dirty="0">
                <a:latin typeface="Times New Roman"/>
                <a:cs typeface="Times New Roman"/>
              </a:rPr>
              <a:t> s</a:t>
            </a:r>
            <a:r>
              <a:rPr sz="1500" spc="-10" dirty="0">
                <a:latin typeface="Times New Roman"/>
                <a:cs typeface="Times New Roman"/>
              </a:rPr>
              <a:t>imultane</a:t>
            </a:r>
            <a:r>
              <a:rPr sz="1500" dirty="0">
                <a:latin typeface="Times New Roman"/>
                <a:cs typeface="Times New Roman"/>
              </a:rPr>
              <a:t>ous</a:t>
            </a:r>
            <a:r>
              <a:rPr sz="1500" spc="-5" dirty="0">
                <a:latin typeface="Times New Roman"/>
                <a:cs typeface="Times New Roman"/>
              </a:rPr>
              <a:t>l</a:t>
            </a:r>
            <a:r>
              <a:rPr sz="1500" dirty="0">
                <a:latin typeface="Times New Roman"/>
                <a:cs typeface="Times New Roman"/>
              </a:rPr>
              <a:t>y </a:t>
            </a:r>
            <a:r>
              <a:rPr sz="1500" spc="-10" dirty="0">
                <a:latin typeface="Times New Roman"/>
                <a:cs typeface="Times New Roman"/>
              </a:rPr>
              <a:t>at</a:t>
            </a:r>
            <a:r>
              <a:rPr sz="1500" dirty="0">
                <a:latin typeface="Times New Roman"/>
                <a:cs typeface="Times New Roman"/>
              </a:rPr>
              <a:t> </a:t>
            </a:r>
            <a:r>
              <a:rPr sz="1500" spc="-10" dirty="0">
                <a:latin typeface="Times New Roman"/>
                <a:cs typeface="Times New Roman"/>
              </a:rPr>
              <a:t>the</a:t>
            </a:r>
            <a:r>
              <a:rPr sz="1500" dirty="0">
                <a:latin typeface="Times New Roman"/>
                <a:cs typeface="Times New Roman"/>
              </a:rPr>
              <a:t> </a:t>
            </a:r>
            <a:r>
              <a:rPr sz="1500" spc="-10" dirty="0">
                <a:latin typeface="Times New Roman"/>
                <a:cs typeface="Times New Roman"/>
              </a:rPr>
              <a:t>la</a:t>
            </a:r>
            <a:r>
              <a:rPr sz="1500" spc="-30" dirty="0">
                <a:latin typeface="Times New Roman"/>
                <a:cs typeface="Times New Roman"/>
              </a:rPr>
              <a:t>r</a:t>
            </a:r>
            <a:r>
              <a:rPr sz="1500" spc="-10" dirty="0">
                <a:latin typeface="Times New Roman"/>
                <a:cs typeface="Times New Roman"/>
              </a:rPr>
              <a:t>ge</a:t>
            </a:r>
            <a:r>
              <a:rPr sz="1500" dirty="0">
                <a:latin typeface="Times New Roman"/>
                <a:cs typeface="Times New Roman"/>
              </a:rPr>
              <a:t> </a:t>
            </a:r>
            <a:r>
              <a:rPr sz="1500" spc="-10" dirty="0">
                <a:latin typeface="Times New Roman"/>
                <a:cs typeface="Times New Roman"/>
              </a:rPr>
              <a:t>ca</a:t>
            </a:r>
            <a:r>
              <a:rPr sz="1500" dirty="0">
                <a:latin typeface="Times New Roman"/>
                <a:cs typeface="Times New Roman"/>
              </a:rPr>
              <a:t>r </a:t>
            </a:r>
            <a:r>
              <a:rPr sz="1500" b="1" spc="-10" dirty="0">
                <a:solidFill>
                  <a:srgbClr val="FF0000"/>
                </a:solidFill>
                <a:latin typeface="Times New Roman"/>
                <a:cs typeface="Times New Roman"/>
              </a:rPr>
              <a:t>pa</a:t>
            </a:r>
            <a:r>
              <a:rPr sz="1500" b="1" dirty="0">
                <a:solidFill>
                  <a:srgbClr val="FF0000"/>
                </a:solidFill>
                <a:latin typeface="Times New Roman"/>
                <a:cs typeface="Times New Roman"/>
              </a:rPr>
              <a:t>rk </a:t>
            </a:r>
            <a:r>
              <a:rPr sz="1500" b="1" i="1" spc="-10" dirty="0">
                <a:solidFill>
                  <a:srgbClr val="FF0000"/>
                </a:solidFill>
                <a:latin typeface="Times New Roman"/>
                <a:cs typeface="Times New Roman"/>
              </a:rPr>
              <a:t>A</a:t>
            </a:r>
            <a:r>
              <a:rPr sz="1500" dirty="0">
                <a:latin typeface="Times New Roman"/>
                <a:cs typeface="Times New Roman"/>
              </a:rPr>
              <a:t>, </a:t>
            </a:r>
            <a:r>
              <a:rPr sz="1500" spc="-10" dirty="0">
                <a:latin typeface="Times New Roman"/>
                <a:cs typeface="Times New Roman"/>
              </a:rPr>
              <a:t>eac</a:t>
            </a:r>
            <a:r>
              <a:rPr sz="1500" dirty="0">
                <a:latin typeface="Times New Roman"/>
                <a:cs typeface="Times New Roman"/>
              </a:rPr>
              <a:t>h w</a:t>
            </a:r>
            <a:r>
              <a:rPr sz="1500" spc="-5" dirty="0">
                <a:latin typeface="Times New Roman"/>
                <a:cs typeface="Times New Roman"/>
              </a:rPr>
              <a:t>ill</a:t>
            </a:r>
            <a:r>
              <a:rPr sz="1500" dirty="0">
                <a:latin typeface="Times New Roman"/>
                <a:cs typeface="Times New Roman"/>
              </a:rPr>
              <a:t> su</a:t>
            </a:r>
            <a:r>
              <a:rPr sz="1500" spc="-30" dirty="0">
                <a:latin typeface="Times New Roman"/>
                <a:cs typeface="Times New Roman"/>
              </a:rPr>
              <a:t>f</a:t>
            </a:r>
            <a:r>
              <a:rPr sz="1500" spc="-10" dirty="0">
                <a:latin typeface="Times New Roman"/>
                <a:cs typeface="Times New Roman"/>
              </a:rPr>
              <a:t>fe</a:t>
            </a:r>
            <a:r>
              <a:rPr sz="1500" dirty="0">
                <a:latin typeface="Times New Roman"/>
                <a:cs typeface="Times New Roman"/>
              </a:rPr>
              <a:t>r </a:t>
            </a:r>
            <a:r>
              <a:rPr sz="1500" spc="-10" dirty="0">
                <a:latin typeface="Times New Roman"/>
                <a:cs typeface="Times New Roman"/>
              </a:rPr>
              <a:t>a</a:t>
            </a:r>
            <a:r>
              <a:rPr sz="1500" dirty="0">
                <a:latin typeface="Times New Roman"/>
                <a:cs typeface="Times New Roman"/>
              </a:rPr>
              <a:t>n </a:t>
            </a:r>
            <a:r>
              <a:rPr sz="1500" spc="-10" dirty="0">
                <a:solidFill>
                  <a:srgbClr val="FF0000"/>
                </a:solidFill>
                <a:latin typeface="Times New Roman"/>
                <a:cs typeface="Times New Roman"/>
              </a:rPr>
              <a:t>n-minute</a:t>
            </a:r>
            <a:r>
              <a:rPr sz="1500" dirty="0">
                <a:solidFill>
                  <a:srgbClr val="FF0000"/>
                </a:solidFill>
                <a:latin typeface="Times New Roman"/>
                <a:cs typeface="Times New Roman"/>
              </a:rPr>
              <a:t> </a:t>
            </a:r>
            <a:r>
              <a:rPr sz="1500" spc="-10" dirty="0">
                <a:solidFill>
                  <a:srgbClr val="FF0000"/>
                </a:solidFill>
                <a:latin typeface="Times New Roman"/>
                <a:cs typeface="Times New Roman"/>
              </a:rPr>
              <a:t>dela</a:t>
            </a:r>
            <a:r>
              <a:rPr sz="1500" spc="-100" dirty="0">
                <a:solidFill>
                  <a:srgbClr val="FF0000"/>
                </a:solidFill>
                <a:latin typeface="Times New Roman"/>
                <a:cs typeface="Times New Roman"/>
              </a:rPr>
              <a:t>y</a:t>
            </a:r>
            <a:r>
              <a:rPr sz="1500" dirty="0">
                <a:latin typeface="Times New Roman"/>
                <a:cs typeface="Times New Roman"/>
              </a:rPr>
              <a:t>. In </a:t>
            </a:r>
            <a:r>
              <a:rPr sz="1500" spc="-10" dirty="0">
                <a:latin typeface="Times New Roman"/>
                <a:cs typeface="Times New Roman"/>
              </a:rPr>
              <a:t>the</a:t>
            </a:r>
            <a:r>
              <a:rPr sz="1500" dirty="0">
                <a:latin typeface="Times New Roman"/>
                <a:cs typeface="Times New Roman"/>
              </a:rPr>
              <a:t> s</a:t>
            </a:r>
            <a:r>
              <a:rPr sz="1500" spc="-10" dirty="0">
                <a:latin typeface="Times New Roman"/>
                <a:cs typeface="Times New Roman"/>
              </a:rPr>
              <a:t>malle</a:t>
            </a:r>
            <a:r>
              <a:rPr sz="1500" dirty="0">
                <a:latin typeface="Times New Roman"/>
                <a:cs typeface="Times New Roman"/>
              </a:rPr>
              <a:t>r </a:t>
            </a:r>
            <a:r>
              <a:rPr sz="1500" spc="-10" dirty="0">
                <a:latin typeface="Times New Roman"/>
                <a:cs typeface="Times New Roman"/>
              </a:rPr>
              <a:t>ca</a:t>
            </a:r>
            <a:r>
              <a:rPr sz="1500" dirty="0">
                <a:latin typeface="Times New Roman"/>
                <a:cs typeface="Times New Roman"/>
              </a:rPr>
              <a:t>r </a:t>
            </a:r>
            <a:r>
              <a:rPr sz="1500" b="1" spc="-10" dirty="0">
                <a:solidFill>
                  <a:srgbClr val="0000FF"/>
                </a:solidFill>
                <a:latin typeface="Times New Roman"/>
                <a:cs typeface="Times New Roman"/>
              </a:rPr>
              <a:t>pa</a:t>
            </a:r>
            <a:r>
              <a:rPr sz="1500" b="1" dirty="0">
                <a:solidFill>
                  <a:srgbClr val="0000FF"/>
                </a:solidFill>
                <a:latin typeface="Times New Roman"/>
                <a:cs typeface="Times New Roman"/>
              </a:rPr>
              <a:t>rk </a:t>
            </a:r>
            <a:r>
              <a:rPr sz="1500" b="1" i="1" spc="-10" dirty="0">
                <a:solidFill>
                  <a:srgbClr val="0000FF"/>
                </a:solidFill>
                <a:latin typeface="Times New Roman"/>
                <a:cs typeface="Times New Roman"/>
              </a:rPr>
              <a:t>B</a:t>
            </a:r>
            <a:r>
              <a:rPr sz="1500" dirty="0">
                <a:latin typeface="Times New Roman"/>
                <a:cs typeface="Times New Roman"/>
              </a:rPr>
              <a:t>, </a:t>
            </a:r>
            <a:r>
              <a:rPr sz="1500" spc="-10" dirty="0">
                <a:latin typeface="Times New Roman"/>
                <a:cs typeface="Times New Roman"/>
              </a:rPr>
              <a:t>eac</a:t>
            </a:r>
            <a:r>
              <a:rPr sz="1500" dirty="0">
                <a:latin typeface="Times New Roman"/>
                <a:cs typeface="Times New Roman"/>
              </a:rPr>
              <a:t>h </a:t>
            </a:r>
            <a:r>
              <a:rPr sz="1500" spc="-10" dirty="0">
                <a:latin typeface="Times New Roman"/>
                <a:cs typeface="Times New Roman"/>
              </a:rPr>
              <a:t>ca</a:t>
            </a:r>
            <a:r>
              <a:rPr sz="1500" dirty="0">
                <a:latin typeface="Times New Roman"/>
                <a:cs typeface="Times New Roman"/>
              </a:rPr>
              <a:t>r w</a:t>
            </a:r>
            <a:r>
              <a:rPr sz="1500" spc="-5" dirty="0">
                <a:latin typeface="Times New Roman"/>
                <a:cs typeface="Times New Roman"/>
              </a:rPr>
              <a:t>ill</a:t>
            </a:r>
            <a:r>
              <a:rPr sz="1500" dirty="0">
                <a:latin typeface="Times New Roman"/>
                <a:cs typeface="Times New Roman"/>
              </a:rPr>
              <a:t> </a:t>
            </a:r>
            <a:r>
              <a:rPr sz="1500" spc="-10" dirty="0">
                <a:latin typeface="Times New Roman"/>
                <a:cs typeface="Times New Roman"/>
              </a:rPr>
              <a:t>eve</a:t>
            </a:r>
            <a:r>
              <a:rPr sz="1500" dirty="0">
                <a:latin typeface="Times New Roman"/>
                <a:cs typeface="Times New Roman"/>
              </a:rPr>
              <a:t>n su</a:t>
            </a:r>
            <a:r>
              <a:rPr sz="1500" spc="-30" dirty="0">
                <a:latin typeface="Times New Roman"/>
                <a:cs typeface="Times New Roman"/>
              </a:rPr>
              <a:t>f</a:t>
            </a:r>
            <a:r>
              <a:rPr sz="1500" spc="-10" dirty="0">
                <a:latin typeface="Times New Roman"/>
                <a:cs typeface="Times New Roman"/>
              </a:rPr>
              <a:t>fe</a:t>
            </a:r>
            <a:r>
              <a:rPr sz="1500" dirty="0">
                <a:latin typeface="Times New Roman"/>
                <a:cs typeface="Times New Roman"/>
              </a:rPr>
              <a:t>r </a:t>
            </a:r>
            <a:r>
              <a:rPr sz="1500" spc="-10" dirty="0">
                <a:latin typeface="Times New Roman"/>
                <a:cs typeface="Times New Roman"/>
              </a:rPr>
              <a:t>a</a:t>
            </a:r>
            <a:r>
              <a:rPr sz="1500" dirty="0">
                <a:latin typeface="Times New Roman"/>
                <a:cs typeface="Times New Roman"/>
              </a:rPr>
              <a:t> </a:t>
            </a:r>
            <a:r>
              <a:rPr sz="1500" spc="-10" dirty="0">
                <a:latin typeface="Times New Roman"/>
                <a:cs typeface="Times New Roman"/>
              </a:rPr>
              <a:t>dela</a:t>
            </a:r>
            <a:r>
              <a:rPr sz="1500" dirty="0">
                <a:latin typeface="Times New Roman"/>
                <a:cs typeface="Times New Roman"/>
              </a:rPr>
              <a:t>y of </a:t>
            </a:r>
            <a:r>
              <a:rPr sz="1500" dirty="0">
                <a:solidFill>
                  <a:srgbClr val="0000FF"/>
                </a:solidFill>
                <a:latin typeface="Times New Roman"/>
                <a:cs typeface="Times New Roman"/>
              </a:rPr>
              <a:t>5</a:t>
            </a:r>
            <a:r>
              <a:rPr sz="1500" i="1" dirty="0">
                <a:solidFill>
                  <a:srgbClr val="0000FF"/>
                </a:solidFill>
                <a:latin typeface="Times New Roman"/>
                <a:cs typeface="Times New Roman"/>
              </a:rPr>
              <a:t>n</a:t>
            </a:r>
            <a:r>
              <a:rPr sz="1500" spc="-10" dirty="0">
                <a:solidFill>
                  <a:srgbClr val="0000FF"/>
                </a:solidFill>
                <a:latin typeface="Times New Roman"/>
                <a:cs typeface="Times New Roman"/>
              </a:rPr>
              <a:t>-minute</a:t>
            </a:r>
            <a:r>
              <a:rPr sz="1500" dirty="0">
                <a:solidFill>
                  <a:srgbClr val="0000FF"/>
                </a:solidFill>
                <a:latin typeface="Times New Roman"/>
                <a:cs typeface="Times New Roman"/>
              </a:rPr>
              <a:t>s</a:t>
            </a:r>
            <a:r>
              <a:rPr sz="1500" dirty="0">
                <a:latin typeface="Times New Roman"/>
                <a:cs typeface="Times New Roman"/>
              </a:rPr>
              <a:t> </a:t>
            </a:r>
            <a:r>
              <a:rPr sz="1500" spc="-5" dirty="0">
                <a:latin typeface="Times New Roman"/>
                <a:cs typeface="Times New Roman"/>
              </a:rPr>
              <a:t>i</a:t>
            </a:r>
            <a:r>
              <a:rPr sz="1500" dirty="0">
                <a:latin typeface="Times New Roman"/>
                <a:cs typeface="Times New Roman"/>
              </a:rPr>
              <a:t>f </a:t>
            </a:r>
            <a:r>
              <a:rPr sz="1500" i="1" dirty="0">
                <a:latin typeface="Times New Roman"/>
                <a:cs typeface="Times New Roman"/>
              </a:rPr>
              <a:t>n </a:t>
            </a:r>
            <a:r>
              <a:rPr sz="1500" spc="-10" dirty="0">
                <a:latin typeface="Times New Roman"/>
                <a:cs typeface="Times New Roman"/>
              </a:rPr>
              <a:t>ca</a:t>
            </a:r>
            <a:r>
              <a:rPr sz="1500" dirty="0">
                <a:latin typeface="Times New Roman"/>
                <a:cs typeface="Times New Roman"/>
              </a:rPr>
              <a:t>rs </a:t>
            </a:r>
            <a:r>
              <a:rPr sz="1500" spc="-10" dirty="0">
                <a:latin typeface="Times New Roman"/>
                <a:cs typeface="Times New Roman"/>
              </a:rPr>
              <a:t>are</a:t>
            </a:r>
            <a:r>
              <a:rPr sz="1500" dirty="0">
                <a:latin typeface="Times New Roman"/>
                <a:cs typeface="Times New Roman"/>
              </a:rPr>
              <a:t> s</a:t>
            </a:r>
            <a:r>
              <a:rPr sz="1500" spc="-10" dirty="0">
                <a:latin typeface="Times New Roman"/>
                <a:cs typeface="Times New Roman"/>
              </a:rPr>
              <a:t>imultane</a:t>
            </a:r>
            <a:r>
              <a:rPr sz="1500" dirty="0">
                <a:latin typeface="Times New Roman"/>
                <a:cs typeface="Times New Roman"/>
              </a:rPr>
              <a:t>ous</a:t>
            </a:r>
            <a:r>
              <a:rPr sz="1500" spc="-5" dirty="0">
                <a:latin typeface="Times New Roman"/>
                <a:cs typeface="Times New Roman"/>
              </a:rPr>
              <a:t>l</a:t>
            </a:r>
            <a:r>
              <a:rPr sz="1500" dirty="0">
                <a:latin typeface="Times New Roman"/>
                <a:cs typeface="Times New Roman"/>
              </a:rPr>
              <a:t>y </a:t>
            </a:r>
            <a:r>
              <a:rPr sz="1500" spc="-10" dirty="0">
                <a:latin typeface="Times New Roman"/>
                <a:cs typeface="Times New Roman"/>
              </a:rPr>
              <a:t>looki</a:t>
            </a:r>
            <a:r>
              <a:rPr sz="1500" dirty="0">
                <a:latin typeface="Times New Roman"/>
                <a:cs typeface="Times New Roman"/>
              </a:rPr>
              <a:t>ng for </a:t>
            </a:r>
            <a:r>
              <a:rPr sz="1500" spc="-10" dirty="0">
                <a:latin typeface="Times New Roman"/>
                <a:cs typeface="Times New Roman"/>
              </a:rPr>
              <a:t>a</a:t>
            </a:r>
            <a:r>
              <a:rPr sz="1500" dirty="0">
                <a:latin typeface="Times New Roman"/>
                <a:cs typeface="Times New Roman"/>
              </a:rPr>
              <a:t> s</a:t>
            </a:r>
            <a:r>
              <a:rPr sz="1500" spc="-10" dirty="0">
                <a:latin typeface="Times New Roman"/>
                <a:cs typeface="Times New Roman"/>
              </a:rPr>
              <a:t>pot</a:t>
            </a:r>
            <a:r>
              <a:rPr sz="1500" dirty="0">
                <a:latin typeface="Times New Roman"/>
                <a:cs typeface="Times New Roman"/>
              </a:rPr>
              <a:t>.</a:t>
            </a:r>
          </a:p>
        </p:txBody>
      </p:sp>
      <p:sp>
        <p:nvSpPr>
          <p:cNvPr id="9" name="object 9"/>
          <p:cNvSpPr txBox="1"/>
          <p:nvPr/>
        </p:nvSpPr>
        <p:spPr>
          <a:xfrm>
            <a:off x="423227" y="320571"/>
            <a:ext cx="7954009" cy="431800"/>
          </a:xfrm>
          <a:prstGeom prst="rect">
            <a:avLst/>
          </a:prstGeom>
        </p:spPr>
        <p:txBody>
          <a:bodyPr vert="horz" wrap="square" lIns="0" tIns="0" rIns="0" bIns="0" rtlCol="0">
            <a:spAutoFit/>
          </a:bodyPr>
          <a:lstStyle/>
          <a:p>
            <a:pPr marL="12700">
              <a:lnSpc>
                <a:spcPct val="100000"/>
              </a:lnSpc>
            </a:pPr>
            <a:r>
              <a:rPr sz="3200" dirty="0">
                <a:latin typeface="Arial"/>
                <a:cs typeface="Arial"/>
              </a:rPr>
              <a:t>Cross-Learning</a:t>
            </a:r>
            <a:r>
              <a:rPr sz="3200" spc="-5" dirty="0">
                <a:latin typeface="Arial"/>
                <a:cs typeface="Arial"/>
              </a:rPr>
              <a:t> </a:t>
            </a:r>
            <a:r>
              <a:rPr sz="3200" dirty="0">
                <a:latin typeface="Arial"/>
                <a:cs typeface="Arial"/>
              </a:rPr>
              <a:t>Example</a:t>
            </a:r>
            <a:r>
              <a:rPr sz="3200" spc="-10" dirty="0">
                <a:latin typeface="Arial"/>
                <a:cs typeface="Arial"/>
              </a:rPr>
              <a:t>:</a:t>
            </a:r>
            <a:r>
              <a:rPr sz="3200" spc="-5" dirty="0">
                <a:latin typeface="Arial"/>
                <a:cs typeface="Arial"/>
              </a:rPr>
              <a:t> </a:t>
            </a:r>
            <a:r>
              <a:rPr sz="3200" dirty="0">
                <a:latin typeface="Arial"/>
                <a:cs typeface="Arial"/>
              </a:rPr>
              <a:t>Car</a:t>
            </a:r>
            <a:r>
              <a:rPr sz="3200" spc="-5" dirty="0">
                <a:latin typeface="Arial"/>
                <a:cs typeface="Arial"/>
              </a:rPr>
              <a:t> </a:t>
            </a:r>
            <a:r>
              <a:rPr sz="3200" dirty="0">
                <a:latin typeface="Arial"/>
                <a:cs typeface="Arial"/>
              </a:rPr>
              <a:t>Park</a:t>
            </a:r>
            <a:r>
              <a:rPr sz="3200" spc="-5" dirty="0">
                <a:latin typeface="Arial"/>
                <a:cs typeface="Arial"/>
              </a:rPr>
              <a:t> </a:t>
            </a:r>
            <a:r>
              <a:rPr sz="3200" dirty="0">
                <a:latin typeface="Arial"/>
                <a:cs typeface="Arial"/>
              </a:rPr>
              <a:t>Problem</a:t>
            </a:r>
          </a:p>
        </p:txBody>
      </p:sp>
      <p:sp>
        <p:nvSpPr>
          <p:cNvPr id="10" name="Rectangle 9">
            <a:extLst>
              <a:ext uri="{FF2B5EF4-FFF2-40B4-BE49-F238E27FC236}">
                <a16:creationId xmlns:a16="http://schemas.microsoft.com/office/drawing/2014/main" id="{4E333F60-E015-0E6E-97F6-675E7E4B942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D40957D2-31E3-0B74-2CB3-BA5C258344E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Slide Number Placeholder 8">
            <a:extLst>
              <a:ext uri="{FF2B5EF4-FFF2-40B4-BE49-F238E27FC236}">
                <a16:creationId xmlns:a16="http://schemas.microsoft.com/office/drawing/2014/main" id="{563C6FDE-763D-4142-72A2-3FA1AC3AD3A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15</a:t>
            </a:fld>
            <a:r>
              <a:rPr lang="en-US" sz="2000" dirty="0">
                <a:solidFill>
                  <a:prstClr val="black"/>
                </a:solidFill>
                <a:latin typeface="Comic Sans MS"/>
                <a:sym typeface="Comic Sans MS"/>
              </a:rPr>
              <a:t>/59</a:t>
            </a:r>
          </a:p>
        </p:txBody>
      </p:sp>
      <p:sp>
        <p:nvSpPr>
          <p:cNvPr id="13" name="Footer Placeholder 9">
            <a:extLst>
              <a:ext uri="{FF2B5EF4-FFF2-40B4-BE49-F238E27FC236}">
                <a16:creationId xmlns:a16="http://schemas.microsoft.com/office/drawing/2014/main" id="{325AA9C7-5711-94B4-1C4B-7731CFC54435}"/>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4" name="Rectangle 13">
            <a:extLst>
              <a:ext uri="{FF2B5EF4-FFF2-40B4-BE49-F238E27FC236}">
                <a16:creationId xmlns:a16="http://schemas.microsoft.com/office/drawing/2014/main" id="{D76FB357-1861-04AF-D0A0-3EE33526050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5" name="TextBox 14">
            <a:extLst>
              <a:ext uri="{FF2B5EF4-FFF2-40B4-BE49-F238E27FC236}">
                <a16:creationId xmlns:a16="http://schemas.microsoft.com/office/drawing/2014/main" id="{29AD2B3D-3367-D709-1559-864E2FB475DB}"/>
              </a:ext>
            </a:extLst>
          </p:cNvPr>
          <p:cNvSpPr txBox="1"/>
          <p:nvPr/>
        </p:nvSpPr>
        <p:spPr>
          <a:xfrm rot="16200000">
            <a:off x="-367313" y="2661761"/>
            <a:ext cx="2911823" cy="369332"/>
          </a:xfrm>
          <a:prstGeom prst="rect">
            <a:avLst/>
          </a:prstGeom>
          <a:noFill/>
        </p:spPr>
        <p:txBody>
          <a:bodyPr wrap="none" rtlCol="0">
            <a:spAutoFit/>
          </a:bodyPr>
          <a:lstStyle/>
          <a:p>
            <a:r>
              <a:rPr lang="en-US" dirty="0"/>
              <a:t>Probability of going to park A</a:t>
            </a:r>
          </a:p>
        </p:txBody>
      </p:sp>
      <p:cxnSp>
        <p:nvCxnSpPr>
          <p:cNvPr id="17" name="Straight Arrow Connector 16">
            <a:extLst>
              <a:ext uri="{FF2B5EF4-FFF2-40B4-BE49-F238E27FC236}">
                <a16:creationId xmlns:a16="http://schemas.microsoft.com/office/drawing/2014/main" id="{DCE2882A-EB67-7616-79B3-5BE0110C4134}"/>
              </a:ext>
            </a:extLst>
          </p:cNvPr>
          <p:cNvCxnSpPr/>
          <p:nvPr/>
        </p:nvCxnSpPr>
        <p:spPr>
          <a:xfrm flipH="1" flipV="1">
            <a:off x="6248400" y="3885263"/>
            <a:ext cx="1210872" cy="463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9B00FE8-61C9-A0CA-2878-CE044E7D6A08}"/>
              </a:ext>
            </a:extLst>
          </p:cNvPr>
          <p:cNvSpPr txBox="1"/>
          <p:nvPr/>
        </p:nvSpPr>
        <p:spPr>
          <a:xfrm>
            <a:off x="7423498" y="4195480"/>
            <a:ext cx="1633139" cy="369332"/>
          </a:xfrm>
          <a:prstGeom prst="rect">
            <a:avLst/>
          </a:prstGeom>
          <a:noFill/>
        </p:spPr>
        <p:txBody>
          <a:bodyPr wrap="none" rtlCol="0">
            <a:spAutoFit/>
          </a:bodyPr>
          <a:lstStyle/>
          <a:p>
            <a:r>
              <a:rPr lang="en-US" dirty="0"/>
              <a:t>Going to park 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spc="-15" dirty="0"/>
              <a:t>I</a:t>
            </a:r>
            <a:r>
              <a:rPr dirty="0"/>
              <a:t>n</a:t>
            </a:r>
            <a:r>
              <a:rPr spc="-15" dirty="0"/>
              <a:t>t</a:t>
            </a:r>
            <a:r>
              <a:rPr dirty="0"/>
              <a:t>erpre</a:t>
            </a:r>
            <a:r>
              <a:rPr spc="-15" dirty="0"/>
              <a:t>t</a:t>
            </a:r>
            <a:r>
              <a:rPr dirty="0"/>
              <a:t>a</a:t>
            </a:r>
            <a:r>
              <a:rPr spc="-15" dirty="0"/>
              <a:t>t</a:t>
            </a:r>
            <a:r>
              <a:rPr dirty="0"/>
              <a:t>ions</a:t>
            </a:r>
            <a:r>
              <a:rPr spc="-5" dirty="0"/>
              <a:t> </a:t>
            </a:r>
            <a:r>
              <a:rPr dirty="0"/>
              <a:t>o</a:t>
            </a:r>
            <a:r>
              <a:rPr spc="-10" dirty="0"/>
              <a:t>f</a:t>
            </a:r>
            <a:r>
              <a:rPr spc="-5" dirty="0"/>
              <a:t> </a:t>
            </a:r>
            <a:r>
              <a:rPr dirty="0"/>
              <a:t>Mixed</a:t>
            </a:r>
            <a:r>
              <a:rPr spc="-5" dirty="0"/>
              <a:t> </a:t>
            </a:r>
            <a:r>
              <a:rPr spc="-25" dirty="0"/>
              <a:t>S</a:t>
            </a:r>
            <a:r>
              <a:rPr spc="-15" dirty="0"/>
              <a:t>t</a:t>
            </a:r>
            <a:r>
              <a:rPr dirty="0"/>
              <a:t>ra</a:t>
            </a:r>
            <a:r>
              <a:rPr spc="-15" dirty="0"/>
              <a:t>t</a:t>
            </a:r>
            <a:r>
              <a:rPr dirty="0"/>
              <a:t>egies</a:t>
            </a:r>
          </a:p>
        </p:txBody>
      </p:sp>
      <p:sp>
        <p:nvSpPr>
          <p:cNvPr id="6" name="object 6"/>
          <p:cNvSpPr txBox="1"/>
          <p:nvPr/>
        </p:nvSpPr>
        <p:spPr>
          <a:xfrm>
            <a:off x="409533" y="2135504"/>
            <a:ext cx="5552440" cy="110363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spc="-20" dirty="0">
                <a:latin typeface="Times New Roman"/>
                <a:cs typeface="Times New Roman"/>
              </a:rPr>
              <a:t>Ra</a:t>
            </a:r>
            <a:r>
              <a:rPr sz="2400" spc="-15" dirty="0">
                <a:latin typeface="Times New Roman"/>
                <a:cs typeface="Times New Roman"/>
              </a:rPr>
              <a:t>ndomi</a:t>
            </a:r>
            <a:r>
              <a:rPr sz="2400" spc="-20" dirty="0">
                <a:latin typeface="Times New Roman"/>
                <a:cs typeface="Times New Roman"/>
              </a:rPr>
              <a:t>z</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individu</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y</a:t>
            </a:r>
          </a:p>
          <a:p>
            <a:pPr>
              <a:lnSpc>
                <a:spcPct val="100000"/>
              </a:lnSpc>
              <a:spcBef>
                <a:spcPts val="47"/>
              </a:spcBef>
            </a:pPr>
            <a:endParaRPr sz="2750" dirty="0">
              <a:latin typeface="Times New Roman"/>
              <a:cs typeface="Times New Roman"/>
            </a:endParaRPr>
          </a:p>
          <a:p>
            <a:pPr marL="241300">
              <a:lnSpc>
                <a:spcPct val="100000"/>
              </a:lnSpc>
            </a:pPr>
            <a:r>
              <a:rPr sz="2400" dirty="0">
                <a:latin typeface="Times New Roman"/>
                <a:cs typeface="Times New Roman"/>
              </a:rPr>
              <a:t>F</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qu</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a:t>
            </a:r>
            <a:r>
              <a:rPr sz="2400" spc="-10" dirty="0">
                <a:latin typeface="Times New Roman"/>
                <a:cs typeface="Times New Roman"/>
              </a:rPr>
              <a:t>i</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i</a:t>
            </a:r>
            <a:r>
              <a:rPr sz="2400" dirty="0">
                <a:latin typeface="Times New Roman"/>
                <a:cs typeface="Times New Roman"/>
              </a:rPr>
              <a:t>n </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p</a:t>
            </a:r>
            <a:r>
              <a:rPr sz="2400" spc="-20" dirty="0">
                <a:latin typeface="Times New Roman"/>
                <a:cs typeface="Times New Roman"/>
              </a:rPr>
              <a:t>ea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d </a:t>
            </a:r>
            <a:r>
              <a:rPr sz="2400" spc="-15" dirty="0">
                <a:latin typeface="Times New Roman"/>
                <a:cs typeface="Times New Roman"/>
              </a:rPr>
              <a:t>g</a:t>
            </a:r>
            <a:r>
              <a:rPr sz="2400" spc="-20" dirty="0">
                <a:latin typeface="Times New Roman"/>
                <a:cs typeface="Times New Roman"/>
              </a:rPr>
              <a:t>ame</a:t>
            </a:r>
            <a:r>
              <a:rPr sz="2400" dirty="0">
                <a:latin typeface="Times New Roman"/>
                <a:cs typeface="Times New Roman"/>
              </a:rPr>
              <a:t>s </a:t>
            </a:r>
            <a:r>
              <a:rPr sz="2400" spc="-10" dirty="0">
                <a:latin typeface="Times New Roman"/>
                <a:cs typeface="Times New Roman"/>
              </a:rPr>
              <a:t>individu</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y</a:t>
            </a:r>
          </a:p>
        </p:txBody>
      </p:sp>
      <p:sp>
        <p:nvSpPr>
          <p:cNvPr id="7" name="object 7"/>
          <p:cNvSpPr txBox="1"/>
          <p:nvPr/>
        </p:nvSpPr>
        <p:spPr>
          <a:xfrm>
            <a:off x="409533" y="4455795"/>
            <a:ext cx="7821295" cy="110363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dirty="0">
                <a:latin typeface="Times New Roman"/>
                <a:cs typeface="Times New Roman"/>
              </a:rPr>
              <a:t>F</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qu</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a:t>
            </a:r>
            <a:r>
              <a:rPr sz="2400" spc="-10" dirty="0">
                <a:latin typeface="Times New Roman"/>
                <a:cs typeface="Times New Roman"/>
              </a:rPr>
              <a:t>i</a:t>
            </a:r>
            <a:r>
              <a:rPr sz="2400" spc="-20" dirty="0">
                <a:latin typeface="Times New Roman"/>
                <a:cs typeface="Times New Roman"/>
              </a:rPr>
              <a:t>e</a:t>
            </a:r>
            <a:r>
              <a:rPr sz="2400" dirty="0">
                <a:latin typeface="Times New Roman"/>
                <a:cs typeface="Times New Roman"/>
              </a:rPr>
              <a:t>s of </a:t>
            </a:r>
            <a:r>
              <a:rPr sz="2400" spc="-15" dirty="0">
                <a:latin typeface="Times New Roman"/>
                <a:cs typeface="Times New Roman"/>
              </a:rPr>
              <a:t>o</a:t>
            </a:r>
            <a:r>
              <a:rPr sz="2400" spc="-20" dirty="0">
                <a:latin typeface="Times New Roman"/>
                <a:cs typeface="Times New Roman"/>
              </a:rPr>
              <a:t>cc</a:t>
            </a:r>
            <a:r>
              <a:rPr sz="2400" spc="-10" dirty="0">
                <a:latin typeface="Times New Roman"/>
                <a:cs typeface="Times New Roman"/>
              </a:rPr>
              <a:t>urr</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i</a:t>
            </a:r>
            <a:r>
              <a:rPr sz="2400" dirty="0">
                <a:latin typeface="Times New Roman"/>
                <a:cs typeface="Times New Roman"/>
              </a:rPr>
              <a:t>n </a:t>
            </a:r>
            <a:r>
              <a:rPr sz="2400" spc="-15" dirty="0">
                <a:latin typeface="Times New Roman"/>
                <a:cs typeface="Times New Roman"/>
              </a:rPr>
              <a:t>a</a:t>
            </a:r>
            <a:r>
              <a:rPr sz="2400" spc="-5" dirty="0">
                <a:latin typeface="Times New Roman"/>
                <a:cs typeface="Times New Roman"/>
              </a:rPr>
              <a:t> </a:t>
            </a:r>
            <a:r>
              <a:rPr sz="2400" spc="-15" dirty="0">
                <a:latin typeface="Times New Roman"/>
                <a:cs typeface="Times New Roman"/>
              </a:rPr>
              <a:t>popul</a:t>
            </a:r>
            <a:r>
              <a:rPr sz="2400" spc="-20" dirty="0">
                <a:latin typeface="Times New Roman"/>
                <a:cs typeface="Times New Roman"/>
              </a:rPr>
              <a:t>a</a:t>
            </a:r>
            <a:r>
              <a:rPr sz="2400" spc="-10" dirty="0">
                <a:latin typeface="Times New Roman"/>
                <a:cs typeface="Times New Roman"/>
              </a:rPr>
              <a:t>ti</a:t>
            </a:r>
            <a:r>
              <a:rPr sz="2400" dirty="0">
                <a:latin typeface="Times New Roman"/>
                <a:cs typeface="Times New Roman"/>
              </a:rPr>
              <a:t>on</a:t>
            </a:r>
          </a:p>
          <a:p>
            <a:pPr>
              <a:lnSpc>
                <a:spcPct val="100000"/>
              </a:lnSpc>
              <a:spcBef>
                <a:spcPts val="47"/>
              </a:spcBef>
            </a:pPr>
            <a:endParaRPr sz="2750" dirty="0">
              <a:latin typeface="Times New Roman"/>
              <a:cs typeface="Times New Roman"/>
            </a:endParaRPr>
          </a:p>
          <a:p>
            <a:pPr marL="241300">
              <a:lnSpc>
                <a:spcPct val="100000"/>
              </a:lnSpc>
            </a:pPr>
            <a:r>
              <a:rPr sz="2400" spc="-10" dirty="0">
                <a:latin typeface="Times New Roman"/>
                <a:cs typeface="Times New Roman"/>
              </a:rPr>
              <a:t>ie</a:t>
            </a:r>
            <a:r>
              <a:rPr sz="2400" spc="-5" dirty="0">
                <a:latin typeface="Times New Roman"/>
                <a:cs typeface="Times New Roman"/>
              </a:rPr>
              <a:t> </a:t>
            </a:r>
            <a:r>
              <a:rPr sz="2400" spc="-15" dirty="0">
                <a:latin typeface="Times New Roman"/>
                <a:cs typeface="Times New Roman"/>
              </a:rPr>
              <a:t>Lik</a:t>
            </a:r>
            <a:r>
              <a:rPr sz="2400" spc="-20" dirty="0">
                <a:latin typeface="Times New Roman"/>
                <a:cs typeface="Times New Roman"/>
              </a:rPr>
              <a:t>e</a:t>
            </a:r>
            <a:r>
              <a:rPr sz="2400" spc="-10" dirty="0">
                <a:latin typeface="Times New Roman"/>
                <a:cs typeface="Times New Roman"/>
              </a:rPr>
              <a:t>li</a:t>
            </a:r>
            <a:r>
              <a:rPr sz="2400" dirty="0">
                <a:latin typeface="Times New Roman"/>
                <a:cs typeface="Times New Roman"/>
              </a:rPr>
              <a:t>hood </a:t>
            </a:r>
            <a:r>
              <a:rPr sz="2400" spc="-10" dirty="0">
                <a:latin typeface="Times New Roman"/>
                <a:cs typeface="Times New Roman"/>
              </a:rPr>
              <a:t>t</a:t>
            </a:r>
            <a:r>
              <a:rPr sz="2400" dirty="0">
                <a:latin typeface="Times New Roman"/>
                <a:cs typeface="Times New Roman"/>
              </a:rPr>
              <a:t>o </a:t>
            </a:r>
            <a:r>
              <a:rPr sz="2400" spc="-20" dirty="0">
                <a:latin typeface="Times New Roman"/>
                <a:cs typeface="Times New Roman"/>
              </a:rPr>
              <a:t>mee</a:t>
            </a:r>
            <a:r>
              <a:rPr sz="2400" spc="-10" dirty="0">
                <a:latin typeface="Times New Roman"/>
                <a:cs typeface="Times New Roman"/>
              </a:rPr>
              <a:t>t</a:t>
            </a:r>
            <a:r>
              <a:rPr sz="2400" dirty="0">
                <a:latin typeface="Times New Roman"/>
                <a:cs typeface="Times New Roman"/>
              </a:rPr>
              <a:t> </a:t>
            </a:r>
            <a:r>
              <a:rPr sz="2400" spc="-20" dirty="0">
                <a:latin typeface="Times New Roman"/>
                <a:cs typeface="Times New Roman"/>
              </a:rPr>
              <a:t>ce</a:t>
            </a:r>
            <a:r>
              <a:rPr sz="2400" spc="-10" dirty="0">
                <a:latin typeface="Times New Roman"/>
                <a:cs typeface="Times New Roman"/>
              </a:rPr>
              <a:t>rt</a:t>
            </a:r>
            <a:r>
              <a:rPr sz="2400" spc="-20" dirty="0">
                <a:latin typeface="Times New Roman"/>
                <a:cs typeface="Times New Roman"/>
              </a:rPr>
              <a:t>a</a:t>
            </a:r>
            <a:r>
              <a:rPr sz="2400" spc="-10" dirty="0">
                <a:latin typeface="Times New Roman"/>
                <a:cs typeface="Times New Roman"/>
              </a:rPr>
              <a:t>i</a:t>
            </a:r>
            <a:r>
              <a:rPr sz="2400" dirty="0">
                <a:latin typeface="Times New Roman"/>
                <a:cs typeface="Times New Roman"/>
              </a:rPr>
              <a:t>n </a:t>
            </a:r>
            <a:r>
              <a:rPr sz="2400" spc="-15" dirty="0">
                <a:latin typeface="Times New Roman"/>
                <a:cs typeface="Times New Roman"/>
              </a:rPr>
              <a:t>oppon</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s </a:t>
            </a:r>
            <a:r>
              <a:rPr sz="2400" spc="-10" dirty="0">
                <a:latin typeface="Times New Roman"/>
                <a:cs typeface="Times New Roman"/>
              </a:rPr>
              <a:t>i</a:t>
            </a:r>
            <a:r>
              <a:rPr sz="2400" dirty="0">
                <a:latin typeface="Times New Roman"/>
                <a:cs typeface="Times New Roman"/>
              </a:rPr>
              <a:t>n </a:t>
            </a:r>
            <a:r>
              <a:rPr sz="2400" spc="-15" dirty="0">
                <a:latin typeface="Times New Roman"/>
                <a:cs typeface="Times New Roman"/>
              </a:rPr>
              <a:t>a</a:t>
            </a:r>
            <a:r>
              <a:rPr sz="2400" spc="-5" dirty="0">
                <a:latin typeface="Times New Roman"/>
                <a:cs typeface="Times New Roman"/>
              </a:rPr>
              <a:t> </a:t>
            </a:r>
            <a:r>
              <a:rPr sz="2400" spc="-15" dirty="0">
                <a:latin typeface="Times New Roman"/>
                <a:cs typeface="Times New Roman"/>
              </a:rPr>
              <a:t>popul</a:t>
            </a:r>
            <a:r>
              <a:rPr sz="2400" spc="-20" dirty="0">
                <a:latin typeface="Times New Roman"/>
                <a:cs typeface="Times New Roman"/>
              </a:rPr>
              <a:t>a</a:t>
            </a:r>
            <a:r>
              <a:rPr sz="2400" spc="-10" dirty="0">
                <a:latin typeface="Times New Roman"/>
                <a:cs typeface="Times New Roman"/>
              </a:rPr>
              <a:t>ti</a:t>
            </a:r>
            <a:r>
              <a:rPr sz="2400" dirty="0">
                <a:latin typeface="Times New Roman"/>
                <a:cs typeface="Times New Roman"/>
              </a:rPr>
              <a:t>on </a:t>
            </a:r>
            <a:r>
              <a:rPr sz="2400" spc="-15" dirty="0">
                <a:latin typeface="Times New Roman"/>
                <a:cs typeface="Times New Roman"/>
              </a:rPr>
              <a:t>g</a:t>
            </a:r>
            <a:r>
              <a:rPr sz="2400" spc="-20" dirty="0">
                <a:latin typeface="Times New Roman"/>
                <a:cs typeface="Times New Roman"/>
              </a:rPr>
              <a:t>ame</a:t>
            </a:r>
            <a:r>
              <a:rPr sz="2400" dirty="0">
                <a:latin typeface="Times New Roman"/>
                <a:cs typeface="Times New Roman"/>
              </a:rPr>
              <a:t>.</a:t>
            </a:r>
          </a:p>
        </p:txBody>
      </p:sp>
      <p:sp>
        <p:nvSpPr>
          <p:cNvPr id="3" name="Rectangle 2">
            <a:extLst>
              <a:ext uri="{FF2B5EF4-FFF2-40B4-BE49-F238E27FC236}">
                <a16:creationId xmlns:a16="http://schemas.microsoft.com/office/drawing/2014/main" id="{2C21F77F-DE73-DF34-70E4-CC737ADB62E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8F40D0BA-39CD-0493-149B-01FF89289A7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8">
            <a:extLst>
              <a:ext uri="{FF2B5EF4-FFF2-40B4-BE49-F238E27FC236}">
                <a16:creationId xmlns:a16="http://schemas.microsoft.com/office/drawing/2014/main" id="{30F151B3-FBB0-2003-6DE3-E83133C9A5F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16</a:t>
            </a:fld>
            <a:r>
              <a:rPr lang="en-US" sz="2000" dirty="0">
                <a:solidFill>
                  <a:prstClr val="black"/>
                </a:solidFill>
                <a:latin typeface="Comic Sans MS"/>
                <a:sym typeface="Comic Sans MS"/>
              </a:rPr>
              <a:t>/59</a:t>
            </a:r>
          </a:p>
        </p:txBody>
      </p:sp>
      <p:sp>
        <p:nvSpPr>
          <p:cNvPr id="9" name="Footer Placeholder 9">
            <a:extLst>
              <a:ext uri="{FF2B5EF4-FFF2-40B4-BE49-F238E27FC236}">
                <a16:creationId xmlns:a16="http://schemas.microsoft.com/office/drawing/2014/main" id="{FBCB533A-1E9A-0F86-AF61-9150E2A4E077}"/>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094D3EF9-E63A-4048-FC20-24BC0899508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221615" y="574571"/>
            <a:ext cx="6826250" cy="492443"/>
          </a:xfrm>
          <a:prstGeom prst="rect">
            <a:avLst/>
          </a:prstGeom>
        </p:spPr>
        <p:txBody>
          <a:bodyPr vert="horz" wrap="square" lIns="0" tIns="0" rIns="0" bIns="0" rtlCol="0">
            <a:spAutoFit/>
          </a:bodyPr>
          <a:lstStyle/>
          <a:p>
            <a:pPr marL="12700">
              <a:lnSpc>
                <a:spcPct val="100000"/>
              </a:lnSpc>
            </a:pPr>
            <a:r>
              <a:rPr sz="3200" dirty="0">
                <a:solidFill>
                  <a:srgbClr val="0000FF"/>
                </a:solidFill>
                <a:latin typeface="Arial"/>
                <a:cs typeface="Arial"/>
              </a:rPr>
              <a:t>Social</a:t>
            </a:r>
            <a:r>
              <a:rPr sz="3200" spc="-5" dirty="0">
                <a:solidFill>
                  <a:srgbClr val="0000FF"/>
                </a:solidFill>
                <a:latin typeface="Arial"/>
                <a:cs typeface="Arial"/>
              </a:rPr>
              <a:t> </a:t>
            </a:r>
            <a:r>
              <a:rPr sz="3200" dirty="0">
                <a:solidFill>
                  <a:srgbClr val="0000FF"/>
                </a:solidFill>
                <a:latin typeface="Arial"/>
                <a:cs typeface="Arial"/>
              </a:rPr>
              <a:t>Learning</a:t>
            </a:r>
            <a:r>
              <a:rPr sz="3200" spc="-5" dirty="0">
                <a:solidFill>
                  <a:srgbClr val="0000FF"/>
                </a:solidFill>
                <a:latin typeface="Arial"/>
                <a:cs typeface="Arial"/>
              </a:rPr>
              <a:t> </a:t>
            </a:r>
            <a:r>
              <a:rPr sz="3200" dirty="0">
                <a:latin typeface="Arial"/>
                <a:cs typeface="Arial"/>
              </a:rPr>
              <a:t>in</a:t>
            </a:r>
            <a:r>
              <a:rPr sz="3200" spc="-5" dirty="0">
                <a:latin typeface="Arial"/>
                <a:cs typeface="Arial"/>
              </a:rPr>
              <a:t> </a:t>
            </a:r>
            <a:r>
              <a:rPr sz="3200" dirty="0">
                <a:latin typeface="Arial"/>
                <a:cs typeface="Arial"/>
              </a:rPr>
              <a:t>Popula</a:t>
            </a:r>
            <a:r>
              <a:rPr sz="3200" spc="-15" dirty="0">
                <a:latin typeface="Arial"/>
                <a:cs typeface="Arial"/>
              </a:rPr>
              <a:t>t</a:t>
            </a:r>
            <a:r>
              <a:rPr sz="3200" dirty="0">
                <a:latin typeface="Arial"/>
                <a:cs typeface="Arial"/>
              </a:rPr>
              <a:t>ions</a:t>
            </a:r>
            <a:r>
              <a:rPr sz="3200" spc="-5" dirty="0">
                <a:latin typeface="Arial"/>
                <a:cs typeface="Arial"/>
              </a:rPr>
              <a:t> </a:t>
            </a:r>
            <a:r>
              <a:rPr sz="3200" dirty="0">
                <a:latin typeface="Arial"/>
                <a:cs typeface="Arial"/>
              </a:rPr>
              <a:t>games</a:t>
            </a:r>
          </a:p>
        </p:txBody>
      </p:sp>
      <p:sp>
        <p:nvSpPr>
          <p:cNvPr id="6" name="object 6"/>
          <p:cNvSpPr txBox="1"/>
          <p:nvPr/>
        </p:nvSpPr>
        <p:spPr>
          <a:xfrm>
            <a:off x="171425" y="1810888"/>
            <a:ext cx="8159750" cy="3784600"/>
          </a:xfrm>
          <a:prstGeom prst="rect">
            <a:avLst/>
          </a:prstGeom>
        </p:spPr>
        <p:txBody>
          <a:bodyPr vert="horz" wrap="square" lIns="0" tIns="0" rIns="0" bIns="0" rtlCol="0">
            <a:spAutoFit/>
          </a:bodyPr>
          <a:lstStyle/>
          <a:p>
            <a:pPr marL="12700">
              <a:lnSpc>
                <a:spcPct val="100000"/>
              </a:lnSpc>
            </a:pPr>
            <a:r>
              <a:rPr sz="2600" dirty="0">
                <a:latin typeface="Times New Roman"/>
                <a:cs typeface="Times New Roman"/>
              </a:rPr>
              <a:t>How </a:t>
            </a:r>
            <a:r>
              <a:rPr sz="2600" spc="-20" dirty="0">
                <a:latin typeface="Times New Roman"/>
                <a:cs typeface="Times New Roman"/>
              </a:rPr>
              <a:t>ca</a:t>
            </a:r>
            <a:r>
              <a:rPr sz="2600" dirty="0">
                <a:latin typeface="Times New Roman"/>
                <a:cs typeface="Times New Roman"/>
              </a:rPr>
              <a:t>n w</a:t>
            </a:r>
            <a:r>
              <a:rPr sz="2600" spc="-15" dirty="0">
                <a:latin typeface="Times New Roman"/>
                <a:cs typeface="Times New Roman"/>
              </a:rPr>
              <a:t>e</a:t>
            </a:r>
            <a:r>
              <a:rPr sz="2600" spc="-5" dirty="0">
                <a:latin typeface="Times New Roman"/>
                <a:cs typeface="Times New Roman"/>
              </a:rPr>
              <a:t> </a:t>
            </a:r>
            <a:r>
              <a:rPr sz="2600" spc="-15" dirty="0">
                <a:latin typeface="Times New Roman"/>
                <a:cs typeface="Times New Roman"/>
              </a:rPr>
              <a:t>und</a:t>
            </a:r>
            <a:r>
              <a:rPr sz="2600" spc="-20" dirty="0">
                <a:latin typeface="Times New Roman"/>
                <a:cs typeface="Times New Roman"/>
              </a:rPr>
              <a:t>e</a:t>
            </a:r>
            <a:r>
              <a:rPr sz="2600" dirty="0">
                <a:latin typeface="Times New Roman"/>
                <a:cs typeface="Times New Roman"/>
              </a:rPr>
              <a:t>rs</a:t>
            </a:r>
            <a:r>
              <a:rPr sz="2600" spc="-10" dirty="0">
                <a:latin typeface="Times New Roman"/>
                <a:cs typeface="Times New Roman"/>
              </a:rPr>
              <a:t>t</a:t>
            </a:r>
            <a:r>
              <a:rPr sz="2600" spc="-20" dirty="0">
                <a:latin typeface="Times New Roman"/>
                <a:cs typeface="Times New Roman"/>
              </a:rPr>
              <a:t>a</a:t>
            </a:r>
            <a:r>
              <a:rPr sz="2600" dirty="0">
                <a:latin typeface="Times New Roman"/>
                <a:cs typeface="Times New Roman"/>
              </a:rPr>
              <a:t>nd </a:t>
            </a:r>
            <a:r>
              <a:rPr sz="2600" spc="-15" dirty="0">
                <a:latin typeface="Times New Roman"/>
                <a:cs typeface="Times New Roman"/>
              </a:rPr>
              <a:t>the</a:t>
            </a:r>
            <a:r>
              <a:rPr sz="2600" spc="-5" dirty="0">
                <a:latin typeface="Times New Roman"/>
                <a:cs typeface="Times New Roman"/>
              </a:rPr>
              <a:t> </a:t>
            </a:r>
            <a:r>
              <a:rPr sz="2600" spc="-15" dirty="0">
                <a:latin typeface="Times New Roman"/>
                <a:cs typeface="Times New Roman"/>
              </a:rPr>
              <a:t>dyn</a:t>
            </a:r>
            <a:r>
              <a:rPr sz="2600" spc="-20" dirty="0">
                <a:latin typeface="Times New Roman"/>
                <a:cs typeface="Times New Roman"/>
              </a:rPr>
              <a:t>a</a:t>
            </a:r>
            <a:r>
              <a:rPr sz="2600" spc="-15" dirty="0">
                <a:latin typeface="Times New Roman"/>
                <a:cs typeface="Times New Roman"/>
              </a:rPr>
              <a:t>mi</a:t>
            </a:r>
            <a:r>
              <a:rPr sz="2600" spc="-20" dirty="0">
                <a:latin typeface="Times New Roman"/>
                <a:cs typeface="Times New Roman"/>
              </a:rPr>
              <a:t>c</a:t>
            </a:r>
            <a:r>
              <a:rPr sz="2600" dirty="0">
                <a:latin typeface="Times New Roman"/>
                <a:cs typeface="Times New Roman"/>
              </a:rPr>
              <a:t>s of </a:t>
            </a:r>
            <a:r>
              <a:rPr sz="2600" spc="-10" dirty="0">
                <a:latin typeface="Times New Roman"/>
                <a:cs typeface="Times New Roman"/>
              </a:rPr>
              <a:t>thi</a:t>
            </a:r>
            <a:r>
              <a:rPr sz="2600" dirty="0">
                <a:latin typeface="Times New Roman"/>
                <a:cs typeface="Times New Roman"/>
              </a:rPr>
              <a:t>s</a:t>
            </a:r>
            <a:r>
              <a:rPr sz="2600" spc="-15" dirty="0">
                <a:latin typeface="Times New Roman"/>
                <a:cs typeface="Times New Roman"/>
              </a:rPr>
              <a:t>?</a:t>
            </a:r>
            <a:endParaRPr sz="2600" dirty="0">
              <a:latin typeface="Times New Roman"/>
              <a:cs typeface="Times New Roman"/>
            </a:endParaRPr>
          </a:p>
          <a:p>
            <a:pPr>
              <a:lnSpc>
                <a:spcPct val="100000"/>
              </a:lnSpc>
              <a:spcBef>
                <a:spcPts val="32"/>
              </a:spcBef>
            </a:pPr>
            <a:endParaRPr sz="2650" dirty="0">
              <a:latin typeface="Times New Roman"/>
              <a:cs typeface="Times New Roman"/>
            </a:endParaRPr>
          </a:p>
          <a:p>
            <a:pPr marL="12700" marR="1013460">
              <a:lnSpc>
                <a:spcPts val="3000"/>
              </a:lnSpc>
            </a:pPr>
            <a:r>
              <a:rPr sz="2600" dirty="0">
                <a:latin typeface="Times New Roman"/>
                <a:cs typeface="Times New Roman"/>
              </a:rPr>
              <a:t>M</a:t>
            </a:r>
            <a:r>
              <a:rPr sz="2600" spc="-15" dirty="0">
                <a:latin typeface="Times New Roman"/>
                <a:cs typeface="Times New Roman"/>
              </a:rPr>
              <a:t>u</a:t>
            </a:r>
            <a:r>
              <a:rPr sz="2600" spc="-20" dirty="0">
                <a:latin typeface="Times New Roman"/>
                <a:cs typeface="Times New Roman"/>
              </a:rPr>
              <a:t>c</a:t>
            </a:r>
            <a:r>
              <a:rPr sz="2600" dirty="0">
                <a:latin typeface="Times New Roman"/>
                <a:cs typeface="Times New Roman"/>
              </a:rPr>
              <a:t>h of our know</a:t>
            </a:r>
            <a:r>
              <a:rPr sz="2600" spc="-10" dirty="0">
                <a:latin typeface="Times New Roman"/>
                <a:cs typeface="Times New Roman"/>
              </a:rPr>
              <a:t>l</a:t>
            </a:r>
            <a:r>
              <a:rPr sz="2600" spc="-20" dirty="0">
                <a:latin typeface="Times New Roman"/>
                <a:cs typeface="Times New Roman"/>
              </a:rPr>
              <a:t>e</a:t>
            </a:r>
            <a:r>
              <a:rPr sz="2600" spc="-15" dirty="0">
                <a:latin typeface="Times New Roman"/>
                <a:cs typeface="Times New Roman"/>
              </a:rPr>
              <a:t>dge</a:t>
            </a:r>
            <a:r>
              <a:rPr sz="2600" spc="-5" dirty="0">
                <a:latin typeface="Times New Roman"/>
                <a:cs typeface="Times New Roman"/>
              </a:rPr>
              <a:t> </a:t>
            </a:r>
            <a:r>
              <a:rPr sz="2600" spc="-20" dirty="0">
                <a:latin typeface="Times New Roman"/>
                <a:cs typeface="Times New Roman"/>
              </a:rPr>
              <a:t>a</a:t>
            </a:r>
            <a:r>
              <a:rPr sz="2600" spc="-15" dirty="0">
                <a:latin typeface="Times New Roman"/>
                <a:cs typeface="Times New Roman"/>
              </a:rPr>
              <a:t>bout</a:t>
            </a:r>
            <a:r>
              <a:rPr sz="2600" dirty="0">
                <a:latin typeface="Times New Roman"/>
                <a:cs typeface="Times New Roman"/>
              </a:rPr>
              <a:t> </a:t>
            </a:r>
            <a:r>
              <a:rPr sz="2600" spc="-10" dirty="0">
                <a:latin typeface="Times New Roman"/>
                <a:cs typeface="Times New Roman"/>
              </a:rPr>
              <a:t>l</a:t>
            </a:r>
            <a:r>
              <a:rPr sz="2600" spc="-20" dirty="0">
                <a:latin typeface="Times New Roman"/>
                <a:cs typeface="Times New Roman"/>
              </a:rPr>
              <a:t>ea</a:t>
            </a:r>
            <a:r>
              <a:rPr sz="2600" spc="-10" dirty="0">
                <a:latin typeface="Times New Roman"/>
                <a:cs typeface="Times New Roman"/>
              </a:rPr>
              <a:t>rni</a:t>
            </a:r>
            <a:r>
              <a:rPr sz="2600" dirty="0">
                <a:latin typeface="Times New Roman"/>
                <a:cs typeface="Times New Roman"/>
              </a:rPr>
              <a:t>ng </a:t>
            </a:r>
            <a:r>
              <a:rPr sz="2600" spc="-10" dirty="0">
                <a:latin typeface="Times New Roman"/>
                <a:cs typeface="Times New Roman"/>
              </a:rPr>
              <a:t>i</a:t>
            </a:r>
            <a:r>
              <a:rPr sz="2600" dirty="0">
                <a:latin typeface="Times New Roman"/>
                <a:cs typeface="Times New Roman"/>
              </a:rPr>
              <a:t>n </a:t>
            </a:r>
            <a:r>
              <a:rPr sz="2600" spc="-15" dirty="0">
                <a:latin typeface="Times New Roman"/>
                <a:cs typeface="Times New Roman"/>
              </a:rPr>
              <a:t>popul</a:t>
            </a:r>
            <a:r>
              <a:rPr sz="2600" spc="-20" dirty="0">
                <a:latin typeface="Times New Roman"/>
                <a:cs typeface="Times New Roman"/>
              </a:rPr>
              <a:t>a</a:t>
            </a:r>
            <a:r>
              <a:rPr sz="2600" spc="-10" dirty="0">
                <a:latin typeface="Times New Roman"/>
                <a:cs typeface="Times New Roman"/>
              </a:rPr>
              <a:t>ti</a:t>
            </a:r>
            <a:r>
              <a:rPr sz="2600" dirty="0">
                <a:latin typeface="Times New Roman"/>
                <a:cs typeface="Times New Roman"/>
              </a:rPr>
              <a:t>ons </a:t>
            </a:r>
            <a:r>
              <a:rPr sz="2600" spc="-15" dirty="0">
                <a:latin typeface="Times New Roman"/>
                <a:cs typeface="Times New Roman"/>
              </a:rPr>
              <a:t>origin</a:t>
            </a:r>
            <a:r>
              <a:rPr sz="2600" spc="-20" dirty="0">
                <a:latin typeface="Times New Roman"/>
                <a:cs typeface="Times New Roman"/>
              </a:rPr>
              <a:t>a</a:t>
            </a:r>
            <a:r>
              <a:rPr sz="2600" spc="-10" dirty="0">
                <a:latin typeface="Times New Roman"/>
                <a:cs typeface="Times New Roman"/>
              </a:rPr>
              <a:t>t</a:t>
            </a:r>
            <a:r>
              <a:rPr sz="2600" spc="-20" dirty="0">
                <a:latin typeface="Times New Roman"/>
                <a:cs typeface="Times New Roman"/>
              </a:rPr>
              <a:t>e</a:t>
            </a:r>
            <a:r>
              <a:rPr sz="2600" dirty="0">
                <a:latin typeface="Times New Roman"/>
                <a:cs typeface="Times New Roman"/>
              </a:rPr>
              <a:t>s </a:t>
            </a:r>
            <a:r>
              <a:rPr sz="2600" spc="-15" dirty="0">
                <a:latin typeface="Times New Roman"/>
                <a:cs typeface="Times New Roman"/>
              </a:rPr>
              <a:t>from</a:t>
            </a:r>
            <a:r>
              <a:rPr sz="2600" dirty="0">
                <a:latin typeface="Times New Roman"/>
                <a:cs typeface="Times New Roman"/>
              </a:rPr>
              <a:t> </a:t>
            </a:r>
            <a:r>
              <a:rPr sz="2600" spc="-20" dirty="0">
                <a:latin typeface="Times New Roman"/>
                <a:cs typeface="Times New Roman"/>
              </a:rPr>
              <a:t>e</a:t>
            </a:r>
            <a:r>
              <a:rPr sz="2600" spc="-15" dirty="0">
                <a:latin typeface="Times New Roman"/>
                <a:cs typeface="Times New Roman"/>
              </a:rPr>
              <a:t>volution</a:t>
            </a:r>
            <a:r>
              <a:rPr sz="2600" spc="-20" dirty="0">
                <a:latin typeface="Times New Roman"/>
                <a:cs typeface="Times New Roman"/>
              </a:rPr>
              <a:t>a</a:t>
            </a:r>
            <a:r>
              <a:rPr sz="2600" dirty="0">
                <a:latin typeface="Times New Roman"/>
                <a:cs typeface="Times New Roman"/>
              </a:rPr>
              <a:t>ry </a:t>
            </a:r>
            <a:r>
              <a:rPr sz="2600" spc="-15" dirty="0">
                <a:latin typeface="Times New Roman"/>
                <a:cs typeface="Times New Roman"/>
              </a:rPr>
              <a:t>biol</a:t>
            </a:r>
            <a:r>
              <a:rPr sz="2600" dirty="0">
                <a:latin typeface="Times New Roman"/>
                <a:cs typeface="Times New Roman"/>
              </a:rPr>
              <a:t>og</a:t>
            </a:r>
            <a:r>
              <a:rPr sz="2600" spc="-170" dirty="0">
                <a:latin typeface="Times New Roman"/>
                <a:cs typeface="Times New Roman"/>
              </a:rPr>
              <a:t>y</a:t>
            </a:r>
            <a:r>
              <a:rPr sz="2600" dirty="0">
                <a:latin typeface="Times New Roman"/>
                <a:cs typeface="Times New Roman"/>
              </a:rPr>
              <a:t>.</a:t>
            </a:r>
          </a:p>
          <a:p>
            <a:pPr>
              <a:lnSpc>
                <a:spcPct val="100000"/>
              </a:lnSpc>
              <a:spcBef>
                <a:spcPts val="10"/>
              </a:spcBef>
            </a:pPr>
            <a:endParaRPr sz="2600" dirty="0">
              <a:latin typeface="Times New Roman"/>
              <a:cs typeface="Times New Roman"/>
            </a:endParaRPr>
          </a:p>
          <a:p>
            <a:pPr marL="12700" marR="5080">
              <a:lnSpc>
                <a:spcPts val="3000"/>
              </a:lnSpc>
            </a:pPr>
            <a:r>
              <a:rPr sz="2600" spc="-25" dirty="0">
                <a:latin typeface="Times New Roman"/>
                <a:cs typeface="Times New Roman"/>
              </a:rPr>
              <a:t>E</a:t>
            </a:r>
            <a:r>
              <a:rPr sz="2600" spc="-15" dirty="0">
                <a:latin typeface="Times New Roman"/>
                <a:cs typeface="Times New Roman"/>
              </a:rPr>
              <a:t>volution</a:t>
            </a:r>
            <a:r>
              <a:rPr sz="2600" spc="-20" dirty="0">
                <a:latin typeface="Times New Roman"/>
                <a:cs typeface="Times New Roman"/>
              </a:rPr>
              <a:t>a</a:t>
            </a:r>
            <a:r>
              <a:rPr sz="2600" dirty="0">
                <a:latin typeface="Times New Roman"/>
                <a:cs typeface="Times New Roman"/>
              </a:rPr>
              <a:t>ry </a:t>
            </a:r>
            <a:r>
              <a:rPr sz="2600" spc="-15" dirty="0">
                <a:latin typeface="Times New Roman"/>
                <a:cs typeface="Times New Roman"/>
              </a:rPr>
              <a:t>biol</a:t>
            </a:r>
            <a:r>
              <a:rPr sz="2600" dirty="0">
                <a:latin typeface="Times New Roman"/>
                <a:cs typeface="Times New Roman"/>
              </a:rPr>
              <a:t>ogy </a:t>
            </a:r>
            <a:r>
              <a:rPr sz="2600" spc="-20" dirty="0">
                <a:latin typeface="Times New Roman"/>
                <a:cs typeface="Times New Roman"/>
              </a:rPr>
              <a:t>a</a:t>
            </a:r>
            <a:r>
              <a:rPr sz="2600" dirty="0">
                <a:latin typeface="Times New Roman"/>
                <a:cs typeface="Times New Roman"/>
              </a:rPr>
              <a:t>sks how s</a:t>
            </a:r>
            <a:r>
              <a:rPr sz="2600" spc="-15" dirty="0">
                <a:latin typeface="Times New Roman"/>
                <a:cs typeface="Times New Roman"/>
              </a:rPr>
              <a:t>p</a:t>
            </a:r>
            <a:r>
              <a:rPr sz="2600" spc="-20" dirty="0">
                <a:latin typeface="Times New Roman"/>
                <a:cs typeface="Times New Roman"/>
              </a:rPr>
              <a:t>ec</a:t>
            </a:r>
            <a:r>
              <a:rPr sz="2600" spc="-10" dirty="0">
                <a:latin typeface="Times New Roman"/>
                <a:cs typeface="Times New Roman"/>
              </a:rPr>
              <a:t>i</a:t>
            </a:r>
            <a:r>
              <a:rPr sz="2600" spc="-20" dirty="0">
                <a:latin typeface="Times New Roman"/>
                <a:cs typeface="Times New Roman"/>
              </a:rPr>
              <a:t>e</a:t>
            </a:r>
            <a:r>
              <a:rPr sz="2600" dirty="0">
                <a:latin typeface="Times New Roman"/>
                <a:cs typeface="Times New Roman"/>
              </a:rPr>
              <a:t>s </a:t>
            </a:r>
            <a:r>
              <a:rPr sz="2600" spc="-20" dirty="0">
                <a:latin typeface="Times New Roman"/>
                <a:cs typeface="Times New Roman"/>
              </a:rPr>
              <a:t>a</a:t>
            </a:r>
            <a:r>
              <a:rPr sz="2600" dirty="0">
                <a:latin typeface="Times New Roman"/>
                <a:cs typeface="Times New Roman"/>
              </a:rPr>
              <a:t>nd </a:t>
            </a:r>
            <a:r>
              <a:rPr sz="2600" spc="-15" dirty="0">
                <a:latin typeface="Times New Roman"/>
                <a:cs typeface="Times New Roman"/>
              </a:rPr>
              <a:t>popul</a:t>
            </a:r>
            <a:r>
              <a:rPr sz="2600" spc="-20" dirty="0">
                <a:latin typeface="Times New Roman"/>
                <a:cs typeface="Times New Roman"/>
              </a:rPr>
              <a:t>a</a:t>
            </a:r>
            <a:r>
              <a:rPr sz="2600" spc="-10" dirty="0">
                <a:latin typeface="Times New Roman"/>
                <a:cs typeface="Times New Roman"/>
              </a:rPr>
              <a:t>ti</a:t>
            </a:r>
            <a:r>
              <a:rPr sz="2600" dirty="0">
                <a:latin typeface="Times New Roman"/>
                <a:cs typeface="Times New Roman"/>
              </a:rPr>
              <a:t>ons </a:t>
            </a:r>
            <a:r>
              <a:rPr sz="2600" spc="-20" dirty="0">
                <a:latin typeface="Times New Roman"/>
                <a:cs typeface="Times New Roman"/>
              </a:rPr>
              <a:t>a</a:t>
            </a:r>
            <a:r>
              <a:rPr sz="2600" spc="-15" dirty="0">
                <a:latin typeface="Times New Roman"/>
                <a:cs typeface="Times New Roman"/>
              </a:rPr>
              <a:t>d</a:t>
            </a:r>
            <a:r>
              <a:rPr sz="2600" spc="-20" dirty="0">
                <a:latin typeface="Times New Roman"/>
                <a:cs typeface="Times New Roman"/>
              </a:rPr>
              <a:t>a</a:t>
            </a:r>
            <a:r>
              <a:rPr sz="2600" spc="-15" dirty="0">
                <a:latin typeface="Times New Roman"/>
                <a:cs typeface="Times New Roman"/>
              </a:rPr>
              <a:t>pt ov</a:t>
            </a:r>
            <a:r>
              <a:rPr sz="2600" spc="-20" dirty="0">
                <a:latin typeface="Times New Roman"/>
                <a:cs typeface="Times New Roman"/>
              </a:rPr>
              <a:t>e</a:t>
            </a:r>
            <a:r>
              <a:rPr sz="2600" dirty="0">
                <a:latin typeface="Times New Roman"/>
                <a:cs typeface="Times New Roman"/>
              </a:rPr>
              <a:t>r </a:t>
            </a:r>
            <a:r>
              <a:rPr sz="2600" spc="-15" dirty="0">
                <a:latin typeface="Times New Roman"/>
                <a:cs typeface="Times New Roman"/>
              </a:rPr>
              <a:t>time</a:t>
            </a:r>
            <a:r>
              <a:rPr sz="2600" spc="-5" dirty="0">
                <a:latin typeface="Times New Roman"/>
                <a:cs typeface="Times New Roman"/>
              </a:rPr>
              <a:t> </a:t>
            </a:r>
            <a:r>
              <a:rPr sz="2600" spc="-10" dirty="0">
                <a:latin typeface="Times New Roman"/>
                <a:cs typeface="Times New Roman"/>
              </a:rPr>
              <a:t>t</a:t>
            </a:r>
            <a:r>
              <a:rPr sz="2600" dirty="0">
                <a:latin typeface="Times New Roman"/>
                <a:cs typeface="Times New Roman"/>
              </a:rPr>
              <a:t>o </a:t>
            </a:r>
            <a:r>
              <a:rPr sz="2600" spc="-15" dirty="0">
                <a:latin typeface="Times New Roman"/>
                <a:cs typeface="Times New Roman"/>
              </a:rPr>
              <a:t>the</a:t>
            </a:r>
            <a:r>
              <a:rPr sz="2600" spc="-5" dirty="0">
                <a:latin typeface="Times New Roman"/>
                <a:cs typeface="Times New Roman"/>
              </a:rPr>
              <a:t> </a:t>
            </a:r>
            <a:r>
              <a:rPr sz="2600" spc="-20" dirty="0">
                <a:latin typeface="Times New Roman"/>
                <a:cs typeface="Times New Roman"/>
              </a:rPr>
              <a:t>e</a:t>
            </a:r>
            <a:r>
              <a:rPr sz="2600" spc="-15" dirty="0">
                <a:latin typeface="Times New Roman"/>
                <a:cs typeface="Times New Roman"/>
              </a:rPr>
              <a:t>nvironm</a:t>
            </a:r>
            <a:r>
              <a:rPr sz="2600" spc="-20" dirty="0">
                <a:latin typeface="Times New Roman"/>
                <a:cs typeface="Times New Roman"/>
              </a:rPr>
              <a:t>e</a:t>
            </a:r>
            <a:r>
              <a:rPr sz="2600" spc="-15" dirty="0">
                <a:latin typeface="Times New Roman"/>
                <a:cs typeface="Times New Roman"/>
              </a:rPr>
              <a:t>nt</a:t>
            </a:r>
            <a:r>
              <a:rPr sz="2600" dirty="0">
                <a:latin typeface="Times New Roman"/>
                <a:cs typeface="Times New Roman"/>
              </a:rPr>
              <a:t>.</a:t>
            </a:r>
          </a:p>
          <a:p>
            <a:pPr>
              <a:lnSpc>
                <a:spcPct val="100000"/>
              </a:lnSpc>
              <a:spcBef>
                <a:spcPts val="40"/>
              </a:spcBef>
            </a:pPr>
            <a:endParaRPr sz="2400" dirty="0">
              <a:latin typeface="Times New Roman"/>
              <a:cs typeface="Times New Roman"/>
            </a:endParaRPr>
          </a:p>
          <a:p>
            <a:pPr marL="12700">
              <a:lnSpc>
                <a:spcPts val="3060"/>
              </a:lnSpc>
            </a:pPr>
            <a:r>
              <a:rPr sz="2600" spc="-30" dirty="0">
                <a:latin typeface="Times New Roman"/>
                <a:cs typeface="Times New Roman"/>
              </a:rPr>
              <a:t>W</a:t>
            </a:r>
            <a:r>
              <a:rPr sz="2600" spc="-10" dirty="0">
                <a:latin typeface="Times New Roman"/>
                <a:cs typeface="Times New Roman"/>
              </a:rPr>
              <a:t>hile</a:t>
            </a:r>
            <a:r>
              <a:rPr sz="2600" spc="-5" dirty="0">
                <a:latin typeface="Times New Roman"/>
                <a:cs typeface="Times New Roman"/>
              </a:rPr>
              <a:t> </a:t>
            </a:r>
            <a:r>
              <a:rPr sz="2600" spc="-10" dirty="0">
                <a:latin typeface="Times New Roman"/>
                <a:cs typeface="Times New Roman"/>
              </a:rPr>
              <a:t>thi</a:t>
            </a:r>
            <a:r>
              <a:rPr sz="2600" dirty="0">
                <a:latin typeface="Times New Roman"/>
                <a:cs typeface="Times New Roman"/>
              </a:rPr>
              <a:t>s </a:t>
            </a:r>
            <a:r>
              <a:rPr sz="2600" spc="-10" dirty="0">
                <a:latin typeface="Times New Roman"/>
                <a:cs typeface="Times New Roman"/>
              </a:rPr>
              <a:t>i</a:t>
            </a:r>
            <a:r>
              <a:rPr sz="2600" dirty="0">
                <a:latin typeface="Times New Roman"/>
                <a:cs typeface="Times New Roman"/>
              </a:rPr>
              <a:t>s </a:t>
            </a:r>
            <a:r>
              <a:rPr sz="2600" spc="-15" dirty="0">
                <a:latin typeface="Times New Roman"/>
                <a:cs typeface="Times New Roman"/>
              </a:rPr>
              <a:t>a</a:t>
            </a:r>
            <a:r>
              <a:rPr sz="2600" spc="-5" dirty="0">
                <a:latin typeface="Times New Roman"/>
                <a:cs typeface="Times New Roman"/>
              </a:rPr>
              <a:t> </a:t>
            </a:r>
            <a:r>
              <a:rPr sz="2600" dirty="0">
                <a:latin typeface="Times New Roman"/>
                <a:cs typeface="Times New Roman"/>
              </a:rPr>
              <a:t>(s</a:t>
            </a:r>
            <a:r>
              <a:rPr sz="2600" spc="-15" dirty="0">
                <a:latin typeface="Times New Roman"/>
                <a:cs typeface="Times New Roman"/>
              </a:rPr>
              <a:t>ubtl</a:t>
            </a:r>
            <a:r>
              <a:rPr sz="2600" dirty="0">
                <a:latin typeface="Times New Roman"/>
                <a:cs typeface="Times New Roman"/>
              </a:rPr>
              <a:t>y) </a:t>
            </a:r>
            <a:r>
              <a:rPr sz="2600" spc="-15" dirty="0">
                <a:latin typeface="Times New Roman"/>
                <a:cs typeface="Times New Roman"/>
              </a:rPr>
              <a:t>di</a:t>
            </a:r>
            <a:r>
              <a:rPr sz="2600" spc="-50" dirty="0">
                <a:latin typeface="Times New Roman"/>
                <a:cs typeface="Times New Roman"/>
              </a:rPr>
              <a:t>f</a:t>
            </a:r>
            <a:r>
              <a:rPr sz="2600" spc="-10" dirty="0">
                <a:latin typeface="Times New Roman"/>
                <a:cs typeface="Times New Roman"/>
              </a:rPr>
              <a:t>f</a:t>
            </a:r>
            <a:r>
              <a:rPr sz="2600" spc="-20" dirty="0">
                <a:latin typeface="Times New Roman"/>
                <a:cs typeface="Times New Roman"/>
              </a:rPr>
              <a:t>e</a:t>
            </a:r>
            <a:r>
              <a:rPr sz="2600" spc="-10" dirty="0">
                <a:latin typeface="Times New Roman"/>
                <a:cs typeface="Times New Roman"/>
              </a:rPr>
              <a:t>r</a:t>
            </a:r>
            <a:r>
              <a:rPr sz="2600" spc="-20" dirty="0">
                <a:latin typeface="Times New Roman"/>
                <a:cs typeface="Times New Roman"/>
              </a:rPr>
              <a:t>e</a:t>
            </a:r>
            <a:r>
              <a:rPr sz="2600" spc="-15" dirty="0">
                <a:latin typeface="Times New Roman"/>
                <a:cs typeface="Times New Roman"/>
              </a:rPr>
              <a:t>nt</a:t>
            </a:r>
            <a:r>
              <a:rPr sz="2600" dirty="0">
                <a:latin typeface="Times New Roman"/>
                <a:cs typeface="Times New Roman"/>
              </a:rPr>
              <a:t> s</a:t>
            </a:r>
            <a:r>
              <a:rPr sz="2600" spc="-20" dirty="0">
                <a:latin typeface="Times New Roman"/>
                <a:cs typeface="Times New Roman"/>
              </a:rPr>
              <a:t>e</a:t>
            </a:r>
            <a:r>
              <a:rPr sz="2600" spc="-10" dirty="0">
                <a:latin typeface="Times New Roman"/>
                <a:cs typeface="Times New Roman"/>
              </a:rPr>
              <a:t>tti</a:t>
            </a:r>
            <a:r>
              <a:rPr sz="2600" dirty="0">
                <a:latin typeface="Times New Roman"/>
                <a:cs typeface="Times New Roman"/>
              </a:rPr>
              <a:t>ng </a:t>
            </a:r>
            <a:r>
              <a:rPr sz="2600" spc="-15" dirty="0">
                <a:latin typeface="Times New Roman"/>
                <a:cs typeface="Times New Roman"/>
              </a:rPr>
              <a:t>from</a:t>
            </a:r>
            <a:r>
              <a:rPr sz="2600" dirty="0">
                <a:latin typeface="Times New Roman"/>
                <a:cs typeface="Times New Roman"/>
              </a:rPr>
              <a:t> </a:t>
            </a:r>
            <a:r>
              <a:rPr sz="2600" spc="-10" dirty="0">
                <a:latin typeface="Times New Roman"/>
                <a:cs typeface="Times New Roman"/>
              </a:rPr>
              <a:t>l</a:t>
            </a:r>
            <a:r>
              <a:rPr sz="2600" spc="-20" dirty="0">
                <a:latin typeface="Times New Roman"/>
                <a:cs typeface="Times New Roman"/>
              </a:rPr>
              <a:t>ea</a:t>
            </a:r>
            <a:r>
              <a:rPr sz="2600" spc="-10" dirty="0">
                <a:latin typeface="Times New Roman"/>
                <a:cs typeface="Times New Roman"/>
              </a:rPr>
              <a:t>rni</a:t>
            </a:r>
            <a:r>
              <a:rPr sz="2600" dirty="0">
                <a:latin typeface="Times New Roman"/>
                <a:cs typeface="Times New Roman"/>
              </a:rPr>
              <a:t>ng</a:t>
            </a:r>
          </a:p>
          <a:p>
            <a:pPr marL="12700">
              <a:lnSpc>
                <a:spcPts val="3060"/>
              </a:lnSpc>
            </a:pPr>
            <a:r>
              <a:rPr sz="2600" spc="-20" dirty="0">
                <a:latin typeface="Times New Roman"/>
                <a:cs typeface="Times New Roman"/>
              </a:rPr>
              <a:t>muc</a:t>
            </a:r>
            <a:r>
              <a:rPr sz="2600" dirty="0">
                <a:latin typeface="Times New Roman"/>
                <a:cs typeface="Times New Roman"/>
              </a:rPr>
              <a:t>h of </a:t>
            </a:r>
            <a:r>
              <a:rPr sz="2600" spc="-10" dirty="0">
                <a:latin typeface="Times New Roman"/>
                <a:cs typeface="Times New Roman"/>
              </a:rPr>
              <a:t>thi</a:t>
            </a:r>
            <a:r>
              <a:rPr sz="2600" dirty="0">
                <a:latin typeface="Times New Roman"/>
                <a:cs typeface="Times New Roman"/>
              </a:rPr>
              <a:t>s </a:t>
            </a:r>
            <a:r>
              <a:rPr sz="2600" spc="-15" dirty="0">
                <a:latin typeface="Times New Roman"/>
                <a:cs typeface="Times New Roman"/>
              </a:rPr>
              <a:t>th</a:t>
            </a:r>
            <a:r>
              <a:rPr sz="2600" spc="-20" dirty="0">
                <a:latin typeface="Times New Roman"/>
                <a:cs typeface="Times New Roman"/>
              </a:rPr>
              <a:t>e</a:t>
            </a:r>
            <a:r>
              <a:rPr sz="2600" dirty="0">
                <a:latin typeface="Times New Roman"/>
                <a:cs typeface="Times New Roman"/>
              </a:rPr>
              <a:t>ory </a:t>
            </a:r>
            <a:r>
              <a:rPr sz="2600" spc="-20" dirty="0">
                <a:latin typeface="Times New Roman"/>
                <a:cs typeface="Times New Roman"/>
              </a:rPr>
              <a:t>ca</a:t>
            </a:r>
            <a:r>
              <a:rPr sz="2600" dirty="0">
                <a:latin typeface="Times New Roman"/>
                <a:cs typeface="Times New Roman"/>
              </a:rPr>
              <a:t>n </a:t>
            </a:r>
            <a:r>
              <a:rPr sz="2600" spc="-15" dirty="0">
                <a:latin typeface="Times New Roman"/>
                <a:cs typeface="Times New Roman"/>
              </a:rPr>
              <a:t>be</a:t>
            </a:r>
            <a:r>
              <a:rPr sz="2600" spc="-5" dirty="0">
                <a:latin typeface="Times New Roman"/>
                <a:cs typeface="Times New Roman"/>
              </a:rPr>
              <a:t> </a:t>
            </a:r>
            <a:r>
              <a:rPr sz="2600" spc="-20" dirty="0">
                <a:latin typeface="Times New Roman"/>
                <a:cs typeface="Times New Roman"/>
              </a:rPr>
              <a:t>a</a:t>
            </a:r>
            <a:r>
              <a:rPr sz="2600" spc="-15" dirty="0">
                <a:latin typeface="Times New Roman"/>
                <a:cs typeface="Times New Roman"/>
              </a:rPr>
              <a:t>ppli</a:t>
            </a:r>
            <a:r>
              <a:rPr sz="2600" spc="-20" dirty="0">
                <a:latin typeface="Times New Roman"/>
                <a:cs typeface="Times New Roman"/>
              </a:rPr>
              <a:t>e</a:t>
            </a:r>
            <a:r>
              <a:rPr sz="2600" dirty="0">
                <a:latin typeface="Times New Roman"/>
                <a:cs typeface="Times New Roman"/>
              </a:rPr>
              <a:t>d </a:t>
            </a:r>
            <a:r>
              <a:rPr sz="2600" spc="-10" dirty="0">
                <a:latin typeface="Times New Roman"/>
                <a:cs typeface="Times New Roman"/>
              </a:rPr>
              <a:t>t</a:t>
            </a:r>
            <a:r>
              <a:rPr sz="2600" dirty="0">
                <a:latin typeface="Times New Roman"/>
                <a:cs typeface="Times New Roman"/>
              </a:rPr>
              <a:t>o </a:t>
            </a:r>
            <a:r>
              <a:rPr sz="2600" spc="-10" dirty="0">
                <a:latin typeface="Times New Roman"/>
                <a:cs typeface="Times New Roman"/>
              </a:rPr>
              <a:t>l</a:t>
            </a:r>
            <a:r>
              <a:rPr sz="2600" spc="-20" dirty="0">
                <a:latin typeface="Times New Roman"/>
                <a:cs typeface="Times New Roman"/>
              </a:rPr>
              <a:t>ea</a:t>
            </a:r>
            <a:r>
              <a:rPr sz="2600" spc="-10" dirty="0">
                <a:latin typeface="Times New Roman"/>
                <a:cs typeface="Times New Roman"/>
              </a:rPr>
              <a:t>rni</a:t>
            </a:r>
            <a:r>
              <a:rPr sz="2600" dirty="0">
                <a:latin typeface="Times New Roman"/>
                <a:cs typeface="Times New Roman"/>
              </a:rPr>
              <a:t>ng </a:t>
            </a:r>
            <a:r>
              <a:rPr sz="2600" spc="-10" dirty="0">
                <a:latin typeface="Times New Roman"/>
                <a:cs typeface="Times New Roman"/>
              </a:rPr>
              <a:t>i</a:t>
            </a:r>
            <a:r>
              <a:rPr sz="2600" dirty="0">
                <a:latin typeface="Times New Roman"/>
                <a:cs typeface="Times New Roman"/>
              </a:rPr>
              <a:t>n </a:t>
            </a:r>
            <a:r>
              <a:rPr sz="2600" spc="-15" dirty="0">
                <a:latin typeface="Times New Roman"/>
                <a:cs typeface="Times New Roman"/>
              </a:rPr>
              <a:t>popul</a:t>
            </a:r>
            <a:r>
              <a:rPr sz="2600" spc="-20" dirty="0">
                <a:latin typeface="Times New Roman"/>
                <a:cs typeface="Times New Roman"/>
              </a:rPr>
              <a:t>a</a:t>
            </a:r>
            <a:r>
              <a:rPr sz="2600" spc="-10" dirty="0">
                <a:latin typeface="Times New Roman"/>
                <a:cs typeface="Times New Roman"/>
              </a:rPr>
              <a:t>ti</a:t>
            </a:r>
            <a:r>
              <a:rPr sz="2600" dirty="0">
                <a:latin typeface="Times New Roman"/>
                <a:cs typeface="Times New Roman"/>
              </a:rPr>
              <a:t>ons.</a:t>
            </a:r>
          </a:p>
        </p:txBody>
      </p:sp>
      <p:sp>
        <p:nvSpPr>
          <p:cNvPr id="3" name="Rectangle 2">
            <a:extLst>
              <a:ext uri="{FF2B5EF4-FFF2-40B4-BE49-F238E27FC236}">
                <a16:creationId xmlns:a16="http://schemas.microsoft.com/office/drawing/2014/main" id="{3E542198-5F8B-491C-86BB-B638ABC4C62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6462AD5D-4945-F3FF-4EEB-979F73935D5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7FA3B290-B458-0EAB-B942-A8775FB50C8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17</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F07327E1-7466-3291-0510-7B073942405A}"/>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D1A8E7CE-AA69-077A-4FCE-0BE27042C79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p:nvPr/>
        </p:nvSpPr>
        <p:spPr>
          <a:xfrm>
            <a:off x="450796" y="1502868"/>
            <a:ext cx="2936728" cy="4248111"/>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150744" rIns="0" bIns="0" rtlCol="0">
            <a:spAutoFit/>
          </a:bodyPr>
          <a:lstStyle/>
          <a:p>
            <a:pPr marL="23495">
              <a:lnSpc>
                <a:spcPct val="100000"/>
              </a:lnSpc>
            </a:pPr>
            <a:r>
              <a:rPr sz="3100" spc="-25" dirty="0"/>
              <a:t>T</a:t>
            </a:r>
            <a:r>
              <a:rPr sz="3100" dirty="0"/>
              <a:t>he</a:t>
            </a:r>
            <a:r>
              <a:rPr sz="3100" spc="-5" dirty="0"/>
              <a:t> </a:t>
            </a:r>
            <a:r>
              <a:rPr sz="3100" spc="-25" dirty="0"/>
              <a:t>F</a:t>
            </a:r>
            <a:r>
              <a:rPr sz="3100" dirty="0"/>
              <a:t>a</a:t>
            </a:r>
            <a:r>
              <a:rPr sz="3100" spc="-10" dirty="0"/>
              <a:t>t</a:t>
            </a:r>
            <a:r>
              <a:rPr sz="3100" dirty="0"/>
              <a:t>her</a:t>
            </a:r>
            <a:r>
              <a:rPr sz="3100" spc="-5" dirty="0"/>
              <a:t> </a:t>
            </a:r>
            <a:r>
              <a:rPr sz="3100" dirty="0"/>
              <a:t>o</a:t>
            </a:r>
            <a:r>
              <a:rPr sz="3100" spc="-10" dirty="0"/>
              <a:t>f</a:t>
            </a:r>
            <a:r>
              <a:rPr sz="3100" spc="-5" dirty="0"/>
              <a:t> </a:t>
            </a:r>
            <a:r>
              <a:rPr sz="3100" dirty="0"/>
              <a:t>Evolu</a:t>
            </a:r>
            <a:r>
              <a:rPr sz="3100" spc="-10" dirty="0"/>
              <a:t>t</a:t>
            </a:r>
            <a:r>
              <a:rPr sz="3100" dirty="0"/>
              <a:t>ionary</a:t>
            </a:r>
            <a:r>
              <a:rPr sz="3100" spc="-5" dirty="0"/>
              <a:t> </a:t>
            </a:r>
            <a:r>
              <a:rPr sz="3100" spc="-25" dirty="0"/>
              <a:t>G</a:t>
            </a:r>
            <a:r>
              <a:rPr sz="3100" dirty="0"/>
              <a:t>ame</a:t>
            </a:r>
            <a:r>
              <a:rPr sz="3100" spc="-60" dirty="0"/>
              <a:t> </a:t>
            </a:r>
            <a:r>
              <a:rPr sz="3100" spc="-25" dirty="0"/>
              <a:t>T</a:t>
            </a:r>
            <a:r>
              <a:rPr sz="3100" dirty="0"/>
              <a:t>heory</a:t>
            </a:r>
            <a:endParaRPr sz="3100"/>
          </a:p>
        </p:txBody>
      </p:sp>
      <p:sp>
        <p:nvSpPr>
          <p:cNvPr id="7" name="object 7"/>
          <p:cNvSpPr txBox="1"/>
          <p:nvPr/>
        </p:nvSpPr>
        <p:spPr>
          <a:xfrm>
            <a:off x="4090347" y="1570707"/>
            <a:ext cx="3799840" cy="3898265"/>
          </a:xfrm>
          <a:prstGeom prst="rect">
            <a:avLst/>
          </a:prstGeom>
        </p:spPr>
        <p:txBody>
          <a:bodyPr vert="horz" wrap="square" lIns="0" tIns="0" rIns="0" bIns="0" rtlCol="0">
            <a:spAutoFit/>
          </a:bodyPr>
          <a:lstStyle/>
          <a:p>
            <a:pPr marL="12700">
              <a:lnSpc>
                <a:spcPts val="2130"/>
              </a:lnSpc>
            </a:pPr>
            <a:r>
              <a:rPr sz="1800" dirty="0">
                <a:latin typeface="Arial"/>
                <a:cs typeface="Arial"/>
              </a:rPr>
              <a:t>Maynard</a:t>
            </a:r>
            <a:r>
              <a:rPr sz="1800" spc="-5" dirty="0">
                <a:latin typeface="Arial"/>
                <a:cs typeface="Arial"/>
              </a:rPr>
              <a:t> </a:t>
            </a:r>
            <a:r>
              <a:rPr sz="1800" dirty="0">
                <a:latin typeface="Arial"/>
                <a:cs typeface="Arial"/>
              </a:rPr>
              <a:t>Smi</a:t>
            </a:r>
            <a:r>
              <a:rPr sz="1800" spc="-5" dirty="0">
                <a:latin typeface="Arial"/>
                <a:cs typeface="Arial"/>
              </a:rPr>
              <a:t>t</a:t>
            </a:r>
            <a:r>
              <a:rPr sz="1800" dirty="0">
                <a:latin typeface="Arial"/>
                <a:cs typeface="Arial"/>
              </a:rPr>
              <a:t>h</a:t>
            </a:r>
            <a:r>
              <a:rPr sz="1800" spc="-5" dirty="0">
                <a:latin typeface="Arial"/>
                <a:cs typeface="Arial"/>
              </a:rPr>
              <a:t> </a:t>
            </a:r>
            <a:r>
              <a:rPr sz="1800" dirty="0">
                <a:latin typeface="Arial"/>
                <a:cs typeface="Arial"/>
              </a:rPr>
              <a:t>(1986)</a:t>
            </a:r>
            <a:endParaRPr sz="1800">
              <a:latin typeface="Arial"/>
              <a:cs typeface="Arial"/>
            </a:endParaRPr>
          </a:p>
          <a:p>
            <a:pPr marL="12700">
              <a:lnSpc>
                <a:spcPts val="2130"/>
              </a:lnSpc>
            </a:pPr>
            <a:r>
              <a:rPr sz="1800" i="1" dirty="0">
                <a:latin typeface="Arial"/>
                <a:cs typeface="Arial"/>
              </a:rPr>
              <a:t>Evolu</a:t>
            </a:r>
            <a:r>
              <a:rPr sz="1800" i="1" spc="-5" dirty="0">
                <a:latin typeface="Arial"/>
                <a:cs typeface="Arial"/>
              </a:rPr>
              <a:t>tion </a:t>
            </a:r>
            <a:r>
              <a:rPr sz="1800" i="1" dirty="0">
                <a:latin typeface="Arial"/>
                <a:cs typeface="Arial"/>
              </a:rPr>
              <a:t>and</a:t>
            </a:r>
            <a:r>
              <a:rPr sz="1800" i="1" spc="-5" dirty="0">
                <a:latin typeface="Arial"/>
                <a:cs typeface="Arial"/>
              </a:rPr>
              <a:t> t</a:t>
            </a:r>
            <a:r>
              <a:rPr sz="1800" i="1" dirty="0">
                <a:latin typeface="Arial"/>
                <a:cs typeface="Arial"/>
              </a:rPr>
              <a:t>he</a:t>
            </a:r>
            <a:r>
              <a:rPr sz="1800" i="1" spc="-5" dirty="0">
                <a:latin typeface="Arial"/>
                <a:cs typeface="Arial"/>
              </a:rPr>
              <a:t> </a:t>
            </a:r>
            <a:r>
              <a:rPr sz="1800" i="1" spc="-15" dirty="0">
                <a:latin typeface="Arial"/>
                <a:cs typeface="Arial"/>
              </a:rPr>
              <a:t>T</a:t>
            </a:r>
            <a:r>
              <a:rPr sz="1800" i="1" dirty="0">
                <a:latin typeface="Arial"/>
                <a:cs typeface="Arial"/>
              </a:rPr>
              <a:t>heory</a:t>
            </a:r>
            <a:r>
              <a:rPr sz="1800" i="1" spc="-5" dirty="0">
                <a:latin typeface="Arial"/>
                <a:cs typeface="Arial"/>
              </a:rPr>
              <a:t> </a:t>
            </a:r>
            <a:r>
              <a:rPr sz="1800" i="1" dirty="0">
                <a:latin typeface="Arial"/>
                <a:cs typeface="Arial"/>
              </a:rPr>
              <a:t>o</a:t>
            </a:r>
            <a:r>
              <a:rPr sz="1800" i="1" spc="-5" dirty="0">
                <a:latin typeface="Arial"/>
                <a:cs typeface="Arial"/>
              </a:rPr>
              <a:t>f </a:t>
            </a:r>
            <a:r>
              <a:rPr sz="1800" i="1" spc="-15" dirty="0">
                <a:latin typeface="Arial"/>
                <a:cs typeface="Arial"/>
              </a:rPr>
              <a:t>G</a:t>
            </a:r>
            <a:r>
              <a:rPr sz="1800" i="1" dirty="0">
                <a:latin typeface="Arial"/>
                <a:cs typeface="Arial"/>
              </a:rPr>
              <a:t>ames</a:t>
            </a:r>
            <a:endParaRPr sz="1800">
              <a:latin typeface="Arial"/>
              <a:cs typeface="Arial"/>
            </a:endParaRPr>
          </a:p>
          <a:p>
            <a:pPr>
              <a:lnSpc>
                <a:spcPct val="100000"/>
              </a:lnSpc>
              <a:spcBef>
                <a:spcPts val="35"/>
              </a:spcBef>
            </a:pPr>
            <a:endParaRPr sz="2150">
              <a:latin typeface="Times New Roman"/>
              <a:cs typeface="Times New Roman"/>
            </a:endParaRPr>
          </a:p>
          <a:p>
            <a:pPr marL="12700" marR="1428115">
              <a:lnSpc>
                <a:spcPts val="2100"/>
              </a:lnSpc>
            </a:pPr>
            <a:r>
              <a:rPr sz="1800" dirty="0">
                <a:latin typeface="Arial"/>
                <a:cs typeface="Arial"/>
              </a:rPr>
              <a:t>Applied</a:t>
            </a:r>
            <a:r>
              <a:rPr sz="1800" spc="-5" dirty="0">
                <a:latin typeface="Arial"/>
                <a:cs typeface="Arial"/>
              </a:rPr>
              <a:t> </a:t>
            </a:r>
            <a:r>
              <a:rPr sz="1800" dirty="0">
                <a:latin typeface="Arial"/>
                <a:cs typeface="Arial"/>
              </a:rPr>
              <a:t>game</a:t>
            </a:r>
            <a:r>
              <a:rPr sz="1800" spc="-5" dirty="0">
                <a:latin typeface="Arial"/>
                <a:cs typeface="Arial"/>
              </a:rPr>
              <a:t> t</a:t>
            </a:r>
            <a:r>
              <a:rPr sz="1800" dirty="0">
                <a:latin typeface="Arial"/>
                <a:cs typeface="Arial"/>
              </a:rPr>
              <a:t>heory</a:t>
            </a:r>
            <a:r>
              <a:rPr sz="1800" spc="-5" dirty="0">
                <a:latin typeface="Arial"/>
                <a:cs typeface="Arial"/>
              </a:rPr>
              <a:t> t</a:t>
            </a:r>
            <a:r>
              <a:rPr sz="1800" dirty="0">
                <a:latin typeface="Arial"/>
                <a:cs typeface="Arial"/>
              </a:rPr>
              <a:t>o biological</a:t>
            </a:r>
            <a:r>
              <a:rPr sz="1800" spc="-5" dirty="0">
                <a:latin typeface="Arial"/>
                <a:cs typeface="Arial"/>
              </a:rPr>
              <a:t> </a:t>
            </a:r>
            <a:r>
              <a:rPr sz="1800" spc="-10" dirty="0">
                <a:latin typeface="Arial"/>
                <a:cs typeface="Arial"/>
              </a:rPr>
              <a:t>syst</a:t>
            </a:r>
            <a:r>
              <a:rPr sz="1800" dirty="0">
                <a:latin typeface="Arial"/>
                <a:cs typeface="Arial"/>
              </a:rPr>
              <a:t>ems</a:t>
            </a:r>
            <a:endParaRPr sz="1800">
              <a:latin typeface="Arial"/>
              <a:cs typeface="Arial"/>
            </a:endParaRPr>
          </a:p>
          <a:p>
            <a:pPr>
              <a:lnSpc>
                <a:spcPct val="100000"/>
              </a:lnSpc>
              <a:spcBef>
                <a:spcPts val="33"/>
              </a:spcBef>
            </a:pPr>
            <a:endParaRPr sz="2100">
              <a:latin typeface="Times New Roman"/>
              <a:cs typeface="Times New Roman"/>
            </a:endParaRPr>
          </a:p>
          <a:p>
            <a:pPr marL="12700" marR="424180">
              <a:lnSpc>
                <a:spcPts val="2100"/>
              </a:lnSpc>
            </a:pPr>
            <a:r>
              <a:rPr sz="1800" dirty="0">
                <a:latin typeface="Arial"/>
                <a:cs typeface="Arial"/>
              </a:rPr>
              <a:t>Blind</a:t>
            </a:r>
            <a:r>
              <a:rPr sz="1800" spc="-5" dirty="0">
                <a:latin typeface="Arial"/>
                <a:cs typeface="Arial"/>
              </a:rPr>
              <a:t> </a:t>
            </a:r>
            <a:r>
              <a:rPr sz="1800" dirty="0">
                <a:latin typeface="Arial"/>
                <a:cs typeface="Arial"/>
              </a:rPr>
              <a:t>process</a:t>
            </a:r>
            <a:r>
              <a:rPr sz="1800" spc="-5" dirty="0">
                <a:latin typeface="Arial"/>
                <a:cs typeface="Arial"/>
              </a:rPr>
              <a:t> </a:t>
            </a:r>
            <a:r>
              <a:rPr sz="1800" dirty="0">
                <a:latin typeface="Arial"/>
                <a:cs typeface="Arial"/>
              </a:rPr>
              <a:t>o</a:t>
            </a:r>
            <a:r>
              <a:rPr sz="1800" spc="-5" dirty="0">
                <a:latin typeface="Arial"/>
                <a:cs typeface="Arial"/>
              </a:rPr>
              <a:t>f </a:t>
            </a:r>
            <a:r>
              <a:rPr sz="1800" dirty="0">
                <a:latin typeface="Arial"/>
                <a:cs typeface="Arial"/>
              </a:rPr>
              <a:t>na</a:t>
            </a:r>
            <a:r>
              <a:rPr sz="1800" spc="-5" dirty="0">
                <a:latin typeface="Arial"/>
                <a:cs typeface="Arial"/>
              </a:rPr>
              <a:t>t</a:t>
            </a:r>
            <a:r>
              <a:rPr sz="1800" dirty="0">
                <a:latin typeface="Arial"/>
                <a:cs typeface="Arial"/>
              </a:rPr>
              <a:t>ural</a:t>
            </a:r>
            <a:r>
              <a:rPr sz="1800" spc="-5" dirty="0">
                <a:latin typeface="Arial"/>
                <a:cs typeface="Arial"/>
              </a:rPr>
              <a:t> </a:t>
            </a:r>
            <a:r>
              <a:rPr sz="1800" dirty="0">
                <a:latin typeface="Arial"/>
                <a:cs typeface="Arial"/>
              </a:rPr>
              <a:t>sele</a:t>
            </a:r>
            <a:r>
              <a:rPr sz="1800" spc="-10" dirty="0">
                <a:latin typeface="Arial"/>
                <a:cs typeface="Arial"/>
              </a:rPr>
              <a:t>ct</a:t>
            </a:r>
            <a:r>
              <a:rPr sz="1800" dirty="0">
                <a:latin typeface="Arial"/>
                <a:cs typeface="Arial"/>
              </a:rPr>
              <a:t>ion removes</a:t>
            </a:r>
            <a:r>
              <a:rPr sz="1800" spc="-5" dirty="0">
                <a:latin typeface="Arial"/>
                <a:cs typeface="Arial"/>
              </a:rPr>
              <a:t> </a:t>
            </a:r>
            <a:r>
              <a:rPr sz="1800" dirty="0">
                <a:latin typeface="Arial"/>
                <a:cs typeface="Arial"/>
              </a:rPr>
              <a:t>ra</a:t>
            </a:r>
            <a:r>
              <a:rPr sz="1800" spc="-5" dirty="0">
                <a:latin typeface="Arial"/>
                <a:cs typeface="Arial"/>
              </a:rPr>
              <a:t>t</a:t>
            </a:r>
            <a:r>
              <a:rPr sz="1800" dirty="0">
                <a:latin typeface="Arial"/>
                <a:cs typeface="Arial"/>
              </a:rPr>
              <a:t>ionali</a:t>
            </a:r>
            <a:r>
              <a:rPr sz="1800" spc="-5" dirty="0">
                <a:latin typeface="Arial"/>
                <a:cs typeface="Arial"/>
              </a:rPr>
              <a:t>t</a:t>
            </a:r>
            <a:r>
              <a:rPr sz="1800" dirty="0">
                <a:latin typeface="Arial"/>
                <a:cs typeface="Arial"/>
              </a:rPr>
              <a:t>y</a:t>
            </a:r>
            <a:r>
              <a:rPr sz="1800" spc="-5" dirty="0">
                <a:latin typeface="Arial"/>
                <a:cs typeface="Arial"/>
              </a:rPr>
              <a:t> </a:t>
            </a:r>
            <a:r>
              <a:rPr sz="1800" dirty="0">
                <a:latin typeface="Arial"/>
                <a:cs typeface="Arial"/>
              </a:rPr>
              <a:t>assump</a:t>
            </a:r>
            <a:r>
              <a:rPr sz="1800" spc="-5" dirty="0">
                <a:latin typeface="Arial"/>
                <a:cs typeface="Arial"/>
              </a:rPr>
              <a:t>t</a:t>
            </a:r>
            <a:r>
              <a:rPr sz="1800" dirty="0">
                <a:latin typeface="Arial"/>
                <a:cs typeface="Arial"/>
              </a:rPr>
              <a:t>ion</a:t>
            </a:r>
            <a:endParaRPr sz="1800">
              <a:latin typeface="Arial"/>
              <a:cs typeface="Arial"/>
            </a:endParaRPr>
          </a:p>
          <a:p>
            <a:pPr>
              <a:lnSpc>
                <a:spcPct val="100000"/>
              </a:lnSpc>
              <a:spcBef>
                <a:spcPts val="33"/>
              </a:spcBef>
            </a:pPr>
            <a:endParaRPr sz="2100">
              <a:latin typeface="Times New Roman"/>
              <a:cs typeface="Times New Roman"/>
            </a:endParaRPr>
          </a:p>
          <a:p>
            <a:pPr marL="12700" marR="5080">
              <a:lnSpc>
                <a:spcPts val="2100"/>
              </a:lnSpc>
            </a:pPr>
            <a:r>
              <a:rPr sz="1800" dirty="0">
                <a:latin typeface="Arial"/>
                <a:cs typeface="Arial"/>
              </a:rPr>
              <a:t>“</a:t>
            </a:r>
            <a:r>
              <a:rPr sz="1800" i="1" dirty="0">
                <a:latin typeface="Arial"/>
                <a:cs typeface="Arial"/>
              </a:rPr>
              <a:t>Le</a:t>
            </a:r>
            <a:r>
              <a:rPr sz="1800" i="1" spc="-5" dirty="0">
                <a:latin typeface="Arial"/>
                <a:cs typeface="Arial"/>
              </a:rPr>
              <a:t>t </a:t>
            </a:r>
            <a:r>
              <a:rPr sz="1800" i="1" dirty="0">
                <a:latin typeface="Arial"/>
                <a:cs typeface="Arial"/>
              </a:rPr>
              <a:t>na</a:t>
            </a:r>
            <a:r>
              <a:rPr sz="1800" i="1" spc="-5" dirty="0">
                <a:latin typeface="Arial"/>
                <a:cs typeface="Arial"/>
              </a:rPr>
              <a:t>t</a:t>
            </a:r>
            <a:r>
              <a:rPr sz="1800" i="1" dirty="0">
                <a:latin typeface="Arial"/>
                <a:cs typeface="Arial"/>
              </a:rPr>
              <a:t>ure</a:t>
            </a:r>
            <a:r>
              <a:rPr sz="1800" i="1" spc="-5" dirty="0">
                <a:latin typeface="Arial"/>
                <a:cs typeface="Arial"/>
              </a:rPr>
              <a:t> </a:t>
            </a:r>
            <a:r>
              <a:rPr sz="1800" i="1" dirty="0">
                <a:latin typeface="Arial"/>
                <a:cs typeface="Arial"/>
              </a:rPr>
              <a:t>do</a:t>
            </a:r>
            <a:r>
              <a:rPr sz="1800" i="1" spc="-5" dirty="0">
                <a:latin typeface="Arial"/>
                <a:cs typeface="Arial"/>
              </a:rPr>
              <a:t> t</a:t>
            </a:r>
            <a:r>
              <a:rPr sz="1800" i="1" dirty="0">
                <a:latin typeface="Arial"/>
                <a:cs typeface="Arial"/>
              </a:rPr>
              <a:t>he</a:t>
            </a:r>
            <a:r>
              <a:rPr sz="1800" i="1" spc="-5" dirty="0">
                <a:latin typeface="Arial"/>
                <a:cs typeface="Arial"/>
              </a:rPr>
              <a:t> </a:t>
            </a:r>
            <a:r>
              <a:rPr sz="1800" i="1" dirty="0">
                <a:latin typeface="Arial"/>
                <a:cs typeface="Arial"/>
              </a:rPr>
              <a:t>work</a:t>
            </a:r>
            <a:r>
              <a:rPr sz="1800" i="1" spc="-5" dirty="0">
                <a:latin typeface="Arial"/>
                <a:cs typeface="Arial"/>
              </a:rPr>
              <a:t> </a:t>
            </a:r>
            <a:r>
              <a:rPr sz="1800" i="1" dirty="0">
                <a:latin typeface="Arial"/>
                <a:cs typeface="Arial"/>
              </a:rPr>
              <a:t>and</a:t>
            </a:r>
            <a:r>
              <a:rPr sz="1800" i="1" spc="-5" dirty="0">
                <a:latin typeface="Arial"/>
                <a:cs typeface="Arial"/>
              </a:rPr>
              <a:t> </a:t>
            </a:r>
            <a:r>
              <a:rPr sz="1800" i="1" dirty="0">
                <a:latin typeface="Arial"/>
                <a:cs typeface="Arial"/>
              </a:rPr>
              <a:t>see</a:t>
            </a:r>
            <a:r>
              <a:rPr sz="1800" i="1" spc="-5" dirty="0">
                <a:latin typeface="Arial"/>
                <a:cs typeface="Arial"/>
              </a:rPr>
              <a:t> </a:t>
            </a:r>
            <a:r>
              <a:rPr sz="1800" i="1" dirty="0">
                <a:latin typeface="Arial"/>
                <a:cs typeface="Arial"/>
              </a:rPr>
              <a:t>wha</a:t>
            </a:r>
            <a:r>
              <a:rPr sz="1800" i="1" spc="-5" dirty="0">
                <a:latin typeface="Arial"/>
                <a:cs typeface="Arial"/>
              </a:rPr>
              <a:t>t </a:t>
            </a:r>
            <a:r>
              <a:rPr sz="1800" i="1" dirty="0">
                <a:latin typeface="Arial"/>
                <a:cs typeface="Arial"/>
              </a:rPr>
              <a:t>happen</a:t>
            </a:r>
            <a:r>
              <a:rPr sz="1800" i="1" spc="-5" dirty="0">
                <a:latin typeface="Arial"/>
                <a:cs typeface="Arial"/>
              </a:rPr>
              <a:t>s</a:t>
            </a:r>
            <a:r>
              <a:rPr sz="1800" dirty="0">
                <a:latin typeface="Arial"/>
                <a:cs typeface="Arial"/>
              </a:rPr>
              <a:t>”</a:t>
            </a:r>
            <a:endParaRPr sz="1800">
              <a:latin typeface="Arial"/>
              <a:cs typeface="Arial"/>
            </a:endParaRPr>
          </a:p>
          <a:p>
            <a:pPr>
              <a:lnSpc>
                <a:spcPct val="100000"/>
              </a:lnSpc>
              <a:spcBef>
                <a:spcPts val="33"/>
              </a:spcBef>
            </a:pPr>
            <a:endParaRPr sz="2100">
              <a:latin typeface="Times New Roman"/>
              <a:cs typeface="Times New Roman"/>
            </a:endParaRPr>
          </a:p>
          <a:p>
            <a:pPr marL="12700" marR="348615">
              <a:lnSpc>
                <a:spcPts val="2100"/>
              </a:lnSpc>
            </a:pPr>
            <a:r>
              <a:rPr sz="1800" dirty="0">
                <a:latin typeface="Arial"/>
                <a:cs typeface="Arial"/>
              </a:rPr>
              <a:t>Resul</a:t>
            </a:r>
            <a:r>
              <a:rPr sz="1800" spc="-5" dirty="0">
                <a:latin typeface="Arial"/>
                <a:cs typeface="Arial"/>
              </a:rPr>
              <a:t>ts </a:t>
            </a:r>
            <a:r>
              <a:rPr sz="1800" dirty="0">
                <a:latin typeface="Arial"/>
                <a:cs typeface="Arial"/>
              </a:rPr>
              <a:t>as</a:t>
            </a:r>
            <a:r>
              <a:rPr sz="1800" spc="-5" dirty="0">
                <a:latin typeface="Arial"/>
                <a:cs typeface="Arial"/>
              </a:rPr>
              <a:t> </a:t>
            </a:r>
            <a:r>
              <a:rPr sz="1800" dirty="0">
                <a:latin typeface="Arial"/>
                <a:cs typeface="Arial"/>
              </a:rPr>
              <a:t>i</a:t>
            </a:r>
            <a:r>
              <a:rPr sz="1800" spc="-5" dirty="0">
                <a:latin typeface="Arial"/>
                <a:cs typeface="Arial"/>
              </a:rPr>
              <a:t>f </a:t>
            </a:r>
            <a:r>
              <a:rPr sz="1800" dirty="0">
                <a:latin typeface="Arial"/>
                <a:cs typeface="Arial"/>
              </a:rPr>
              <a:t>agen</a:t>
            </a:r>
            <a:r>
              <a:rPr sz="1800" spc="-5" dirty="0">
                <a:latin typeface="Arial"/>
                <a:cs typeface="Arial"/>
              </a:rPr>
              <a:t>t</a:t>
            </a:r>
            <a:r>
              <a:rPr sz="1800" dirty="0">
                <a:latin typeface="Arial"/>
                <a:cs typeface="Arial"/>
              </a:rPr>
              <a:t>s</a:t>
            </a:r>
            <a:r>
              <a:rPr sz="1800" spc="-5" dirty="0">
                <a:latin typeface="Arial"/>
                <a:cs typeface="Arial"/>
              </a:rPr>
              <a:t> </a:t>
            </a:r>
            <a:r>
              <a:rPr sz="1800" dirty="0">
                <a:latin typeface="Arial"/>
                <a:cs typeface="Arial"/>
              </a:rPr>
              <a:t>were</a:t>
            </a:r>
            <a:r>
              <a:rPr sz="1800" spc="-5" dirty="0">
                <a:latin typeface="Arial"/>
                <a:cs typeface="Arial"/>
              </a:rPr>
              <a:t> </a:t>
            </a:r>
            <a:r>
              <a:rPr sz="1800" dirty="0">
                <a:latin typeface="Arial"/>
                <a:cs typeface="Arial"/>
              </a:rPr>
              <a:t>ra</a:t>
            </a:r>
            <a:r>
              <a:rPr sz="1800" spc="-5" dirty="0">
                <a:latin typeface="Arial"/>
                <a:cs typeface="Arial"/>
              </a:rPr>
              <a:t>t</a:t>
            </a:r>
            <a:r>
              <a:rPr sz="1800" dirty="0">
                <a:latin typeface="Arial"/>
                <a:cs typeface="Arial"/>
              </a:rPr>
              <a:t>ional</a:t>
            </a:r>
            <a:r>
              <a:rPr sz="1800" spc="-5" dirty="0">
                <a:latin typeface="Arial"/>
                <a:cs typeface="Arial"/>
              </a:rPr>
              <a:t>, </a:t>
            </a:r>
            <a:r>
              <a:rPr sz="1800" dirty="0">
                <a:latin typeface="Arial"/>
                <a:cs typeface="Arial"/>
              </a:rPr>
              <a:t>sel</a:t>
            </a:r>
            <a:r>
              <a:rPr sz="1800" spc="-5" dirty="0">
                <a:latin typeface="Arial"/>
                <a:cs typeface="Arial"/>
              </a:rPr>
              <a:t>f</a:t>
            </a:r>
            <a:r>
              <a:rPr sz="1800" dirty="0">
                <a:latin typeface="Arial"/>
                <a:cs typeface="Arial"/>
              </a:rPr>
              <a:t>-in</a:t>
            </a:r>
            <a:r>
              <a:rPr sz="1800" spc="-5" dirty="0">
                <a:latin typeface="Arial"/>
                <a:cs typeface="Arial"/>
              </a:rPr>
              <a:t>t</a:t>
            </a:r>
            <a:r>
              <a:rPr sz="1800" dirty="0">
                <a:latin typeface="Arial"/>
                <a:cs typeface="Arial"/>
              </a:rPr>
              <a:t>ere</a:t>
            </a:r>
            <a:r>
              <a:rPr sz="1800" spc="-10" dirty="0">
                <a:latin typeface="Arial"/>
                <a:cs typeface="Arial"/>
              </a:rPr>
              <a:t>st</a:t>
            </a:r>
            <a:r>
              <a:rPr sz="1800" dirty="0">
                <a:latin typeface="Arial"/>
                <a:cs typeface="Arial"/>
              </a:rPr>
              <a:t>ed</a:t>
            </a:r>
            <a:r>
              <a:rPr sz="1800" spc="-5" dirty="0">
                <a:latin typeface="Arial"/>
                <a:cs typeface="Arial"/>
              </a:rPr>
              <a:t> f</a:t>
            </a:r>
            <a:r>
              <a:rPr sz="1800" dirty="0">
                <a:latin typeface="Arial"/>
                <a:cs typeface="Arial"/>
              </a:rPr>
              <a:t>i</a:t>
            </a:r>
            <a:r>
              <a:rPr sz="1800" spc="-5" dirty="0">
                <a:latin typeface="Arial"/>
                <a:cs typeface="Arial"/>
              </a:rPr>
              <a:t>t</a:t>
            </a:r>
            <a:r>
              <a:rPr sz="1800" dirty="0">
                <a:latin typeface="Arial"/>
                <a:cs typeface="Arial"/>
              </a:rPr>
              <a:t>ness</a:t>
            </a:r>
            <a:r>
              <a:rPr sz="1800" spc="-5" dirty="0">
                <a:latin typeface="Arial"/>
                <a:cs typeface="Arial"/>
              </a:rPr>
              <a:t> </a:t>
            </a:r>
            <a:r>
              <a:rPr sz="1800" dirty="0">
                <a:latin typeface="Arial"/>
                <a:cs typeface="Arial"/>
              </a:rPr>
              <a:t>maximizers</a:t>
            </a:r>
            <a:endParaRPr sz="1800">
              <a:latin typeface="Arial"/>
              <a:cs typeface="Arial"/>
            </a:endParaRPr>
          </a:p>
        </p:txBody>
      </p:sp>
      <p:sp>
        <p:nvSpPr>
          <p:cNvPr id="3" name="Rectangle 2">
            <a:extLst>
              <a:ext uri="{FF2B5EF4-FFF2-40B4-BE49-F238E27FC236}">
                <a16:creationId xmlns:a16="http://schemas.microsoft.com/office/drawing/2014/main" id="{2C266EE8-FA7C-DC3E-6523-7A11B68933A3}"/>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74FA2565-E534-B3DB-852B-AA3F96496D0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8">
            <a:extLst>
              <a:ext uri="{FF2B5EF4-FFF2-40B4-BE49-F238E27FC236}">
                <a16:creationId xmlns:a16="http://schemas.microsoft.com/office/drawing/2014/main" id="{BEC6D148-71EC-04F8-8967-DD2C8696C2C0}"/>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18</a:t>
            </a:fld>
            <a:r>
              <a:rPr lang="en-US" sz="2000" dirty="0">
                <a:solidFill>
                  <a:prstClr val="black"/>
                </a:solidFill>
                <a:latin typeface="Comic Sans MS"/>
                <a:sym typeface="Comic Sans MS"/>
              </a:rPr>
              <a:t>/59</a:t>
            </a:r>
          </a:p>
        </p:txBody>
      </p:sp>
      <p:sp>
        <p:nvSpPr>
          <p:cNvPr id="9" name="Footer Placeholder 9">
            <a:extLst>
              <a:ext uri="{FF2B5EF4-FFF2-40B4-BE49-F238E27FC236}">
                <a16:creationId xmlns:a16="http://schemas.microsoft.com/office/drawing/2014/main" id="{358064EC-B916-D672-AB50-1ECE57A3C07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B1E4EE9C-5FCE-D5A2-DB5D-8CCE8A82950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0744" rIns="0" bIns="0" rtlCol="0">
            <a:spAutoFit/>
          </a:bodyPr>
          <a:lstStyle/>
          <a:p>
            <a:pPr marL="104775">
              <a:lnSpc>
                <a:spcPct val="100000"/>
              </a:lnSpc>
            </a:pPr>
            <a:r>
              <a:rPr sz="3100" spc="-25" dirty="0"/>
              <a:t>EGT</a:t>
            </a:r>
            <a:r>
              <a:rPr sz="3100" spc="-60" dirty="0"/>
              <a:t> </a:t>
            </a:r>
            <a:r>
              <a:rPr sz="3100" dirty="0"/>
              <a:t>Depa</a:t>
            </a:r>
            <a:r>
              <a:rPr sz="3100" spc="-10" dirty="0"/>
              <a:t>rt</a:t>
            </a:r>
            <a:r>
              <a:rPr sz="3100" dirty="0"/>
              <a:t>ures</a:t>
            </a:r>
            <a:r>
              <a:rPr sz="3100" spc="-5" dirty="0"/>
              <a:t> </a:t>
            </a:r>
            <a:r>
              <a:rPr sz="3100" spc="-10" dirty="0"/>
              <a:t>f</a:t>
            </a:r>
            <a:r>
              <a:rPr sz="3100" dirty="0"/>
              <a:t>rom</a:t>
            </a:r>
            <a:r>
              <a:rPr sz="3100" spc="-5" dirty="0"/>
              <a:t> </a:t>
            </a:r>
            <a:r>
              <a:rPr sz="3100" dirty="0"/>
              <a:t>Classical</a:t>
            </a:r>
            <a:r>
              <a:rPr sz="3100" spc="-5" dirty="0"/>
              <a:t> </a:t>
            </a:r>
            <a:r>
              <a:rPr sz="3100" spc="-25" dirty="0"/>
              <a:t>G</a:t>
            </a:r>
            <a:r>
              <a:rPr sz="3100" dirty="0"/>
              <a:t>ame</a:t>
            </a:r>
            <a:r>
              <a:rPr sz="3100" spc="-60" dirty="0"/>
              <a:t> </a:t>
            </a:r>
            <a:r>
              <a:rPr sz="3100" spc="-25" dirty="0"/>
              <a:t>T</a:t>
            </a:r>
            <a:r>
              <a:rPr sz="3100" dirty="0"/>
              <a:t>heory</a:t>
            </a:r>
          </a:p>
        </p:txBody>
      </p:sp>
      <p:sp>
        <p:nvSpPr>
          <p:cNvPr id="6" name="object 6"/>
          <p:cNvSpPr txBox="1"/>
          <p:nvPr/>
        </p:nvSpPr>
        <p:spPr>
          <a:xfrm>
            <a:off x="674052" y="1944827"/>
            <a:ext cx="7343775" cy="3380740"/>
          </a:xfrm>
          <a:prstGeom prst="rect">
            <a:avLst/>
          </a:prstGeom>
        </p:spPr>
        <p:txBody>
          <a:bodyPr vert="horz" wrap="square" lIns="0" tIns="0" rIns="0" bIns="0" rtlCol="0">
            <a:spAutoFit/>
          </a:bodyPr>
          <a:lstStyle/>
          <a:p>
            <a:pPr marL="469900" indent="-457200">
              <a:lnSpc>
                <a:spcPct val="100000"/>
              </a:lnSpc>
              <a:buFont typeface="Arial"/>
              <a:buChar char="•"/>
              <a:tabLst>
                <a:tab pos="469900" algn="l"/>
              </a:tabLst>
            </a:pPr>
            <a:r>
              <a:rPr sz="2100" b="1" spc="-15" dirty="0">
                <a:solidFill>
                  <a:srgbClr val="00669D"/>
                </a:solidFill>
                <a:latin typeface="Arial"/>
                <a:cs typeface="Arial"/>
              </a:rPr>
              <a:t>Popula</a:t>
            </a:r>
            <a:r>
              <a:rPr sz="2100" b="1" spc="-10" dirty="0">
                <a:solidFill>
                  <a:srgbClr val="00669D"/>
                </a:solidFill>
                <a:latin typeface="Arial"/>
                <a:cs typeface="Arial"/>
              </a:rPr>
              <a:t>tion-level</a:t>
            </a:r>
            <a:r>
              <a:rPr sz="2100" b="1" spc="-5" dirty="0">
                <a:solidFill>
                  <a:srgbClr val="00669D"/>
                </a:solidFill>
                <a:latin typeface="Arial"/>
                <a:cs typeface="Arial"/>
              </a:rPr>
              <a:t> </a:t>
            </a:r>
            <a:r>
              <a:rPr sz="2100" b="1" spc="-10" dirty="0">
                <a:solidFill>
                  <a:srgbClr val="00669D"/>
                </a:solidFill>
                <a:latin typeface="Arial"/>
                <a:cs typeface="Arial"/>
              </a:rPr>
              <a:t>thin</a:t>
            </a:r>
            <a:r>
              <a:rPr sz="2100" b="1" dirty="0">
                <a:solidFill>
                  <a:srgbClr val="00669D"/>
                </a:solidFill>
                <a:latin typeface="Arial"/>
                <a:cs typeface="Arial"/>
              </a:rPr>
              <a:t>k</a:t>
            </a:r>
            <a:r>
              <a:rPr sz="2100" b="1" spc="-15" dirty="0">
                <a:solidFill>
                  <a:srgbClr val="00669D"/>
                </a:solidFill>
                <a:latin typeface="Arial"/>
                <a:cs typeface="Arial"/>
              </a:rPr>
              <a:t>ing</a:t>
            </a:r>
            <a:r>
              <a:rPr sz="2100" b="1" spc="-5" dirty="0">
                <a:solidFill>
                  <a:srgbClr val="00669D"/>
                </a:solidFill>
                <a:latin typeface="Arial"/>
                <a:cs typeface="Arial"/>
              </a:rPr>
              <a:t> </a:t>
            </a:r>
            <a:r>
              <a:rPr sz="2100" b="1" dirty="0">
                <a:solidFill>
                  <a:srgbClr val="00669D"/>
                </a:solidFill>
                <a:latin typeface="Arial"/>
                <a:cs typeface="Arial"/>
              </a:rPr>
              <a:t>(ra</a:t>
            </a:r>
            <a:r>
              <a:rPr sz="2100" b="1" spc="-10" dirty="0">
                <a:solidFill>
                  <a:srgbClr val="00669D"/>
                </a:solidFill>
                <a:latin typeface="Arial"/>
                <a:cs typeface="Arial"/>
              </a:rPr>
              <a:t>th</a:t>
            </a:r>
            <a:r>
              <a:rPr sz="2100" b="1" dirty="0">
                <a:solidFill>
                  <a:srgbClr val="00669D"/>
                </a:solidFill>
                <a:latin typeface="Arial"/>
                <a:cs typeface="Arial"/>
              </a:rPr>
              <a:t>er</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a</a:t>
            </a:r>
            <a:r>
              <a:rPr sz="2100" b="1" spc="-15" dirty="0">
                <a:solidFill>
                  <a:srgbClr val="00669D"/>
                </a:solidFill>
                <a:latin typeface="Arial"/>
                <a:cs typeface="Arial"/>
              </a:rPr>
              <a:t>n</a:t>
            </a:r>
            <a:r>
              <a:rPr sz="2100" b="1" spc="-5" dirty="0">
                <a:solidFill>
                  <a:srgbClr val="00669D"/>
                </a:solidFill>
                <a:latin typeface="Arial"/>
                <a:cs typeface="Arial"/>
              </a:rPr>
              <a:t> </a:t>
            </a:r>
            <a:r>
              <a:rPr sz="2100" b="1" spc="-15" dirty="0">
                <a:solidFill>
                  <a:srgbClr val="00669D"/>
                </a:solidFill>
                <a:latin typeface="Arial"/>
                <a:cs typeface="Arial"/>
              </a:rPr>
              <a:t>two</a:t>
            </a:r>
            <a:r>
              <a:rPr sz="2100" b="1" spc="-5" dirty="0">
                <a:solidFill>
                  <a:srgbClr val="00669D"/>
                </a:solidFill>
                <a:latin typeface="Arial"/>
                <a:cs typeface="Arial"/>
              </a:rPr>
              <a:t> </a:t>
            </a:r>
            <a:r>
              <a:rPr sz="2100" b="1" spc="-10" dirty="0">
                <a:solidFill>
                  <a:srgbClr val="00669D"/>
                </a:solidFill>
                <a:latin typeface="Arial"/>
                <a:cs typeface="Arial"/>
              </a:rPr>
              <a:t>pl</a:t>
            </a:r>
            <a:r>
              <a:rPr sz="2100" b="1" dirty="0">
                <a:solidFill>
                  <a:srgbClr val="00669D"/>
                </a:solidFill>
                <a:latin typeface="Arial"/>
                <a:cs typeface="Arial"/>
              </a:rPr>
              <a:t>ayers)</a:t>
            </a:r>
            <a:endParaRPr sz="2100" dirty="0">
              <a:latin typeface="Arial"/>
              <a:cs typeface="Arial"/>
            </a:endParaRPr>
          </a:p>
          <a:p>
            <a:pPr marL="469900" indent="-457200">
              <a:lnSpc>
                <a:spcPct val="100000"/>
              </a:lnSpc>
              <a:spcBef>
                <a:spcPts val="520"/>
              </a:spcBef>
              <a:buFont typeface="Arial"/>
              <a:buChar char="•"/>
              <a:tabLst>
                <a:tab pos="469900" algn="l"/>
              </a:tabLst>
            </a:pPr>
            <a:r>
              <a:rPr sz="2100" b="1" spc="-10" dirty="0">
                <a:solidFill>
                  <a:srgbClr val="00669D"/>
                </a:solidFill>
                <a:latin typeface="Arial"/>
                <a:cs typeface="Arial"/>
              </a:rPr>
              <a:t>Inter</a:t>
            </a:r>
            <a:r>
              <a:rPr sz="2100" b="1" spc="-15" dirty="0">
                <a:solidFill>
                  <a:srgbClr val="00669D"/>
                </a:solidFill>
                <a:latin typeface="Arial"/>
                <a:cs typeface="Arial"/>
              </a:rPr>
              <a:t>preta</a:t>
            </a:r>
            <a:r>
              <a:rPr sz="2100" b="1" spc="-10" dirty="0">
                <a:solidFill>
                  <a:srgbClr val="00669D"/>
                </a:solidFill>
                <a:latin typeface="Arial"/>
                <a:cs typeface="Arial"/>
              </a:rPr>
              <a:t>tions</a:t>
            </a:r>
            <a:r>
              <a:rPr sz="2100" b="1" spc="-5" dirty="0">
                <a:solidFill>
                  <a:srgbClr val="00669D"/>
                </a:solidFill>
                <a:latin typeface="Arial"/>
                <a:cs typeface="Arial"/>
              </a:rPr>
              <a:t> </a:t>
            </a:r>
            <a:r>
              <a:rPr sz="2100" b="1" dirty="0">
                <a:solidFill>
                  <a:srgbClr val="00669D"/>
                </a:solidFill>
                <a:latin typeface="Arial"/>
                <a:cs typeface="Arial"/>
              </a:rPr>
              <a:t>as</a:t>
            </a:r>
            <a:r>
              <a:rPr sz="2100" b="1" spc="-5" dirty="0">
                <a:solidFill>
                  <a:srgbClr val="00669D"/>
                </a:solidFill>
                <a:latin typeface="Arial"/>
                <a:cs typeface="Arial"/>
              </a:rPr>
              <a:t> </a:t>
            </a:r>
            <a:r>
              <a:rPr sz="2100" b="1" dirty="0">
                <a:solidFill>
                  <a:srgbClr val="00669D"/>
                </a:solidFill>
                <a:latin typeface="Arial"/>
                <a:cs typeface="Arial"/>
              </a:rPr>
              <a:t>ev</a:t>
            </a:r>
            <a:r>
              <a:rPr sz="2100" b="1" spc="-10" dirty="0">
                <a:solidFill>
                  <a:srgbClr val="00669D"/>
                </a:solidFill>
                <a:latin typeface="Arial"/>
                <a:cs typeface="Arial"/>
              </a:rPr>
              <a:t>olution</a:t>
            </a:r>
            <a:r>
              <a:rPr sz="2100" b="1" dirty="0">
                <a:solidFill>
                  <a:srgbClr val="00669D"/>
                </a:solidFill>
                <a:latin typeface="Arial"/>
                <a:cs typeface="Arial"/>
              </a:rPr>
              <a:t>ary</a:t>
            </a:r>
            <a:r>
              <a:rPr sz="2100" b="1" spc="-5" dirty="0">
                <a:solidFill>
                  <a:srgbClr val="00669D"/>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r</a:t>
            </a:r>
            <a:r>
              <a:rPr sz="2100" b="1" spc="-5" dirty="0">
                <a:solidFill>
                  <a:srgbClr val="00669D"/>
                </a:solidFill>
                <a:latin typeface="Arial"/>
                <a:cs typeface="Arial"/>
              </a:rPr>
              <a:t> </a:t>
            </a:r>
            <a:r>
              <a:rPr sz="2100" b="1" dirty="0">
                <a:solidFill>
                  <a:srgbClr val="00669D"/>
                </a:solidFill>
                <a:latin typeface="Arial"/>
                <a:cs typeface="Arial"/>
              </a:rPr>
              <a:t>s</a:t>
            </a:r>
            <a:r>
              <a:rPr sz="2100" b="1" spc="-15" dirty="0">
                <a:solidFill>
                  <a:srgbClr val="00669D"/>
                </a:solidFill>
                <a:latin typeface="Arial"/>
                <a:cs typeface="Arial"/>
              </a:rPr>
              <a:t>o</a:t>
            </a:r>
            <a:r>
              <a:rPr sz="2100" b="1" dirty="0">
                <a:solidFill>
                  <a:srgbClr val="00669D"/>
                </a:solidFill>
                <a:latin typeface="Arial"/>
                <a:cs typeface="Arial"/>
              </a:rPr>
              <a:t>c</a:t>
            </a:r>
            <a:r>
              <a:rPr sz="2100" b="1" spc="-10" dirty="0">
                <a:solidFill>
                  <a:srgbClr val="00669D"/>
                </a:solidFill>
                <a:latin typeface="Arial"/>
                <a:cs typeface="Arial"/>
              </a:rPr>
              <a:t>i</a:t>
            </a:r>
            <a:r>
              <a:rPr sz="2100" b="1" dirty="0">
                <a:solidFill>
                  <a:srgbClr val="00669D"/>
                </a:solidFill>
                <a:latin typeface="Arial"/>
                <a:cs typeface="Arial"/>
              </a:rPr>
              <a:t>a</a:t>
            </a:r>
            <a:r>
              <a:rPr sz="2100" b="1" spc="-10" dirty="0">
                <a:solidFill>
                  <a:srgbClr val="00669D"/>
                </a:solidFill>
                <a:latin typeface="Arial"/>
                <a:cs typeface="Arial"/>
              </a:rPr>
              <a:t>l</a:t>
            </a:r>
            <a:r>
              <a:rPr sz="2100" b="1" spc="-5" dirty="0">
                <a:solidFill>
                  <a:srgbClr val="00669D"/>
                </a:solidFill>
                <a:latin typeface="Arial"/>
                <a:cs typeface="Arial"/>
              </a:rPr>
              <a:t> </a:t>
            </a:r>
            <a:r>
              <a:rPr sz="2100" b="1" spc="-15" dirty="0">
                <a:solidFill>
                  <a:srgbClr val="00669D"/>
                </a:solidFill>
                <a:latin typeface="Arial"/>
                <a:cs typeface="Arial"/>
              </a:rPr>
              <a:t>p</a:t>
            </a:r>
            <a:r>
              <a:rPr sz="2100" b="1" dirty="0">
                <a:solidFill>
                  <a:srgbClr val="00669D"/>
                </a:solidFill>
                <a:latin typeface="Arial"/>
                <a:cs typeface="Arial"/>
              </a:rPr>
              <a:t>r</a:t>
            </a:r>
            <a:r>
              <a:rPr sz="2100" b="1" spc="-15" dirty="0">
                <a:solidFill>
                  <a:srgbClr val="00669D"/>
                </a:solidFill>
                <a:latin typeface="Arial"/>
                <a:cs typeface="Arial"/>
              </a:rPr>
              <a:t>o</a:t>
            </a:r>
            <a:r>
              <a:rPr sz="2100" b="1" dirty="0">
                <a:solidFill>
                  <a:srgbClr val="00669D"/>
                </a:solidFill>
                <a:latin typeface="Arial"/>
                <a:cs typeface="Arial"/>
              </a:rPr>
              <a:t>cess</a:t>
            </a:r>
            <a:endParaRPr sz="2100" dirty="0">
              <a:latin typeface="Arial"/>
              <a:cs typeface="Arial"/>
            </a:endParaRPr>
          </a:p>
          <a:p>
            <a:pPr marL="469900" indent="-457200">
              <a:lnSpc>
                <a:spcPct val="100000"/>
              </a:lnSpc>
              <a:spcBef>
                <a:spcPts val="520"/>
              </a:spcBef>
              <a:buFont typeface="Arial"/>
              <a:buChar char="•"/>
              <a:tabLst>
                <a:tab pos="469900" algn="l"/>
              </a:tabLst>
            </a:pPr>
            <a:r>
              <a:rPr sz="2100" b="1" spc="-20" dirty="0">
                <a:solidFill>
                  <a:srgbClr val="00669D"/>
                </a:solidFill>
                <a:latin typeface="Arial"/>
                <a:cs typeface="Arial"/>
              </a:rPr>
              <a:t>Games</a:t>
            </a:r>
            <a:r>
              <a:rPr sz="2100" b="1" spc="-5" dirty="0">
                <a:solidFill>
                  <a:srgbClr val="00669D"/>
                </a:solidFill>
                <a:latin typeface="Arial"/>
                <a:cs typeface="Arial"/>
              </a:rPr>
              <a:t> </a:t>
            </a:r>
            <a:r>
              <a:rPr sz="2100" b="1" dirty="0">
                <a:solidFill>
                  <a:srgbClr val="00669D"/>
                </a:solidFill>
                <a:latin typeface="Arial"/>
                <a:cs typeface="Arial"/>
              </a:rPr>
              <a:t>are</a:t>
            </a:r>
            <a:r>
              <a:rPr sz="2100" b="1" spc="-5" dirty="0">
                <a:solidFill>
                  <a:srgbClr val="00669D"/>
                </a:solidFill>
                <a:latin typeface="Arial"/>
                <a:cs typeface="Arial"/>
              </a:rPr>
              <a:t> </a:t>
            </a:r>
            <a:r>
              <a:rPr sz="2100" b="1" dirty="0">
                <a:solidFill>
                  <a:srgbClr val="00669D"/>
                </a:solidFill>
                <a:latin typeface="Arial"/>
                <a:cs typeface="Arial"/>
              </a:rPr>
              <a:t>re</a:t>
            </a:r>
            <a:r>
              <a:rPr sz="2100" b="1" spc="-15" dirty="0">
                <a:solidFill>
                  <a:srgbClr val="00669D"/>
                </a:solidFill>
                <a:latin typeface="Arial"/>
                <a:cs typeface="Arial"/>
              </a:rPr>
              <a:t>p</a:t>
            </a:r>
            <a:r>
              <a:rPr sz="2100" b="1" dirty="0">
                <a:solidFill>
                  <a:srgbClr val="00669D"/>
                </a:solidFill>
                <a:latin typeface="Arial"/>
                <a:cs typeface="Arial"/>
              </a:rPr>
              <a:t>eate</a:t>
            </a:r>
            <a:r>
              <a:rPr sz="2100" b="1" spc="-15" dirty="0">
                <a:solidFill>
                  <a:srgbClr val="00669D"/>
                </a:solidFill>
                <a:latin typeface="Arial"/>
                <a:cs typeface="Arial"/>
              </a:rPr>
              <a:t>d</a:t>
            </a:r>
            <a:endParaRPr sz="2100" dirty="0">
              <a:latin typeface="Arial"/>
              <a:cs typeface="Arial"/>
            </a:endParaRPr>
          </a:p>
          <a:p>
            <a:pPr marL="469900" indent="-457200">
              <a:lnSpc>
                <a:spcPct val="100000"/>
              </a:lnSpc>
              <a:spcBef>
                <a:spcPts val="520"/>
              </a:spcBef>
              <a:buFont typeface="Arial"/>
              <a:buChar char="•"/>
              <a:tabLst>
                <a:tab pos="469900" algn="l"/>
              </a:tabLst>
            </a:pPr>
            <a:r>
              <a:rPr sz="2100" b="1" spc="-15" dirty="0">
                <a:solidFill>
                  <a:srgbClr val="00669D"/>
                </a:solidFill>
                <a:latin typeface="Arial"/>
                <a:cs typeface="Arial"/>
              </a:rPr>
              <a:t>St</a:t>
            </a:r>
            <a:r>
              <a:rPr sz="2100" b="1" spc="-20" dirty="0">
                <a:solidFill>
                  <a:srgbClr val="00669D"/>
                </a:solidFill>
                <a:latin typeface="Arial"/>
                <a:cs typeface="Arial"/>
              </a:rPr>
              <a:t>o</a:t>
            </a:r>
            <a:r>
              <a:rPr sz="2100" b="1" dirty="0">
                <a:solidFill>
                  <a:srgbClr val="00669D"/>
                </a:solidFill>
                <a:latin typeface="Arial"/>
                <a:cs typeface="Arial"/>
              </a:rPr>
              <a:t>c</a:t>
            </a:r>
            <a:r>
              <a:rPr sz="2100" b="1" spc="-15" dirty="0">
                <a:solidFill>
                  <a:srgbClr val="00669D"/>
                </a:solidFill>
                <a:latin typeface="Arial"/>
                <a:cs typeface="Arial"/>
              </a:rPr>
              <a:t>h</a:t>
            </a:r>
            <a:r>
              <a:rPr sz="2100" b="1" dirty="0">
                <a:solidFill>
                  <a:srgbClr val="00669D"/>
                </a:solidFill>
                <a:latin typeface="Arial"/>
                <a:cs typeface="Arial"/>
              </a:rPr>
              <a:t>as</a:t>
            </a:r>
            <a:r>
              <a:rPr sz="2100" b="1" spc="-10" dirty="0">
                <a:solidFill>
                  <a:srgbClr val="00669D"/>
                </a:solidFill>
                <a:latin typeface="Arial"/>
                <a:cs typeface="Arial"/>
              </a:rPr>
              <a:t>ti</a:t>
            </a:r>
            <a:r>
              <a:rPr sz="2100" b="1" dirty="0">
                <a:solidFill>
                  <a:srgbClr val="00669D"/>
                </a:solidFill>
                <a:latin typeface="Arial"/>
                <a:cs typeface="Arial"/>
              </a:rPr>
              <a:t>c</a:t>
            </a:r>
            <a:r>
              <a:rPr sz="2100" b="1" spc="-5" dirty="0">
                <a:solidFill>
                  <a:srgbClr val="00669D"/>
                </a:solidFill>
                <a:latin typeface="Arial"/>
                <a:cs typeface="Arial"/>
              </a:rPr>
              <a:t> </a:t>
            </a:r>
            <a:r>
              <a:rPr sz="2100" b="1" dirty="0">
                <a:solidFill>
                  <a:srgbClr val="00669D"/>
                </a:solidFill>
                <a:latin typeface="Arial"/>
                <a:cs typeface="Arial"/>
              </a:rPr>
              <a:t>m</a:t>
            </a:r>
            <a:r>
              <a:rPr sz="2100" b="1" spc="-15" dirty="0">
                <a:solidFill>
                  <a:srgbClr val="00669D"/>
                </a:solidFill>
                <a:latin typeface="Arial"/>
                <a:cs typeface="Arial"/>
              </a:rPr>
              <a:t>od</a:t>
            </a:r>
            <a:r>
              <a:rPr sz="2100" b="1" dirty="0">
                <a:solidFill>
                  <a:srgbClr val="00669D"/>
                </a:solidFill>
                <a:latin typeface="Arial"/>
                <a:cs typeface="Arial"/>
              </a:rPr>
              <a:t>e</a:t>
            </a:r>
            <a:r>
              <a:rPr sz="2100" b="1" spc="-10" dirty="0">
                <a:solidFill>
                  <a:srgbClr val="00669D"/>
                </a:solidFill>
                <a:latin typeface="Arial"/>
                <a:cs typeface="Arial"/>
              </a:rPr>
              <a:t>l</a:t>
            </a:r>
            <a:endParaRPr sz="2100" dirty="0">
              <a:latin typeface="Arial"/>
              <a:cs typeface="Arial"/>
            </a:endParaRPr>
          </a:p>
          <a:p>
            <a:pPr>
              <a:lnSpc>
                <a:spcPct val="100000"/>
              </a:lnSpc>
              <a:spcBef>
                <a:spcPts val="52"/>
              </a:spcBef>
              <a:buFont typeface="Arial"/>
              <a:buChar char="•"/>
            </a:pPr>
            <a:endParaRPr sz="3050" dirty="0">
              <a:latin typeface="Times New Roman"/>
              <a:cs typeface="Times New Roman"/>
            </a:endParaRPr>
          </a:p>
          <a:p>
            <a:pPr marL="469900" indent="-457200">
              <a:lnSpc>
                <a:spcPct val="100000"/>
              </a:lnSpc>
              <a:buFont typeface="Arial"/>
              <a:buChar char="•"/>
              <a:tabLst>
                <a:tab pos="469900" algn="l"/>
              </a:tabLst>
            </a:pPr>
            <a:r>
              <a:rPr sz="2100" b="1" dirty="0">
                <a:solidFill>
                  <a:srgbClr val="00669D"/>
                </a:solidFill>
                <a:latin typeface="Arial"/>
                <a:cs typeface="Arial"/>
              </a:rPr>
              <a:t>ca</a:t>
            </a:r>
            <a:r>
              <a:rPr sz="2100" b="1" spc="-15" dirty="0">
                <a:solidFill>
                  <a:srgbClr val="00669D"/>
                </a:solidFill>
                <a:latin typeface="Arial"/>
                <a:cs typeface="Arial"/>
              </a:rPr>
              <a:t>n</a:t>
            </a:r>
            <a:r>
              <a:rPr sz="2100" b="1" spc="-5" dirty="0">
                <a:solidFill>
                  <a:srgbClr val="00669D"/>
                </a:solidFill>
                <a:latin typeface="Arial"/>
                <a:cs typeface="Arial"/>
              </a:rPr>
              <a:t> </a:t>
            </a:r>
            <a:r>
              <a:rPr sz="2100" b="1" dirty="0">
                <a:solidFill>
                  <a:srgbClr val="00669D"/>
                </a:solidFill>
                <a:latin typeface="Arial"/>
                <a:cs typeface="Arial"/>
              </a:rPr>
              <a:t>a</a:t>
            </a:r>
            <a:r>
              <a:rPr sz="2100" b="1" spc="-10" dirty="0">
                <a:solidFill>
                  <a:srgbClr val="00669D"/>
                </a:solidFill>
                <a:latin typeface="Arial"/>
                <a:cs typeface="Arial"/>
              </a:rPr>
              <a:t>l</a:t>
            </a:r>
            <a:r>
              <a:rPr sz="2100" b="1" dirty="0">
                <a:solidFill>
                  <a:srgbClr val="00669D"/>
                </a:solidFill>
                <a:latin typeface="Arial"/>
                <a:cs typeface="Arial"/>
              </a:rPr>
              <a:t>s</a:t>
            </a:r>
            <a:r>
              <a:rPr sz="2100" b="1" spc="-15" dirty="0">
                <a:solidFill>
                  <a:srgbClr val="00669D"/>
                </a:solidFill>
                <a:latin typeface="Arial"/>
                <a:cs typeface="Arial"/>
              </a:rPr>
              <a:t>o</a:t>
            </a:r>
            <a:r>
              <a:rPr sz="2100" b="1" spc="-5" dirty="0">
                <a:solidFill>
                  <a:srgbClr val="00669D"/>
                </a:solidFill>
                <a:latin typeface="Arial"/>
                <a:cs typeface="Arial"/>
              </a:rPr>
              <a:t> </a:t>
            </a:r>
            <a:r>
              <a:rPr sz="2100" b="1" spc="-15" dirty="0">
                <a:solidFill>
                  <a:srgbClr val="00669D"/>
                </a:solidFill>
                <a:latin typeface="Arial"/>
                <a:cs typeface="Arial"/>
              </a:rPr>
              <a:t>b</a:t>
            </a:r>
            <a:r>
              <a:rPr sz="2100" b="1" dirty="0">
                <a:solidFill>
                  <a:srgbClr val="00669D"/>
                </a:solidFill>
                <a:latin typeface="Arial"/>
                <a:cs typeface="Arial"/>
              </a:rPr>
              <a:t>e</a:t>
            </a:r>
            <a:r>
              <a:rPr sz="2100" b="1" spc="-5" dirty="0">
                <a:solidFill>
                  <a:srgbClr val="00669D"/>
                </a:solidFill>
                <a:latin typeface="Arial"/>
                <a:cs typeface="Arial"/>
              </a:rPr>
              <a:t> </a:t>
            </a:r>
            <a:r>
              <a:rPr sz="2100" b="1" spc="-10" dirty="0">
                <a:solidFill>
                  <a:srgbClr val="00669D"/>
                </a:solidFill>
                <a:latin typeface="Arial"/>
                <a:cs typeface="Arial"/>
              </a:rPr>
              <a:t>in</a:t>
            </a:r>
            <a:r>
              <a:rPr sz="2100" b="1" dirty="0">
                <a:solidFill>
                  <a:srgbClr val="00669D"/>
                </a:solidFill>
                <a:latin typeface="Arial"/>
                <a:cs typeface="Arial"/>
              </a:rPr>
              <a:t>ter</a:t>
            </a:r>
            <a:r>
              <a:rPr sz="2100" b="1" spc="-15" dirty="0">
                <a:solidFill>
                  <a:srgbClr val="00669D"/>
                </a:solidFill>
                <a:latin typeface="Arial"/>
                <a:cs typeface="Arial"/>
              </a:rPr>
              <a:t>p</a:t>
            </a:r>
            <a:r>
              <a:rPr sz="2100" b="1" dirty="0">
                <a:solidFill>
                  <a:srgbClr val="00669D"/>
                </a:solidFill>
                <a:latin typeface="Arial"/>
                <a:cs typeface="Arial"/>
              </a:rPr>
              <a:t>rete</a:t>
            </a:r>
            <a:r>
              <a:rPr sz="2100" b="1" spc="-15" dirty="0">
                <a:solidFill>
                  <a:srgbClr val="00669D"/>
                </a:solidFill>
                <a:latin typeface="Arial"/>
                <a:cs typeface="Arial"/>
              </a:rPr>
              <a:t>d</a:t>
            </a:r>
            <a:r>
              <a:rPr sz="2100" b="1" spc="-5" dirty="0">
                <a:solidFill>
                  <a:srgbClr val="00669D"/>
                </a:solidFill>
                <a:latin typeface="Arial"/>
                <a:cs typeface="Arial"/>
              </a:rPr>
              <a:t> </a:t>
            </a:r>
            <a:r>
              <a:rPr sz="2100" b="1" dirty="0">
                <a:solidFill>
                  <a:srgbClr val="00669D"/>
                </a:solidFill>
                <a:latin typeface="Arial"/>
                <a:cs typeface="Arial"/>
              </a:rPr>
              <a:t>as</a:t>
            </a:r>
            <a:r>
              <a:rPr sz="2100" b="1" spc="-5" dirty="0">
                <a:solidFill>
                  <a:srgbClr val="00669D"/>
                </a:solidFill>
                <a:latin typeface="Arial"/>
                <a:cs typeface="Arial"/>
              </a:rPr>
              <a:t> </a:t>
            </a:r>
            <a:r>
              <a:rPr sz="2100" b="1" spc="-15" dirty="0">
                <a:solidFill>
                  <a:srgbClr val="00669D"/>
                </a:solidFill>
                <a:latin typeface="Arial"/>
                <a:cs typeface="Arial"/>
              </a:rPr>
              <a:t>L</a:t>
            </a:r>
            <a:r>
              <a:rPr sz="2100" b="1" dirty="0">
                <a:solidFill>
                  <a:srgbClr val="00669D"/>
                </a:solidFill>
                <a:latin typeface="Arial"/>
                <a:cs typeface="Arial"/>
              </a:rPr>
              <a:t>EARN</a:t>
            </a:r>
            <a:r>
              <a:rPr sz="2100" b="1" spc="-10" dirty="0">
                <a:solidFill>
                  <a:srgbClr val="00669D"/>
                </a:solidFill>
                <a:latin typeface="Arial"/>
                <a:cs typeface="Arial"/>
              </a:rPr>
              <a:t>I</a:t>
            </a:r>
            <a:r>
              <a:rPr sz="2100" b="1" dirty="0">
                <a:solidFill>
                  <a:srgbClr val="00669D"/>
                </a:solidFill>
                <a:latin typeface="Arial"/>
                <a:cs typeface="Arial"/>
              </a:rPr>
              <a:t>N</a:t>
            </a:r>
            <a:r>
              <a:rPr sz="2100" b="1" spc="-20" dirty="0">
                <a:solidFill>
                  <a:srgbClr val="00669D"/>
                </a:solidFill>
                <a:latin typeface="Arial"/>
                <a:cs typeface="Arial"/>
              </a:rPr>
              <a:t>G</a:t>
            </a:r>
            <a:r>
              <a:rPr sz="2100" b="1" spc="-5" dirty="0">
                <a:solidFill>
                  <a:srgbClr val="00669D"/>
                </a:solidFill>
                <a:latin typeface="Arial"/>
                <a:cs typeface="Arial"/>
              </a:rPr>
              <a:t> </a:t>
            </a:r>
            <a:r>
              <a:rPr sz="2100" b="1" dirty="0">
                <a:solidFill>
                  <a:srgbClr val="00669D"/>
                </a:solidFill>
                <a:latin typeface="Arial"/>
                <a:cs typeface="Arial"/>
              </a:rPr>
              <a:t>!!</a:t>
            </a:r>
            <a:endParaRPr sz="2100" dirty="0">
              <a:latin typeface="Arial"/>
              <a:cs typeface="Arial"/>
            </a:endParaRPr>
          </a:p>
          <a:p>
            <a:pPr marL="469900" indent="-457200">
              <a:lnSpc>
                <a:spcPct val="100000"/>
              </a:lnSpc>
              <a:spcBef>
                <a:spcPts val="520"/>
              </a:spcBef>
              <a:buFont typeface="Arial"/>
              <a:buChar char="•"/>
              <a:tabLst>
                <a:tab pos="469900" algn="l"/>
              </a:tabLst>
            </a:pPr>
            <a:r>
              <a:rPr sz="2100" b="1" spc="-15" dirty="0">
                <a:solidFill>
                  <a:srgbClr val="00669D"/>
                </a:solidFill>
                <a:latin typeface="Arial"/>
                <a:cs typeface="Arial"/>
              </a:rPr>
              <a:t>Learning</a:t>
            </a:r>
            <a:r>
              <a:rPr sz="2100" b="1" spc="-5" dirty="0">
                <a:solidFill>
                  <a:srgbClr val="00669D"/>
                </a:solidFill>
                <a:latin typeface="Arial"/>
                <a:cs typeface="Arial"/>
              </a:rPr>
              <a:t> </a:t>
            </a:r>
            <a:r>
              <a:rPr sz="2100" b="1" spc="-10" dirty="0">
                <a:solidFill>
                  <a:srgbClr val="00669D"/>
                </a:solidFill>
                <a:latin typeface="Arial"/>
                <a:cs typeface="Arial"/>
              </a:rPr>
              <a:t>/</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m</a:t>
            </a:r>
            <a:r>
              <a:rPr sz="2100" b="1" spc="-10" dirty="0">
                <a:solidFill>
                  <a:srgbClr val="00669D"/>
                </a:solidFill>
                <a:latin typeface="Arial"/>
                <a:cs typeface="Arial"/>
              </a:rPr>
              <a:t>i</a:t>
            </a:r>
            <a:r>
              <a:rPr sz="2100" b="1" dirty="0">
                <a:solidFill>
                  <a:srgbClr val="00669D"/>
                </a:solidFill>
                <a:latin typeface="Arial"/>
                <a:cs typeface="Arial"/>
              </a:rPr>
              <a:t>ta</a:t>
            </a:r>
            <a:r>
              <a:rPr sz="2100" b="1" spc="-10" dirty="0">
                <a:solidFill>
                  <a:srgbClr val="00669D"/>
                </a:solidFill>
                <a:latin typeface="Arial"/>
                <a:cs typeface="Arial"/>
              </a:rPr>
              <a:t>tion</a:t>
            </a:r>
            <a:r>
              <a:rPr sz="2100" b="1" spc="-5" dirty="0">
                <a:solidFill>
                  <a:srgbClr val="00669D"/>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f</a:t>
            </a:r>
            <a:r>
              <a:rPr sz="2100" b="1" spc="-5" dirty="0">
                <a:solidFill>
                  <a:srgbClr val="00669D"/>
                </a:solidFill>
                <a:latin typeface="Arial"/>
                <a:cs typeface="Arial"/>
              </a:rPr>
              <a:t> </a:t>
            </a:r>
            <a:r>
              <a:rPr sz="2100" b="1" spc="-15" dirty="0">
                <a:solidFill>
                  <a:srgbClr val="00669D"/>
                </a:solidFill>
                <a:latin typeface="Arial"/>
                <a:cs typeface="Arial"/>
              </a:rPr>
              <a:t>b</a:t>
            </a:r>
            <a:r>
              <a:rPr sz="2100" b="1" dirty="0">
                <a:solidFill>
                  <a:srgbClr val="00669D"/>
                </a:solidFill>
                <a:latin typeface="Arial"/>
                <a:cs typeface="Arial"/>
              </a:rPr>
              <a:t>e</a:t>
            </a:r>
            <a:r>
              <a:rPr sz="2100" b="1" spc="-15" dirty="0">
                <a:solidFill>
                  <a:srgbClr val="00669D"/>
                </a:solidFill>
                <a:latin typeface="Arial"/>
                <a:cs typeface="Arial"/>
              </a:rPr>
              <a:t>h</a:t>
            </a:r>
            <a:r>
              <a:rPr sz="2100" b="1" dirty="0">
                <a:solidFill>
                  <a:srgbClr val="00669D"/>
                </a:solidFill>
                <a:latin typeface="Arial"/>
                <a:cs typeface="Arial"/>
              </a:rPr>
              <a:t>av</a:t>
            </a:r>
            <a:r>
              <a:rPr sz="2100" b="1" spc="-15" dirty="0">
                <a:solidFill>
                  <a:srgbClr val="00669D"/>
                </a:solidFill>
                <a:latin typeface="Arial"/>
                <a:cs typeface="Arial"/>
              </a:rPr>
              <a:t>iou</a:t>
            </a:r>
            <a:r>
              <a:rPr sz="2100" b="1" dirty="0">
                <a:solidFill>
                  <a:srgbClr val="00669D"/>
                </a:solidFill>
                <a:latin typeface="Arial"/>
                <a:cs typeface="Arial"/>
              </a:rPr>
              <a:t>r</a:t>
            </a:r>
            <a:endParaRPr sz="2100" dirty="0">
              <a:latin typeface="Arial"/>
              <a:cs typeface="Arial"/>
            </a:endParaRPr>
          </a:p>
          <a:p>
            <a:pPr marL="469900" indent="-457200">
              <a:lnSpc>
                <a:spcPct val="100000"/>
              </a:lnSpc>
              <a:spcBef>
                <a:spcPts val="520"/>
              </a:spcBef>
              <a:buFont typeface="Arial"/>
              <a:buChar char="•"/>
              <a:tabLst>
                <a:tab pos="469900" algn="l"/>
              </a:tabLst>
            </a:pPr>
            <a:r>
              <a:rPr sz="2100" b="1" dirty="0">
                <a:solidFill>
                  <a:srgbClr val="00669D"/>
                </a:solidFill>
                <a:latin typeface="Arial"/>
                <a:cs typeface="Arial"/>
              </a:rPr>
              <a:t>Ra</a:t>
            </a:r>
            <a:r>
              <a:rPr sz="2100" b="1" spc="-10" dirty="0">
                <a:solidFill>
                  <a:srgbClr val="00669D"/>
                </a:solidFill>
                <a:latin typeface="Arial"/>
                <a:cs typeface="Arial"/>
              </a:rPr>
              <a:t>tionality</a:t>
            </a:r>
            <a:r>
              <a:rPr sz="2100" b="1" spc="-5" dirty="0">
                <a:solidFill>
                  <a:srgbClr val="00669D"/>
                </a:solidFill>
                <a:latin typeface="Arial"/>
                <a:cs typeface="Arial"/>
              </a:rPr>
              <a:t> </a:t>
            </a:r>
            <a:r>
              <a:rPr sz="2100" b="1" spc="-15" dirty="0">
                <a:solidFill>
                  <a:srgbClr val="00669D"/>
                </a:solidFill>
                <a:latin typeface="Arial"/>
                <a:cs typeface="Arial"/>
              </a:rPr>
              <a:t>no</a:t>
            </a:r>
            <a:r>
              <a:rPr sz="2100" b="1" dirty="0">
                <a:solidFill>
                  <a:srgbClr val="00669D"/>
                </a:solidFill>
                <a:latin typeface="Arial"/>
                <a:cs typeface="Arial"/>
              </a:rPr>
              <a:t>t</a:t>
            </a:r>
            <a:r>
              <a:rPr sz="2100" b="1" spc="-5" dirty="0">
                <a:solidFill>
                  <a:srgbClr val="00669D"/>
                </a:solidFill>
                <a:latin typeface="Arial"/>
                <a:cs typeface="Arial"/>
              </a:rPr>
              <a:t> </a:t>
            </a:r>
            <a:r>
              <a:rPr sz="2100" b="1" spc="-15" dirty="0">
                <a:solidFill>
                  <a:srgbClr val="00669D"/>
                </a:solidFill>
                <a:latin typeface="Arial"/>
                <a:cs typeface="Arial"/>
              </a:rPr>
              <a:t>p</a:t>
            </a:r>
            <a:r>
              <a:rPr sz="2100" b="1" dirty="0">
                <a:solidFill>
                  <a:srgbClr val="00669D"/>
                </a:solidFill>
                <a:latin typeface="Arial"/>
                <a:cs typeface="Arial"/>
              </a:rPr>
              <a:t>res</a:t>
            </a:r>
            <a:r>
              <a:rPr sz="2100" b="1" spc="-15" dirty="0">
                <a:solidFill>
                  <a:srgbClr val="00669D"/>
                </a:solidFill>
                <a:latin typeface="Arial"/>
                <a:cs typeface="Arial"/>
              </a:rPr>
              <a:t>u</a:t>
            </a:r>
            <a:r>
              <a:rPr sz="2100" b="1" dirty="0">
                <a:solidFill>
                  <a:srgbClr val="00669D"/>
                </a:solidFill>
                <a:latin typeface="Arial"/>
                <a:cs typeface="Arial"/>
              </a:rPr>
              <a:t>me</a:t>
            </a:r>
            <a:r>
              <a:rPr sz="2100" b="1" spc="-15" dirty="0">
                <a:solidFill>
                  <a:srgbClr val="00669D"/>
                </a:solidFill>
                <a:latin typeface="Arial"/>
                <a:cs typeface="Arial"/>
              </a:rPr>
              <a:t>d</a:t>
            </a:r>
            <a:endParaRPr sz="2100" dirty="0">
              <a:latin typeface="Arial"/>
              <a:cs typeface="Arial"/>
            </a:endParaRPr>
          </a:p>
          <a:p>
            <a:pPr marL="469900" indent="-457200">
              <a:lnSpc>
                <a:spcPct val="100000"/>
              </a:lnSpc>
              <a:spcBef>
                <a:spcPts val="520"/>
              </a:spcBef>
              <a:buFont typeface="Arial"/>
              <a:buChar char="•"/>
              <a:tabLst>
                <a:tab pos="469900" algn="l"/>
              </a:tabLst>
            </a:pPr>
            <a:r>
              <a:rPr sz="2100" b="1" dirty="0">
                <a:solidFill>
                  <a:srgbClr val="00669D"/>
                </a:solidFill>
                <a:latin typeface="Arial"/>
                <a:cs typeface="Arial"/>
              </a:rPr>
              <a:t>Perfect</a:t>
            </a:r>
            <a:r>
              <a:rPr sz="2100" b="1" spc="-5" dirty="0">
                <a:solidFill>
                  <a:srgbClr val="00669D"/>
                </a:solidFill>
                <a:latin typeface="Arial"/>
                <a:cs typeface="Arial"/>
              </a:rPr>
              <a:t> </a:t>
            </a:r>
            <a:r>
              <a:rPr sz="2100" b="1" spc="-10" dirty="0">
                <a:solidFill>
                  <a:srgbClr val="00669D"/>
                </a:solidFill>
                <a:latin typeface="Arial"/>
                <a:cs typeface="Arial"/>
              </a:rPr>
              <a:t>Info</a:t>
            </a:r>
            <a:r>
              <a:rPr sz="2100" b="1" dirty="0">
                <a:solidFill>
                  <a:srgbClr val="00669D"/>
                </a:solidFill>
                <a:latin typeface="Arial"/>
                <a:cs typeface="Arial"/>
              </a:rPr>
              <a:t>rma</a:t>
            </a:r>
            <a:r>
              <a:rPr sz="2100" b="1" spc="-10" dirty="0">
                <a:solidFill>
                  <a:srgbClr val="00669D"/>
                </a:solidFill>
                <a:latin typeface="Arial"/>
                <a:cs typeface="Arial"/>
              </a:rPr>
              <a:t>tion</a:t>
            </a:r>
            <a:r>
              <a:rPr sz="2100" b="1" spc="-5" dirty="0">
                <a:solidFill>
                  <a:srgbClr val="00669D"/>
                </a:solidFill>
                <a:latin typeface="Arial"/>
                <a:cs typeface="Arial"/>
              </a:rPr>
              <a:t> </a:t>
            </a:r>
            <a:r>
              <a:rPr sz="2100" b="1" spc="-15" dirty="0">
                <a:solidFill>
                  <a:srgbClr val="00669D"/>
                </a:solidFill>
                <a:latin typeface="Arial"/>
                <a:cs typeface="Arial"/>
              </a:rPr>
              <a:t>(und</a:t>
            </a:r>
            <a:r>
              <a:rPr sz="2100" b="1" dirty="0">
                <a:solidFill>
                  <a:srgbClr val="00669D"/>
                </a:solidFill>
                <a:latin typeface="Arial"/>
                <a:cs typeface="Arial"/>
              </a:rPr>
              <a:t>er</a:t>
            </a:r>
            <a:r>
              <a:rPr sz="2100" b="1" spc="-10" dirty="0">
                <a:solidFill>
                  <a:srgbClr val="00669D"/>
                </a:solidFill>
                <a:latin typeface="Arial"/>
                <a:cs typeface="Arial"/>
              </a:rPr>
              <a:t>li</a:t>
            </a:r>
            <a:r>
              <a:rPr sz="2100" b="1" dirty="0">
                <a:solidFill>
                  <a:srgbClr val="00669D"/>
                </a:solidFill>
                <a:latin typeface="Arial"/>
                <a:cs typeface="Arial"/>
              </a:rPr>
              <a:t>es</a:t>
            </a:r>
            <a:r>
              <a:rPr sz="2100" b="1" spc="-5" dirty="0">
                <a:solidFill>
                  <a:srgbClr val="00669D"/>
                </a:solidFill>
                <a:latin typeface="Arial"/>
                <a:cs typeface="Arial"/>
              </a:rPr>
              <a:t> </a:t>
            </a:r>
            <a:r>
              <a:rPr sz="2100" b="1" dirty="0">
                <a:solidFill>
                  <a:srgbClr val="00669D"/>
                </a:solidFill>
                <a:latin typeface="Arial"/>
                <a:cs typeface="Arial"/>
              </a:rPr>
              <a:t>ra</a:t>
            </a:r>
            <a:r>
              <a:rPr sz="2100" b="1" spc="-10" dirty="0">
                <a:solidFill>
                  <a:srgbClr val="00669D"/>
                </a:solidFill>
                <a:latin typeface="Arial"/>
                <a:cs typeface="Arial"/>
              </a:rPr>
              <a:t>tion</a:t>
            </a:r>
            <a:r>
              <a:rPr sz="2100" b="1" dirty="0">
                <a:solidFill>
                  <a:srgbClr val="00669D"/>
                </a:solidFill>
                <a:latin typeface="Arial"/>
                <a:cs typeface="Arial"/>
              </a:rPr>
              <a:t>a</a:t>
            </a:r>
            <a:r>
              <a:rPr sz="2100" b="1" spc="-10" dirty="0">
                <a:solidFill>
                  <a:srgbClr val="00669D"/>
                </a:solidFill>
                <a:latin typeface="Arial"/>
                <a:cs typeface="Arial"/>
              </a:rPr>
              <a:t>li</a:t>
            </a:r>
            <a:r>
              <a:rPr sz="2100" b="1" dirty="0">
                <a:solidFill>
                  <a:srgbClr val="00669D"/>
                </a:solidFill>
                <a:latin typeface="Arial"/>
                <a:cs typeface="Arial"/>
              </a:rPr>
              <a:t>ty)</a:t>
            </a:r>
            <a:r>
              <a:rPr sz="2100" b="1" spc="-5" dirty="0">
                <a:solidFill>
                  <a:srgbClr val="00669D"/>
                </a:solidFill>
                <a:latin typeface="Arial"/>
                <a:cs typeface="Arial"/>
              </a:rPr>
              <a:t> </a:t>
            </a:r>
            <a:r>
              <a:rPr sz="2100" b="1" spc="-15" dirty="0">
                <a:solidFill>
                  <a:srgbClr val="00669D"/>
                </a:solidFill>
                <a:latin typeface="Arial"/>
                <a:cs typeface="Arial"/>
              </a:rPr>
              <a:t>no</a:t>
            </a:r>
            <a:r>
              <a:rPr sz="2100" b="1" dirty="0">
                <a:solidFill>
                  <a:srgbClr val="00669D"/>
                </a:solidFill>
                <a:latin typeface="Arial"/>
                <a:cs typeface="Arial"/>
              </a:rPr>
              <a:t>t</a:t>
            </a:r>
            <a:r>
              <a:rPr sz="2100" b="1" spc="-5" dirty="0">
                <a:solidFill>
                  <a:srgbClr val="00669D"/>
                </a:solidFill>
                <a:latin typeface="Arial"/>
                <a:cs typeface="Arial"/>
              </a:rPr>
              <a:t> </a:t>
            </a:r>
            <a:r>
              <a:rPr sz="2100" b="1" dirty="0">
                <a:solidFill>
                  <a:srgbClr val="00669D"/>
                </a:solidFill>
                <a:latin typeface="Arial"/>
                <a:cs typeface="Arial"/>
              </a:rPr>
              <a:t>re</a:t>
            </a:r>
            <a:r>
              <a:rPr sz="2100" b="1" spc="-15" dirty="0">
                <a:solidFill>
                  <a:srgbClr val="00669D"/>
                </a:solidFill>
                <a:latin typeface="Arial"/>
                <a:cs typeface="Arial"/>
              </a:rPr>
              <a:t>qui</a:t>
            </a:r>
            <a:r>
              <a:rPr sz="2100" b="1" dirty="0">
                <a:solidFill>
                  <a:srgbClr val="00669D"/>
                </a:solidFill>
                <a:latin typeface="Arial"/>
                <a:cs typeface="Arial"/>
              </a:rPr>
              <a:t>re</a:t>
            </a:r>
            <a:r>
              <a:rPr sz="2100" b="1" spc="-15" dirty="0">
                <a:solidFill>
                  <a:srgbClr val="00669D"/>
                </a:solidFill>
                <a:latin typeface="Arial"/>
                <a:cs typeface="Arial"/>
              </a:rPr>
              <a:t>d</a:t>
            </a:r>
            <a:endParaRPr sz="2100" dirty="0">
              <a:latin typeface="Arial"/>
              <a:cs typeface="Arial"/>
            </a:endParaRPr>
          </a:p>
        </p:txBody>
      </p:sp>
      <p:sp>
        <p:nvSpPr>
          <p:cNvPr id="3" name="Rectangle 2">
            <a:extLst>
              <a:ext uri="{FF2B5EF4-FFF2-40B4-BE49-F238E27FC236}">
                <a16:creationId xmlns:a16="http://schemas.microsoft.com/office/drawing/2014/main" id="{5A8F872C-7832-467C-FCCC-BEA2512AEB1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C7A505AE-ACCF-94AE-1954-4465320BD9D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86475AF1-2A58-F7AD-114D-655684C045C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19</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04882596-A0B3-2307-A4BB-9E69E16060F0}"/>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9CA0E2DB-0A65-6156-80AD-315C93EC08C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0047" rIns="0" bIns="0" rtlCol="0">
            <a:spAutoFit/>
          </a:bodyPr>
          <a:lstStyle/>
          <a:p>
            <a:pPr marL="104775">
              <a:lnSpc>
                <a:spcPct val="100000"/>
              </a:lnSpc>
            </a:pPr>
            <a:r>
              <a:rPr dirty="0"/>
              <a:t>Domains</a:t>
            </a:r>
          </a:p>
        </p:txBody>
      </p:sp>
      <p:sp>
        <p:nvSpPr>
          <p:cNvPr id="6" name="object 6"/>
          <p:cNvSpPr txBox="1"/>
          <p:nvPr/>
        </p:nvSpPr>
        <p:spPr>
          <a:xfrm>
            <a:off x="674052" y="1627452"/>
            <a:ext cx="4501515" cy="3766820"/>
          </a:xfrm>
          <a:prstGeom prst="rect">
            <a:avLst/>
          </a:prstGeom>
        </p:spPr>
        <p:txBody>
          <a:bodyPr vert="horz" wrap="square" lIns="0" tIns="0" rIns="0" bIns="0" rtlCol="0">
            <a:spAutoFit/>
          </a:bodyPr>
          <a:lstStyle/>
          <a:p>
            <a:pPr marL="469900" indent="-457200">
              <a:lnSpc>
                <a:spcPct val="100000"/>
              </a:lnSpc>
              <a:buFont typeface="Arial"/>
              <a:buChar char="•"/>
              <a:tabLst>
                <a:tab pos="469900" algn="l"/>
              </a:tabLst>
            </a:pPr>
            <a:r>
              <a:rPr sz="2100" b="1" spc="-15" dirty="0">
                <a:solidFill>
                  <a:srgbClr val="00669D"/>
                </a:solidFill>
                <a:latin typeface="Arial"/>
                <a:cs typeface="Arial"/>
              </a:rPr>
              <a:t>Biology</a:t>
            </a:r>
            <a:endParaRPr sz="2100">
              <a:latin typeface="Arial"/>
              <a:cs typeface="Arial"/>
            </a:endParaRPr>
          </a:p>
          <a:p>
            <a:pPr marL="991869" lvl="1" indent="-457200">
              <a:lnSpc>
                <a:spcPct val="100000"/>
              </a:lnSpc>
              <a:spcBef>
                <a:spcPts val="520"/>
              </a:spcBef>
              <a:buFont typeface="Arial"/>
              <a:buChar char="•"/>
              <a:tabLst>
                <a:tab pos="992505" algn="l"/>
              </a:tabLst>
            </a:pPr>
            <a:r>
              <a:rPr sz="2100" b="1" dirty="0">
                <a:solidFill>
                  <a:srgbClr val="00669D"/>
                </a:solidFill>
                <a:latin typeface="Arial"/>
                <a:cs typeface="Arial"/>
              </a:rPr>
              <a:t>ev</a:t>
            </a:r>
            <a:r>
              <a:rPr sz="2100" b="1" spc="-10" dirty="0">
                <a:solidFill>
                  <a:srgbClr val="00669D"/>
                </a:solidFill>
                <a:latin typeface="Arial"/>
                <a:cs typeface="Arial"/>
              </a:rPr>
              <a:t>olution</a:t>
            </a:r>
            <a:r>
              <a:rPr sz="2100" b="1" spc="-5" dirty="0">
                <a:solidFill>
                  <a:srgbClr val="00669D"/>
                </a:solidFill>
                <a:latin typeface="Arial"/>
                <a:cs typeface="Arial"/>
              </a:rPr>
              <a:t> </a:t>
            </a:r>
            <a:r>
              <a:rPr sz="2100" b="1" spc="-10" dirty="0">
                <a:solidFill>
                  <a:srgbClr val="00669D"/>
                </a:solidFill>
                <a:latin typeface="Arial"/>
                <a:cs typeface="Arial"/>
              </a:rPr>
              <a:t>(thi</a:t>
            </a:r>
            <a:r>
              <a:rPr sz="2100" b="1" dirty="0">
                <a:solidFill>
                  <a:srgbClr val="00669D"/>
                </a:solidFill>
                <a:latin typeface="Arial"/>
                <a:cs typeface="Arial"/>
              </a:rPr>
              <a:t>s</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s</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r</a:t>
            </a:r>
            <a:r>
              <a:rPr sz="2100" b="1" spc="-10" dirty="0">
                <a:solidFill>
                  <a:srgbClr val="00669D"/>
                </a:solidFill>
                <a:latin typeface="Arial"/>
                <a:cs typeface="Arial"/>
              </a:rPr>
              <a:t>igin</a:t>
            </a:r>
            <a:r>
              <a:rPr sz="2100" b="1" dirty="0">
                <a:solidFill>
                  <a:srgbClr val="00669D"/>
                </a:solidFill>
                <a:latin typeface="Arial"/>
                <a:cs typeface="Arial"/>
              </a:rPr>
              <a:t>)</a:t>
            </a:r>
            <a:endParaRPr sz="2100">
              <a:latin typeface="Arial"/>
              <a:cs typeface="Arial"/>
            </a:endParaRPr>
          </a:p>
          <a:p>
            <a:pPr marL="991869" lvl="1" indent="-457200">
              <a:lnSpc>
                <a:spcPct val="100000"/>
              </a:lnSpc>
              <a:spcBef>
                <a:spcPts val="520"/>
              </a:spcBef>
              <a:buFont typeface="Arial"/>
              <a:buChar char="•"/>
              <a:tabLst>
                <a:tab pos="992505" algn="l"/>
              </a:tabLst>
            </a:pPr>
            <a:r>
              <a:rPr sz="2100" b="1" spc="-15" dirty="0">
                <a:solidFill>
                  <a:srgbClr val="00669D"/>
                </a:solidFill>
                <a:latin typeface="Arial"/>
                <a:cs typeface="Arial"/>
              </a:rPr>
              <a:t>group</a:t>
            </a:r>
            <a:r>
              <a:rPr sz="2100" b="1" spc="-5" dirty="0">
                <a:solidFill>
                  <a:srgbClr val="00669D"/>
                </a:solidFill>
                <a:latin typeface="Arial"/>
                <a:cs typeface="Arial"/>
              </a:rPr>
              <a:t> </a:t>
            </a:r>
            <a:r>
              <a:rPr sz="2100" b="1" spc="-15" dirty="0">
                <a:solidFill>
                  <a:srgbClr val="00669D"/>
                </a:solidFill>
                <a:latin typeface="Arial"/>
                <a:cs typeface="Arial"/>
              </a:rPr>
              <a:t>behaviour</a:t>
            </a:r>
            <a:endParaRPr sz="2100">
              <a:latin typeface="Arial"/>
              <a:cs typeface="Arial"/>
            </a:endParaRPr>
          </a:p>
          <a:p>
            <a:pPr marL="469900" indent="-457200">
              <a:lnSpc>
                <a:spcPct val="100000"/>
              </a:lnSpc>
              <a:spcBef>
                <a:spcPts val="520"/>
              </a:spcBef>
              <a:buFont typeface="Arial"/>
              <a:buChar char="•"/>
              <a:tabLst>
                <a:tab pos="469900" algn="l"/>
              </a:tabLst>
            </a:pPr>
            <a:r>
              <a:rPr sz="2100" b="1" dirty="0">
                <a:solidFill>
                  <a:srgbClr val="00669D"/>
                </a:solidFill>
                <a:latin typeface="Arial"/>
                <a:cs typeface="Arial"/>
              </a:rPr>
              <a:t>Ec</a:t>
            </a:r>
            <a:r>
              <a:rPr sz="2100" b="1" spc="-15" dirty="0">
                <a:solidFill>
                  <a:srgbClr val="00669D"/>
                </a:solidFill>
                <a:latin typeface="Arial"/>
                <a:cs typeface="Arial"/>
              </a:rPr>
              <a:t>onom</a:t>
            </a:r>
            <a:r>
              <a:rPr sz="2100" b="1" spc="-10" dirty="0">
                <a:solidFill>
                  <a:srgbClr val="00669D"/>
                </a:solidFill>
                <a:latin typeface="Arial"/>
                <a:cs typeface="Arial"/>
              </a:rPr>
              <a:t>ics</a:t>
            </a:r>
            <a:endParaRPr sz="2100">
              <a:latin typeface="Arial"/>
              <a:cs typeface="Arial"/>
            </a:endParaRPr>
          </a:p>
          <a:p>
            <a:pPr marL="991869" lvl="1" indent="-457200">
              <a:lnSpc>
                <a:spcPct val="100000"/>
              </a:lnSpc>
              <a:spcBef>
                <a:spcPts val="520"/>
              </a:spcBef>
              <a:buFont typeface="Arial"/>
              <a:buChar char="•"/>
              <a:tabLst>
                <a:tab pos="992505" algn="l"/>
              </a:tabLst>
            </a:pPr>
            <a:r>
              <a:rPr sz="2100" b="1" spc="-15" dirty="0">
                <a:solidFill>
                  <a:srgbClr val="00669D"/>
                </a:solidFill>
                <a:latin typeface="Arial"/>
                <a:cs typeface="Arial"/>
              </a:rPr>
              <a:t>behavioural</a:t>
            </a:r>
            <a:r>
              <a:rPr sz="2100" b="1" spc="-10" dirty="0">
                <a:solidFill>
                  <a:srgbClr val="00669D"/>
                </a:solidFill>
                <a:latin typeface="Arial"/>
                <a:cs typeface="Arial"/>
              </a:rPr>
              <a:t> </a:t>
            </a:r>
            <a:r>
              <a:rPr sz="2100" b="1" spc="-5" dirty="0">
                <a:solidFill>
                  <a:srgbClr val="00669D"/>
                </a:solidFill>
                <a:latin typeface="Arial"/>
                <a:cs typeface="Arial"/>
              </a:rPr>
              <a:t>economics</a:t>
            </a:r>
            <a:endParaRPr sz="2100">
              <a:latin typeface="Arial"/>
              <a:cs typeface="Arial"/>
            </a:endParaRPr>
          </a:p>
          <a:p>
            <a:pPr marL="991869" lvl="1" indent="-457200">
              <a:lnSpc>
                <a:spcPct val="100000"/>
              </a:lnSpc>
              <a:spcBef>
                <a:spcPts val="520"/>
              </a:spcBef>
              <a:buFont typeface="Arial"/>
              <a:buChar char="•"/>
              <a:tabLst>
                <a:tab pos="992505" algn="l"/>
              </a:tabLst>
            </a:pPr>
            <a:r>
              <a:rPr sz="2100" b="1" spc="-20" dirty="0">
                <a:solidFill>
                  <a:srgbClr val="00669D"/>
                </a:solidFill>
                <a:latin typeface="Arial"/>
                <a:cs typeface="Arial"/>
              </a:rPr>
              <a:t>e.g</a:t>
            </a:r>
            <a:r>
              <a:rPr sz="2100" b="1" spc="-10" dirty="0">
                <a:solidFill>
                  <a:srgbClr val="00669D"/>
                </a:solidFill>
                <a:latin typeface="Arial"/>
                <a:cs typeface="Arial"/>
              </a:rPr>
              <a:t>.</a:t>
            </a:r>
            <a:r>
              <a:rPr sz="2100" b="1" dirty="0">
                <a:solidFill>
                  <a:srgbClr val="00669D"/>
                </a:solidFill>
                <a:latin typeface="Arial"/>
                <a:cs typeface="Arial"/>
              </a:rPr>
              <a:t> </a:t>
            </a:r>
            <a:r>
              <a:rPr sz="2100" b="1" spc="-15" dirty="0">
                <a:solidFill>
                  <a:srgbClr val="00669D"/>
                </a:solidFill>
                <a:latin typeface="Arial"/>
                <a:cs typeface="Arial"/>
              </a:rPr>
              <a:t>public</a:t>
            </a:r>
            <a:r>
              <a:rPr sz="2100" b="1" spc="-5" dirty="0">
                <a:solidFill>
                  <a:srgbClr val="00669D"/>
                </a:solidFill>
                <a:latin typeface="Arial"/>
                <a:cs typeface="Arial"/>
              </a:rPr>
              <a:t> </a:t>
            </a:r>
            <a:r>
              <a:rPr sz="2100" b="1" spc="-15" dirty="0">
                <a:solidFill>
                  <a:srgbClr val="00669D"/>
                </a:solidFill>
                <a:latin typeface="Arial"/>
                <a:cs typeface="Arial"/>
              </a:rPr>
              <a:t>goods</a:t>
            </a:r>
            <a:r>
              <a:rPr sz="2100" b="1" spc="-5" dirty="0">
                <a:solidFill>
                  <a:srgbClr val="00669D"/>
                </a:solidFill>
                <a:latin typeface="Arial"/>
                <a:cs typeface="Arial"/>
              </a:rPr>
              <a:t> </a:t>
            </a:r>
            <a:r>
              <a:rPr sz="2100" b="1" dirty="0">
                <a:solidFill>
                  <a:srgbClr val="00669D"/>
                </a:solidFill>
                <a:latin typeface="Arial"/>
                <a:cs typeface="Arial"/>
              </a:rPr>
              <a:t>games</a:t>
            </a:r>
            <a:endParaRPr sz="2100">
              <a:latin typeface="Arial"/>
              <a:cs typeface="Arial"/>
            </a:endParaRPr>
          </a:p>
          <a:p>
            <a:pPr marL="469900" indent="-457200">
              <a:lnSpc>
                <a:spcPct val="100000"/>
              </a:lnSpc>
              <a:spcBef>
                <a:spcPts val="520"/>
              </a:spcBef>
              <a:buFont typeface="Arial"/>
              <a:buChar char="•"/>
              <a:tabLst>
                <a:tab pos="469900" algn="l"/>
              </a:tabLst>
            </a:pPr>
            <a:r>
              <a:rPr sz="2100" b="1" spc="-15" dirty="0">
                <a:solidFill>
                  <a:srgbClr val="00669D"/>
                </a:solidFill>
                <a:latin typeface="Arial"/>
                <a:cs typeface="Arial"/>
              </a:rPr>
              <a:t>Soc</a:t>
            </a:r>
            <a:r>
              <a:rPr sz="2100" b="1" spc="-10" dirty="0">
                <a:solidFill>
                  <a:srgbClr val="00669D"/>
                </a:solidFill>
                <a:latin typeface="Arial"/>
                <a:cs typeface="Arial"/>
              </a:rPr>
              <a:t>ial</a:t>
            </a:r>
            <a:r>
              <a:rPr sz="2100" b="1" spc="-5" dirty="0">
                <a:solidFill>
                  <a:srgbClr val="00669D"/>
                </a:solidFill>
                <a:latin typeface="Arial"/>
                <a:cs typeface="Arial"/>
              </a:rPr>
              <a:t> </a:t>
            </a:r>
            <a:r>
              <a:rPr sz="2100" b="1" dirty="0">
                <a:solidFill>
                  <a:srgbClr val="00669D"/>
                </a:solidFill>
                <a:latin typeface="Arial"/>
                <a:cs typeface="Arial"/>
              </a:rPr>
              <a:t>Be</a:t>
            </a:r>
            <a:r>
              <a:rPr sz="2100" b="1" spc="-15" dirty="0">
                <a:solidFill>
                  <a:srgbClr val="00669D"/>
                </a:solidFill>
                <a:latin typeface="Arial"/>
                <a:cs typeface="Arial"/>
              </a:rPr>
              <a:t>h</a:t>
            </a:r>
            <a:r>
              <a:rPr sz="2100" b="1" dirty="0">
                <a:solidFill>
                  <a:srgbClr val="00669D"/>
                </a:solidFill>
                <a:latin typeface="Arial"/>
                <a:cs typeface="Arial"/>
              </a:rPr>
              <a:t>av</a:t>
            </a:r>
            <a:r>
              <a:rPr sz="2100" b="1" spc="-15" dirty="0">
                <a:solidFill>
                  <a:srgbClr val="00669D"/>
                </a:solidFill>
                <a:latin typeface="Arial"/>
                <a:cs typeface="Arial"/>
              </a:rPr>
              <a:t>iou</a:t>
            </a:r>
            <a:r>
              <a:rPr sz="2100" b="1" dirty="0">
                <a:solidFill>
                  <a:srgbClr val="00669D"/>
                </a:solidFill>
                <a:latin typeface="Arial"/>
                <a:cs typeface="Arial"/>
              </a:rPr>
              <a:t>r</a:t>
            </a:r>
            <a:endParaRPr sz="2100">
              <a:latin typeface="Arial"/>
              <a:cs typeface="Arial"/>
            </a:endParaRPr>
          </a:p>
          <a:p>
            <a:pPr marL="469900" indent="-457200">
              <a:lnSpc>
                <a:spcPct val="100000"/>
              </a:lnSpc>
              <a:spcBef>
                <a:spcPts val="520"/>
              </a:spcBef>
              <a:buFont typeface="Arial"/>
              <a:buChar char="•"/>
              <a:tabLst>
                <a:tab pos="469900" algn="l"/>
              </a:tabLst>
            </a:pPr>
            <a:r>
              <a:rPr sz="2100" b="1" dirty="0">
                <a:solidFill>
                  <a:srgbClr val="00669D"/>
                </a:solidFill>
                <a:latin typeface="Arial"/>
                <a:cs typeface="Arial"/>
              </a:rPr>
              <a:t>Psyc</a:t>
            </a:r>
            <a:r>
              <a:rPr sz="2100" b="1" spc="-15" dirty="0">
                <a:solidFill>
                  <a:srgbClr val="00669D"/>
                </a:solidFill>
                <a:latin typeface="Arial"/>
                <a:cs typeface="Arial"/>
              </a:rPr>
              <a:t>hology</a:t>
            </a:r>
            <a:endParaRPr sz="2100">
              <a:latin typeface="Arial"/>
              <a:cs typeface="Arial"/>
            </a:endParaRPr>
          </a:p>
          <a:p>
            <a:pPr marL="469900" indent="-457200">
              <a:lnSpc>
                <a:spcPct val="100000"/>
              </a:lnSpc>
              <a:spcBef>
                <a:spcPts val="520"/>
              </a:spcBef>
              <a:buFont typeface="Arial"/>
              <a:buChar char="•"/>
              <a:tabLst>
                <a:tab pos="469900" algn="l"/>
              </a:tabLst>
            </a:pPr>
            <a:r>
              <a:rPr sz="2100" b="1" dirty="0">
                <a:solidFill>
                  <a:srgbClr val="00669D"/>
                </a:solidFill>
                <a:latin typeface="Arial"/>
                <a:cs typeface="Arial"/>
              </a:rPr>
              <a:t>H</a:t>
            </a:r>
            <a:r>
              <a:rPr sz="2100" b="1" spc="-10" dirty="0">
                <a:solidFill>
                  <a:srgbClr val="00669D"/>
                </a:solidFill>
                <a:latin typeface="Arial"/>
                <a:cs typeface="Arial"/>
              </a:rPr>
              <a:t>istory</a:t>
            </a:r>
            <a:r>
              <a:rPr sz="2100" b="1" spc="-5" dirty="0">
                <a:solidFill>
                  <a:srgbClr val="00669D"/>
                </a:solidFill>
                <a:latin typeface="Arial"/>
                <a:cs typeface="Arial"/>
              </a:rPr>
              <a:t> </a:t>
            </a:r>
            <a:r>
              <a:rPr sz="2100" b="1" dirty="0">
                <a:solidFill>
                  <a:srgbClr val="00669D"/>
                </a:solidFill>
                <a:latin typeface="Arial"/>
                <a:cs typeface="Arial"/>
              </a:rPr>
              <a:t>(C</a:t>
            </a:r>
            <a:r>
              <a:rPr sz="2100" b="1" spc="-10" dirty="0">
                <a:solidFill>
                  <a:srgbClr val="00669D"/>
                </a:solidFill>
                <a:latin typeface="Arial"/>
                <a:cs typeface="Arial"/>
              </a:rPr>
              <a:t>ultu</a:t>
            </a:r>
            <a:r>
              <a:rPr sz="2100" b="1" dirty="0">
                <a:solidFill>
                  <a:srgbClr val="00669D"/>
                </a:solidFill>
                <a:latin typeface="Arial"/>
                <a:cs typeface="Arial"/>
              </a:rPr>
              <a:t>ra</a:t>
            </a:r>
            <a:r>
              <a:rPr sz="2100" b="1" spc="-10" dirty="0">
                <a:solidFill>
                  <a:srgbClr val="00669D"/>
                </a:solidFill>
                <a:latin typeface="Arial"/>
                <a:cs typeface="Arial"/>
              </a:rPr>
              <a:t>l</a:t>
            </a:r>
            <a:r>
              <a:rPr sz="2100" b="1" spc="-5" dirty="0">
                <a:solidFill>
                  <a:srgbClr val="00669D"/>
                </a:solidFill>
                <a:latin typeface="Arial"/>
                <a:cs typeface="Arial"/>
              </a:rPr>
              <a:t> </a:t>
            </a:r>
            <a:r>
              <a:rPr sz="2100" b="1" dirty="0">
                <a:solidFill>
                  <a:srgbClr val="00669D"/>
                </a:solidFill>
                <a:latin typeface="Arial"/>
                <a:cs typeface="Arial"/>
              </a:rPr>
              <a:t>Ev</a:t>
            </a:r>
            <a:r>
              <a:rPr sz="2100" b="1" spc="-10" dirty="0">
                <a:solidFill>
                  <a:srgbClr val="00669D"/>
                </a:solidFill>
                <a:latin typeface="Arial"/>
                <a:cs typeface="Arial"/>
              </a:rPr>
              <a:t>olution</a:t>
            </a:r>
            <a:r>
              <a:rPr sz="2100" b="1" dirty="0">
                <a:solidFill>
                  <a:srgbClr val="00669D"/>
                </a:solidFill>
                <a:latin typeface="Arial"/>
                <a:cs typeface="Arial"/>
              </a:rPr>
              <a:t>)</a:t>
            </a:r>
            <a:endParaRPr sz="2100">
              <a:latin typeface="Arial"/>
              <a:cs typeface="Arial"/>
            </a:endParaRPr>
          </a:p>
          <a:p>
            <a:pPr marL="12700">
              <a:lnSpc>
                <a:spcPct val="100000"/>
              </a:lnSpc>
              <a:spcBef>
                <a:spcPts val="520"/>
              </a:spcBef>
              <a:tabLst>
                <a:tab pos="469265" algn="l"/>
              </a:tabLst>
            </a:pPr>
            <a:r>
              <a:rPr sz="2100" dirty="0">
                <a:latin typeface="Arial"/>
                <a:cs typeface="Arial"/>
              </a:rPr>
              <a:t>•	</a:t>
            </a:r>
            <a:r>
              <a:rPr sz="2100" b="1" dirty="0">
                <a:solidFill>
                  <a:srgbClr val="00669D"/>
                </a:solidFill>
                <a:latin typeface="Arial"/>
                <a:cs typeface="Arial"/>
              </a:rPr>
              <a:t>…</a:t>
            </a:r>
            <a:endParaRPr sz="2100">
              <a:latin typeface="Arial"/>
              <a:cs typeface="Arial"/>
            </a:endParaRPr>
          </a:p>
        </p:txBody>
      </p:sp>
      <p:sp>
        <p:nvSpPr>
          <p:cNvPr id="3" name="Rectangle 2">
            <a:extLst>
              <a:ext uri="{FF2B5EF4-FFF2-40B4-BE49-F238E27FC236}">
                <a16:creationId xmlns:a16="http://schemas.microsoft.com/office/drawing/2014/main" id="{84554994-AF90-2333-7D76-A09DD41B3931}"/>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FF7043F4-CC78-1E04-8E67-54A9B3E75E2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D759B3CB-BC7C-AD45-3A19-255FBA528C0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20</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697378E3-0E35-67AA-017A-4ED679ED8541}"/>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C6BA1101-B4AE-3E58-150C-E3DFA574F2D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0047" rIns="0" bIns="0" rtlCol="0">
            <a:spAutoFit/>
          </a:bodyPr>
          <a:lstStyle/>
          <a:p>
            <a:pPr marL="104775">
              <a:lnSpc>
                <a:spcPct val="100000"/>
              </a:lnSpc>
            </a:pPr>
            <a:r>
              <a:rPr dirty="0"/>
              <a:t>Key</a:t>
            </a:r>
            <a:r>
              <a:rPr spc="-5" dirty="0"/>
              <a:t> </a:t>
            </a:r>
            <a:r>
              <a:rPr spc="-30" dirty="0"/>
              <a:t>Q</a:t>
            </a:r>
            <a:r>
              <a:rPr dirty="0"/>
              <a:t>ue</a:t>
            </a:r>
            <a:r>
              <a:rPr spc="-20" dirty="0"/>
              <a:t>s</a:t>
            </a:r>
            <a:r>
              <a:rPr spc="-15" dirty="0"/>
              <a:t>t</a:t>
            </a:r>
            <a:r>
              <a:rPr dirty="0"/>
              <a:t>ions</a:t>
            </a:r>
          </a:p>
        </p:txBody>
      </p:sp>
      <p:sp>
        <p:nvSpPr>
          <p:cNvPr id="6" name="object 6"/>
          <p:cNvSpPr txBox="1"/>
          <p:nvPr/>
        </p:nvSpPr>
        <p:spPr>
          <a:xfrm>
            <a:off x="674052" y="1441133"/>
            <a:ext cx="7155815" cy="4295140"/>
          </a:xfrm>
          <a:prstGeom prst="rect">
            <a:avLst/>
          </a:prstGeom>
        </p:spPr>
        <p:txBody>
          <a:bodyPr vert="horz" wrap="square" lIns="0" tIns="0" rIns="0" bIns="0" rtlCol="0">
            <a:spAutoFit/>
          </a:bodyPr>
          <a:lstStyle/>
          <a:p>
            <a:pPr marL="469900" indent="-457200">
              <a:lnSpc>
                <a:spcPct val="100000"/>
              </a:lnSpc>
              <a:buFont typeface="Arial"/>
              <a:buChar char="•"/>
              <a:tabLst>
                <a:tab pos="469900" algn="l"/>
              </a:tabLst>
            </a:pPr>
            <a:r>
              <a:rPr sz="2100" b="1" spc="-25" dirty="0">
                <a:solidFill>
                  <a:srgbClr val="00669D"/>
                </a:solidFill>
                <a:latin typeface="Arial"/>
                <a:cs typeface="Arial"/>
              </a:rPr>
              <a:t>W</a:t>
            </a:r>
            <a:r>
              <a:rPr sz="2100" b="1" spc="-10" dirty="0">
                <a:solidFill>
                  <a:srgbClr val="00669D"/>
                </a:solidFill>
                <a:latin typeface="Arial"/>
                <a:cs typeface="Arial"/>
              </a:rPr>
              <a:t>hi</a:t>
            </a:r>
            <a:r>
              <a:rPr sz="2100" b="1" dirty="0">
                <a:solidFill>
                  <a:srgbClr val="00669D"/>
                </a:solidFill>
                <a:latin typeface="Arial"/>
                <a:cs typeface="Arial"/>
              </a:rPr>
              <a:t>c</a:t>
            </a:r>
            <a:r>
              <a:rPr sz="2100" b="1" spc="-15" dirty="0">
                <a:solidFill>
                  <a:srgbClr val="00669D"/>
                </a:solidFill>
                <a:latin typeface="Arial"/>
                <a:cs typeface="Arial"/>
              </a:rPr>
              <a:t>h</a:t>
            </a:r>
            <a:r>
              <a:rPr sz="2100" b="1" spc="-5" dirty="0">
                <a:solidFill>
                  <a:srgbClr val="00669D"/>
                </a:solidFill>
                <a:latin typeface="Arial"/>
                <a:cs typeface="Arial"/>
              </a:rPr>
              <a:t> </a:t>
            </a:r>
            <a:r>
              <a:rPr sz="2100" b="1" dirty="0">
                <a:solidFill>
                  <a:srgbClr val="00669D"/>
                </a:solidFill>
                <a:latin typeface="Arial"/>
                <a:cs typeface="Arial"/>
              </a:rPr>
              <a:t>strate</a:t>
            </a:r>
            <a:r>
              <a:rPr sz="2100" b="1" spc="-10" dirty="0">
                <a:solidFill>
                  <a:srgbClr val="00669D"/>
                </a:solidFill>
                <a:latin typeface="Arial"/>
                <a:cs typeface="Arial"/>
              </a:rPr>
              <a:t>gi</a:t>
            </a:r>
            <a:r>
              <a:rPr sz="2100" b="1" dirty="0">
                <a:solidFill>
                  <a:srgbClr val="00669D"/>
                </a:solidFill>
                <a:latin typeface="Arial"/>
                <a:cs typeface="Arial"/>
              </a:rPr>
              <a:t>es</a:t>
            </a:r>
            <a:r>
              <a:rPr sz="2100" b="1" spc="-5" dirty="0">
                <a:solidFill>
                  <a:srgbClr val="00669D"/>
                </a:solidFill>
                <a:latin typeface="Arial"/>
                <a:cs typeface="Arial"/>
              </a:rPr>
              <a:t> </a:t>
            </a:r>
            <a:r>
              <a:rPr sz="2100" b="1" dirty="0">
                <a:solidFill>
                  <a:srgbClr val="00669D"/>
                </a:solidFill>
                <a:latin typeface="Arial"/>
                <a:cs typeface="Arial"/>
              </a:rPr>
              <a:t>“s</a:t>
            </a:r>
            <a:r>
              <a:rPr sz="2100" b="1" spc="-15" dirty="0">
                <a:solidFill>
                  <a:srgbClr val="00669D"/>
                </a:solidFill>
                <a:latin typeface="Arial"/>
                <a:cs typeface="Arial"/>
              </a:rPr>
              <a:t>u</a:t>
            </a:r>
            <a:r>
              <a:rPr sz="2100" b="1" dirty="0">
                <a:solidFill>
                  <a:srgbClr val="00669D"/>
                </a:solidFill>
                <a:latin typeface="Arial"/>
                <a:cs typeface="Arial"/>
              </a:rPr>
              <a:t>rv</a:t>
            </a:r>
            <a:r>
              <a:rPr sz="2100" b="1" spc="-10" dirty="0">
                <a:solidFill>
                  <a:srgbClr val="00669D"/>
                </a:solidFill>
                <a:latin typeface="Arial"/>
                <a:cs typeface="Arial"/>
              </a:rPr>
              <a:t>i</a:t>
            </a:r>
            <a:r>
              <a:rPr sz="2100" b="1" dirty="0">
                <a:solidFill>
                  <a:srgbClr val="00669D"/>
                </a:solidFill>
                <a:latin typeface="Arial"/>
                <a:cs typeface="Arial"/>
              </a:rPr>
              <a:t>ve</a:t>
            </a:r>
            <a:r>
              <a:rPr sz="2100" b="1" spc="-10" dirty="0">
                <a:solidFill>
                  <a:srgbClr val="00669D"/>
                </a:solidFill>
                <a:latin typeface="Arial"/>
                <a:cs typeface="Arial"/>
              </a:rPr>
              <a:t>”,</a:t>
            </a:r>
            <a:r>
              <a:rPr sz="2100" b="1" spc="-5" dirty="0">
                <a:solidFill>
                  <a:srgbClr val="00669D"/>
                </a:solidFill>
                <a:latin typeface="Arial"/>
                <a:cs typeface="Arial"/>
              </a:rPr>
              <a:t> </a:t>
            </a:r>
            <a:r>
              <a:rPr sz="2100" b="1" spc="-15" dirty="0">
                <a:solidFill>
                  <a:srgbClr val="00669D"/>
                </a:solidFill>
                <a:latin typeface="Arial"/>
                <a:cs typeface="Arial"/>
              </a:rPr>
              <a:t>whi</a:t>
            </a:r>
            <a:r>
              <a:rPr sz="2100" b="1" dirty="0">
                <a:solidFill>
                  <a:srgbClr val="00669D"/>
                </a:solidFill>
                <a:latin typeface="Arial"/>
                <a:cs typeface="Arial"/>
              </a:rPr>
              <a:t>c</a:t>
            </a:r>
            <a:r>
              <a:rPr sz="2100" b="1" spc="-15" dirty="0">
                <a:solidFill>
                  <a:srgbClr val="00669D"/>
                </a:solidFill>
                <a:latin typeface="Arial"/>
                <a:cs typeface="Arial"/>
              </a:rPr>
              <a:t>h</a:t>
            </a:r>
            <a:r>
              <a:rPr sz="2100" b="1" spc="-5" dirty="0">
                <a:solidFill>
                  <a:srgbClr val="00669D"/>
                </a:solidFill>
                <a:latin typeface="Arial"/>
                <a:cs typeface="Arial"/>
              </a:rPr>
              <a:t> </a:t>
            </a:r>
            <a:r>
              <a:rPr sz="2100" b="1" dirty="0">
                <a:solidFill>
                  <a:srgbClr val="00669D"/>
                </a:solidFill>
                <a:latin typeface="Arial"/>
                <a:cs typeface="Arial"/>
              </a:rPr>
              <a:t>va</a:t>
            </a:r>
            <a:r>
              <a:rPr sz="2100" b="1" spc="-10" dirty="0">
                <a:solidFill>
                  <a:srgbClr val="00669D"/>
                </a:solidFill>
                <a:latin typeface="Arial"/>
                <a:cs typeface="Arial"/>
              </a:rPr>
              <a:t>ni</a:t>
            </a:r>
            <a:r>
              <a:rPr sz="2100" b="1" dirty="0">
                <a:solidFill>
                  <a:srgbClr val="00669D"/>
                </a:solidFill>
                <a:latin typeface="Arial"/>
                <a:cs typeface="Arial"/>
              </a:rPr>
              <a:t>s</a:t>
            </a:r>
            <a:r>
              <a:rPr sz="2100" b="1" spc="-15" dirty="0">
                <a:solidFill>
                  <a:srgbClr val="00669D"/>
                </a:solidFill>
                <a:latin typeface="Arial"/>
                <a:cs typeface="Arial"/>
              </a:rPr>
              <a:t>h?</a:t>
            </a:r>
            <a:endParaRPr sz="2100" dirty="0">
              <a:latin typeface="Arial"/>
              <a:cs typeface="Arial"/>
            </a:endParaRPr>
          </a:p>
          <a:p>
            <a:pPr marL="991869" lvl="1" indent="-457200">
              <a:lnSpc>
                <a:spcPct val="100000"/>
              </a:lnSpc>
              <a:spcBef>
                <a:spcPts val="520"/>
              </a:spcBef>
              <a:buFont typeface="Arial"/>
              <a:buChar char="•"/>
              <a:tabLst>
                <a:tab pos="992505" algn="l"/>
              </a:tabLst>
            </a:pPr>
            <a:r>
              <a:rPr sz="2100" b="1" dirty="0">
                <a:solidFill>
                  <a:srgbClr val="C82506"/>
                </a:solidFill>
                <a:latin typeface="Arial"/>
                <a:cs typeface="Arial"/>
              </a:rPr>
              <a:t>as</a:t>
            </a:r>
            <a:r>
              <a:rPr sz="2100" b="1" spc="-5" dirty="0">
                <a:solidFill>
                  <a:srgbClr val="C82506"/>
                </a:solidFill>
                <a:latin typeface="Arial"/>
                <a:cs typeface="Arial"/>
              </a:rPr>
              <a:t> </a:t>
            </a:r>
            <a:r>
              <a:rPr sz="2100" b="1" dirty="0">
                <a:solidFill>
                  <a:srgbClr val="C82506"/>
                </a:solidFill>
                <a:latin typeface="Arial"/>
                <a:cs typeface="Arial"/>
              </a:rPr>
              <a:t>a</a:t>
            </a:r>
            <a:r>
              <a:rPr sz="2100" b="1" spc="-15" dirty="0">
                <a:solidFill>
                  <a:srgbClr val="C82506"/>
                </a:solidFill>
                <a:latin typeface="Arial"/>
                <a:cs typeface="Arial"/>
              </a:rPr>
              <a:t>g</a:t>
            </a:r>
            <a:r>
              <a:rPr sz="2100" b="1" dirty="0">
                <a:solidFill>
                  <a:srgbClr val="C82506"/>
                </a:solidFill>
                <a:latin typeface="Arial"/>
                <a:cs typeface="Arial"/>
              </a:rPr>
              <a:t>e</a:t>
            </a:r>
            <a:r>
              <a:rPr sz="2100" b="1" spc="-15" dirty="0">
                <a:solidFill>
                  <a:srgbClr val="C82506"/>
                </a:solidFill>
                <a:latin typeface="Arial"/>
                <a:cs typeface="Arial"/>
              </a:rPr>
              <a:t>n</a:t>
            </a:r>
            <a:r>
              <a:rPr sz="2100" b="1" dirty="0">
                <a:solidFill>
                  <a:srgbClr val="C82506"/>
                </a:solidFill>
                <a:latin typeface="Arial"/>
                <a:cs typeface="Arial"/>
              </a:rPr>
              <a:t>ts</a:t>
            </a:r>
            <a:r>
              <a:rPr sz="2100" b="1" spc="-5" dirty="0">
                <a:solidFill>
                  <a:srgbClr val="C82506"/>
                </a:solidFill>
                <a:latin typeface="Arial"/>
                <a:cs typeface="Arial"/>
              </a:rPr>
              <a:t> </a:t>
            </a:r>
            <a:r>
              <a:rPr sz="2100" b="1" spc="-10" dirty="0">
                <a:solidFill>
                  <a:srgbClr val="C82506"/>
                </a:solidFill>
                <a:latin typeface="Arial"/>
                <a:cs typeface="Arial"/>
              </a:rPr>
              <a:t>l</a:t>
            </a:r>
            <a:r>
              <a:rPr sz="2100" b="1" dirty="0">
                <a:solidFill>
                  <a:srgbClr val="C82506"/>
                </a:solidFill>
                <a:latin typeface="Arial"/>
                <a:cs typeface="Arial"/>
              </a:rPr>
              <a:t>ear</a:t>
            </a:r>
            <a:r>
              <a:rPr sz="2100" b="1" spc="-15" dirty="0">
                <a:solidFill>
                  <a:srgbClr val="C82506"/>
                </a:solidFill>
                <a:latin typeface="Arial"/>
                <a:cs typeface="Arial"/>
              </a:rPr>
              <a:t>n</a:t>
            </a:r>
            <a:r>
              <a:rPr sz="2100" b="1" spc="-5" dirty="0">
                <a:solidFill>
                  <a:srgbClr val="C82506"/>
                </a:solidFill>
                <a:latin typeface="Arial"/>
                <a:cs typeface="Arial"/>
              </a:rPr>
              <a:t> </a:t>
            </a:r>
            <a:r>
              <a:rPr sz="2100" b="1" dirty="0">
                <a:solidFill>
                  <a:srgbClr val="C82506"/>
                </a:solidFill>
                <a:latin typeface="Arial"/>
                <a:cs typeface="Arial"/>
              </a:rPr>
              <a:t>fr</a:t>
            </a:r>
            <a:r>
              <a:rPr sz="2100" b="1" spc="-15" dirty="0">
                <a:solidFill>
                  <a:srgbClr val="C82506"/>
                </a:solidFill>
                <a:latin typeface="Arial"/>
                <a:cs typeface="Arial"/>
              </a:rPr>
              <a:t>o</a:t>
            </a:r>
            <a:r>
              <a:rPr sz="2100" b="1" dirty="0">
                <a:solidFill>
                  <a:srgbClr val="C82506"/>
                </a:solidFill>
                <a:latin typeface="Arial"/>
                <a:cs typeface="Arial"/>
              </a:rPr>
              <a:t>m</a:t>
            </a:r>
            <a:r>
              <a:rPr sz="2100" b="1" spc="-5" dirty="0">
                <a:solidFill>
                  <a:srgbClr val="C82506"/>
                </a:solidFill>
                <a:latin typeface="Arial"/>
                <a:cs typeface="Arial"/>
              </a:rPr>
              <a:t> </a:t>
            </a:r>
            <a:r>
              <a:rPr sz="2100" b="1" dirty="0">
                <a:solidFill>
                  <a:srgbClr val="C82506"/>
                </a:solidFill>
                <a:latin typeface="Arial"/>
                <a:cs typeface="Arial"/>
              </a:rPr>
              <a:t>eac</a:t>
            </a:r>
            <a:r>
              <a:rPr sz="2100" b="1" spc="-15" dirty="0">
                <a:solidFill>
                  <a:srgbClr val="C82506"/>
                </a:solidFill>
                <a:latin typeface="Arial"/>
                <a:cs typeface="Arial"/>
              </a:rPr>
              <a:t>h</a:t>
            </a:r>
            <a:r>
              <a:rPr sz="2100" b="1" spc="-5" dirty="0">
                <a:solidFill>
                  <a:srgbClr val="C82506"/>
                </a:solidFill>
                <a:latin typeface="Arial"/>
                <a:cs typeface="Arial"/>
              </a:rPr>
              <a:t> </a:t>
            </a:r>
            <a:r>
              <a:rPr sz="2100" b="1" spc="-15" dirty="0">
                <a:solidFill>
                  <a:srgbClr val="C82506"/>
                </a:solidFill>
                <a:latin typeface="Arial"/>
                <a:cs typeface="Arial"/>
              </a:rPr>
              <a:t>oth</a:t>
            </a:r>
            <a:r>
              <a:rPr sz="2100" b="1" dirty="0">
                <a:solidFill>
                  <a:srgbClr val="C82506"/>
                </a:solidFill>
                <a:latin typeface="Arial"/>
                <a:cs typeface="Arial"/>
              </a:rPr>
              <a:t>er</a:t>
            </a:r>
            <a:r>
              <a:rPr sz="2100" b="1" spc="-5" dirty="0">
                <a:solidFill>
                  <a:srgbClr val="C82506"/>
                </a:solidFill>
                <a:latin typeface="Arial"/>
                <a:cs typeface="Arial"/>
              </a:rPr>
              <a:t> </a:t>
            </a:r>
            <a:r>
              <a:rPr sz="2100" b="1" dirty="0">
                <a:solidFill>
                  <a:srgbClr val="C82506"/>
                </a:solidFill>
                <a:latin typeface="Arial"/>
                <a:cs typeface="Arial"/>
              </a:rPr>
              <a:t>(s</a:t>
            </a:r>
            <a:r>
              <a:rPr sz="2100" b="1" spc="-15" dirty="0">
                <a:solidFill>
                  <a:srgbClr val="C82506"/>
                </a:solidFill>
                <a:latin typeface="Arial"/>
                <a:cs typeface="Arial"/>
              </a:rPr>
              <a:t>o</a:t>
            </a:r>
            <a:r>
              <a:rPr sz="2100" b="1" dirty="0">
                <a:solidFill>
                  <a:srgbClr val="C82506"/>
                </a:solidFill>
                <a:latin typeface="Arial"/>
                <a:cs typeface="Arial"/>
              </a:rPr>
              <a:t>c</a:t>
            </a:r>
            <a:r>
              <a:rPr sz="2100" b="1" spc="-10" dirty="0">
                <a:solidFill>
                  <a:srgbClr val="C82506"/>
                </a:solidFill>
                <a:latin typeface="Arial"/>
                <a:cs typeface="Arial"/>
              </a:rPr>
              <a:t>i</a:t>
            </a:r>
            <a:r>
              <a:rPr sz="2100" b="1" dirty="0">
                <a:solidFill>
                  <a:srgbClr val="C82506"/>
                </a:solidFill>
                <a:latin typeface="Arial"/>
                <a:cs typeface="Arial"/>
              </a:rPr>
              <a:t>a</a:t>
            </a:r>
            <a:r>
              <a:rPr sz="2100" b="1" spc="-10" dirty="0">
                <a:solidFill>
                  <a:srgbClr val="C82506"/>
                </a:solidFill>
                <a:latin typeface="Arial"/>
                <a:cs typeface="Arial"/>
              </a:rPr>
              <a:t>l</a:t>
            </a:r>
            <a:r>
              <a:rPr sz="2100" b="1" spc="-5" dirty="0">
                <a:solidFill>
                  <a:srgbClr val="C82506"/>
                </a:solidFill>
                <a:latin typeface="Arial"/>
                <a:cs typeface="Arial"/>
              </a:rPr>
              <a:t> </a:t>
            </a:r>
            <a:r>
              <a:rPr sz="2100" b="1" spc="-10" dirty="0">
                <a:solidFill>
                  <a:srgbClr val="C82506"/>
                </a:solidFill>
                <a:latin typeface="Arial"/>
                <a:cs typeface="Arial"/>
              </a:rPr>
              <a:t>l</a:t>
            </a:r>
            <a:r>
              <a:rPr sz="2100" b="1" dirty="0">
                <a:solidFill>
                  <a:srgbClr val="C82506"/>
                </a:solidFill>
                <a:latin typeface="Arial"/>
                <a:cs typeface="Arial"/>
              </a:rPr>
              <a:t>ear</a:t>
            </a:r>
            <a:r>
              <a:rPr sz="2100" b="1" spc="-15" dirty="0">
                <a:solidFill>
                  <a:srgbClr val="C82506"/>
                </a:solidFill>
                <a:latin typeface="Arial"/>
                <a:cs typeface="Arial"/>
              </a:rPr>
              <a:t>ning</a:t>
            </a:r>
            <a:r>
              <a:rPr sz="2100" b="1" dirty="0">
                <a:solidFill>
                  <a:srgbClr val="C82506"/>
                </a:solidFill>
                <a:latin typeface="Arial"/>
                <a:cs typeface="Arial"/>
              </a:rPr>
              <a:t>)</a:t>
            </a:r>
            <a:endParaRPr sz="2100" dirty="0">
              <a:latin typeface="Arial"/>
              <a:cs typeface="Arial"/>
            </a:endParaRPr>
          </a:p>
          <a:p>
            <a:pPr lvl="1">
              <a:lnSpc>
                <a:spcPct val="100000"/>
              </a:lnSpc>
              <a:spcBef>
                <a:spcPts val="52"/>
              </a:spcBef>
              <a:buFont typeface="Arial"/>
              <a:buChar char="•"/>
            </a:pPr>
            <a:endParaRPr sz="3050" dirty="0">
              <a:latin typeface="Times New Roman"/>
              <a:cs typeface="Times New Roman"/>
            </a:endParaRPr>
          </a:p>
          <a:p>
            <a:pPr marL="469900" indent="-457200">
              <a:lnSpc>
                <a:spcPts val="2460"/>
              </a:lnSpc>
              <a:buFont typeface="Arial"/>
              <a:buChar char="•"/>
              <a:tabLst>
                <a:tab pos="469900" algn="l"/>
              </a:tabLst>
            </a:pPr>
            <a:r>
              <a:rPr sz="2100" b="1" spc="-25" dirty="0">
                <a:solidFill>
                  <a:srgbClr val="00669D"/>
                </a:solidFill>
                <a:latin typeface="Arial"/>
                <a:cs typeface="Arial"/>
              </a:rPr>
              <a:t>W</a:t>
            </a:r>
            <a:r>
              <a:rPr sz="2100" b="1" spc="-15" dirty="0">
                <a:solidFill>
                  <a:srgbClr val="00669D"/>
                </a:solidFill>
                <a:latin typeface="Arial"/>
                <a:cs typeface="Arial"/>
              </a:rPr>
              <a:t>h</a:t>
            </a:r>
            <a:r>
              <a:rPr sz="2100" b="1" dirty="0">
                <a:solidFill>
                  <a:srgbClr val="00669D"/>
                </a:solidFill>
                <a:latin typeface="Arial"/>
                <a:cs typeface="Arial"/>
              </a:rPr>
              <a:t>at</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s</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dirty="0">
                <a:solidFill>
                  <a:srgbClr val="00669D"/>
                </a:solidFill>
                <a:latin typeface="Arial"/>
                <a:cs typeface="Arial"/>
              </a:rPr>
              <a:t>strate</a:t>
            </a:r>
            <a:r>
              <a:rPr sz="2100" b="1" spc="-15" dirty="0">
                <a:solidFill>
                  <a:srgbClr val="00669D"/>
                </a:solidFill>
                <a:latin typeface="Arial"/>
                <a:cs typeface="Arial"/>
              </a:rPr>
              <a:t>g</a:t>
            </a:r>
            <a:r>
              <a:rPr sz="2100" b="1" dirty="0">
                <a:solidFill>
                  <a:srgbClr val="00669D"/>
                </a:solidFill>
                <a:latin typeface="Arial"/>
                <a:cs typeface="Arial"/>
              </a:rPr>
              <a:t>y</a:t>
            </a:r>
            <a:r>
              <a:rPr sz="2100" b="1" spc="-5" dirty="0">
                <a:solidFill>
                  <a:srgbClr val="00669D"/>
                </a:solidFill>
                <a:latin typeface="Arial"/>
                <a:cs typeface="Arial"/>
              </a:rPr>
              <a:t> </a:t>
            </a:r>
            <a:r>
              <a:rPr sz="2100" b="1" spc="-10" dirty="0">
                <a:solidFill>
                  <a:srgbClr val="00669D"/>
                </a:solidFill>
                <a:latin typeface="Arial"/>
                <a:cs typeface="Arial"/>
              </a:rPr>
              <a:t>di</a:t>
            </a:r>
            <a:r>
              <a:rPr sz="2100" b="1" dirty="0">
                <a:solidFill>
                  <a:srgbClr val="00669D"/>
                </a:solidFill>
                <a:latin typeface="Arial"/>
                <a:cs typeface="Arial"/>
              </a:rPr>
              <a:t>str</a:t>
            </a:r>
            <a:r>
              <a:rPr sz="2100" b="1" spc="-10" dirty="0">
                <a:solidFill>
                  <a:srgbClr val="00669D"/>
                </a:solidFill>
                <a:latin typeface="Arial"/>
                <a:cs typeface="Arial"/>
              </a:rPr>
              <a:t>ibution</a:t>
            </a:r>
            <a:endParaRPr sz="2100" dirty="0">
              <a:latin typeface="Arial"/>
              <a:cs typeface="Arial"/>
            </a:endParaRPr>
          </a:p>
          <a:p>
            <a:pPr marL="469900">
              <a:lnSpc>
                <a:spcPts val="2460"/>
              </a:lnSpc>
            </a:pPr>
            <a:r>
              <a:rPr sz="2100" b="1" spc="-15" dirty="0">
                <a:solidFill>
                  <a:srgbClr val="00669D"/>
                </a:solidFill>
                <a:latin typeface="Arial"/>
                <a:cs typeface="Arial"/>
              </a:rPr>
              <a:t>For</a:t>
            </a:r>
            <a:r>
              <a:rPr sz="2100" b="1" spc="-5" dirty="0">
                <a:solidFill>
                  <a:srgbClr val="00669D"/>
                </a:solidFill>
                <a:latin typeface="Arial"/>
                <a:cs typeface="Arial"/>
              </a:rPr>
              <a:t> </a:t>
            </a:r>
            <a:r>
              <a:rPr sz="2100" b="1" dirty="0">
                <a:solidFill>
                  <a:srgbClr val="00669D"/>
                </a:solidFill>
                <a:latin typeface="Arial"/>
                <a:cs typeface="Arial"/>
              </a:rPr>
              <a:t>a</a:t>
            </a:r>
            <a:r>
              <a:rPr sz="2100" b="1" spc="-5" dirty="0">
                <a:solidFill>
                  <a:srgbClr val="00669D"/>
                </a:solidFill>
                <a:latin typeface="Arial"/>
                <a:cs typeface="Arial"/>
              </a:rPr>
              <a:t> </a:t>
            </a:r>
            <a:r>
              <a:rPr sz="2100" b="1" spc="-15" dirty="0">
                <a:solidFill>
                  <a:srgbClr val="00669D"/>
                </a:solidFill>
                <a:latin typeface="Arial"/>
                <a:cs typeface="Arial"/>
              </a:rPr>
              <a:t>popul</a:t>
            </a:r>
            <a:r>
              <a:rPr sz="2100" b="1" dirty="0">
                <a:solidFill>
                  <a:srgbClr val="00669D"/>
                </a:solidFill>
                <a:latin typeface="Arial"/>
                <a:cs typeface="Arial"/>
              </a:rPr>
              <a:t>a</a:t>
            </a:r>
            <a:r>
              <a:rPr sz="2100" b="1" spc="-10" dirty="0">
                <a:solidFill>
                  <a:srgbClr val="00669D"/>
                </a:solidFill>
                <a:latin typeface="Arial"/>
                <a:cs typeface="Arial"/>
              </a:rPr>
              <a:t>tion</a:t>
            </a:r>
            <a:r>
              <a:rPr sz="2100" b="1" spc="-5" dirty="0">
                <a:solidFill>
                  <a:srgbClr val="00669D"/>
                </a:solidFill>
                <a:latin typeface="Arial"/>
                <a:cs typeface="Arial"/>
              </a:rPr>
              <a:t> </a:t>
            </a:r>
            <a:r>
              <a:rPr sz="2100" b="1" spc="-10" dirty="0">
                <a:solidFill>
                  <a:srgbClr val="00669D"/>
                </a:solidFill>
                <a:latin typeface="Arial"/>
                <a:cs typeface="Arial"/>
              </a:rPr>
              <a:t>in</a:t>
            </a:r>
            <a:r>
              <a:rPr sz="2100" b="1" spc="-5" dirty="0">
                <a:solidFill>
                  <a:srgbClr val="00669D"/>
                </a:solidFill>
                <a:latin typeface="Arial"/>
                <a:cs typeface="Arial"/>
              </a:rPr>
              <a:t> </a:t>
            </a:r>
            <a:r>
              <a:rPr sz="2100" b="1" dirty="0">
                <a:solidFill>
                  <a:srgbClr val="00669D"/>
                </a:solidFill>
                <a:latin typeface="Arial"/>
                <a:cs typeface="Arial"/>
              </a:rPr>
              <a:t>a</a:t>
            </a:r>
            <a:r>
              <a:rPr sz="2100" b="1" spc="-5" dirty="0">
                <a:solidFill>
                  <a:srgbClr val="00669D"/>
                </a:solidFill>
                <a:latin typeface="Arial"/>
                <a:cs typeface="Arial"/>
              </a:rPr>
              <a:t> </a:t>
            </a:r>
            <a:r>
              <a:rPr sz="2100" b="1" dirty="0">
                <a:solidFill>
                  <a:srgbClr val="00669D"/>
                </a:solidFill>
                <a:latin typeface="Arial"/>
                <a:cs typeface="Arial"/>
              </a:rPr>
              <a:t>sta</a:t>
            </a:r>
            <a:r>
              <a:rPr sz="2100" b="1" spc="-10" dirty="0">
                <a:solidFill>
                  <a:srgbClr val="00669D"/>
                </a:solidFill>
                <a:latin typeface="Arial"/>
                <a:cs typeface="Arial"/>
              </a:rPr>
              <a:t>tion</a:t>
            </a:r>
            <a:r>
              <a:rPr sz="2100" b="1" dirty="0">
                <a:solidFill>
                  <a:srgbClr val="00669D"/>
                </a:solidFill>
                <a:latin typeface="Arial"/>
                <a:cs typeface="Arial"/>
              </a:rPr>
              <a:t>ary</a:t>
            </a:r>
            <a:r>
              <a:rPr sz="2100" b="1" spc="-5" dirty="0">
                <a:solidFill>
                  <a:srgbClr val="00669D"/>
                </a:solidFill>
                <a:latin typeface="Arial"/>
                <a:cs typeface="Arial"/>
              </a:rPr>
              <a:t> </a:t>
            </a:r>
            <a:r>
              <a:rPr sz="2100" b="1" dirty="0">
                <a:solidFill>
                  <a:srgbClr val="00669D"/>
                </a:solidFill>
                <a:latin typeface="Arial"/>
                <a:cs typeface="Arial"/>
              </a:rPr>
              <a:t>state</a:t>
            </a:r>
            <a:r>
              <a:rPr sz="2100" b="1" spc="-5" dirty="0">
                <a:solidFill>
                  <a:srgbClr val="00669D"/>
                </a:solidFill>
                <a:latin typeface="Arial"/>
                <a:cs typeface="Arial"/>
              </a:rPr>
              <a:t> </a:t>
            </a:r>
            <a:r>
              <a:rPr sz="2100" b="1" dirty="0">
                <a:solidFill>
                  <a:srgbClr val="00669D"/>
                </a:solidFill>
                <a:latin typeface="Arial"/>
                <a:cs typeface="Arial"/>
              </a:rPr>
              <a:t>(e</a:t>
            </a:r>
            <a:r>
              <a:rPr sz="2100" b="1" spc="-10" dirty="0">
                <a:solidFill>
                  <a:srgbClr val="00669D"/>
                </a:solidFill>
                <a:latin typeface="Arial"/>
                <a:cs typeface="Arial"/>
              </a:rPr>
              <a:t>quilib</a:t>
            </a:r>
            <a:r>
              <a:rPr sz="2100" b="1" dirty="0">
                <a:solidFill>
                  <a:srgbClr val="00669D"/>
                </a:solidFill>
                <a:latin typeface="Arial"/>
                <a:cs typeface="Arial"/>
              </a:rPr>
              <a:t>r</a:t>
            </a:r>
            <a:r>
              <a:rPr sz="2100" b="1" spc="-10" dirty="0">
                <a:solidFill>
                  <a:srgbClr val="00669D"/>
                </a:solidFill>
                <a:latin typeface="Arial"/>
                <a:cs typeface="Arial"/>
              </a:rPr>
              <a:t>iu</a:t>
            </a:r>
            <a:r>
              <a:rPr sz="2100" b="1" dirty="0">
                <a:solidFill>
                  <a:srgbClr val="00669D"/>
                </a:solidFill>
                <a:latin typeface="Arial"/>
                <a:cs typeface="Arial"/>
              </a:rPr>
              <a:t>m</a:t>
            </a:r>
            <a:r>
              <a:rPr sz="2100" b="1" spc="-10" dirty="0">
                <a:solidFill>
                  <a:srgbClr val="00669D"/>
                </a:solidFill>
                <a:latin typeface="Arial"/>
                <a:cs typeface="Arial"/>
              </a:rPr>
              <a:t>)?</a:t>
            </a:r>
            <a:endParaRPr sz="2100" dirty="0">
              <a:latin typeface="Arial"/>
              <a:cs typeface="Arial"/>
            </a:endParaRPr>
          </a:p>
          <a:p>
            <a:pPr>
              <a:lnSpc>
                <a:spcPct val="100000"/>
              </a:lnSpc>
              <a:spcBef>
                <a:spcPts val="52"/>
              </a:spcBef>
            </a:pPr>
            <a:endParaRPr sz="2650" dirty="0">
              <a:latin typeface="Times New Roman"/>
              <a:cs typeface="Times New Roman"/>
            </a:endParaRPr>
          </a:p>
          <a:p>
            <a:pPr marL="991869" marR="1590675" lvl="1" indent="-457200">
              <a:lnSpc>
                <a:spcPts val="2400"/>
              </a:lnSpc>
              <a:buFont typeface="Arial"/>
              <a:buChar char="•"/>
              <a:tabLst>
                <a:tab pos="992505" algn="l"/>
              </a:tabLst>
            </a:pPr>
            <a:r>
              <a:rPr sz="2100" b="1" dirty="0">
                <a:solidFill>
                  <a:srgbClr val="C82506"/>
                </a:solidFill>
                <a:latin typeface="Arial"/>
                <a:cs typeface="Arial"/>
              </a:rPr>
              <a:t>convergence</a:t>
            </a:r>
            <a:r>
              <a:rPr sz="2100" b="1" spc="-5" dirty="0">
                <a:solidFill>
                  <a:srgbClr val="C82506"/>
                </a:solidFill>
                <a:latin typeface="Arial"/>
                <a:cs typeface="Arial"/>
              </a:rPr>
              <a:t> </a:t>
            </a:r>
            <a:r>
              <a:rPr sz="2100" b="1" spc="-15" dirty="0">
                <a:solidFill>
                  <a:srgbClr val="00669D"/>
                </a:solidFill>
                <a:latin typeface="Arial"/>
                <a:cs typeface="Arial"/>
              </a:rPr>
              <a:t>on</a:t>
            </a:r>
            <a:r>
              <a:rPr sz="2100" b="1" spc="-5" dirty="0">
                <a:solidFill>
                  <a:srgbClr val="00669D"/>
                </a:solidFill>
                <a:latin typeface="Arial"/>
                <a:cs typeface="Arial"/>
              </a:rPr>
              <a:t> </a:t>
            </a:r>
            <a:r>
              <a:rPr sz="2100" b="1" dirty="0">
                <a:solidFill>
                  <a:srgbClr val="00669D"/>
                </a:solidFill>
                <a:latin typeface="Arial"/>
                <a:cs typeface="Arial"/>
              </a:rPr>
              <a:t>a</a:t>
            </a:r>
            <a:r>
              <a:rPr sz="2100" b="1" spc="-5" dirty="0">
                <a:solidFill>
                  <a:srgbClr val="00669D"/>
                </a:solidFill>
                <a:latin typeface="Arial"/>
                <a:cs typeface="Arial"/>
              </a:rPr>
              <a:t> </a:t>
            </a:r>
            <a:r>
              <a:rPr sz="2100" b="1" dirty="0">
                <a:solidFill>
                  <a:srgbClr val="00669D"/>
                </a:solidFill>
                <a:latin typeface="Arial"/>
                <a:cs typeface="Arial"/>
              </a:rPr>
              <a:t>s</a:t>
            </a:r>
            <a:r>
              <a:rPr sz="2100" b="1" spc="-10" dirty="0">
                <a:solidFill>
                  <a:srgbClr val="00669D"/>
                </a:solidFill>
                <a:latin typeface="Arial"/>
                <a:cs typeface="Arial"/>
              </a:rPr>
              <a:t>ingl</a:t>
            </a:r>
            <a:r>
              <a:rPr sz="2100" b="1" dirty="0">
                <a:solidFill>
                  <a:srgbClr val="00669D"/>
                </a:solidFill>
                <a:latin typeface="Arial"/>
                <a:cs typeface="Arial"/>
              </a:rPr>
              <a:t>e</a:t>
            </a:r>
            <a:r>
              <a:rPr sz="2100" b="1" spc="-5" dirty="0">
                <a:solidFill>
                  <a:srgbClr val="00669D"/>
                </a:solidFill>
                <a:latin typeface="Arial"/>
                <a:cs typeface="Arial"/>
              </a:rPr>
              <a:t> </a:t>
            </a:r>
            <a:r>
              <a:rPr sz="2100" b="1" dirty="0">
                <a:solidFill>
                  <a:srgbClr val="00669D"/>
                </a:solidFill>
                <a:latin typeface="Arial"/>
                <a:cs typeface="Arial"/>
              </a:rPr>
              <a:t>strate</a:t>
            </a:r>
            <a:r>
              <a:rPr sz="2100" b="1" spc="-15" dirty="0">
                <a:solidFill>
                  <a:srgbClr val="00669D"/>
                </a:solidFill>
                <a:latin typeface="Arial"/>
                <a:cs typeface="Arial"/>
              </a:rPr>
              <a:t>g</a:t>
            </a:r>
            <a:r>
              <a:rPr sz="2100" b="1" dirty="0">
                <a:solidFill>
                  <a:srgbClr val="00669D"/>
                </a:solidFill>
                <a:latin typeface="Arial"/>
                <a:cs typeface="Arial"/>
              </a:rPr>
              <a:t>y</a:t>
            </a:r>
            <a:r>
              <a:rPr sz="2100" b="1" spc="-5" dirty="0">
                <a:solidFill>
                  <a:srgbClr val="00669D"/>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r </a:t>
            </a:r>
            <a:r>
              <a:rPr sz="2100" b="1" dirty="0">
                <a:solidFill>
                  <a:srgbClr val="C82506"/>
                </a:solidFill>
                <a:latin typeface="Arial"/>
                <a:cs typeface="Arial"/>
              </a:rPr>
              <a:t>c</a:t>
            </a:r>
            <a:r>
              <a:rPr sz="2100" b="1" spc="-15" dirty="0">
                <a:solidFill>
                  <a:srgbClr val="C82506"/>
                </a:solidFill>
                <a:latin typeface="Arial"/>
                <a:cs typeface="Arial"/>
              </a:rPr>
              <a:t>o</a:t>
            </a:r>
            <a:r>
              <a:rPr sz="2100" b="1" dirty="0">
                <a:solidFill>
                  <a:srgbClr val="C82506"/>
                </a:solidFill>
                <a:latin typeface="Arial"/>
                <a:cs typeface="Arial"/>
              </a:rPr>
              <a:t>ex</a:t>
            </a:r>
            <a:r>
              <a:rPr sz="2100" b="1" spc="-10" dirty="0">
                <a:solidFill>
                  <a:srgbClr val="C82506"/>
                </a:solidFill>
                <a:latin typeface="Arial"/>
                <a:cs typeface="Arial"/>
              </a:rPr>
              <a:t>i</a:t>
            </a:r>
            <a:r>
              <a:rPr sz="2100" b="1" dirty="0">
                <a:solidFill>
                  <a:srgbClr val="C82506"/>
                </a:solidFill>
                <a:latin typeface="Arial"/>
                <a:cs typeface="Arial"/>
              </a:rPr>
              <a:t>ste</a:t>
            </a:r>
            <a:r>
              <a:rPr sz="2100" b="1" spc="-15" dirty="0">
                <a:solidFill>
                  <a:srgbClr val="C82506"/>
                </a:solidFill>
                <a:latin typeface="Arial"/>
                <a:cs typeface="Arial"/>
              </a:rPr>
              <a:t>n</a:t>
            </a:r>
            <a:r>
              <a:rPr sz="2100" b="1" dirty="0">
                <a:solidFill>
                  <a:srgbClr val="C82506"/>
                </a:solidFill>
                <a:latin typeface="Arial"/>
                <a:cs typeface="Arial"/>
              </a:rPr>
              <a:t>ce</a:t>
            </a:r>
            <a:r>
              <a:rPr sz="2100" b="1" spc="-5" dirty="0">
                <a:solidFill>
                  <a:srgbClr val="C82506"/>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f</a:t>
            </a:r>
            <a:r>
              <a:rPr sz="2100" b="1" spc="-5" dirty="0">
                <a:solidFill>
                  <a:srgbClr val="00669D"/>
                </a:solidFill>
                <a:latin typeface="Arial"/>
                <a:cs typeface="Arial"/>
              </a:rPr>
              <a:t> </a:t>
            </a:r>
            <a:r>
              <a:rPr sz="2100" b="1" spc="-10" dirty="0">
                <a:solidFill>
                  <a:srgbClr val="00669D"/>
                </a:solidFill>
                <a:latin typeface="Arial"/>
                <a:cs typeface="Arial"/>
              </a:rPr>
              <a:t>di</a:t>
            </a:r>
            <a:r>
              <a:rPr sz="2100" b="1" dirty="0">
                <a:solidFill>
                  <a:srgbClr val="00669D"/>
                </a:solidFill>
                <a:latin typeface="Arial"/>
                <a:cs typeface="Arial"/>
              </a:rPr>
              <a:t>ffere</a:t>
            </a:r>
            <a:r>
              <a:rPr sz="2100" b="1" spc="-15" dirty="0">
                <a:solidFill>
                  <a:srgbClr val="00669D"/>
                </a:solidFill>
                <a:latin typeface="Arial"/>
                <a:cs typeface="Arial"/>
              </a:rPr>
              <a:t>n</a:t>
            </a:r>
            <a:r>
              <a:rPr sz="2100" b="1" dirty="0">
                <a:solidFill>
                  <a:srgbClr val="00669D"/>
                </a:solidFill>
                <a:latin typeface="Arial"/>
                <a:cs typeface="Arial"/>
              </a:rPr>
              <a:t>t</a:t>
            </a:r>
            <a:r>
              <a:rPr sz="2100" b="1" spc="-5" dirty="0">
                <a:solidFill>
                  <a:srgbClr val="00669D"/>
                </a:solidFill>
                <a:latin typeface="Arial"/>
                <a:cs typeface="Arial"/>
              </a:rPr>
              <a:t> </a:t>
            </a:r>
            <a:r>
              <a:rPr sz="2100" b="1" dirty="0">
                <a:solidFill>
                  <a:srgbClr val="00669D"/>
                </a:solidFill>
                <a:latin typeface="Arial"/>
                <a:cs typeface="Arial"/>
              </a:rPr>
              <a:t>strate</a:t>
            </a:r>
            <a:r>
              <a:rPr sz="2100" b="1" spc="-10" dirty="0">
                <a:solidFill>
                  <a:srgbClr val="00669D"/>
                </a:solidFill>
                <a:latin typeface="Arial"/>
                <a:cs typeface="Arial"/>
              </a:rPr>
              <a:t>gi</a:t>
            </a:r>
            <a:r>
              <a:rPr sz="2100" b="1" dirty="0">
                <a:solidFill>
                  <a:srgbClr val="00669D"/>
                </a:solidFill>
                <a:latin typeface="Arial"/>
                <a:cs typeface="Arial"/>
              </a:rPr>
              <a:t>es</a:t>
            </a:r>
            <a:r>
              <a:rPr sz="2100" b="1" spc="-15" dirty="0">
                <a:solidFill>
                  <a:srgbClr val="00669D"/>
                </a:solidFill>
                <a:latin typeface="Arial"/>
                <a:cs typeface="Arial"/>
              </a:rPr>
              <a:t>?</a:t>
            </a:r>
            <a:endParaRPr sz="2100" dirty="0">
              <a:latin typeface="Arial"/>
              <a:cs typeface="Arial"/>
            </a:endParaRPr>
          </a:p>
          <a:p>
            <a:pPr marL="991869" lvl="1" indent="-457200">
              <a:lnSpc>
                <a:spcPct val="100000"/>
              </a:lnSpc>
              <a:spcBef>
                <a:spcPts val="459"/>
              </a:spcBef>
              <a:buFont typeface="Arial"/>
              <a:buChar char="•"/>
              <a:tabLst>
                <a:tab pos="992505" algn="l"/>
              </a:tabLst>
            </a:pPr>
            <a:r>
              <a:rPr sz="2100" b="1" dirty="0">
                <a:solidFill>
                  <a:srgbClr val="00669D"/>
                </a:solidFill>
                <a:latin typeface="Arial"/>
                <a:cs typeface="Arial"/>
              </a:rPr>
              <a:t>may</a:t>
            </a:r>
            <a:r>
              <a:rPr sz="2100" b="1" spc="-5" dirty="0">
                <a:solidFill>
                  <a:srgbClr val="00669D"/>
                </a:solidFill>
                <a:latin typeface="Arial"/>
                <a:cs typeface="Arial"/>
              </a:rPr>
              <a:t> </a:t>
            </a:r>
            <a:r>
              <a:rPr sz="2100" b="1" spc="-15" dirty="0">
                <a:solidFill>
                  <a:srgbClr val="00669D"/>
                </a:solidFill>
                <a:latin typeface="Arial"/>
                <a:cs typeface="Arial"/>
              </a:rPr>
              <a:t>no</a:t>
            </a:r>
            <a:r>
              <a:rPr sz="2100" b="1" dirty="0">
                <a:solidFill>
                  <a:srgbClr val="00669D"/>
                </a:solidFill>
                <a:latin typeface="Arial"/>
                <a:cs typeface="Arial"/>
              </a:rPr>
              <a:t>t</a:t>
            </a:r>
            <a:r>
              <a:rPr sz="2100" b="1" spc="-5" dirty="0">
                <a:solidFill>
                  <a:srgbClr val="00669D"/>
                </a:solidFill>
                <a:latin typeface="Arial"/>
                <a:cs typeface="Arial"/>
              </a:rPr>
              <a:t> </a:t>
            </a:r>
            <a:r>
              <a:rPr sz="2100" b="1" spc="-15" dirty="0">
                <a:solidFill>
                  <a:srgbClr val="00669D"/>
                </a:solidFill>
                <a:latin typeface="Arial"/>
                <a:cs typeface="Arial"/>
              </a:rPr>
              <a:t>b</a:t>
            </a:r>
            <a:r>
              <a:rPr sz="2100" b="1" dirty="0">
                <a:solidFill>
                  <a:srgbClr val="00669D"/>
                </a:solidFill>
                <a:latin typeface="Arial"/>
                <a:cs typeface="Arial"/>
              </a:rPr>
              <a:t>e</a:t>
            </a:r>
            <a:r>
              <a:rPr sz="2100" b="1" spc="-5" dirty="0">
                <a:solidFill>
                  <a:srgbClr val="00669D"/>
                </a:solidFill>
                <a:latin typeface="Arial"/>
                <a:cs typeface="Arial"/>
              </a:rPr>
              <a:t> </a:t>
            </a:r>
            <a:r>
              <a:rPr sz="2100" b="1" dirty="0">
                <a:solidFill>
                  <a:srgbClr val="00669D"/>
                </a:solidFill>
                <a:latin typeface="Arial"/>
                <a:cs typeface="Arial"/>
              </a:rPr>
              <a:t>c</a:t>
            </a:r>
            <a:r>
              <a:rPr sz="2100" b="1" spc="-15" dirty="0">
                <a:solidFill>
                  <a:srgbClr val="00669D"/>
                </a:solidFill>
                <a:latin typeface="Arial"/>
                <a:cs typeface="Arial"/>
              </a:rPr>
              <a:t>on</a:t>
            </a:r>
            <a:r>
              <a:rPr sz="2100" b="1" dirty="0">
                <a:solidFill>
                  <a:srgbClr val="00669D"/>
                </a:solidFill>
                <a:latin typeface="Arial"/>
                <a:cs typeface="Arial"/>
              </a:rPr>
              <a:t>ver</a:t>
            </a:r>
            <a:r>
              <a:rPr sz="2100" b="1" spc="-15" dirty="0">
                <a:solidFill>
                  <a:srgbClr val="00669D"/>
                </a:solidFill>
                <a:latin typeface="Arial"/>
                <a:cs typeface="Arial"/>
              </a:rPr>
              <a:t>g</a:t>
            </a:r>
            <a:r>
              <a:rPr sz="2100" b="1" dirty="0">
                <a:solidFill>
                  <a:srgbClr val="00669D"/>
                </a:solidFill>
                <a:latin typeface="Arial"/>
                <a:cs typeface="Arial"/>
              </a:rPr>
              <a:t>e</a:t>
            </a:r>
            <a:r>
              <a:rPr sz="2100" b="1" spc="-15" dirty="0">
                <a:solidFill>
                  <a:srgbClr val="00669D"/>
                </a:solidFill>
                <a:latin typeface="Arial"/>
                <a:cs typeface="Arial"/>
              </a:rPr>
              <a:t>n</a:t>
            </a:r>
            <a:r>
              <a:rPr sz="2100" b="1" dirty="0">
                <a:solidFill>
                  <a:srgbClr val="00669D"/>
                </a:solidFill>
                <a:latin typeface="Arial"/>
                <a:cs typeface="Arial"/>
              </a:rPr>
              <a:t>t</a:t>
            </a:r>
            <a:r>
              <a:rPr sz="2100" b="1" spc="-5" dirty="0">
                <a:solidFill>
                  <a:srgbClr val="00669D"/>
                </a:solidFill>
                <a:latin typeface="Arial"/>
                <a:cs typeface="Arial"/>
              </a:rPr>
              <a:t> </a:t>
            </a:r>
            <a:r>
              <a:rPr sz="2100" b="1" spc="-15" dirty="0">
                <a:solidFill>
                  <a:srgbClr val="00669D"/>
                </a:solidFill>
                <a:latin typeface="Arial"/>
                <a:cs typeface="Arial"/>
              </a:rPr>
              <a:t>bu</a:t>
            </a:r>
            <a:r>
              <a:rPr sz="2100" b="1" dirty="0">
                <a:solidFill>
                  <a:srgbClr val="00669D"/>
                </a:solidFill>
                <a:latin typeface="Arial"/>
                <a:cs typeface="Arial"/>
              </a:rPr>
              <a:t>t</a:t>
            </a:r>
            <a:r>
              <a:rPr sz="2100" b="1" spc="-5" dirty="0">
                <a:solidFill>
                  <a:srgbClr val="00669D"/>
                </a:solidFill>
                <a:latin typeface="Arial"/>
                <a:cs typeface="Arial"/>
              </a:rPr>
              <a:t> </a:t>
            </a:r>
            <a:r>
              <a:rPr sz="2100" b="1" dirty="0">
                <a:solidFill>
                  <a:srgbClr val="00669D"/>
                </a:solidFill>
                <a:latin typeface="Arial"/>
                <a:cs typeface="Arial"/>
              </a:rPr>
              <a:t>e</a:t>
            </a:r>
            <a:r>
              <a:rPr sz="2100" b="1" spc="-15" dirty="0">
                <a:solidFill>
                  <a:srgbClr val="00669D"/>
                </a:solidFill>
                <a:latin typeface="Arial"/>
                <a:cs typeface="Arial"/>
              </a:rPr>
              <a:t>n</a:t>
            </a:r>
            <a:r>
              <a:rPr sz="2100" b="1" dirty="0">
                <a:solidFill>
                  <a:srgbClr val="00669D"/>
                </a:solidFill>
                <a:latin typeface="Arial"/>
                <a:cs typeface="Arial"/>
              </a:rPr>
              <a:t>ter</a:t>
            </a:r>
            <a:r>
              <a:rPr sz="2100" b="1" spc="-5" dirty="0">
                <a:solidFill>
                  <a:srgbClr val="00669D"/>
                </a:solidFill>
                <a:latin typeface="Arial"/>
                <a:cs typeface="Arial"/>
              </a:rPr>
              <a:t> </a:t>
            </a:r>
            <a:r>
              <a:rPr sz="2100" b="1" spc="-10" dirty="0">
                <a:solidFill>
                  <a:srgbClr val="00669D"/>
                </a:solidFill>
                <a:latin typeface="Arial"/>
                <a:cs typeface="Arial"/>
              </a:rPr>
              <a:t>li</a:t>
            </a:r>
            <a:r>
              <a:rPr sz="2100" b="1" dirty="0">
                <a:solidFill>
                  <a:srgbClr val="00669D"/>
                </a:solidFill>
                <a:latin typeface="Arial"/>
                <a:cs typeface="Arial"/>
              </a:rPr>
              <a:t>m</a:t>
            </a:r>
            <a:r>
              <a:rPr sz="2100" b="1" spc="-10" dirty="0">
                <a:solidFill>
                  <a:srgbClr val="00669D"/>
                </a:solidFill>
                <a:latin typeface="Arial"/>
                <a:cs typeface="Arial"/>
              </a:rPr>
              <a:t>i</a:t>
            </a:r>
            <a:r>
              <a:rPr sz="2100" b="1" dirty="0">
                <a:solidFill>
                  <a:srgbClr val="00669D"/>
                </a:solidFill>
                <a:latin typeface="Arial"/>
                <a:cs typeface="Arial"/>
              </a:rPr>
              <a:t>t</a:t>
            </a:r>
            <a:r>
              <a:rPr sz="2100" b="1" spc="-5" dirty="0">
                <a:solidFill>
                  <a:srgbClr val="00669D"/>
                </a:solidFill>
                <a:latin typeface="Arial"/>
                <a:cs typeface="Arial"/>
              </a:rPr>
              <a:t> </a:t>
            </a:r>
            <a:r>
              <a:rPr sz="2100" b="1" dirty="0">
                <a:solidFill>
                  <a:srgbClr val="00669D"/>
                </a:solidFill>
                <a:latin typeface="Arial"/>
                <a:cs typeface="Arial"/>
              </a:rPr>
              <a:t>cyc</a:t>
            </a:r>
            <a:r>
              <a:rPr sz="2100" b="1" spc="-10" dirty="0">
                <a:solidFill>
                  <a:srgbClr val="00669D"/>
                </a:solidFill>
                <a:latin typeface="Arial"/>
                <a:cs typeface="Arial"/>
              </a:rPr>
              <a:t>l</a:t>
            </a:r>
            <a:r>
              <a:rPr sz="2100" b="1" dirty="0">
                <a:solidFill>
                  <a:srgbClr val="00669D"/>
                </a:solidFill>
                <a:latin typeface="Arial"/>
                <a:cs typeface="Arial"/>
              </a:rPr>
              <a:t>e</a:t>
            </a:r>
            <a:endParaRPr sz="2100" dirty="0">
              <a:latin typeface="Arial"/>
              <a:cs typeface="Arial"/>
            </a:endParaRPr>
          </a:p>
          <a:p>
            <a:pPr marL="991869" lvl="1" indent="-457200">
              <a:lnSpc>
                <a:spcPct val="100000"/>
              </a:lnSpc>
              <a:spcBef>
                <a:spcPts val="520"/>
              </a:spcBef>
              <a:buFont typeface="Arial"/>
              <a:buChar char="•"/>
              <a:tabLst>
                <a:tab pos="992505" algn="l"/>
              </a:tabLst>
            </a:pPr>
            <a:r>
              <a:rPr sz="2100" b="1" dirty="0">
                <a:solidFill>
                  <a:srgbClr val="00669D"/>
                </a:solidFill>
                <a:latin typeface="Arial"/>
                <a:cs typeface="Arial"/>
              </a:rPr>
              <a:t>ca</a:t>
            </a:r>
            <a:r>
              <a:rPr sz="2100" b="1" spc="-15" dirty="0">
                <a:solidFill>
                  <a:srgbClr val="00669D"/>
                </a:solidFill>
                <a:latin typeface="Arial"/>
                <a:cs typeface="Arial"/>
              </a:rPr>
              <a:t>n</a:t>
            </a:r>
            <a:r>
              <a:rPr sz="2100" b="1" spc="-5" dirty="0">
                <a:solidFill>
                  <a:srgbClr val="00669D"/>
                </a:solidFill>
                <a:latin typeface="Arial"/>
                <a:cs typeface="Arial"/>
              </a:rPr>
              <a:t> </a:t>
            </a:r>
            <a:r>
              <a:rPr sz="2100" b="1" dirty="0">
                <a:solidFill>
                  <a:srgbClr val="00669D"/>
                </a:solidFill>
                <a:latin typeface="Arial"/>
                <a:cs typeface="Arial"/>
              </a:rPr>
              <a:t>a</a:t>
            </a:r>
            <a:r>
              <a:rPr sz="2100" b="1" spc="-5" dirty="0">
                <a:solidFill>
                  <a:srgbClr val="00669D"/>
                </a:solidFill>
                <a:latin typeface="Arial"/>
                <a:cs typeface="Arial"/>
              </a:rPr>
              <a:t> </a:t>
            </a:r>
            <a:r>
              <a:rPr sz="2100" b="1" spc="-15" dirty="0">
                <a:solidFill>
                  <a:srgbClr val="00669D"/>
                </a:solidFill>
                <a:latin typeface="Arial"/>
                <a:cs typeface="Arial"/>
              </a:rPr>
              <a:t>n</a:t>
            </a:r>
            <a:r>
              <a:rPr sz="2100" b="1" dirty="0">
                <a:solidFill>
                  <a:srgbClr val="00669D"/>
                </a:solidFill>
                <a:latin typeface="Arial"/>
                <a:cs typeface="Arial"/>
              </a:rPr>
              <a:t>e</a:t>
            </a:r>
            <a:r>
              <a:rPr sz="2100" b="1" spc="-20" dirty="0">
                <a:solidFill>
                  <a:srgbClr val="00669D"/>
                </a:solidFill>
                <a:latin typeface="Arial"/>
                <a:cs typeface="Arial"/>
              </a:rPr>
              <a:t>w</a:t>
            </a:r>
            <a:r>
              <a:rPr sz="2100" b="1" spc="-5" dirty="0">
                <a:solidFill>
                  <a:srgbClr val="00669D"/>
                </a:solidFill>
                <a:latin typeface="Arial"/>
                <a:cs typeface="Arial"/>
              </a:rPr>
              <a:t> </a:t>
            </a:r>
            <a:r>
              <a:rPr sz="2100" b="1" dirty="0">
                <a:solidFill>
                  <a:srgbClr val="00669D"/>
                </a:solidFill>
                <a:latin typeface="Arial"/>
                <a:cs typeface="Arial"/>
              </a:rPr>
              <a:t>strate</a:t>
            </a:r>
            <a:r>
              <a:rPr sz="2100" b="1" spc="-15" dirty="0">
                <a:solidFill>
                  <a:srgbClr val="00669D"/>
                </a:solidFill>
                <a:latin typeface="Arial"/>
                <a:cs typeface="Arial"/>
              </a:rPr>
              <a:t>g</a:t>
            </a:r>
            <a:r>
              <a:rPr sz="2100" b="1" dirty="0">
                <a:solidFill>
                  <a:srgbClr val="00669D"/>
                </a:solidFill>
                <a:latin typeface="Arial"/>
                <a:cs typeface="Arial"/>
              </a:rPr>
              <a:t>y</a:t>
            </a:r>
            <a:r>
              <a:rPr sz="2100" b="1" spc="-5" dirty="0">
                <a:solidFill>
                  <a:srgbClr val="00669D"/>
                </a:solidFill>
                <a:latin typeface="Arial"/>
                <a:cs typeface="Arial"/>
              </a:rPr>
              <a:t> </a:t>
            </a:r>
            <a:r>
              <a:rPr sz="2100" b="1" dirty="0">
                <a:solidFill>
                  <a:srgbClr val="00669D"/>
                </a:solidFill>
                <a:latin typeface="Arial"/>
                <a:cs typeface="Arial"/>
              </a:rPr>
              <a:t>var</a:t>
            </a:r>
            <a:r>
              <a:rPr sz="2100" b="1" spc="-10" dirty="0">
                <a:solidFill>
                  <a:srgbClr val="00669D"/>
                </a:solidFill>
                <a:latin typeface="Arial"/>
                <a:cs typeface="Arial"/>
              </a:rPr>
              <a:t>i</a:t>
            </a:r>
            <a:r>
              <a:rPr sz="2100" b="1" dirty="0">
                <a:solidFill>
                  <a:srgbClr val="00669D"/>
                </a:solidFill>
                <a:latin typeface="Arial"/>
                <a:cs typeface="Arial"/>
              </a:rPr>
              <a:t>a</a:t>
            </a:r>
            <a:r>
              <a:rPr sz="2100" b="1" spc="-10" dirty="0">
                <a:solidFill>
                  <a:srgbClr val="00669D"/>
                </a:solidFill>
                <a:latin typeface="Arial"/>
                <a:cs typeface="Arial"/>
              </a:rPr>
              <a:t>tion</a:t>
            </a:r>
            <a:r>
              <a:rPr sz="2100" b="1" spc="-5" dirty="0">
                <a:solidFill>
                  <a:srgbClr val="00669D"/>
                </a:solidFill>
                <a:latin typeface="Arial"/>
                <a:cs typeface="Arial"/>
              </a:rPr>
              <a:t> </a:t>
            </a:r>
            <a:r>
              <a:rPr sz="2100" b="1" spc="-10" dirty="0">
                <a:solidFill>
                  <a:srgbClr val="00669D"/>
                </a:solidFill>
                <a:latin typeface="Arial"/>
                <a:cs typeface="Arial"/>
              </a:rPr>
              <a:t>in</a:t>
            </a:r>
            <a:r>
              <a:rPr sz="2100" b="1" dirty="0">
                <a:solidFill>
                  <a:srgbClr val="00669D"/>
                </a:solidFill>
                <a:latin typeface="Arial"/>
                <a:cs typeface="Arial"/>
              </a:rPr>
              <a:t>va</a:t>
            </a:r>
            <a:r>
              <a:rPr sz="2100" b="1" spc="-15" dirty="0">
                <a:solidFill>
                  <a:srgbClr val="00669D"/>
                </a:solidFill>
                <a:latin typeface="Arial"/>
                <a:cs typeface="Arial"/>
              </a:rPr>
              <a:t>d</a:t>
            </a:r>
            <a:r>
              <a:rPr sz="2100" b="1" dirty="0">
                <a:solidFill>
                  <a:srgbClr val="00669D"/>
                </a:solidFill>
                <a:latin typeface="Arial"/>
                <a:cs typeface="Arial"/>
              </a:rPr>
              <a:t>e</a:t>
            </a:r>
            <a:endParaRPr sz="2100" dirty="0">
              <a:latin typeface="Arial"/>
              <a:cs typeface="Arial"/>
            </a:endParaRPr>
          </a:p>
          <a:p>
            <a:pPr marL="1457325" lvl="2" indent="-457200">
              <a:lnSpc>
                <a:spcPct val="100000"/>
              </a:lnSpc>
              <a:spcBef>
                <a:spcPts val="520"/>
              </a:spcBef>
              <a:buFont typeface="Arial"/>
              <a:buChar char="•"/>
              <a:tabLst>
                <a:tab pos="1457325" algn="l"/>
              </a:tabLst>
            </a:pPr>
            <a:r>
              <a:rPr sz="2100" b="1" dirty="0">
                <a:solidFill>
                  <a:srgbClr val="00669D"/>
                </a:solidFill>
                <a:latin typeface="Arial"/>
                <a:cs typeface="Arial"/>
              </a:rPr>
              <a:t>(m</a:t>
            </a:r>
            <a:r>
              <a:rPr sz="2100" b="1" spc="-15" dirty="0">
                <a:solidFill>
                  <a:srgbClr val="00669D"/>
                </a:solidFill>
                <a:latin typeface="Arial"/>
                <a:cs typeface="Arial"/>
              </a:rPr>
              <a:t>uta</a:t>
            </a:r>
            <a:r>
              <a:rPr sz="2100" b="1" spc="-10" dirty="0">
                <a:solidFill>
                  <a:srgbClr val="00669D"/>
                </a:solidFill>
                <a:latin typeface="Arial"/>
                <a:cs typeface="Arial"/>
              </a:rPr>
              <a:t>tion/innovation)</a:t>
            </a:r>
            <a:endParaRPr sz="2100" dirty="0">
              <a:latin typeface="Arial"/>
              <a:cs typeface="Arial"/>
            </a:endParaRPr>
          </a:p>
          <a:p>
            <a:pPr marL="1457325" lvl="2" indent="-457200">
              <a:lnSpc>
                <a:spcPct val="100000"/>
              </a:lnSpc>
              <a:spcBef>
                <a:spcPts val="520"/>
              </a:spcBef>
              <a:buFont typeface="Arial"/>
              <a:buChar char="•"/>
              <a:tabLst>
                <a:tab pos="1457325" algn="l"/>
              </a:tabLst>
            </a:pPr>
            <a:r>
              <a:rPr sz="2100" b="1" dirty="0">
                <a:solidFill>
                  <a:srgbClr val="00669D"/>
                </a:solidFill>
                <a:latin typeface="Arial"/>
                <a:cs typeface="Arial"/>
              </a:rPr>
              <a:t>ca</a:t>
            </a:r>
            <a:r>
              <a:rPr sz="2100" b="1" spc="-15" dirty="0">
                <a:solidFill>
                  <a:srgbClr val="00669D"/>
                </a:solidFill>
                <a:latin typeface="Arial"/>
                <a:cs typeface="Arial"/>
              </a:rPr>
              <a:t>n</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t</a:t>
            </a:r>
            <a:r>
              <a:rPr sz="2100" b="1" spc="-5" dirty="0">
                <a:solidFill>
                  <a:srgbClr val="00669D"/>
                </a:solidFill>
                <a:latin typeface="Arial"/>
                <a:cs typeface="Arial"/>
              </a:rPr>
              <a:t> </a:t>
            </a:r>
            <a:r>
              <a:rPr sz="2100" b="1" spc="-10" dirty="0">
                <a:solidFill>
                  <a:srgbClr val="00669D"/>
                </a:solidFill>
                <a:latin typeface="Arial"/>
                <a:cs typeface="Arial"/>
              </a:rPr>
              <a:t>di</a:t>
            </a:r>
            <a:r>
              <a:rPr sz="2100" b="1" dirty="0">
                <a:solidFill>
                  <a:srgbClr val="00669D"/>
                </a:solidFill>
                <a:latin typeface="Arial"/>
                <a:cs typeface="Arial"/>
              </a:rPr>
              <a:t>s</a:t>
            </a:r>
            <a:r>
              <a:rPr sz="2100" b="1" spc="-10" dirty="0">
                <a:solidFill>
                  <a:srgbClr val="00669D"/>
                </a:solidFill>
                <a:latin typeface="Arial"/>
                <a:cs typeface="Arial"/>
              </a:rPr>
              <a:t>pl</a:t>
            </a:r>
            <a:r>
              <a:rPr sz="2100" b="1" dirty="0">
                <a:solidFill>
                  <a:srgbClr val="00669D"/>
                </a:solidFill>
                <a:latin typeface="Arial"/>
                <a:cs typeface="Arial"/>
              </a:rPr>
              <a:t>ace</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spc="-15" dirty="0">
                <a:solidFill>
                  <a:srgbClr val="00669D"/>
                </a:solidFill>
                <a:latin typeface="Arial"/>
                <a:cs typeface="Arial"/>
              </a:rPr>
              <a:t>old</a:t>
            </a:r>
            <a:r>
              <a:rPr sz="2100" b="1" spc="-5" dirty="0">
                <a:solidFill>
                  <a:srgbClr val="00669D"/>
                </a:solidFill>
                <a:latin typeface="Arial"/>
                <a:cs typeface="Arial"/>
              </a:rPr>
              <a:t> </a:t>
            </a:r>
            <a:r>
              <a:rPr sz="2100" b="1" dirty="0">
                <a:solidFill>
                  <a:srgbClr val="00669D"/>
                </a:solidFill>
                <a:latin typeface="Arial"/>
                <a:cs typeface="Arial"/>
              </a:rPr>
              <a:t>strate</a:t>
            </a:r>
            <a:r>
              <a:rPr sz="2100" b="1" spc="-15" dirty="0">
                <a:solidFill>
                  <a:srgbClr val="00669D"/>
                </a:solidFill>
                <a:latin typeface="Arial"/>
                <a:cs typeface="Arial"/>
              </a:rPr>
              <a:t>g</a:t>
            </a:r>
            <a:r>
              <a:rPr sz="2100" b="1" dirty="0">
                <a:solidFill>
                  <a:srgbClr val="00669D"/>
                </a:solidFill>
                <a:latin typeface="Arial"/>
                <a:cs typeface="Arial"/>
              </a:rPr>
              <a:t>y</a:t>
            </a:r>
            <a:r>
              <a:rPr sz="2100" b="1" spc="-10" dirty="0">
                <a:solidFill>
                  <a:srgbClr val="00669D"/>
                </a:solidFill>
                <a:latin typeface="Arial"/>
                <a:cs typeface="Arial"/>
              </a:rPr>
              <a:t>(i</a:t>
            </a:r>
            <a:r>
              <a:rPr sz="2100" b="1" dirty="0">
                <a:solidFill>
                  <a:srgbClr val="00669D"/>
                </a:solidFill>
                <a:latin typeface="Arial"/>
                <a:cs typeface="Arial"/>
              </a:rPr>
              <a:t>es</a:t>
            </a:r>
            <a:r>
              <a:rPr sz="2100" b="1" spc="-10" dirty="0">
                <a:solidFill>
                  <a:srgbClr val="00669D"/>
                </a:solidFill>
                <a:latin typeface="Arial"/>
                <a:cs typeface="Arial"/>
              </a:rPr>
              <a:t>)?</a:t>
            </a:r>
            <a:endParaRPr sz="2100" dirty="0">
              <a:latin typeface="Arial"/>
              <a:cs typeface="Arial"/>
            </a:endParaRPr>
          </a:p>
        </p:txBody>
      </p:sp>
      <p:sp>
        <p:nvSpPr>
          <p:cNvPr id="3" name="Rectangle 2">
            <a:extLst>
              <a:ext uri="{FF2B5EF4-FFF2-40B4-BE49-F238E27FC236}">
                <a16:creationId xmlns:a16="http://schemas.microsoft.com/office/drawing/2014/main" id="{ED568A1A-EA90-B9B2-D8CE-C5683B1EA76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76F1DE09-518A-3949-44C9-2150E4AD09F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8A01D1E2-AC16-99EE-7DA5-EF3C55A20BD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21</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51408E57-1460-CF4E-E343-98614489C7E0}"/>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78ECDBA1-FB34-0A7B-BDB9-C3DDF12FB7F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20148" y="2444346"/>
            <a:ext cx="4321175" cy="2019300"/>
          </a:xfrm>
          <a:prstGeom prst="rect">
            <a:avLst/>
          </a:prstGeom>
        </p:spPr>
        <p:txBody>
          <a:bodyPr vert="horz" wrap="square" lIns="0" tIns="0" rIns="0" bIns="0" rtlCol="0">
            <a:spAutoFit/>
          </a:bodyPr>
          <a:lstStyle/>
          <a:p>
            <a:pPr marL="833755" marR="5080" indent="-821690">
              <a:lnSpc>
                <a:spcPct val="142200"/>
              </a:lnSpc>
            </a:pPr>
            <a:r>
              <a:rPr sz="5800" dirty="0">
                <a:latin typeface="Gill Sans MT"/>
                <a:cs typeface="Gill Sans MT"/>
              </a:rPr>
              <a:t>E</a:t>
            </a:r>
            <a:r>
              <a:rPr sz="5800" spc="-150" dirty="0">
                <a:latin typeface="Gill Sans MT"/>
                <a:cs typeface="Gill Sans MT"/>
              </a:rPr>
              <a:t>v</a:t>
            </a:r>
            <a:r>
              <a:rPr sz="5800" spc="-35" dirty="0">
                <a:latin typeface="Gill Sans MT"/>
                <a:cs typeface="Gill Sans MT"/>
              </a:rPr>
              <a:t>o</a:t>
            </a:r>
            <a:r>
              <a:rPr sz="5800" spc="-5" dirty="0">
                <a:latin typeface="Gill Sans MT"/>
                <a:cs typeface="Gill Sans MT"/>
              </a:rPr>
              <a:t>l</a:t>
            </a:r>
            <a:r>
              <a:rPr sz="5800" dirty="0">
                <a:latin typeface="Gill Sans MT"/>
                <a:cs typeface="Gill Sans MT"/>
              </a:rPr>
              <a:t>ut</a:t>
            </a:r>
            <a:r>
              <a:rPr sz="5800" spc="-5" dirty="0">
                <a:latin typeface="Gill Sans MT"/>
                <a:cs typeface="Gill Sans MT"/>
              </a:rPr>
              <a:t>i</a:t>
            </a:r>
            <a:r>
              <a:rPr sz="5800" spc="-35" dirty="0">
                <a:latin typeface="Gill Sans MT"/>
                <a:cs typeface="Gill Sans MT"/>
              </a:rPr>
              <a:t>o</a:t>
            </a:r>
            <a:r>
              <a:rPr sz="5800" dirty="0">
                <a:latin typeface="Gill Sans MT"/>
                <a:cs typeface="Gill Sans MT"/>
              </a:rPr>
              <a:t>n, </a:t>
            </a:r>
            <a:r>
              <a:rPr sz="5800" spc="-5" dirty="0">
                <a:latin typeface="Gill Sans MT"/>
                <a:cs typeface="Gill Sans MT"/>
              </a:rPr>
              <a:t>L</a:t>
            </a:r>
            <a:r>
              <a:rPr sz="5800" spc="-30" dirty="0">
                <a:latin typeface="Gill Sans MT"/>
                <a:cs typeface="Gill Sans MT"/>
              </a:rPr>
              <a:t>ea</a:t>
            </a:r>
            <a:r>
              <a:rPr sz="5800" dirty="0">
                <a:latin typeface="Gill Sans MT"/>
                <a:cs typeface="Gill Sans MT"/>
              </a:rPr>
              <a:t>rn</a:t>
            </a:r>
            <a:r>
              <a:rPr sz="5800" spc="-5" dirty="0">
                <a:latin typeface="Gill Sans MT"/>
                <a:cs typeface="Gill Sans MT"/>
              </a:rPr>
              <a:t>i</a:t>
            </a:r>
            <a:r>
              <a:rPr sz="5800" spc="-30" dirty="0">
                <a:latin typeface="Gill Sans MT"/>
                <a:cs typeface="Gill Sans MT"/>
              </a:rPr>
              <a:t>ng</a:t>
            </a:r>
            <a:r>
              <a:rPr sz="5800" spc="-5" dirty="0">
                <a:latin typeface="Gill Sans MT"/>
                <a:cs typeface="Gill Sans MT"/>
              </a:rPr>
              <a:t> </a:t>
            </a:r>
            <a:r>
              <a:rPr sz="5800" dirty="0">
                <a:latin typeface="Gill Sans MT"/>
                <a:cs typeface="Gill Sans MT"/>
              </a:rPr>
              <a:t>…</a:t>
            </a:r>
            <a:endParaRPr sz="5800">
              <a:latin typeface="Gill Sans MT"/>
              <a:cs typeface="Gill Sans MT"/>
            </a:endParaRPr>
          </a:p>
        </p:txBody>
      </p:sp>
      <p:sp>
        <p:nvSpPr>
          <p:cNvPr id="3" name="Rectangle 2">
            <a:extLst>
              <a:ext uri="{FF2B5EF4-FFF2-40B4-BE49-F238E27FC236}">
                <a16:creationId xmlns:a16="http://schemas.microsoft.com/office/drawing/2014/main" id="{D57BD3BD-9C13-FF27-C638-F85EA064F0B8}"/>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2D7ACE53-A6D0-D599-DAC8-96797E4BEE8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Slide Number Placeholder 8">
            <a:extLst>
              <a:ext uri="{FF2B5EF4-FFF2-40B4-BE49-F238E27FC236}">
                <a16:creationId xmlns:a16="http://schemas.microsoft.com/office/drawing/2014/main" id="{0D6704CF-94CD-F26F-BB03-466FB513B896}"/>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22</a:t>
            </a:fld>
            <a:r>
              <a:rPr lang="en-US" sz="2000" dirty="0">
                <a:solidFill>
                  <a:prstClr val="black"/>
                </a:solidFill>
                <a:latin typeface="Comic Sans MS"/>
                <a:sym typeface="Comic Sans MS"/>
              </a:rPr>
              <a:t>/59</a:t>
            </a:r>
          </a:p>
        </p:txBody>
      </p:sp>
      <p:sp>
        <p:nvSpPr>
          <p:cNvPr id="6" name="Footer Placeholder 9">
            <a:extLst>
              <a:ext uri="{FF2B5EF4-FFF2-40B4-BE49-F238E27FC236}">
                <a16:creationId xmlns:a16="http://schemas.microsoft.com/office/drawing/2014/main" id="{D7C348A4-50C6-F5F0-FEF0-780B57F8557A}"/>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7" name="Rectangle 6">
            <a:extLst>
              <a:ext uri="{FF2B5EF4-FFF2-40B4-BE49-F238E27FC236}">
                <a16:creationId xmlns:a16="http://schemas.microsoft.com/office/drawing/2014/main" id="{DAEA3D33-1C04-6E9C-DC3B-B64312DA4D1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43955"/>
          </a:xfrm>
          <a:prstGeom prst="rect">
            <a:avLst/>
          </a:prstGeom>
        </p:spPr>
        <p:txBody>
          <a:bodyPr vert="horz" wrap="square" lIns="0" tIns="150047" rIns="0" bIns="0" rtlCol="0">
            <a:spAutoFit/>
          </a:bodyPr>
          <a:lstStyle/>
          <a:p>
            <a:pPr marL="12700">
              <a:lnSpc>
                <a:spcPct val="100000"/>
              </a:lnSpc>
            </a:pPr>
            <a:r>
              <a:rPr lang="en-US" sz="3200" spc="-30" dirty="0">
                <a:latin typeface="Arial"/>
                <a:cs typeface="Arial"/>
              </a:rPr>
              <a:t>G</a:t>
            </a:r>
            <a:r>
              <a:rPr lang="en-US" sz="3200" dirty="0">
                <a:latin typeface="Arial"/>
                <a:cs typeface="Arial"/>
              </a:rPr>
              <a:t>eneral</a:t>
            </a:r>
            <a:r>
              <a:rPr lang="en-US" sz="3200" spc="-5" dirty="0">
                <a:latin typeface="Arial"/>
                <a:cs typeface="Arial"/>
              </a:rPr>
              <a:t> </a:t>
            </a:r>
            <a:r>
              <a:rPr lang="en-US" sz="3200" spc="-25" dirty="0">
                <a:latin typeface="Arial"/>
                <a:cs typeface="Arial"/>
              </a:rPr>
              <a:t>E</a:t>
            </a:r>
            <a:r>
              <a:rPr lang="en-US" sz="3200" spc="-30" dirty="0">
                <a:latin typeface="Arial"/>
                <a:cs typeface="Arial"/>
              </a:rPr>
              <a:t>G</a:t>
            </a:r>
            <a:r>
              <a:rPr lang="en-US" sz="3200" spc="-20" dirty="0">
                <a:latin typeface="Arial"/>
                <a:cs typeface="Arial"/>
              </a:rPr>
              <a:t>T</a:t>
            </a:r>
            <a:r>
              <a:rPr lang="en-US" sz="3200" spc="-60" dirty="0">
                <a:latin typeface="Arial"/>
                <a:cs typeface="Arial"/>
              </a:rPr>
              <a:t> </a:t>
            </a:r>
            <a:r>
              <a:rPr lang="en-US" sz="3200" spc="-15" dirty="0">
                <a:latin typeface="Arial"/>
                <a:cs typeface="Arial"/>
              </a:rPr>
              <a:t>f</a:t>
            </a:r>
            <a:r>
              <a:rPr lang="en-US" sz="3200" dirty="0">
                <a:latin typeface="Arial"/>
                <a:cs typeface="Arial"/>
              </a:rPr>
              <a:t>ramework</a:t>
            </a:r>
          </a:p>
        </p:txBody>
      </p:sp>
      <mc:AlternateContent xmlns:mc="http://schemas.openxmlformats.org/markup-compatibility/2006" xmlns:a14="http://schemas.microsoft.com/office/drawing/2010/main">
        <mc:Choice Requires="a14">
          <p:sp>
            <p:nvSpPr>
              <p:cNvPr id="3" name="object 7">
                <a:extLst>
                  <a:ext uri="{FF2B5EF4-FFF2-40B4-BE49-F238E27FC236}">
                    <a16:creationId xmlns:a16="http://schemas.microsoft.com/office/drawing/2014/main" id="{125D88E8-B7FB-515B-6038-380DB85AF691}"/>
                  </a:ext>
                </a:extLst>
              </p:cNvPr>
              <p:cNvSpPr txBox="1"/>
              <p:nvPr/>
            </p:nvSpPr>
            <p:spPr>
              <a:xfrm>
                <a:off x="674052" y="1524000"/>
                <a:ext cx="7320280" cy="4447371"/>
              </a:xfrm>
              <a:prstGeom prst="rect">
                <a:avLst/>
              </a:prstGeom>
            </p:spPr>
            <p:txBody>
              <a:bodyPr vert="horz" wrap="square" lIns="0" tIns="0" rIns="0" bIns="0" rtlCol="0">
                <a:spAutoFit/>
              </a:bodyPr>
              <a:lstStyle/>
              <a:p>
                <a:pPr marL="241300" indent="-228600">
                  <a:lnSpc>
                    <a:spcPct val="100000"/>
                  </a:lnSpc>
                  <a:buClr>
                    <a:srgbClr val="00669D"/>
                  </a:buClr>
                  <a:buFont typeface="Arial"/>
                  <a:buAutoNum type="arabicPeriod"/>
                  <a:tabLst>
                    <a:tab pos="241300" algn="l"/>
                  </a:tabLst>
                </a:pPr>
                <a:r>
                  <a:rPr sz="2100" b="1" spc="-15" dirty="0">
                    <a:solidFill>
                      <a:srgbClr val="00669D"/>
                    </a:solidFill>
                    <a:latin typeface="Arial"/>
                    <a:cs typeface="Arial"/>
                  </a:rPr>
                  <a:t>Popul</a:t>
                </a:r>
                <a:r>
                  <a:rPr sz="2100" b="1" dirty="0">
                    <a:solidFill>
                      <a:srgbClr val="00669D"/>
                    </a:solidFill>
                    <a:latin typeface="Arial"/>
                    <a:cs typeface="Arial"/>
                  </a:rPr>
                  <a:t>a</a:t>
                </a:r>
                <a:r>
                  <a:rPr sz="2100" b="1" spc="-10" dirty="0">
                    <a:solidFill>
                      <a:srgbClr val="00669D"/>
                    </a:solidFill>
                    <a:latin typeface="Arial"/>
                    <a:cs typeface="Arial"/>
                  </a:rPr>
                  <a:t>tion</a:t>
                </a:r>
                <a:r>
                  <a:rPr sz="2100" b="1" spc="-5" dirty="0">
                    <a:solidFill>
                      <a:srgbClr val="00669D"/>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f</a:t>
                </a:r>
                <a:r>
                  <a:rPr sz="2100" b="1" spc="-5" dirty="0">
                    <a:solidFill>
                      <a:srgbClr val="00669D"/>
                    </a:solidFill>
                    <a:latin typeface="Arial"/>
                    <a:cs typeface="Arial"/>
                  </a:rPr>
                  <a:t> </a:t>
                </a:r>
                <a:r>
                  <a:rPr sz="2100" b="1" spc="-10" dirty="0">
                    <a:solidFill>
                      <a:srgbClr val="00669D"/>
                    </a:solidFill>
                    <a:latin typeface="Arial"/>
                    <a:cs typeface="Arial"/>
                  </a:rPr>
                  <a:t>pl</a:t>
                </a:r>
                <a:r>
                  <a:rPr sz="2100" b="1" dirty="0">
                    <a:solidFill>
                      <a:srgbClr val="00669D"/>
                    </a:solidFill>
                    <a:latin typeface="Arial"/>
                    <a:cs typeface="Arial"/>
                  </a:rPr>
                  <a:t>ayers</a:t>
                </a:r>
                <a:r>
                  <a:rPr sz="2100" b="1" spc="-5" dirty="0">
                    <a:solidFill>
                      <a:srgbClr val="00669D"/>
                    </a:solidFill>
                    <a:latin typeface="Arial"/>
                    <a:cs typeface="Arial"/>
                  </a:rPr>
                  <a:t> </a:t>
                </a:r>
                <a14:m>
                  <m:oMath xmlns:m="http://schemas.openxmlformats.org/officeDocument/2006/math">
                    <m:r>
                      <a:rPr lang="en-US" sz="2100" b="1" i="1" spc="-15" dirty="0" smtClean="0">
                        <a:solidFill>
                          <a:srgbClr val="00669D"/>
                        </a:solidFill>
                        <a:latin typeface="Cambria Math" panose="02040503050406030204" pitchFamily="18" charset="0"/>
                        <a:cs typeface="Arial"/>
                      </a:rPr>
                      <m:t>𝑷</m:t>
                    </m:r>
                    <m:r>
                      <a:rPr lang="en-US" sz="2100" b="1" i="1" baseline="-5952" dirty="0">
                        <a:solidFill>
                          <a:srgbClr val="00669D"/>
                        </a:solidFill>
                        <a:latin typeface="Cambria Math" panose="02040503050406030204" pitchFamily="18" charset="0"/>
                        <a:cs typeface="Arial"/>
                      </a:rPr>
                      <m:t>𝟏</m:t>
                    </m:r>
                    <m:r>
                      <a:rPr lang="en-US" sz="2100" b="1" i="1" spc="-10" dirty="0">
                        <a:solidFill>
                          <a:srgbClr val="00669D"/>
                        </a:solidFill>
                        <a:latin typeface="Cambria Math" panose="02040503050406030204" pitchFamily="18" charset="0"/>
                        <a:cs typeface="Arial"/>
                      </a:rPr>
                      <m:t>,</m:t>
                    </m:r>
                    <m:r>
                      <a:rPr lang="en-US" sz="2100" b="1" i="1" spc="-5" dirty="0">
                        <a:solidFill>
                          <a:srgbClr val="00669D"/>
                        </a:solidFill>
                        <a:latin typeface="Cambria Math" panose="02040503050406030204" pitchFamily="18" charset="0"/>
                        <a:cs typeface="Arial"/>
                      </a:rPr>
                      <m:t> </m:t>
                    </m:r>
                    <m:r>
                      <a:rPr lang="en-US" sz="2100" b="1" i="1" dirty="0">
                        <a:solidFill>
                          <a:srgbClr val="00669D"/>
                        </a:solidFill>
                        <a:latin typeface="Cambria Math" panose="02040503050406030204" pitchFamily="18" charset="0"/>
                        <a:cs typeface="Arial"/>
                      </a:rPr>
                      <m:t>…</m:t>
                    </m:r>
                    <m:r>
                      <a:rPr lang="en-US" sz="2100" b="1" i="1" spc="-10" dirty="0">
                        <a:solidFill>
                          <a:srgbClr val="00669D"/>
                        </a:solidFill>
                        <a:latin typeface="Cambria Math" panose="02040503050406030204" pitchFamily="18" charset="0"/>
                        <a:cs typeface="Arial"/>
                      </a:rPr>
                      <m:t>,</m:t>
                    </m:r>
                    <m:r>
                      <a:rPr lang="en-US" sz="2100" b="1" i="1" spc="-5" dirty="0">
                        <a:solidFill>
                          <a:srgbClr val="00669D"/>
                        </a:solidFill>
                        <a:latin typeface="Cambria Math" panose="02040503050406030204" pitchFamily="18" charset="0"/>
                        <a:cs typeface="Arial"/>
                      </a:rPr>
                      <m:t> </m:t>
                    </m:r>
                    <m:r>
                      <a:rPr lang="en-US" sz="2100" b="1" i="1" spc="-15" dirty="0">
                        <a:solidFill>
                          <a:srgbClr val="00669D"/>
                        </a:solidFill>
                        <a:latin typeface="Cambria Math" panose="02040503050406030204" pitchFamily="18" charset="0"/>
                        <a:cs typeface="Arial"/>
                      </a:rPr>
                      <m:t>𝑷</m:t>
                    </m:r>
                    <m:r>
                      <a:rPr lang="en-US" sz="2100" b="1" i="1" baseline="-5952" dirty="0">
                        <a:solidFill>
                          <a:srgbClr val="00669D"/>
                        </a:solidFill>
                        <a:latin typeface="Cambria Math" panose="02040503050406030204" pitchFamily="18" charset="0"/>
                        <a:cs typeface="Arial"/>
                      </a:rPr>
                      <m:t>𝒎</m:t>
                    </m:r>
                  </m:oMath>
                </a14:m>
                <a:endParaRPr sz="2100" baseline="-5952" dirty="0">
                  <a:latin typeface="Arial"/>
                  <a:cs typeface="Arial"/>
                </a:endParaRPr>
              </a:p>
              <a:p>
                <a:pPr marL="241300" indent="-228600">
                  <a:lnSpc>
                    <a:spcPct val="100000"/>
                  </a:lnSpc>
                  <a:spcBef>
                    <a:spcPts val="520"/>
                  </a:spcBef>
                  <a:buClr>
                    <a:srgbClr val="00669D"/>
                  </a:buClr>
                  <a:buFont typeface="Arial"/>
                  <a:buAutoNum type="arabicPeriod"/>
                  <a:tabLst>
                    <a:tab pos="241300" algn="l"/>
                  </a:tabLst>
                </a:pPr>
                <a:r>
                  <a:rPr sz="2100" b="1" dirty="0">
                    <a:solidFill>
                      <a:srgbClr val="00669D"/>
                    </a:solidFill>
                    <a:latin typeface="Arial"/>
                    <a:cs typeface="Arial"/>
                  </a:rPr>
                  <a:t>Pa</a:t>
                </a:r>
                <a:r>
                  <a:rPr sz="2100" b="1" spc="-10" dirty="0">
                    <a:solidFill>
                      <a:srgbClr val="00669D"/>
                    </a:solidFill>
                    <a:latin typeface="Arial"/>
                    <a:cs typeface="Arial"/>
                  </a:rPr>
                  <a:t>i</a:t>
                </a:r>
                <a:r>
                  <a:rPr sz="2100" b="1" dirty="0">
                    <a:solidFill>
                      <a:srgbClr val="00669D"/>
                    </a:solidFill>
                    <a:latin typeface="Arial"/>
                    <a:cs typeface="Arial"/>
                  </a:rPr>
                  <a:t>rs</a:t>
                </a:r>
                <a:r>
                  <a:rPr sz="2100" b="1" spc="-5" dirty="0">
                    <a:solidFill>
                      <a:srgbClr val="00669D"/>
                    </a:solidFill>
                    <a:latin typeface="Arial"/>
                    <a:cs typeface="Arial"/>
                  </a:rPr>
                  <a:t> </a:t>
                </a:r>
                <a:r>
                  <a:rPr sz="2100" b="1" spc="-15" dirty="0">
                    <a:solidFill>
                      <a:srgbClr val="00669D"/>
                    </a:solidFill>
                    <a:latin typeface="Arial"/>
                    <a:cs typeface="Arial"/>
                  </a:rPr>
                  <a:t>o</a:t>
                </a:r>
                <a:r>
                  <a:rPr sz="2100" b="1" dirty="0">
                    <a:solidFill>
                      <a:srgbClr val="00669D"/>
                    </a:solidFill>
                    <a:latin typeface="Arial"/>
                    <a:cs typeface="Arial"/>
                  </a:rPr>
                  <a:t>f</a:t>
                </a:r>
                <a:r>
                  <a:rPr sz="2100" b="1" spc="-5" dirty="0">
                    <a:solidFill>
                      <a:srgbClr val="00669D"/>
                    </a:solidFill>
                    <a:latin typeface="Arial"/>
                    <a:cs typeface="Arial"/>
                  </a:rPr>
                  <a:t> </a:t>
                </a:r>
                <a:r>
                  <a:rPr sz="2100" b="1" spc="-10" dirty="0">
                    <a:solidFill>
                      <a:srgbClr val="00669D"/>
                    </a:solidFill>
                    <a:latin typeface="Arial"/>
                    <a:cs typeface="Arial"/>
                  </a:rPr>
                  <a:t>pl</a:t>
                </a:r>
                <a:r>
                  <a:rPr sz="2100" b="1" dirty="0">
                    <a:solidFill>
                      <a:srgbClr val="00669D"/>
                    </a:solidFill>
                    <a:latin typeface="Arial"/>
                    <a:cs typeface="Arial"/>
                  </a:rPr>
                  <a:t>ayers</a:t>
                </a:r>
                <a:r>
                  <a:rPr sz="2100" b="1" spc="-5" dirty="0">
                    <a:solidFill>
                      <a:srgbClr val="00669D"/>
                    </a:solidFill>
                    <a:latin typeface="Arial"/>
                    <a:cs typeface="Arial"/>
                  </a:rPr>
                  <a:t> </a:t>
                </a:r>
                <a14:m>
                  <m:oMath xmlns:m="http://schemas.openxmlformats.org/officeDocument/2006/math">
                    <m:r>
                      <a:rPr lang="en-US" sz="2100" b="1" i="1" spc="-20" dirty="0" smtClean="0">
                        <a:solidFill>
                          <a:srgbClr val="00669D"/>
                        </a:solidFill>
                        <a:latin typeface="Cambria Math" panose="02040503050406030204" pitchFamily="18" charset="0"/>
                        <a:cs typeface="Arial"/>
                      </a:rPr>
                      <m:t>𝑷</m:t>
                    </m:r>
                    <m:r>
                      <a:rPr lang="en-US" sz="2100" b="1" i="1" spc="-7" baseline="-5952" dirty="0">
                        <a:solidFill>
                          <a:srgbClr val="00669D"/>
                        </a:solidFill>
                        <a:latin typeface="Cambria Math" panose="02040503050406030204" pitchFamily="18" charset="0"/>
                        <a:cs typeface="Arial"/>
                      </a:rPr>
                      <m:t>𝒊</m:t>
                    </m:r>
                    <m:r>
                      <a:rPr lang="en-US" sz="2100" b="1" i="1" spc="-10" dirty="0">
                        <a:solidFill>
                          <a:srgbClr val="00669D"/>
                        </a:solidFill>
                        <a:latin typeface="Cambria Math" panose="02040503050406030204" pitchFamily="18" charset="0"/>
                        <a:cs typeface="Arial"/>
                      </a:rPr>
                      <m:t>,</m:t>
                    </m:r>
                    <m:r>
                      <a:rPr lang="en-US" sz="2100" b="1" i="1" spc="-5" dirty="0">
                        <a:solidFill>
                          <a:srgbClr val="00669D"/>
                        </a:solidFill>
                        <a:latin typeface="Cambria Math" panose="02040503050406030204" pitchFamily="18" charset="0"/>
                        <a:cs typeface="Arial"/>
                      </a:rPr>
                      <m:t> </m:t>
                    </m:r>
                    <m:r>
                      <a:rPr lang="en-US" sz="2100" b="1" i="1" spc="-15" dirty="0">
                        <a:solidFill>
                          <a:srgbClr val="00669D"/>
                        </a:solidFill>
                        <a:latin typeface="Cambria Math" panose="02040503050406030204" pitchFamily="18" charset="0"/>
                        <a:cs typeface="Arial"/>
                      </a:rPr>
                      <m:t>𝑷</m:t>
                    </m:r>
                    <m:r>
                      <a:rPr lang="en-US" sz="2100" b="1" i="1" spc="-7" baseline="-5952" dirty="0">
                        <a:solidFill>
                          <a:srgbClr val="00669D"/>
                        </a:solidFill>
                        <a:latin typeface="Cambria Math" panose="02040503050406030204" pitchFamily="18" charset="0"/>
                        <a:cs typeface="Arial"/>
                      </a:rPr>
                      <m:t>𝒋</m:t>
                    </m:r>
                    <m:r>
                      <a:rPr lang="en-US" sz="2100" b="1" i="1" spc="284" baseline="-5952" dirty="0">
                        <a:solidFill>
                          <a:srgbClr val="00669D"/>
                        </a:solidFill>
                        <a:latin typeface="Cambria Math" panose="02040503050406030204" pitchFamily="18" charset="0"/>
                        <a:cs typeface="Arial"/>
                      </a:rPr>
                      <m:t> </m:t>
                    </m:r>
                  </m:oMath>
                </a14:m>
                <a:r>
                  <a:rPr sz="2100" b="1" dirty="0">
                    <a:solidFill>
                      <a:srgbClr val="00669D"/>
                    </a:solidFill>
                    <a:latin typeface="Arial"/>
                    <a:cs typeface="Arial"/>
                  </a:rPr>
                  <a:t>meet</a:t>
                </a:r>
                <a:r>
                  <a:rPr sz="2100" b="1" spc="-5" dirty="0">
                    <a:solidFill>
                      <a:srgbClr val="00669D"/>
                    </a:solidFill>
                    <a:latin typeface="Arial"/>
                    <a:cs typeface="Arial"/>
                  </a:rPr>
                  <a:t> </a:t>
                </a:r>
                <a:r>
                  <a:rPr sz="2100" b="1" dirty="0">
                    <a:solidFill>
                      <a:srgbClr val="00669D"/>
                    </a:solidFill>
                    <a:latin typeface="Arial"/>
                    <a:cs typeface="Arial"/>
                  </a:rPr>
                  <a:t>a</a:t>
                </a:r>
                <a:r>
                  <a:rPr sz="2100" b="1" spc="-15" dirty="0">
                    <a:solidFill>
                      <a:srgbClr val="00669D"/>
                    </a:solidFill>
                    <a:latin typeface="Arial"/>
                    <a:cs typeface="Arial"/>
                  </a:rPr>
                  <a:t>nd</a:t>
                </a:r>
                <a:r>
                  <a:rPr sz="2100" b="1" spc="-5" dirty="0">
                    <a:solidFill>
                      <a:srgbClr val="00669D"/>
                    </a:solidFill>
                    <a:latin typeface="Arial"/>
                    <a:cs typeface="Arial"/>
                  </a:rPr>
                  <a:t> </a:t>
                </a:r>
                <a:r>
                  <a:rPr sz="2100" b="1" spc="-10" dirty="0">
                    <a:solidFill>
                      <a:srgbClr val="00669D"/>
                    </a:solidFill>
                    <a:latin typeface="Arial"/>
                    <a:cs typeface="Arial"/>
                  </a:rPr>
                  <a:t>pl</a:t>
                </a:r>
                <a:r>
                  <a:rPr sz="2100" b="1" dirty="0">
                    <a:solidFill>
                      <a:srgbClr val="00669D"/>
                    </a:solidFill>
                    <a:latin typeface="Arial"/>
                    <a:cs typeface="Arial"/>
                  </a:rPr>
                  <a:t>ay</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spc="-15" dirty="0">
                    <a:solidFill>
                      <a:srgbClr val="00669D"/>
                    </a:solidFill>
                    <a:latin typeface="Arial"/>
                    <a:cs typeface="Arial"/>
                  </a:rPr>
                  <a:t>g</a:t>
                </a:r>
                <a:r>
                  <a:rPr sz="2100" b="1" dirty="0">
                    <a:solidFill>
                      <a:srgbClr val="00669D"/>
                    </a:solidFill>
                    <a:latin typeface="Arial"/>
                    <a:cs typeface="Arial"/>
                  </a:rPr>
                  <a:t>ame</a:t>
                </a:r>
                <a:endParaRPr sz="2100" dirty="0">
                  <a:latin typeface="Arial"/>
                  <a:cs typeface="Arial"/>
                </a:endParaRPr>
              </a:p>
              <a:p>
                <a:pPr marL="763270" lvl="1" indent="-228600">
                  <a:lnSpc>
                    <a:spcPct val="100000"/>
                  </a:lnSpc>
                  <a:spcBef>
                    <a:spcPts val="520"/>
                  </a:spcBef>
                  <a:buClr>
                    <a:srgbClr val="00669D"/>
                  </a:buClr>
                  <a:buFont typeface="Arial"/>
                  <a:buChar char="•"/>
                  <a:tabLst>
                    <a:tab pos="763905" algn="l"/>
                  </a:tabLst>
                </a:pPr>
                <a:r>
                  <a:rPr sz="2100" b="1" dirty="0">
                    <a:solidFill>
                      <a:srgbClr val="00669D"/>
                    </a:solidFill>
                    <a:latin typeface="Arial"/>
                    <a:cs typeface="Arial"/>
                  </a:rPr>
                  <a:t>exte</a:t>
                </a:r>
                <a:r>
                  <a:rPr sz="2100" b="1" spc="-15" dirty="0">
                    <a:solidFill>
                      <a:srgbClr val="00669D"/>
                    </a:solidFill>
                    <a:latin typeface="Arial"/>
                    <a:cs typeface="Arial"/>
                  </a:rPr>
                  <a:t>ns</a:t>
                </a:r>
                <a:r>
                  <a:rPr sz="2100" b="1" spc="-10" dirty="0">
                    <a:solidFill>
                      <a:srgbClr val="00669D"/>
                    </a:solidFill>
                    <a:latin typeface="Arial"/>
                    <a:cs typeface="Arial"/>
                  </a:rPr>
                  <a:t>ible</a:t>
                </a:r>
                <a:r>
                  <a:rPr sz="2100" b="1" spc="-5" dirty="0">
                    <a:solidFill>
                      <a:srgbClr val="00669D"/>
                    </a:solidFill>
                    <a:latin typeface="Arial"/>
                    <a:cs typeface="Arial"/>
                  </a:rPr>
                  <a:t> </a:t>
                </a:r>
                <a:r>
                  <a:rPr sz="2100" b="1" spc="-10" dirty="0">
                    <a:solidFill>
                      <a:srgbClr val="00669D"/>
                    </a:solidFill>
                    <a:latin typeface="Arial"/>
                    <a:cs typeface="Arial"/>
                  </a:rPr>
                  <a:t>to</a:t>
                </a:r>
                <a:r>
                  <a:rPr sz="2100" b="1" spc="-5" dirty="0">
                    <a:solidFill>
                      <a:srgbClr val="00669D"/>
                    </a:solidFill>
                    <a:latin typeface="Arial"/>
                    <a:cs typeface="Arial"/>
                  </a:rPr>
                  <a:t> </a:t>
                </a:r>
                <a:r>
                  <a:rPr sz="2100" b="1" i="1" spc="-15" dirty="0">
                    <a:solidFill>
                      <a:srgbClr val="00669D"/>
                    </a:solidFill>
                    <a:latin typeface="Arial"/>
                    <a:cs typeface="Arial"/>
                  </a:rPr>
                  <a:t>n</a:t>
                </a:r>
                <a:r>
                  <a:rPr sz="2100" b="1" spc="-10" dirty="0">
                    <a:solidFill>
                      <a:srgbClr val="00669D"/>
                    </a:solidFill>
                    <a:latin typeface="Arial"/>
                    <a:cs typeface="Arial"/>
                  </a:rPr>
                  <a:t>-pl</a:t>
                </a:r>
                <a:r>
                  <a:rPr sz="2100" b="1" dirty="0">
                    <a:solidFill>
                      <a:srgbClr val="00669D"/>
                    </a:solidFill>
                    <a:latin typeface="Arial"/>
                    <a:cs typeface="Arial"/>
                  </a:rPr>
                  <a:t>ayer</a:t>
                </a:r>
                <a:r>
                  <a:rPr sz="2100" b="1" spc="-5" dirty="0">
                    <a:solidFill>
                      <a:srgbClr val="00669D"/>
                    </a:solidFill>
                    <a:latin typeface="Arial"/>
                    <a:cs typeface="Arial"/>
                  </a:rPr>
                  <a:t> </a:t>
                </a:r>
                <a:r>
                  <a:rPr sz="2100" b="1" spc="-15" dirty="0">
                    <a:solidFill>
                      <a:srgbClr val="00669D"/>
                    </a:solidFill>
                    <a:latin typeface="Arial"/>
                    <a:cs typeface="Arial"/>
                  </a:rPr>
                  <a:t>g</a:t>
                </a:r>
                <a:r>
                  <a:rPr sz="2100" b="1" dirty="0">
                    <a:solidFill>
                      <a:srgbClr val="00669D"/>
                    </a:solidFill>
                    <a:latin typeface="Arial"/>
                    <a:cs typeface="Arial"/>
                  </a:rPr>
                  <a:t>ames</a:t>
                </a:r>
                <a:endParaRPr sz="2100" dirty="0">
                  <a:latin typeface="Arial"/>
                  <a:cs typeface="Arial"/>
                </a:endParaRPr>
              </a:p>
              <a:p>
                <a:pPr marL="241300" indent="-228600">
                  <a:lnSpc>
                    <a:spcPct val="100000"/>
                  </a:lnSpc>
                  <a:spcBef>
                    <a:spcPts val="520"/>
                  </a:spcBef>
                  <a:buClr>
                    <a:srgbClr val="00669D"/>
                  </a:buClr>
                  <a:buFont typeface="Arial"/>
                  <a:buAutoNum type="arabicPeriod"/>
                  <a:tabLst>
                    <a:tab pos="241300" algn="l"/>
                  </a:tabLst>
                </a:pPr>
                <a:r>
                  <a:rPr sz="2100" b="1" spc="-10" dirty="0">
                    <a:solidFill>
                      <a:srgbClr val="00669D"/>
                    </a:solidFill>
                    <a:latin typeface="Arial"/>
                    <a:cs typeface="Arial"/>
                  </a:rPr>
                  <a:t>Pl</a:t>
                </a:r>
                <a:r>
                  <a:rPr sz="2100" b="1" dirty="0">
                    <a:solidFill>
                      <a:srgbClr val="00669D"/>
                    </a:solidFill>
                    <a:latin typeface="Arial"/>
                    <a:cs typeface="Arial"/>
                  </a:rPr>
                  <a:t>ayers</a:t>
                </a:r>
                <a:r>
                  <a:rPr sz="2100" b="1" spc="-5" dirty="0">
                    <a:solidFill>
                      <a:srgbClr val="00669D"/>
                    </a:solidFill>
                    <a:latin typeface="Arial"/>
                    <a:cs typeface="Arial"/>
                  </a:rPr>
                  <a:t> </a:t>
                </a:r>
                <a:r>
                  <a:rPr sz="2100" b="1" dirty="0">
                    <a:solidFill>
                      <a:srgbClr val="00669D"/>
                    </a:solidFill>
                    <a:latin typeface="Arial"/>
                    <a:cs typeface="Arial"/>
                  </a:rPr>
                  <a:t>rece</a:t>
                </a:r>
                <a:r>
                  <a:rPr sz="2100" b="1" spc="-10" dirty="0">
                    <a:solidFill>
                      <a:srgbClr val="00669D"/>
                    </a:solidFill>
                    <a:latin typeface="Arial"/>
                    <a:cs typeface="Arial"/>
                  </a:rPr>
                  <a:t>i</a:t>
                </a:r>
                <a:r>
                  <a:rPr sz="2100" b="1" dirty="0">
                    <a:solidFill>
                      <a:srgbClr val="00669D"/>
                    </a:solidFill>
                    <a:latin typeface="Arial"/>
                    <a:cs typeface="Arial"/>
                  </a:rPr>
                  <a:t>ve</a:t>
                </a:r>
                <a:r>
                  <a:rPr sz="2100" b="1" spc="-5" dirty="0">
                    <a:solidFill>
                      <a:srgbClr val="00669D"/>
                    </a:solidFill>
                    <a:latin typeface="Arial"/>
                    <a:cs typeface="Arial"/>
                  </a:rPr>
                  <a:t> </a:t>
                </a:r>
                <a:r>
                  <a:rPr sz="2100" b="1" spc="-15" dirty="0">
                    <a:solidFill>
                      <a:srgbClr val="00669D"/>
                    </a:solidFill>
                    <a:latin typeface="Arial"/>
                    <a:cs typeface="Arial"/>
                  </a:rPr>
                  <a:t>p</a:t>
                </a:r>
                <a:r>
                  <a:rPr sz="2100" b="1" dirty="0">
                    <a:solidFill>
                      <a:srgbClr val="00669D"/>
                    </a:solidFill>
                    <a:latin typeface="Arial"/>
                    <a:cs typeface="Arial"/>
                  </a:rPr>
                  <a:t>ay</a:t>
                </a:r>
                <a:r>
                  <a:rPr sz="2100" b="1" spc="-15" dirty="0">
                    <a:solidFill>
                      <a:srgbClr val="00669D"/>
                    </a:solidFill>
                    <a:latin typeface="Arial"/>
                    <a:cs typeface="Arial"/>
                  </a:rPr>
                  <a:t>o</a:t>
                </a:r>
                <a:r>
                  <a:rPr sz="2100" b="1" dirty="0">
                    <a:solidFill>
                      <a:srgbClr val="00669D"/>
                    </a:solidFill>
                    <a:latin typeface="Arial"/>
                    <a:cs typeface="Arial"/>
                  </a:rPr>
                  <a:t>ff</a:t>
                </a:r>
                <a:endParaRPr sz="2100" dirty="0">
                  <a:latin typeface="Arial"/>
                  <a:cs typeface="Arial"/>
                </a:endParaRPr>
              </a:p>
              <a:p>
                <a:pPr marL="763270" lvl="1" indent="-228600">
                  <a:lnSpc>
                    <a:spcPct val="100000"/>
                  </a:lnSpc>
                  <a:spcBef>
                    <a:spcPts val="520"/>
                  </a:spcBef>
                  <a:buClr>
                    <a:srgbClr val="00669D"/>
                  </a:buClr>
                  <a:buFont typeface="Arial"/>
                  <a:buChar char="•"/>
                  <a:tabLst>
                    <a:tab pos="763905" algn="l"/>
                  </a:tabLst>
                </a:pPr>
                <a:r>
                  <a:rPr sz="2100" b="1" dirty="0">
                    <a:solidFill>
                      <a:srgbClr val="00669D"/>
                    </a:solidFill>
                    <a:latin typeface="Arial"/>
                    <a:cs typeface="Arial"/>
                  </a:rPr>
                  <a:t>v</a:t>
                </a:r>
                <a:r>
                  <a:rPr sz="2100" b="1" spc="-10" dirty="0">
                    <a:solidFill>
                      <a:srgbClr val="00669D"/>
                    </a:solidFill>
                    <a:latin typeface="Arial"/>
                    <a:cs typeface="Arial"/>
                  </a:rPr>
                  <a:t>ie</a:t>
                </a:r>
                <a:r>
                  <a:rPr sz="2100" b="1" spc="-20" dirty="0">
                    <a:solidFill>
                      <a:srgbClr val="00669D"/>
                    </a:solidFill>
                    <a:latin typeface="Arial"/>
                    <a:cs typeface="Arial"/>
                  </a:rPr>
                  <a:t>we</a:t>
                </a:r>
                <a:r>
                  <a:rPr sz="2100" b="1" spc="-15" dirty="0">
                    <a:solidFill>
                      <a:srgbClr val="00669D"/>
                    </a:solidFill>
                    <a:latin typeface="Arial"/>
                    <a:cs typeface="Arial"/>
                  </a:rPr>
                  <a:t>d</a:t>
                </a:r>
                <a:r>
                  <a:rPr sz="2100" b="1" spc="-5" dirty="0">
                    <a:solidFill>
                      <a:srgbClr val="00669D"/>
                    </a:solidFill>
                    <a:latin typeface="Arial"/>
                    <a:cs typeface="Arial"/>
                  </a:rPr>
                  <a:t> </a:t>
                </a:r>
                <a:r>
                  <a:rPr sz="2100" b="1" dirty="0">
                    <a:solidFill>
                      <a:srgbClr val="00669D"/>
                    </a:solidFill>
                    <a:latin typeface="Arial"/>
                    <a:cs typeface="Arial"/>
                  </a:rPr>
                  <a:t>as</a:t>
                </a:r>
                <a:r>
                  <a:rPr sz="2100" b="1" spc="-5" dirty="0">
                    <a:solidFill>
                      <a:srgbClr val="00669D"/>
                    </a:solidFill>
                    <a:latin typeface="Arial"/>
                    <a:cs typeface="Arial"/>
                  </a:rPr>
                  <a:t> </a:t>
                </a:r>
                <a:r>
                  <a:rPr sz="2100" b="1" spc="-10" dirty="0">
                    <a:solidFill>
                      <a:srgbClr val="00669D"/>
                    </a:solidFill>
                    <a:latin typeface="Arial"/>
                    <a:cs typeface="Arial"/>
                  </a:rPr>
                  <a:t>fitn</a:t>
                </a:r>
                <a:r>
                  <a:rPr sz="2100" b="1" dirty="0">
                    <a:solidFill>
                      <a:srgbClr val="00669D"/>
                    </a:solidFill>
                    <a:latin typeface="Arial"/>
                    <a:cs typeface="Arial"/>
                  </a:rPr>
                  <a:t>ess</a:t>
                </a:r>
                <a:r>
                  <a:rPr sz="2100" b="1" spc="-5" dirty="0">
                    <a:solidFill>
                      <a:srgbClr val="00669D"/>
                    </a:solidFill>
                    <a:latin typeface="Arial"/>
                    <a:cs typeface="Arial"/>
                  </a:rPr>
                  <a:t> </a:t>
                </a:r>
                <a:r>
                  <a:rPr sz="2100" b="1" spc="-10" dirty="0">
                    <a:solidFill>
                      <a:srgbClr val="00669D"/>
                    </a:solidFill>
                    <a:latin typeface="Arial"/>
                    <a:cs typeface="Arial"/>
                  </a:rPr>
                  <a:t>in</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dirty="0">
                    <a:solidFill>
                      <a:srgbClr val="00669D"/>
                    </a:solidFill>
                    <a:latin typeface="Arial"/>
                    <a:cs typeface="Arial"/>
                  </a:rPr>
                  <a:t>ev</a:t>
                </a:r>
                <a:r>
                  <a:rPr sz="2100" b="1" spc="-10" dirty="0">
                    <a:solidFill>
                      <a:srgbClr val="00669D"/>
                    </a:solidFill>
                    <a:latin typeface="Arial"/>
                    <a:cs typeface="Arial"/>
                  </a:rPr>
                  <a:t>olution</a:t>
                </a:r>
                <a:r>
                  <a:rPr sz="2100" b="1" dirty="0">
                    <a:solidFill>
                      <a:srgbClr val="00669D"/>
                    </a:solidFill>
                    <a:latin typeface="Arial"/>
                    <a:cs typeface="Arial"/>
                  </a:rPr>
                  <a:t>ary</a:t>
                </a:r>
                <a:r>
                  <a:rPr sz="2100" b="1" spc="-5" dirty="0">
                    <a:solidFill>
                      <a:srgbClr val="00669D"/>
                    </a:solidFill>
                    <a:latin typeface="Arial"/>
                    <a:cs typeface="Arial"/>
                  </a:rPr>
                  <a:t> </a:t>
                </a:r>
                <a:r>
                  <a:rPr sz="2100" b="1" dirty="0">
                    <a:solidFill>
                      <a:srgbClr val="00669D"/>
                    </a:solidFill>
                    <a:latin typeface="Arial"/>
                    <a:cs typeface="Arial"/>
                  </a:rPr>
                  <a:t>se</a:t>
                </a:r>
                <a:r>
                  <a:rPr sz="2100" b="1" spc="-10" dirty="0">
                    <a:solidFill>
                      <a:srgbClr val="00669D"/>
                    </a:solidFill>
                    <a:latin typeface="Arial"/>
                    <a:cs typeface="Arial"/>
                  </a:rPr>
                  <a:t>tting</a:t>
                </a:r>
                <a:endParaRPr sz="2100" dirty="0">
                  <a:latin typeface="Arial"/>
                  <a:cs typeface="Arial"/>
                </a:endParaRPr>
              </a:p>
              <a:p>
                <a:pPr marL="241300" indent="-228600">
                  <a:lnSpc>
                    <a:spcPct val="100000"/>
                  </a:lnSpc>
                  <a:spcBef>
                    <a:spcPts val="520"/>
                  </a:spcBef>
                  <a:buClr>
                    <a:srgbClr val="00669D"/>
                  </a:buClr>
                  <a:buFont typeface="Arial"/>
                  <a:buAutoNum type="arabicPeriod"/>
                  <a:tabLst>
                    <a:tab pos="241300" algn="l"/>
                  </a:tabLst>
                </a:pPr>
                <a:r>
                  <a:rPr sz="2100" b="1" dirty="0">
                    <a:solidFill>
                      <a:srgbClr val="00669D"/>
                    </a:solidFill>
                    <a:latin typeface="Arial"/>
                    <a:cs typeface="Arial"/>
                  </a:rPr>
                  <a:t>Strate</a:t>
                </a:r>
                <a:r>
                  <a:rPr sz="2100" b="1" spc="-10" dirty="0">
                    <a:solidFill>
                      <a:srgbClr val="00669D"/>
                    </a:solidFill>
                    <a:latin typeface="Arial"/>
                    <a:cs typeface="Arial"/>
                  </a:rPr>
                  <a:t>gi</a:t>
                </a:r>
                <a:r>
                  <a:rPr sz="2100" b="1" dirty="0">
                    <a:solidFill>
                      <a:srgbClr val="00669D"/>
                    </a:solidFill>
                    <a:latin typeface="Arial"/>
                    <a:cs typeface="Arial"/>
                  </a:rPr>
                  <a:t>es</a:t>
                </a:r>
                <a:r>
                  <a:rPr sz="2100" b="1" spc="-5" dirty="0">
                    <a:solidFill>
                      <a:srgbClr val="00669D"/>
                    </a:solidFill>
                    <a:latin typeface="Arial"/>
                    <a:cs typeface="Arial"/>
                  </a:rPr>
                  <a:t> </a:t>
                </a:r>
                <a:r>
                  <a:rPr sz="2100" b="1" dirty="0">
                    <a:solidFill>
                      <a:srgbClr val="00669D"/>
                    </a:solidFill>
                    <a:latin typeface="Arial"/>
                    <a:cs typeface="Arial"/>
                  </a:rPr>
                  <a:t>s</a:t>
                </a:r>
                <a:r>
                  <a:rPr sz="2100" b="1" spc="-15" dirty="0">
                    <a:solidFill>
                      <a:srgbClr val="00669D"/>
                    </a:solidFill>
                    <a:latin typeface="Arial"/>
                    <a:cs typeface="Arial"/>
                  </a:rPr>
                  <a:t>p</a:t>
                </a:r>
                <a:r>
                  <a:rPr sz="2100" b="1" dirty="0">
                    <a:solidFill>
                      <a:srgbClr val="00669D"/>
                    </a:solidFill>
                    <a:latin typeface="Arial"/>
                    <a:cs typeface="Arial"/>
                  </a:rPr>
                  <a:t>rea</a:t>
                </a:r>
                <a:r>
                  <a:rPr sz="2100" b="1" spc="-15" dirty="0">
                    <a:solidFill>
                      <a:srgbClr val="00669D"/>
                    </a:solidFill>
                    <a:latin typeface="Arial"/>
                    <a:cs typeface="Arial"/>
                  </a:rPr>
                  <a:t>d</a:t>
                </a:r>
                <a:r>
                  <a:rPr sz="2100" b="1" spc="-5" dirty="0">
                    <a:solidFill>
                      <a:srgbClr val="00669D"/>
                    </a:solidFill>
                    <a:latin typeface="Arial"/>
                    <a:cs typeface="Arial"/>
                  </a:rPr>
                  <a:t> </a:t>
                </a:r>
                <a:r>
                  <a:rPr sz="2100" b="1" dirty="0">
                    <a:solidFill>
                      <a:srgbClr val="00669D"/>
                    </a:solidFill>
                    <a:latin typeface="Arial"/>
                    <a:cs typeface="Arial"/>
                  </a:rPr>
                  <a:t>acc</a:t>
                </a:r>
                <a:r>
                  <a:rPr sz="2100" b="1" spc="-15" dirty="0">
                    <a:solidFill>
                      <a:srgbClr val="00669D"/>
                    </a:solidFill>
                    <a:latin typeface="Arial"/>
                    <a:cs typeface="Arial"/>
                  </a:rPr>
                  <a:t>o</a:t>
                </a:r>
                <a:r>
                  <a:rPr sz="2100" b="1" dirty="0">
                    <a:solidFill>
                      <a:srgbClr val="00669D"/>
                    </a:solidFill>
                    <a:latin typeface="Arial"/>
                    <a:cs typeface="Arial"/>
                  </a:rPr>
                  <a:t>r</a:t>
                </a:r>
                <a:r>
                  <a:rPr sz="2100" b="1" spc="-15" dirty="0">
                    <a:solidFill>
                      <a:srgbClr val="00669D"/>
                    </a:solidFill>
                    <a:latin typeface="Arial"/>
                    <a:cs typeface="Arial"/>
                  </a:rPr>
                  <a:t>ding</a:t>
                </a:r>
                <a:r>
                  <a:rPr sz="2100" b="1" spc="-5" dirty="0">
                    <a:solidFill>
                      <a:srgbClr val="00669D"/>
                    </a:solidFill>
                    <a:latin typeface="Arial"/>
                    <a:cs typeface="Arial"/>
                  </a:rPr>
                  <a:t> </a:t>
                </a:r>
                <a:r>
                  <a:rPr sz="2100" b="1" spc="-10" dirty="0">
                    <a:solidFill>
                      <a:srgbClr val="00669D"/>
                    </a:solidFill>
                    <a:latin typeface="Arial"/>
                    <a:cs typeface="Arial"/>
                  </a:rPr>
                  <a:t>to</a:t>
                </a:r>
                <a:r>
                  <a:rPr sz="2100" b="1" spc="-5" dirty="0">
                    <a:solidFill>
                      <a:srgbClr val="00669D"/>
                    </a:solidFill>
                    <a:latin typeface="Arial"/>
                    <a:cs typeface="Arial"/>
                  </a:rPr>
                  <a:t> </a:t>
                </a:r>
                <a:r>
                  <a:rPr sz="2100" b="1" dirty="0">
                    <a:solidFill>
                      <a:srgbClr val="00669D"/>
                    </a:solidFill>
                    <a:latin typeface="Arial"/>
                    <a:cs typeface="Arial"/>
                  </a:rPr>
                  <a:t>var</a:t>
                </a:r>
                <a:r>
                  <a:rPr sz="2100" b="1" spc="-15" dirty="0">
                    <a:solidFill>
                      <a:srgbClr val="00669D"/>
                    </a:solidFill>
                    <a:latin typeface="Arial"/>
                    <a:cs typeface="Arial"/>
                  </a:rPr>
                  <a:t>iou</a:t>
                </a:r>
                <a:r>
                  <a:rPr sz="2100" b="1" dirty="0">
                    <a:solidFill>
                      <a:srgbClr val="00669D"/>
                    </a:solidFill>
                    <a:latin typeface="Arial"/>
                    <a:cs typeface="Arial"/>
                  </a:rPr>
                  <a:t>s</a:t>
                </a:r>
                <a:r>
                  <a:rPr sz="2100" b="1" spc="-5" dirty="0">
                    <a:solidFill>
                      <a:srgbClr val="00669D"/>
                    </a:solidFill>
                    <a:latin typeface="Arial"/>
                    <a:cs typeface="Arial"/>
                  </a:rPr>
                  <a:t> </a:t>
                </a:r>
                <a:r>
                  <a:rPr sz="2100" b="1" dirty="0">
                    <a:solidFill>
                      <a:srgbClr val="00669D"/>
                    </a:solidFill>
                    <a:latin typeface="Arial"/>
                    <a:cs typeface="Arial"/>
                  </a:rPr>
                  <a:t>mec</a:t>
                </a:r>
                <a:r>
                  <a:rPr sz="2100" b="1" spc="-15" dirty="0">
                    <a:solidFill>
                      <a:srgbClr val="00669D"/>
                    </a:solidFill>
                    <a:latin typeface="Arial"/>
                    <a:cs typeface="Arial"/>
                  </a:rPr>
                  <a:t>h</a:t>
                </a:r>
                <a:r>
                  <a:rPr sz="2100" b="1" dirty="0">
                    <a:solidFill>
                      <a:srgbClr val="00669D"/>
                    </a:solidFill>
                    <a:latin typeface="Arial"/>
                    <a:cs typeface="Arial"/>
                  </a:rPr>
                  <a:t>a</a:t>
                </a:r>
                <a:r>
                  <a:rPr sz="2100" b="1" spc="-10" dirty="0">
                    <a:solidFill>
                      <a:srgbClr val="00669D"/>
                    </a:solidFill>
                    <a:latin typeface="Arial"/>
                    <a:cs typeface="Arial"/>
                  </a:rPr>
                  <a:t>ni</a:t>
                </a:r>
                <a:r>
                  <a:rPr sz="2100" b="1" dirty="0">
                    <a:solidFill>
                      <a:srgbClr val="00669D"/>
                    </a:solidFill>
                    <a:latin typeface="Arial"/>
                    <a:cs typeface="Arial"/>
                  </a:rPr>
                  <a:t>sms</a:t>
                </a:r>
                <a:r>
                  <a:rPr sz="2100" b="1" spc="-10" dirty="0">
                    <a:solidFill>
                      <a:srgbClr val="00669D"/>
                    </a:solidFill>
                    <a:latin typeface="Arial"/>
                    <a:cs typeface="Arial"/>
                  </a:rPr>
                  <a:t>,</a:t>
                </a:r>
                <a:endParaRPr sz="2100" dirty="0">
                  <a:latin typeface="Arial"/>
                  <a:cs typeface="Arial"/>
                </a:endParaRPr>
              </a:p>
              <a:p>
                <a:pPr marL="534670">
                  <a:lnSpc>
                    <a:spcPct val="100000"/>
                  </a:lnSpc>
                  <a:spcBef>
                    <a:spcPts val="520"/>
                  </a:spcBef>
                  <a:tabLst>
                    <a:tab pos="903605" algn="l"/>
                  </a:tabLst>
                </a:pPr>
                <a:r>
                  <a:rPr sz="2100" spc="-10" dirty="0">
                    <a:solidFill>
                      <a:srgbClr val="00669D"/>
                    </a:solidFill>
                    <a:latin typeface="Arial"/>
                    <a:cs typeface="Arial"/>
                  </a:rPr>
                  <a:t>1.	</a:t>
                </a:r>
                <a:r>
                  <a:rPr sz="2100" b="1" spc="-10" dirty="0">
                    <a:solidFill>
                      <a:srgbClr val="00669D"/>
                    </a:solidFill>
                    <a:latin typeface="Arial"/>
                    <a:cs typeface="Arial"/>
                  </a:rPr>
                  <a:t>e.g</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10" dirty="0">
                    <a:solidFill>
                      <a:srgbClr val="00669D"/>
                    </a:solidFill>
                    <a:latin typeface="Arial"/>
                    <a:cs typeface="Arial"/>
                  </a:rPr>
                  <a:t>i</a:t>
                </a:r>
                <a:r>
                  <a:rPr sz="2100" b="1" dirty="0">
                    <a:solidFill>
                      <a:srgbClr val="00669D"/>
                    </a:solidFill>
                    <a:latin typeface="Arial"/>
                    <a:cs typeface="Arial"/>
                  </a:rPr>
                  <a:t>r</a:t>
                </a:r>
                <a:r>
                  <a:rPr sz="2100" b="1" spc="-5" dirty="0">
                    <a:solidFill>
                      <a:srgbClr val="00669D"/>
                    </a:solidFill>
                    <a:latin typeface="Arial"/>
                    <a:cs typeface="Arial"/>
                  </a:rPr>
                  <a:t> </a:t>
                </a:r>
                <a:r>
                  <a:rPr sz="2100" b="1" dirty="0">
                    <a:solidFill>
                      <a:srgbClr val="00669D"/>
                    </a:solidFill>
                    <a:latin typeface="Arial"/>
                    <a:cs typeface="Arial"/>
                  </a:rPr>
                  <a:t>re</a:t>
                </a:r>
                <a:r>
                  <a:rPr sz="2100" b="1" spc="-10" dirty="0">
                    <a:solidFill>
                      <a:srgbClr val="00669D"/>
                    </a:solidFill>
                    <a:latin typeface="Arial"/>
                    <a:cs typeface="Arial"/>
                  </a:rPr>
                  <a:t>l</a:t>
                </a:r>
                <a:r>
                  <a:rPr sz="2100" b="1" dirty="0">
                    <a:solidFill>
                      <a:srgbClr val="00669D"/>
                    </a:solidFill>
                    <a:latin typeface="Arial"/>
                    <a:cs typeface="Arial"/>
                  </a:rPr>
                  <a:t>a</a:t>
                </a:r>
                <a:r>
                  <a:rPr sz="2100" b="1" spc="-10" dirty="0">
                    <a:solidFill>
                      <a:srgbClr val="00669D"/>
                    </a:solidFill>
                    <a:latin typeface="Arial"/>
                    <a:cs typeface="Arial"/>
                  </a:rPr>
                  <a:t>ti</a:t>
                </a:r>
                <a:r>
                  <a:rPr sz="2100" b="1" dirty="0">
                    <a:solidFill>
                      <a:srgbClr val="00669D"/>
                    </a:solidFill>
                    <a:latin typeface="Arial"/>
                    <a:cs typeface="Arial"/>
                  </a:rPr>
                  <a:t>ve</a:t>
                </a:r>
                <a:r>
                  <a:rPr sz="2100" b="1" spc="-5" dirty="0">
                    <a:solidFill>
                      <a:srgbClr val="00669D"/>
                    </a:solidFill>
                    <a:latin typeface="Arial"/>
                    <a:cs typeface="Arial"/>
                  </a:rPr>
                  <a:t> </a:t>
                </a:r>
                <a:r>
                  <a:rPr sz="2100" b="1" spc="-10" dirty="0">
                    <a:solidFill>
                      <a:srgbClr val="00669D"/>
                    </a:solidFill>
                    <a:latin typeface="Arial"/>
                    <a:cs typeface="Arial"/>
                  </a:rPr>
                  <a:t>fitn</a:t>
                </a:r>
                <a:r>
                  <a:rPr sz="2100" b="1" dirty="0">
                    <a:solidFill>
                      <a:srgbClr val="00669D"/>
                    </a:solidFill>
                    <a:latin typeface="Arial"/>
                    <a:cs typeface="Arial"/>
                  </a:rPr>
                  <a:t>ess</a:t>
                </a:r>
                <a:r>
                  <a:rPr sz="2100" b="1" spc="-10" dirty="0">
                    <a:solidFill>
                      <a:srgbClr val="00669D"/>
                    </a:solidFill>
                    <a:latin typeface="Arial"/>
                    <a:cs typeface="Arial"/>
                  </a:rPr>
                  <a:t>/p</a:t>
                </a:r>
                <a:r>
                  <a:rPr sz="2100" b="1" dirty="0">
                    <a:solidFill>
                      <a:srgbClr val="00669D"/>
                    </a:solidFill>
                    <a:latin typeface="Arial"/>
                    <a:cs typeface="Arial"/>
                  </a:rPr>
                  <a:t>er</a:t>
                </a:r>
                <a:r>
                  <a:rPr sz="2100" b="1" spc="-10" dirty="0">
                    <a:solidFill>
                      <a:srgbClr val="00669D"/>
                    </a:solidFill>
                    <a:latin typeface="Arial"/>
                    <a:cs typeface="Arial"/>
                  </a:rPr>
                  <a:t>fo</a:t>
                </a:r>
                <a:r>
                  <a:rPr sz="2100" b="1" dirty="0">
                    <a:solidFill>
                      <a:srgbClr val="00669D"/>
                    </a:solidFill>
                    <a:latin typeface="Arial"/>
                    <a:cs typeface="Arial"/>
                  </a:rPr>
                  <a:t>rma</a:t>
                </a:r>
                <a:r>
                  <a:rPr sz="2100" b="1" spc="-15" dirty="0">
                    <a:solidFill>
                      <a:srgbClr val="00669D"/>
                    </a:solidFill>
                    <a:latin typeface="Arial"/>
                    <a:cs typeface="Arial"/>
                  </a:rPr>
                  <a:t>n</a:t>
                </a:r>
                <a:r>
                  <a:rPr sz="2100" b="1" dirty="0">
                    <a:solidFill>
                      <a:srgbClr val="00669D"/>
                    </a:solidFill>
                    <a:latin typeface="Arial"/>
                    <a:cs typeface="Arial"/>
                  </a:rPr>
                  <a:t>ce</a:t>
                </a:r>
                <a:r>
                  <a:rPr sz="2100" b="1" spc="-5" dirty="0">
                    <a:solidFill>
                      <a:srgbClr val="00669D"/>
                    </a:solidFill>
                    <a:latin typeface="Arial"/>
                    <a:cs typeface="Arial"/>
                  </a:rPr>
                  <a:t> (</a:t>
                </a:r>
                <a:r>
                  <a:rPr sz="2100" b="1" i="1" spc="-15" dirty="0">
                    <a:solidFill>
                      <a:srgbClr val="00669D"/>
                    </a:solidFill>
                    <a:latin typeface="Arial"/>
                    <a:cs typeface="Arial"/>
                  </a:rPr>
                  <a:t>d</a:t>
                </a:r>
                <a:r>
                  <a:rPr sz="2100" b="1" i="1" dirty="0">
                    <a:solidFill>
                      <a:srgbClr val="00669D"/>
                    </a:solidFill>
                    <a:latin typeface="Arial"/>
                    <a:cs typeface="Arial"/>
                  </a:rPr>
                  <a:t>eta</a:t>
                </a:r>
                <a:r>
                  <a:rPr sz="2100" b="1" i="1" spc="-10" dirty="0">
                    <a:solidFill>
                      <a:srgbClr val="00669D"/>
                    </a:solidFill>
                    <a:latin typeface="Arial"/>
                    <a:cs typeface="Arial"/>
                  </a:rPr>
                  <a:t>il</a:t>
                </a:r>
                <a:r>
                  <a:rPr sz="2100" b="1" i="1" dirty="0">
                    <a:solidFill>
                      <a:srgbClr val="00669D"/>
                    </a:solidFill>
                    <a:latin typeface="Arial"/>
                    <a:cs typeface="Arial"/>
                  </a:rPr>
                  <a:t>s</a:t>
                </a:r>
                <a:r>
                  <a:rPr sz="2100" b="1" i="1" spc="-5" dirty="0">
                    <a:solidFill>
                      <a:srgbClr val="00669D"/>
                    </a:solidFill>
                    <a:latin typeface="Arial"/>
                    <a:cs typeface="Arial"/>
                  </a:rPr>
                  <a:t> </a:t>
                </a:r>
                <a:r>
                  <a:rPr sz="2100" b="1" i="1" spc="-10" dirty="0">
                    <a:solidFill>
                      <a:srgbClr val="00669D"/>
                    </a:solidFill>
                    <a:latin typeface="Arial"/>
                    <a:cs typeface="Arial"/>
                  </a:rPr>
                  <a:t>l</a:t>
                </a:r>
                <a:r>
                  <a:rPr sz="2100" b="1" i="1" dirty="0">
                    <a:solidFill>
                      <a:srgbClr val="00669D"/>
                    </a:solidFill>
                    <a:latin typeface="Arial"/>
                    <a:cs typeface="Arial"/>
                  </a:rPr>
                  <a:t>ate</a:t>
                </a:r>
                <a:r>
                  <a:rPr sz="2100" b="1" i="1" spc="-5" dirty="0">
                    <a:solidFill>
                      <a:srgbClr val="00669D"/>
                    </a:solidFill>
                    <a:latin typeface="Arial"/>
                    <a:cs typeface="Arial"/>
                  </a:rPr>
                  <a:t>r</a:t>
                </a:r>
                <a:r>
                  <a:rPr sz="2100" b="1" dirty="0">
                    <a:solidFill>
                      <a:srgbClr val="00669D"/>
                    </a:solidFill>
                    <a:latin typeface="Arial"/>
                    <a:cs typeface="Arial"/>
                  </a:rPr>
                  <a:t>)</a:t>
                </a:r>
                <a:endParaRPr sz="2100" dirty="0">
                  <a:latin typeface="Arial"/>
                  <a:cs typeface="Arial"/>
                </a:endParaRPr>
              </a:p>
              <a:p>
                <a:pPr marL="12700">
                  <a:lnSpc>
                    <a:spcPct val="100000"/>
                  </a:lnSpc>
                  <a:spcBef>
                    <a:spcPts val="520"/>
                  </a:spcBef>
                </a:pPr>
                <a:r>
                  <a:rPr sz="2100" b="1" spc="-15" dirty="0">
                    <a:solidFill>
                      <a:srgbClr val="00669D"/>
                    </a:solidFill>
                    <a:latin typeface="Arial"/>
                    <a:cs typeface="Arial"/>
                  </a:rPr>
                  <a:t>5</a:t>
                </a:r>
                <a:r>
                  <a:rPr sz="2100" spc="30" dirty="0">
                    <a:solidFill>
                      <a:srgbClr val="00669D"/>
                    </a:solidFill>
                    <a:latin typeface="Arial"/>
                    <a:cs typeface="Arial"/>
                  </a:rPr>
                  <a:t>.</a:t>
                </a:r>
                <a:r>
                  <a:rPr sz="2100" b="1" spc="-20" dirty="0">
                    <a:solidFill>
                      <a:srgbClr val="00669D"/>
                    </a:solidFill>
                    <a:latin typeface="Arial"/>
                    <a:cs typeface="Arial"/>
                  </a:rPr>
                  <a:t>G</a:t>
                </a:r>
                <a:r>
                  <a:rPr sz="2100" b="1" dirty="0">
                    <a:solidFill>
                      <a:srgbClr val="00669D"/>
                    </a:solidFill>
                    <a:latin typeface="Arial"/>
                    <a:cs typeface="Arial"/>
                  </a:rPr>
                  <a:t>ame</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s</a:t>
                </a:r>
                <a:r>
                  <a:rPr sz="2100" b="1" spc="-5" dirty="0">
                    <a:solidFill>
                      <a:srgbClr val="00669D"/>
                    </a:solidFill>
                    <a:latin typeface="Arial"/>
                    <a:cs typeface="Arial"/>
                  </a:rPr>
                  <a:t> </a:t>
                </a:r>
                <a:r>
                  <a:rPr sz="2100" b="1" dirty="0">
                    <a:solidFill>
                      <a:srgbClr val="00669D"/>
                    </a:solidFill>
                    <a:latin typeface="Arial"/>
                    <a:cs typeface="Arial"/>
                  </a:rPr>
                  <a:t>re</a:t>
                </a:r>
                <a:r>
                  <a:rPr sz="2100" b="1" spc="-15" dirty="0">
                    <a:solidFill>
                      <a:srgbClr val="00669D"/>
                    </a:solidFill>
                    <a:latin typeface="Arial"/>
                    <a:cs typeface="Arial"/>
                  </a:rPr>
                  <a:t>p</a:t>
                </a:r>
                <a:r>
                  <a:rPr sz="2100" b="1" dirty="0">
                    <a:solidFill>
                      <a:srgbClr val="00669D"/>
                    </a:solidFill>
                    <a:latin typeface="Arial"/>
                    <a:cs typeface="Arial"/>
                  </a:rPr>
                  <a:t>eate</a:t>
                </a:r>
                <a:r>
                  <a:rPr sz="2100" b="1" spc="-15" dirty="0">
                    <a:solidFill>
                      <a:srgbClr val="00669D"/>
                    </a:solidFill>
                    <a:latin typeface="Arial"/>
                    <a:cs typeface="Arial"/>
                  </a:rPr>
                  <a:t>d</a:t>
                </a:r>
                <a:endParaRPr sz="2100" dirty="0">
                  <a:latin typeface="Arial"/>
                  <a:cs typeface="Arial"/>
                </a:endParaRPr>
              </a:p>
              <a:p>
                <a:pPr>
                  <a:lnSpc>
                    <a:spcPct val="100000"/>
                  </a:lnSpc>
                </a:pPr>
                <a:endParaRPr sz="2100" dirty="0">
                  <a:latin typeface="Times New Roman"/>
                  <a:cs typeface="Times New Roman"/>
                </a:endParaRPr>
              </a:p>
              <a:p>
                <a:pPr marL="404495" marR="1466850" indent="-302895" algn="just">
                  <a:lnSpc>
                    <a:spcPts val="2400"/>
                  </a:lnSpc>
                  <a:spcBef>
                    <a:spcPts val="1325"/>
                  </a:spcBef>
                </a:pPr>
                <a:r>
                  <a:rPr sz="3150" spc="-569" baseline="1322" dirty="0">
                    <a:solidFill>
                      <a:srgbClr val="00669D"/>
                    </a:solidFill>
                    <a:latin typeface="MS Gothic"/>
                    <a:cs typeface="MS Gothic"/>
                  </a:rPr>
                  <a:t>➡</a:t>
                </a:r>
                <a:r>
                  <a:rPr sz="3150" spc="-615" baseline="1322" dirty="0">
                    <a:solidFill>
                      <a:srgbClr val="00669D"/>
                    </a:solidFill>
                    <a:latin typeface="MS Gothic"/>
                    <a:cs typeface="MS Gothic"/>
                  </a:rPr>
                  <a:t> </a:t>
                </a:r>
                <a:r>
                  <a:rPr sz="2100" b="1" dirty="0">
                    <a:solidFill>
                      <a:srgbClr val="00669D"/>
                    </a:solidFill>
                    <a:latin typeface="Arial"/>
                    <a:cs typeface="Arial"/>
                  </a:rPr>
                  <a:t>Exte</a:t>
                </a:r>
                <a:r>
                  <a:rPr sz="2100" b="1" spc="-15" dirty="0">
                    <a:solidFill>
                      <a:srgbClr val="00669D"/>
                    </a:solidFill>
                    <a:latin typeface="Arial"/>
                    <a:cs typeface="Arial"/>
                  </a:rPr>
                  <a:t>n</a:t>
                </a:r>
                <a:r>
                  <a:rPr sz="2100" b="1" dirty="0">
                    <a:solidFill>
                      <a:srgbClr val="00669D"/>
                    </a:solidFill>
                    <a:latin typeface="Arial"/>
                    <a:cs typeface="Arial"/>
                  </a:rPr>
                  <a:t>s</a:t>
                </a:r>
                <a:r>
                  <a:rPr sz="2100" b="1" spc="-10" dirty="0">
                    <a:solidFill>
                      <a:srgbClr val="00669D"/>
                    </a:solidFill>
                    <a:latin typeface="Arial"/>
                    <a:cs typeface="Arial"/>
                  </a:rPr>
                  <a:t>i</a:t>
                </a:r>
                <a:r>
                  <a:rPr sz="2100" b="1" dirty="0">
                    <a:solidFill>
                      <a:srgbClr val="00669D"/>
                    </a:solidFill>
                    <a:latin typeface="Arial"/>
                    <a:cs typeface="Arial"/>
                  </a:rPr>
                  <a:t>ve</a:t>
                </a:r>
                <a:r>
                  <a:rPr sz="2100" b="1" spc="-5" dirty="0">
                    <a:solidFill>
                      <a:srgbClr val="00669D"/>
                    </a:solidFill>
                    <a:latin typeface="Arial"/>
                    <a:cs typeface="Arial"/>
                  </a:rPr>
                  <a:t> </a:t>
                </a:r>
                <a:r>
                  <a:rPr sz="2100" b="1" dirty="0">
                    <a:solidFill>
                      <a:srgbClr val="00669D"/>
                    </a:solidFill>
                    <a:latin typeface="Arial"/>
                    <a:cs typeface="Arial"/>
                  </a:rPr>
                  <a:t>a</a:t>
                </a:r>
                <a:r>
                  <a:rPr sz="2100" b="1" spc="-15" dirty="0">
                    <a:solidFill>
                      <a:srgbClr val="00669D"/>
                    </a:solidFill>
                    <a:latin typeface="Arial"/>
                    <a:cs typeface="Arial"/>
                  </a:rPr>
                  <a:t>n</a:t>
                </a:r>
                <a:r>
                  <a:rPr sz="2100" b="1" dirty="0">
                    <a:solidFill>
                      <a:srgbClr val="00669D"/>
                    </a:solidFill>
                    <a:latin typeface="Arial"/>
                    <a:cs typeface="Arial"/>
                  </a:rPr>
                  <a:t>a</a:t>
                </a:r>
                <a:r>
                  <a:rPr sz="2100" b="1" spc="-10" dirty="0">
                    <a:solidFill>
                      <a:srgbClr val="00669D"/>
                    </a:solidFill>
                    <a:latin typeface="Arial"/>
                    <a:cs typeface="Arial"/>
                  </a:rPr>
                  <a:t>l</a:t>
                </a:r>
                <a:r>
                  <a:rPr sz="2100" b="1" dirty="0">
                    <a:solidFill>
                      <a:srgbClr val="00669D"/>
                    </a:solidFill>
                    <a:latin typeface="Arial"/>
                    <a:cs typeface="Arial"/>
                  </a:rPr>
                  <a:t>y</a:t>
                </a:r>
                <a:r>
                  <a:rPr sz="2100" b="1" spc="-10" dirty="0">
                    <a:solidFill>
                      <a:srgbClr val="00669D"/>
                    </a:solidFill>
                    <a:latin typeface="Arial"/>
                    <a:cs typeface="Arial"/>
                  </a:rPr>
                  <a:t>ti</a:t>
                </a:r>
                <a:r>
                  <a:rPr sz="2100" b="1" dirty="0">
                    <a:solidFill>
                      <a:srgbClr val="00669D"/>
                    </a:solidFill>
                    <a:latin typeface="Arial"/>
                    <a:cs typeface="Arial"/>
                  </a:rPr>
                  <a:t>c</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15" dirty="0">
                    <a:solidFill>
                      <a:srgbClr val="00669D"/>
                    </a:solidFill>
                    <a:latin typeface="Arial"/>
                    <a:cs typeface="Arial"/>
                  </a:rPr>
                  <a:t>o</a:t>
                </a:r>
                <a:r>
                  <a:rPr sz="2100" b="1" dirty="0">
                    <a:solidFill>
                      <a:srgbClr val="00669D"/>
                    </a:solidFill>
                    <a:latin typeface="Arial"/>
                    <a:cs typeface="Arial"/>
                  </a:rPr>
                  <a:t>ry</a:t>
                </a:r>
                <a:r>
                  <a:rPr sz="2100" b="1" spc="-5" dirty="0">
                    <a:solidFill>
                      <a:srgbClr val="00669D"/>
                    </a:solidFill>
                    <a:latin typeface="Arial"/>
                    <a:cs typeface="Arial"/>
                  </a:rPr>
                  <a:t> </a:t>
                </a:r>
                <a:r>
                  <a:rPr sz="2100" b="1" spc="-10" dirty="0">
                    <a:solidFill>
                      <a:srgbClr val="00669D"/>
                    </a:solidFill>
                    <a:latin typeface="Arial"/>
                    <a:cs typeface="Arial"/>
                  </a:rPr>
                  <a:t>fo</a:t>
                </a:r>
                <a:r>
                  <a:rPr sz="2100" b="1" dirty="0">
                    <a:solidFill>
                      <a:srgbClr val="00669D"/>
                    </a:solidFill>
                    <a:latin typeface="Arial"/>
                    <a:cs typeface="Arial"/>
                  </a:rPr>
                  <a:t>r</a:t>
                </a:r>
                <a:r>
                  <a:rPr sz="2100" b="1" spc="-5" dirty="0">
                    <a:solidFill>
                      <a:srgbClr val="00669D"/>
                    </a:solidFill>
                    <a:latin typeface="Arial"/>
                    <a:cs typeface="Arial"/>
                  </a:rPr>
                  <a:t> </a:t>
                </a:r>
                <a:r>
                  <a:rPr sz="2100" b="1" dirty="0">
                    <a:solidFill>
                      <a:srgbClr val="00669D"/>
                    </a:solidFill>
                    <a:latin typeface="Arial"/>
                    <a:cs typeface="Arial"/>
                  </a:rPr>
                  <a:t>s</a:t>
                </a:r>
                <a:r>
                  <a:rPr sz="2100" b="1" spc="-10" dirty="0">
                    <a:solidFill>
                      <a:srgbClr val="00669D"/>
                    </a:solidFill>
                    <a:latin typeface="Arial"/>
                    <a:cs typeface="Arial"/>
                  </a:rPr>
                  <a:t>i</a:t>
                </a:r>
                <a:r>
                  <a:rPr sz="2100" b="1" dirty="0">
                    <a:solidFill>
                      <a:srgbClr val="00669D"/>
                    </a:solidFill>
                    <a:latin typeface="Arial"/>
                    <a:cs typeface="Arial"/>
                  </a:rPr>
                  <a:t>m</a:t>
                </a:r>
                <a:r>
                  <a:rPr sz="2100" b="1" spc="-10" dirty="0">
                    <a:solidFill>
                      <a:srgbClr val="00669D"/>
                    </a:solidFill>
                    <a:latin typeface="Arial"/>
                    <a:cs typeface="Arial"/>
                  </a:rPr>
                  <a:t>pl</a:t>
                </a:r>
                <a:r>
                  <a:rPr sz="2100" b="1" dirty="0">
                    <a:solidFill>
                      <a:srgbClr val="00669D"/>
                    </a:solidFill>
                    <a:latin typeface="Arial"/>
                    <a:cs typeface="Arial"/>
                  </a:rPr>
                  <a:t>e</a:t>
                </a:r>
                <a:r>
                  <a:rPr sz="2100" b="1" spc="-5" dirty="0">
                    <a:solidFill>
                      <a:srgbClr val="00669D"/>
                    </a:solidFill>
                    <a:latin typeface="Arial"/>
                    <a:cs typeface="Arial"/>
                  </a:rPr>
                  <a:t> </a:t>
                </a:r>
                <a:r>
                  <a:rPr sz="2100" b="1" dirty="0">
                    <a:solidFill>
                      <a:srgbClr val="00669D"/>
                    </a:solidFill>
                    <a:latin typeface="Arial"/>
                    <a:cs typeface="Arial"/>
                  </a:rPr>
                  <a:t>cases</a:t>
                </a:r>
                <a:r>
                  <a:rPr sz="2100" b="1" spc="-10" dirty="0">
                    <a:solidFill>
                      <a:srgbClr val="00669D"/>
                    </a:solidFill>
                    <a:latin typeface="Arial"/>
                    <a:cs typeface="Arial"/>
                  </a:rPr>
                  <a:t>, in</a:t>
                </a:r>
                <a:r>
                  <a:rPr sz="2100" b="1" spc="-5" dirty="0">
                    <a:solidFill>
                      <a:srgbClr val="00669D"/>
                    </a:solidFill>
                    <a:latin typeface="Arial"/>
                    <a:cs typeface="Arial"/>
                  </a:rPr>
                  <a:t> </a:t>
                </a:r>
                <a:r>
                  <a:rPr sz="2100" b="1" dirty="0">
                    <a:solidFill>
                      <a:srgbClr val="00669D"/>
                    </a:solidFill>
                    <a:latin typeface="Arial"/>
                    <a:cs typeface="Arial"/>
                  </a:rPr>
                  <a:t>c</a:t>
                </a:r>
                <a:r>
                  <a:rPr sz="2100" b="1" spc="-15" dirty="0">
                    <a:solidFill>
                      <a:srgbClr val="00669D"/>
                    </a:solidFill>
                    <a:latin typeface="Arial"/>
                    <a:cs typeface="Arial"/>
                  </a:rPr>
                  <a:t>o</a:t>
                </a:r>
                <a:r>
                  <a:rPr sz="2100" b="1" dirty="0">
                    <a:solidFill>
                      <a:srgbClr val="00669D"/>
                    </a:solidFill>
                    <a:latin typeface="Arial"/>
                    <a:cs typeface="Arial"/>
                  </a:rPr>
                  <a:t>m</a:t>
                </a:r>
                <a:r>
                  <a:rPr sz="2100" b="1" spc="-10" dirty="0">
                    <a:solidFill>
                      <a:srgbClr val="00669D"/>
                    </a:solidFill>
                    <a:latin typeface="Arial"/>
                    <a:cs typeface="Arial"/>
                  </a:rPr>
                  <a:t>pl</a:t>
                </a:r>
                <a:r>
                  <a:rPr sz="2100" b="1" dirty="0">
                    <a:solidFill>
                      <a:srgbClr val="00669D"/>
                    </a:solidFill>
                    <a:latin typeface="Arial"/>
                    <a:cs typeface="Arial"/>
                  </a:rPr>
                  <a:t>ex</a:t>
                </a:r>
                <a:r>
                  <a:rPr sz="2100" b="1" spc="-5" dirty="0">
                    <a:solidFill>
                      <a:srgbClr val="00669D"/>
                    </a:solidFill>
                    <a:latin typeface="Arial"/>
                    <a:cs typeface="Arial"/>
                  </a:rPr>
                  <a:t> </a:t>
                </a:r>
                <a:r>
                  <a:rPr sz="2100" b="1" dirty="0">
                    <a:solidFill>
                      <a:srgbClr val="00669D"/>
                    </a:solidFill>
                    <a:latin typeface="Arial"/>
                    <a:cs typeface="Arial"/>
                  </a:rPr>
                  <a:t>cases</a:t>
                </a:r>
                <a:r>
                  <a:rPr sz="2100" b="1" spc="-5" dirty="0">
                    <a:solidFill>
                      <a:srgbClr val="00669D"/>
                    </a:solidFill>
                    <a:latin typeface="Arial"/>
                    <a:cs typeface="Arial"/>
                  </a:rPr>
                  <a:t> </a:t>
                </a:r>
                <a:r>
                  <a:rPr sz="2100" b="1" spc="-15" dirty="0">
                    <a:solidFill>
                      <a:srgbClr val="00669D"/>
                    </a:solidFill>
                    <a:latin typeface="Arial"/>
                    <a:cs typeface="Arial"/>
                  </a:rPr>
                  <a:t>u</a:t>
                </a:r>
                <a:r>
                  <a:rPr sz="2100" b="1" dirty="0">
                    <a:solidFill>
                      <a:srgbClr val="00669D"/>
                    </a:solidFill>
                    <a:latin typeface="Arial"/>
                    <a:cs typeface="Arial"/>
                  </a:rPr>
                  <a:t>s</a:t>
                </a:r>
                <a:r>
                  <a:rPr sz="2100" b="1" spc="-15" dirty="0">
                    <a:solidFill>
                      <a:srgbClr val="00669D"/>
                    </a:solidFill>
                    <a:latin typeface="Arial"/>
                    <a:cs typeface="Arial"/>
                  </a:rPr>
                  <a:t>u</a:t>
                </a:r>
                <a:r>
                  <a:rPr sz="2100" b="1" dirty="0">
                    <a:solidFill>
                      <a:srgbClr val="00669D"/>
                    </a:solidFill>
                    <a:latin typeface="Arial"/>
                    <a:cs typeface="Arial"/>
                  </a:rPr>
                  <a:t>a</a:t>
                </a:r>
                <a:r>
                  <a:rPr sz="2100" b="1" spc="-10" dirty="0">
                    <a:solidFill>
                      <a:srgbClr val="00669D"/>
                    </a:solidFill>
                    <a:latin typeface="Arial"/>
                    <a:cs typeface="Arial"/>
                  </a:rPr>
                  <a:t>ll</a:t>
                </a:r>
                <a:r>
                  <a:rPr sz="2100" b="1" dirty="0">
                    <a:solidFill>
                      <a:srgbClr val="00669D"/>
                    </a:solidFill>
                    <a:latin typeface="Arial"/>
                    <a:cs typeface="Arial"/>
                  </a:rPr>
                  <a:t>y</a:t>
                </a:r>
                <a:r>
                  <a:rPr sz="2100" b="1" spc="-5" dirty="0">
                    <a:solidFill>
                      <a:srgbClr val="00669D"/>
                    </a:solidFill>
                    <a:latin typeface="Arial"/>
                    <a:cs typeface="Arial"/>
                  </a:rPr>
                  <a:t> </a:t>
                </a:r>
                <a:r>
                  <a:rPr sz="2100" b="1" spc="-10" dirty="0">
                    <a:solidFill>
                      <a:srgbClr val="00669D"/>
                    </a:solidFill>
                    <a:latin typeface="Arial"/>
                    <a:cs typeface="Arial"/>
                  </a:rPr>
                  <a:t>indi</a:t>
                </a:r>
                <a:r>
                  <a:rPr sz="2100" b="1" dirty="0">
                    <a:solidFill>
                      <a:srgbClr val="00669D"/>
                    </a:solidFill>
                    <a:latin typeface="Arial"/>
                    <a:cs typeface="Arial"/>
                  </a:rPr>
                  <a:t>v</a:t>
                </a:r>
                <a:r>
                  <a:rPr sz="2100" b="1" spc="-15" dirty="0">
                    <a:solidFill>
                      <a:srgbClr val="00669D"/>
                    </a:solidFill>
                    <a:latin typeface="Arial"/>
                    <a:cs typeface="Arial"/>
                  </a:rPr>
                  <a:t>idu</a:t>
                </a:r>
                <a:r>
                  <a:rPr sz="2100" b="1" dirty="0">
                    <a:solidFill>
                      <a:srgbClr val="00669D"/>
                    </a:solidFill>
                    <a:latin typeface="Arial"/>
                    <a:cs typeface="Arial"/>
                  </a:rPr>
                  <a:t>a</a:t>
                </a:r>
                <a:r>
                  <a:rPr sz="2100" b="1" spc="-10" dirty="0">
                    <a:solidFill>
                      <a:srgbClr val="00669D"/>
                    </a:solidFill>
                    <a:latin typeface="Arial"/>
                    <a:cs typeface="Arial"/>
                  </a:rPr>
                  <a:t>l-b</a:t>
                </a:r>
                <a:r>
                  <a:rPr sz="2100" b="1" dirty="0">
                    <a:solidFill>
                      <a:srgbClr val="00669D"/>
                    </a:solidFill>
                    <a:latin typeface="Arial"/>
                    <a:cs typeface="Arial"/>
                  </a:rPr>
                  <a:t>ase</a:t>
                </a:r>
                <a:r>
                  <a:rPr sz="2100" b="1" spc="-15" dirty="0">
                    <a:solidFill>
                      <a:srgbClr val="00669D"/>
                    </a:solidFill>
                    <a:latin typeface="Arial"/>
                    <a:cs typeface="Arial"/>
                  </a:rPr>
                  <a:t>d</a:t>
                </a:r>
                <a:r>
                  <a:rPr sz="2100" b="1" spc="-10" dirty="0">
                    <a:solidFill>
                      <a:srgbClr val="00669D"/>
                    </a:solidFill>
                    <a:latin typeface="Arial"/>
                    <a:cs typeface="Arial"/>
                  </a:rPr>
                  <a:t> </a:t>
                </a:r>
                <a:r>
                  <a:rPr sz="2100" b="1" dirty="0">
                    <a:solidFill>
                      <a:srgbClr val="00669D"/>
                    </a:solidFill>
                    <a:latin typeface="Arial"/>
                    <a:cs typeface="Arial"/>
                  </a:rPr>
                  <a:t>numerical</a:t>
                </a:r>
                <a:r>
                  <a:rPr sz="2100" b="1" spc="-10" dirty="0">
                    <a:solidFill>
                      <a:srgbClr val="00669D"/>
                    </a:solidFill>
                    <a:latin typeface="Arial"/>
                    <a:cs typeface="Arial"/>
                  </a:rPr>
                  <a:t> </a:t>
                </a:r>
                <a:r>
                  <a:rPr sz="2100" b="1" spc="-20" dirty="0">
                    <a:solidFill>
                      <a:srgbClr val="00669D"/>
                    </a:solidFill>
                    <a:latin typeface="Arial"/>
                    <a:cs typeface="Arial"/>
                  </a:rPr>
                  <a:t>model</a:t>
                </a:r>
                <a:r>
                  <a:rPr sz="2100" b="1" spc="-15" dirty="0">
                    <a:solidFill>
                      <a:srgbClr val="00669D"/>
                    </a:solidFill>
                    <a:latin typeface="Arial"/>
                    <a:cs typeface="Arial"/>
                  </a:rPr>
                  <a:t>s</a:t>
                </a:r>
                <a:r>
                  <a:rPr sz="2100" b="1" dirty="0">
                    <a:solidFill>
                      <a:srgbClr val="00669D"/>
                    </a:solidFill>
                    <a:latin typeface="Arial"/>
                    <a:cs typeface="Arial"/>
                  </a:rPr>
                  <a:t> </a:t>
                </a:r>
                <a:r>
                  <a:rPr sz="2100" b="1" spc="-20" dirty="0">
                    <a:solidFill>
                      <a:srgbClr val="00669D"/>
                    </a:solidFill>
                    <a:latin typeface="Arial"/>
                    <a:cs typeface="Arial"/>
                  </a:rPr>
                  <a:t>required</a:t>
                </a:r>
                <a:endParaRPr sz="2100" dirty="0">
                  <a:latin typeface="Arial"/>
                  <a:cs typeface="Arial"/>
                </a:endParaRPr>
              </a:p>
            </p:txBody>
          </p:sp>
        </mc:Choice>
        <mc:Fallback xmlns="">
          <p:sp>
            <p:nvSpPr>
              <p:cNvPr id="3" name="object 7">
                <a:extLst>
                  <a:ext uri="{FF2B5EF4-FFF2-40B4-BE49-F238E27FC236}">
                    <a16:creationId xmlns:a16="http://schemas.microsoft.com/office/drawing/2014/main" id="{125D88E8-B7FB-515B-6038-380DB85AF691}"/>
                  </a:ext>
                </a:extLst>
              </p:cNvPr>
              <p:cNvSpPr txBox="1">
                <a:spLocks noRot="1" noChangeAspect="1" noMove="1" noResize="1" noEditPoints="1" noAdjustHandles="1" noChangeArrowheads="1" noChangeShapeType="1" noTextEdit="1"/>
              </p:cNvSpPr>
              <p:nvPr/>
            </p:nvSpPr>
            <p:spPr>
              <a:xfrm>
                <a:off x="674052" y="1524000"/>
                <a:ext cx="7320280" cy="4447371"/>
              </a:xfrm>
              <a:prstGeom prst="rect">
                <a:avLst/>
              </a:prstGeom>
              <a:blipFill>
                <a:blip r:embed="rId3"/>
                <a:stretch>
                  <a:fillRect l="-2083" t="-1918" r="-1667" b="-274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7D9FE10-1E89-5D15-FA1E-D6995F8EDD3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AAB6C126-69A9-985E-1ED0-4F0F3FC000D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02260069-F73C-1C42-2FB3-B3164542283C}"/>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23</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CF4719E0-AA85-EA6B-54C8-1A9570E9CED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BC355011-B6FE-8826-00C1-BE6B1ED2173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extLst>
      <p:ext uri="{BB962C8B-B14F-4D97-AF65-F5344CB8AC3E}">
        <p14:creationId xmlns:p14="http://schemas.microsoft.com/office/powerpoint/2010/main" val="4116267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43955"/>
          </a:xfrm>
          <a:prstGeom prst="rect">
            <a:avLst/>
          </a:prstGeom>
        </p:spPr>
        <p:txBody>
          <a:bodyPr vert="horz" wrap="square" lIns="0" tIns="150047" rIns="0" bIns="0" rtlCol="0">
            <a:spAutoFit/>
          </a:bodyPr>
          <a:lstStyle/>
          <a:p>
            <a:pPr marL="12700">
              <a:lnSpc>
                <a:spcPct val="100000"/>
              </a:lnSpc>
            </a:pPr>
            <a:r>
              <a:rPr lang="en-US" sz="3200" spc="-25" dirty="0">
                <a:latin typeface="Arial"/>
                <a:cs typeface="Arial"/>
              </a:rPr>
              <a:t>F</a:t>
            </a:r>
            <a:r>
              <a:rPr lang="en-US" sz="3200" dirty="0">
                <a:latin typeface="Arial"/>
                <a:cs typeface="Arial"/>
              </a:rPr>
              <a:t>i</a:t>
            </a:r>
            <a:r>
              <a:rPr lang="en-US" sz="3200" spc="-15" dirty="0">
                <a:latin typeface="Arial"/>
                <a:cs typeface="Arial"/>
              </a:rPr>
              <a:t>rst</a:t>
            </a:r>
            <a:r>
              <a:rPr lang="en-US" sz="3200" spc="-180" dirty="0">
                <a:latin typeface="Arial"/>
                <a:cs typeface="Arial"/>
              </a:rPr>
              <a:t> </a:t>
            </a:r>
            <a:r>
              <a:rPr lang="en-US" sz="3200" dirty="0">
                <a:latin typeface="Arial"/>
                <a:cs typeface="Arial"/>
              </a:rPr>
              <a:t>Analysi</a:t>
            </a:r>
            <a:r>
              <a:rPr lang="en-US" sz="3200" spc="-15" dirty="0">
                <a:latin typeface="Arial"/>
                <a:cs typeface="Arial"/>
              </a:rPr>
              <a:t>s:</a:t>
            </a:r>
            <a:r>
              <a:rPr lang="en-US" sz="3200" spc="-5" dirty="0">
                <a:latin typeface="Arial"/>
                <a:cs typeface="Arial"/>
              </a:rPr>
              <a:t> </a:t>
            </a:r>
            <a:r>
              <a:rPr lang="en-US" sz="3200" i="1" dirty="0">
                <a:latin typeface="Arial"/>
                <a:cs typeface="Arial"/>
              </a:rPr>
              <a:t>Assump</a:t>
            </a:r>
            <a:r>
              <a:rPr lang="en-US" sz="3200" i="1" spc="-15" dirty="0">
                <a:latin typeface="Arial"/>
                <a:cs typeface="Arial"/>
              </a:rPr>
              <a:t>t</a:t>
            </a:r>
            <a:r>
              <a:rPr lang="en-US" sz="3200" i="1" dirty="0">
                <a:latin typeface="Arial"/>
                <a:cs typeface="Arial"/>
              </a:rPr>
              <a:t>ions</a:t>
            </a:r>
            <a:endParaRPr lang="en-US" sz="3200" dirty="0">
              <a:latin typeface="Arial"/>
              <a:cs typeface="Arial"/>
            </a:endParaRPr>
          </a:p>
        </p:txBody>
      </p:sp>
      <p:sp>
        <p:nvSpPr>
          <p:cNvPr id="3" name="object 7">
            <a:extLst>
              <a:ext uri="{FF2B5EF4-FFF2-40B4-BE49-F238E27FC236}">
                <a16:creationId xmlns:a16="http://schemas.microsoft.com/office/drawing/2014/main" id="{B59FB477-43EA-4C47-1EE1-92F7AF70962F}"/>
              </a:ext>
            </a:extLst>
          </p:cNvPr>
          <p:cNvSpPr txBox="1"/>
          <p:nvPr/>
        </p:nvSpPr>
        <p:spPr>
          <a:xfrm>
            <a:off x="674052" y="1600200"/>
            <a:ext cx="7744459" cy="3990340"/>
          </a:xfrm>
          <a:prstGeom prst="rect">
            <a:avLst/>
          </a:prstGeom>
        </p:spPr>
        <p:txBody>
          <a:bodyPr vert="horz" wrap="square" lIns="0" tIns="0" rIns="0" bIns="0" rtlCol="0">
            <a:spAutoFit/>
          </a:bodyPr>
          <a:lstStyle/>
          <a:p>
            <a:pPr marL="469900" indent="-457200">
              <a:lnSpc>
                <a:spcPct val="100000"/>
              </a:lnSpc>
              <a:buFont typeface="Arial"/>
              <a:buChar char="•"/>
              <a:tabLst>
                <a:tab pos="469900" algn="l"/>
              </a:tabLst>
            </a:pPr>
            <a:r>
              <a:rPr sz="2100" b="1" spc="-20" dirty="0">
                <a:solidFill>
                  <a:srgbClr val="00669D"/>
                </a:solidFill>
                <a:latin typeface="Arial"/>
                <a:cs typeface="Arial"/>
              </a:rPr>
              <a:t>Games</a:t>
            </a:r>
            <a:r>
              <a:rPr sz="2100" b="1" spc="-5" dirty="0">
                <a:solidFill>
                  <a:srgbClr val="00669D"/>
                </a:solidFill>
                <a:latin typeface="Arial"/>
                <a:cs typeface="Arial"/>
              </a:rPr>
              <a:t> </a:t>
            </a:r>
            <a:r>
              <a:rPr sz="2100" b="1" dirty="0">
                <a:solidFill>
                  <a:srgbClr val="00669D"/>
                </a:solidFill>
                <a:latin typeface="Arial"/>
                <a:cs typeface="Arial"/>
              </a:rPr>
              <a:t>are</a:t>
            </a:r>
            <a:r>
              <a:rPr sz="2100" b="1" spc="-5" dirty="0">
                <a:solidFill>
                  <a:srgbClr val="00669D"/>
                </a:solidFill>
                <a:latin typeface="Arial"/>
                <a:cs typeface="Arial"/>
              </a:rPr>
              <a:t> </a:t>
            </a:r>
            <a:r>
              <a:rPr sz="2100" b="1" dirty="0">
                <a:solidFill>
                  <a:srgbClr val="00669D"/>
                </a:solidFill>
                <a:latin typeface="Arial"/>
                <a:cs typeface="Arial"/>
              </a:rPr>
              <a:t>re</a:t>
            </a:r>
            <a:r>
              <a:rPr sz="2100" b="1" spc="-15" dirty="0">
                <a:solidFill>
                  <a:srgbClr val="00669D"/>
                </a:solidFill>
                <a:latin typeface="Arial"/>
                <a:cs typeface="Arial"/>
              </a:rPr>
              <a:t>p</a:t>
            </a:r>
            <a:r>
              <a:rPr sz="2100" b="1" dirty="0">
                <a:solidFill>
                  <a:srgbClr val="00669D"/>
                </a:solidFill>
                <a:latin typeface="Arial"/>
                <a:cs typeface="Arial"/>
              </a:rPr>
              <a:t>eate</a:t>
            </a:r>
            <a:r>
              <a:rPr sz="2100" b="1" spc="-10" dirty="0">
                <a:solidFill>
                  <a:srgbClr val="00669D"/>
                </a:solidFill>
                <a:latin typeface="Arial"/>
                <a:cs typeface="Arial"/>
              </a:rPr>
              <a:t>d.</a:t>
            </a:r>
            <a:endParaRPr sz="2100" dirty="0">
              <a:latin typeface="Arial"/>
              <a:cs typeface="Arial"/>
            </a:endParaRPr>
          </a:p>
          <a:p>
            <a:pPr marL="469900" indent="-457200">
              <a:lnSpc>
                <a:spcPct val="100000"/>
              </a:lnSpc>
              <a:spcBef>
                <a:spcPts val="520"/>
              </a:spcBef>
              <a:buFont typeface="Arial"/>
              <a:buChar char="•"/>
              <a:tabLst>
                <a:tab pos="469900" algn="l"/>
              </a:tabLst>
            </a:pPr>
            <a:r>
              <a:rPr sz="2100" b="1" dirty="0">
                <a:solidFill>
                  <a:srgbClr val="00669D"/>
                </a:solidFill>
                <a:latin typeface="Arial"/>
                <a:cs typeface="Arial"/>
              </a:rPr>
              <a:t>Strate</a:t>
            </a:r>
            <a:r>
              <a:rPr sz="2100" b="1" spc="-10" dirty="0">
                <a:solidFill>
                  <a:srgbClr val="00669D"/>
                </a:solidFill>
                <a:latin typeface="Arial"/>
                <a:cs typeface="Arial"/>
              </a:rPr>
              <a:t>gies</a:t>
            </a:r>
            <a:r>
              <a:rPr sz="2100" b="1" spc="-5" dirty="0">
                <a:solidFill>
                  <a:srgbClr val="00669D"/>
                </a:solidFill>
                <a:latin typeface="Arial"/>
                <a:cs typeface="Arial"/>
              </a:rPr>
              <a:t> </a:t>
            </a:r>
            <a:r>
              <a:rPr sz="2100" b="1" dirty="0">
                <a:solidFill>
                  <a:srgbClr val="00669D"/>
                </a:solidFill>
                <a:latin typeface="Arial"/>
                <a:cs typeface="Arial"/>
              </a:rPr>
              <a:t>s</a:t>
            </a:r>
            <a:r>
              <a:rPr sz="2100" b="1" spc="-15" dirty="0">
                <a:solidFill>
                  <a:srgbClr val="00669D"/>
                </a:solidFill>
                <a:latin typeface="Arial"/>
                <a:cs typeface="Arial"/>
              </a:rPr>
              <a:t>p</a:t>
            </a:r>
            <a:r>
              <a:rPr sz="2100" b="1" dirty="0">
                <a:solidFill>
                  <a:srgbClr val="00669D"/>
                </a:solidFill>
                <a:latin typeface="Arial"/>
                <a:cs typeface="Arial"/>
              </a:rPr>
              <a:t>rea</a:t>
            </a:r>
            <a:r>
              <a:rPr sz="2100" b="1" spc="-15" dirty="0">
                <a:solidFill>
                  <a:srgbClr val="00669D"/>
                </a:solidFill>
                <a:latin typeface="Arial"/>
                <a:cs typeface="Arial"/>
              </a:rPr>
              <a:t>d</a:t>
            </a:r>
            <a:r>
              <a:rPr sz="2100" b="1" spc="-5" dirty="0">
                <a:solidFill>
                  <a:srgbClr val="00669D"/>
                </a:solidFill>
                <a:latin typeface="Arial"/>
                <a:cs typeface="Arial"/>
              </a:rPr>
              <a:t> </a:t>
            </a:r>
            <a:r>
              <a:rPr sz="2100" b="1" dirty="0">
                <a:solidFill>
                  <a:srgbClr val="00669D"/>
                </a:solidFill>
                <a:latin typeface="Arial"/>
                <a:cs typeface="Arial"/>
              </a:rPr>
              <a:t>acc</a:t>
            </a:r>
            <a:r>
              <a:rPr sz="2100" b="1" spc="-15" dirty="0">
                <a:solidFill>
                  <a:srgbClr val="00669D"/>
                </a:solidFill>
                <a:latin typeface="Arial"/>
                <a:cs typeface="Arial"/>
              </a:rPr>
              <a:t>o</a:t>
            </a:r>
            <a:r>
              <a:rPr sz="2100" b="1" dirty="0">
                <a:solidFill>
                  <a:srgbClr val="00669D"/>
                </a:solidFill>
                <a:latin typeface="Arial"/>
                <a:cs typeface="Arial"/>
              </a:rPr>
              <a:t>r</a:t>
            </a:r>
            <a:r>
              <a:rPr sz="2100" b="1" spc="-15" dirty="0">
                <a:solidFill>
                  <a:srgbClr val="00669D"/>
                </a:solidFill>
                <a:latin typeface="Arial"/>
                <a:cs typeface="Arial"/>
              </a:rPr>
              <a:t>ding</a:t>
            </a:r>
            <a:r>
              <a:rPr sz="2100" b="1" spc="-5" dirty="0">
                <a:solidFill>
                  <a:srgbClr val="00669D"/>
                </a:solidFill>
                <a:latin typeface="Arial"/>
                <a:cs typeface="Arial"/>
              </a:rPr>
              <a:t> </a:t>
            </a:r>
            <a:r>
              <a:rPr sz="2100" b="1" spc="-10" dirty="0">
                <a:solidFill>
                  <a:srgbClr val="00669D"/>
                </a:solidFill>
                <a:latin typeface="Arial"/>
                <a:cs typeface="Arial"/>
              </a:rPr>
              <a:t>to</a:t>
            </a:r>
            <a:r>
              <a:rPr sz="2100" b="1" spc="-5" dirty="0">
                <a:solidFill>
                  <a:srgbClr val="00669D"/>
                </a:solidFill>
                <a:latin typeface="Arial"/>
                <a:cs typeface="Arial"/>
              </a:rPr>
              <a:t> </a:t>
            </a:r>
            <a:r>
              <a:rPr sz="2100" b="1" spc="-10" dirty="0">
                <a:solidFill>
                  <a:srgbClr val="00669D"/>
                </a:solidFill>
                <a:latin typeface="Arial"/>
                <a:cs typeface="Arial"/>
              </a:rPr>
              <a:t>(p</a:t>
            </a:r>
            <a:r>
              <a:rPr sz="2100" b="1" dirty="0">
                <a:solidFill>
                  <a:srgbClr val="00669D"/>
                </a:solidFill>
                <a:latin typeface="Arial"/>
                <a:cs typeface="Arial"/>
              </a:rPr>
              <a:t>r</a:t>
            </a:r>
            <a:r>
              <a:rPr sz="2100" b="1" spc="-15" dirty="0">
                <a:solidFill>
                  <a:srgbClr val="00669D"/>
                </a:solidFill>
                <a:latin typeface="Arial"/>
                <a:cs typeface="Arial"/>
              </a:rPr>
              <a:t>opo</a:t>
            </a:r>
            <a:r>
              <a:rPr sz="2100" b="1" dirty="0">
                <a:solidFill>
                  <a:srgbClr val="00669D"/>
                </a:solidFill>
                <a:latin typeface="Arial"/>
                <a:cs typeface="Arial"/>
              </a:rPr>
              <a:t>r</a:t>
            </a:r>
            <a:r>
              <a:rPr sz="2100" b="1" spc="-10" dirty="0">
                <a:solidFill>
                  <a:srgbClr val="00669D"/>
                </a:solidFill>
                <a:latin typeface="Arial"/>
                <a:cs typeface="Arial"/>
              </a:rPr>
              <a:t>tion</a:t>
            </a:r>
            <a:r>
              <a:rPr sz="2100" b="1" dirty="0">
                <a:solidFill>
                  <a:srgbClr val="00669D"/>
                </a:solidFill>
                <a:latin typeface="Arial"/>
                <a:cs typeface="Arial"/>
              </a:rPr>
              <a:t>a</a:t>
            </a:r>
            <a:r>
              <a:rPr sz="2100" b="1" spc="-10" dirty="0">
                <a:solidFill>
                  <a:srgbClr val="00669D"/>
                </a:solidFill>
                <a:latin typeface="Arial"/>
                <a:cs typeface="Arial"/>
              </a:rPr>
              <a:t>l</a:t>
            </a:r>
            <a:r>
              <a:rPr sz="2100" b="1" spc="-5" dirty="0">
                <a:solidFill>
                  <a:srgbClr val="00669D"/>
                </a:solidFill>
                <a:latin typeface="Arial"/>
                <a:cs typeface="Arial"/>
              </a:rPr>
              <a:t> </a:t>
            </a:r>
            <a:r>
              <a:rPr sz="2100" b="1" spc="-10" dirty="0">
                <a:solidFill>
                  <a:srgbClr val="00669D"/>
                </a:solidFill>
                <a:latin typeface="Arial"/>
                <a:cs typeface="Arial"/>
              </a:rPr>
              <a:t>to</a:t>
            </a:r>
            <a:r>
              <a:rPr sz="2100" b="1" dirty="0">
                <a:solidFill>
                  <a:srgbClr val="00669D"/>
                </a:solidFill>
                <a:latin typeface="Arial"/>
                <a:cs typeface="Arial"/>
              </a:rPr>
              <a:t>)</a:t>
            </a:r>
            <a:r>
              <a:rPr sz="2100" b="1" spc="-5" dirty="0">
                <a:solidFill>
                  <a:srgbClr val="00669D"/>
                </a:solidFill>
                <a:latin typeface="Arial"/>
                <a:cs typeface="Arial"/>
              </a:rPr>
              <a:t> </a:t>
            </a:r>
            <a:r>
              <a:rPr sz="2100" b="1" dirty="0">
                <a:solidFill>
                  <a:srgbClr val="00669D"/>
                </a:solidFill>
                <a:latin typeface="Arial"/>
                <a:cs typeface="Arial"/>
              </a:rPr>
              <a:t>s</a:t>
            </a:r>
            <a:r>
              <a:rPr sz="2100" b="1" spc="-15" dirty="0">
                <a:solidFill>
                  <a:srgbClr val="00669D"/>
                </a:solidFill>
                <a:latin typeface="Arial"/>
                <a:cs typeface="Arial"/>
              </a:rPr>
              <a:t>u</a:t>
            </a:r>
            <a:r>
              <a:rPr sz="2100" b="1" dirty="0">
                <a:solidFill>
                  <a:srgbClr val="00669D"/>
                </a:solidFill>
                <a:latin typeface="Arial"/>
                <a:cs typeface="Arial"/>
              </a:rPr>
              <a:t>ccess</a:t>
            </a:r>
            <a:r>
              <a:rPr sz="2100" b="1" spc="-10" dirty="0">
                <a:solidFill>
                  <a:srgbClr val="00669D"/>
                </a:solidFill>
                <a:latin typeface="Arial"/>
                <a:cs typeface="Arial"/>
              </a:rPr>
              <a:t>.</a:t>
            </a:r>
            <a:endParaRPr sz="2100" dirty="0">
              <a:latin typeface="Arial"/>
              <a:cs typeface="Arial"/>
            </a:endParaRPr>
          </a:p>
          <a:p>
            <a:pPr marL="991869" marR="861694" lvl="1" indent="-457200">
              <a:lnSpc>
                <a:spcPts val="2400"/>
              </a:lnSpc>
              <a:spcBef>
                <a:spcPts val="700"/>
              </a:spcBef>
              <a:buFont typeface="Arial"/>
              <a:buChar char="•"/>
              <a:tabLst>
                <a:tab pos="992505" algn="l"/>
              </a:tabLst>
            </a:pPr>
            <a:r>
              <a:rPr sz="2100" b="1" spc="-15" dirty="0">
                <a:solidFill>
                  <a:srgbClr val="00669D"/>
                </a:solidFill>
                <a:latin typeface="Arial"/>
                <a:cs typeface="Arial"/>
              </a:rPr>
              <a:t>This</a:t>
            </a:r>
            <a:r>
              <a:rPr sz="2100" b="1" spc="-5" dirty="0">
                <a:solidFill>
                  <a:srgbClr val="00669D"/>
                </a:solidFill>
                <a:latin typeface="Arial"/>
                <a:cs typeface="Arial"/>
              </a:rPr>
              <a:t> </a:t>
            </a:r>
            <a:r>
              <a:rPr sz="2100" b="1" dirty="0">
                <a:solidFill>
                  <a:srgbClr val="00669D"/>
                </a:solidFill>
                <a:latin typeface="Arial"/>
                <a:cs typeface="Arial"/>
              </a:rPr>
              <a:t>c</a:t>
            </a:r>
            <a:r>
              <a:rPr sz="2100" b="1" spc="-15" dirty="0">
                <a:solidFill>
                  <a:srgbClr val="00669D"/>
                </a:solidFill>
                <a:latin typeface="Arial"/>
                <a:cs typeface="Arial"/>
              </a:rPr>
              <a:t>ould</a:t>
            </a:r>
            <a:r>
              <a:rPr sz="2100" b="1" spc="-5" dirty="0">
                <a:solidFill>
                  <a:srgbClr val="00669D"/>
                </a:solidFill>
                <a:latin typeface="Arial"/>
                <a:cs typeface="Arial"/>
              </a:rPr>
              <a:t> </a:t>
            </a:r>
            <a:r>
              <a:rPr sz="2100" b="1" spc="-15" dirty="0">
                <a:solidFill>
                  <a:srgbClr val="00669D"/>
                </a:solidFill>
                <a:latin typeface="Arial"/>
                <a:cs typeface="Arial"/>
              </a:rPr>
              <a:t>b</a:t>
            </a:r>
            <a:r>
              <a:rPr sz="2100" b="1" dirty="0">
                <a:solidFill>
                  <a:srgbClr val="00669D"/>
                </a:solidFill>
                <a:latin typeface="Arial"/>
                <a:cs typeface="Arial"/>
              </a:rPr>
              <a:t>e</a:t>
            </a:r>
            <a:r>
              <a:rPr sz="2100" b="1" spc="-5" dirty="0">
                <a:solidFill>
                  <a:srgbClr val="00669D"/>
                </a:solidFill>
                <a:latin typeface="Arial"/>
                <a:cs typeface="Arial"/>
              </a:rPr>
              <a:t> </a:t>
            </a:r>
            <a:r>
              <a:rPr sz="2100" b="1" dirty="0">
                <a:solidFill>
                  <a:srgbClr val="00669D"/>
                </a:solidFill>
                <a:latin typeface="Arial"/>
                <a:cs typeface="Arial"/>
              </a:rPr>
              <a:t>ev</a:t>
            </a:r>
            <a:r>
              <a:rPr sz="2100" b="1" spc="-10" dirty="0">
                <a:solidFill>
                  <a:srgbClr val="00669D"/>
                </a:solidFill>
                <a:latin typeface="Arial"/>
                <a:cs typeface="Arial"/>
              </a:rPr>
              <a:t>olution</a:t>
            </a:r>
            <a:r>
              <a:rPr sz="2100" b="1" spc="-5" dirty="0">
                <a:solidFill>
                  <a:srgbClr val="00669D"/>
                </a:solidFill>
                <a:latin typeface="Arial"/>
                <a:cs typeface="Arial"/>
              </a:rPr>
              <a:t> </a:t>
            </a:r>
            <a:r>
              <a:rPr sz="2100" b="1" dirty="0">
                <a:solidFill>
                  <a:srgbClr val="00669D"/>
                </a:solidFill>
                <a:latin typeface="Arial"/>
                <a:cs typeface="Arial"/>
              </a:rPr>
              <a:t>(s</a:t>
            </a:r>
            <a:r>
              <a:rPr sz="2100" b="1" spc="-15" dirty="0">
                <a:solidFill>
                  <a:srgbClr val="00669D"/>
                </a:solidFill>
                <a:latin typeface="Arial"/>
                <a:cs typeface="Arial"/>
              </a:rPr>
              <a:t>u</a:t>
            </a:r>
            <a:r>
              <a:rPr sz="2100" b="1" dirty="0">
                <a:solidFill>
                  <a:srgbClr val="00669D"/>
                </a:solidFill>
                <a:latin typeface="Arial"/>
                <a:cs typeface="Arial"/>
              </a:rPr>
              <a:t>rv</a:t>
            </a:r>
            <a:r>
              <a:rPr sz="2100" b="1" spc="-10" dirty="0">
                <a:solidFill>
                  <a:srgbClr val="00669D"/>
                </a:solidFill>
                <a:latin typeface="Arial"/>
                <a:cs typeface="Arial"/>
              </a:rPr>
              <a:t>i</a:t>
            </a:r>
            <a:r>
              <a:rPr sz="2100" b="1" dirty="0">
                <a:solidFill>
                  <a:srgbClr val="00669D"/>
                </a:solidFill>
                <a:latin typeface="Arial"/>
                <a:cs typeface="Arial"/>
              </a:rPr>
              <a:t>va</a:t>
            </a:r>
            <a:r>
              <a:rPr sz="2100" b="1" spc="-10" dirty="0">
                <a:solidFill>
                  <a:srgbClr val="00669D"/>
                </a:solidFill>
                <a:latin typeface="Arial"/>
                <a:cs typeface="Arial"/>
              </a:rPr>
              <a:t>l-of-th</a:t>
            </a:r>
            <a:r>
              <a:rPr sz="2100" b="1" dirty="0">
                <a:solidFill>
                  <a:srgbClr val="00669D"/>
                </a:solidFill>
                <a:latin typeface="Arial"/>
                <a:cs typeface="Arial"/>
              </a:rPr>
              <a:t>e</a:t>
            </a:r>
            <a:r>
              <a:rPr sz="2100" b="1" spc="-10" dirty="0">
                <a:solidFill>
                  <a:srgbClr val="00669D"/>
                </a:solidFill>
                <a:latin typeface="Arial"/>
                <a:cs typeface="Arial"/>
              </a:rPr>
              <a:t>-fi</a:t>
            </a:r>
            <a:r>
              <a:rPr sz="2100" b="1" dirty="0">
                <a:solidFill>
                  <a:srgbClr val="00669D"/>
                </a:solidFill>
                <a:latin typeface="Arial"/>
                <a:cs typeface="Arial"/>
              </a:rPr>
              <a:t>ttest) or</a:t>
            </a:r>
            <a:r>
              <a:rPr sz="2100" b="1" spc="-5" dirty="0">
                <a:solidFill>
                  <a:srgbClr val="00669D"/>
                </a:solidFill>
                <a:latin typeface="Arial"/>
                <a:cs typeface="Arial"/>
              </a:rPr>
              <a:t> </a:t>
            </a:r>
            <a:r>
              <a:rPr sz="2100" b="1" u="heavy" spc="-15" dirty="0">
                <a:solidFill>
                  <a:srgbClr val="00669D"/>
                </a:solidFill>
                <a:latin typeface="Arial"/>
                <a:cs typeface="Arial"/>
              </a:rPr>
              <a:t>social</a:t>
            </a:r>
            <a:r>
              <a:rPr sz="2100" b="1" u="heavy" spc="-10" dirty="0">
                <a:solidFill>
                  <a:srgbClr val="00669D"/>
                </a:solidFill>
                <a:latin typeface="Arial"/>
                <a:cs typeface="Arial"/>
              </a:rPr>
              <a:t> </a:t>
            </a:r>
            <a:r>
              <a:rPr sz="2100" b="1" u="heavy" spc="-15" dirty="0">
                <a:solidFill>
                  <a:srgbClr val="00669D"/>
                </a:solidFill>
                <a:latin typeface="Arial"/>
                <a:cs typeface="Arial"/>
              </a:rPr>
              <a:t>learning</a:t>
            </a:r>
            <a:endParaRPr sz="2100" dirty="0">
              <a:latin typeface="Arial"/>
              <a:cs typeface="Arial"/>
            </a:endParaRPr>
          </a:p>
          <a:p>
            <a:pPr lvl="1">
              <a:lnSpc>
                <a:spcPct val="100000"/>
              </a:lnSpc>
              <a:buFont typeface="Arial"/>
              <a:buChar char="•"/>
            </a:pPr>
            <a:endParaRPr sz="2100" dirty="0">
              <a:latin typeface="Times New Roman"/>
              <a:cs typeface="Times New Roman"/>
            </a:endParaRPr>
          </a:p>
          <a:p>
            <a:pPr marL="355600" marR="833755" indent="-342900">
              <a:spcBef>
                <a:spcPts val="520"/>
              </a:spcBef>
              <a:buFont typeface="Arial" panose="020B0604020202020204" pitchFamily="34" charset="0"/>
              <a:buChar char="•"/>
              <a:tabLst>
                <a:tab pos="469900" algn="l"/>
              </a:tabLst>
            </a:pPr>
            <a:r>
              <a:rPr sz="2100" b="1" dirty="0">
                <a:solidFill>
                  <a:srgbClr val="00669D"/>
                </a:solidFill>
                <a:latin typeface="Arial"/>
                <a:cs typeface="Arial"/>
              </a:rPr>
              <a:t>Players are interchangeable and indistinguishable, except for strategy (as in population games)</a:t>
            </a:r>
          </a:p>
          <a:p>
            <a:pPr>
              <a:lnSpc>
                <a:spcPct val="100000"/>
              </a:lnSpc>
              <a:spcBef>
                <a:spcPts val="50"/>
              </a:spcBef>
              <a:buFont typeface="Arial"/>
              <a:buChar char="•"/>
            </a:pPr>
            <a:endParaRPr sz="3000" dirty="0">
              <a:latin typeface="Times New Roman"/>
              <a:cs typeface="Times New Roman"/>
            </a:endParaRPr>
          </a:p>
          <a:p>
            <a:pPr marL="469900" indent="-457200">
              <a:lnSpc>
                <a:spcPct val="100000"/>
              </a:lnSpc>
              <a:buFont typeface="Arial"/>
              <a:buChar char="•"/>
              <a:tabLst>
                <a:tab pos="469900" algn="l"/>
              </a:tabLst>
            </a:pPr>
            <a:r>
              <a:rPr sz="2100" b="1" spc="-10" dirty="0">
                <a:solidFill>
                  <a:srgbClr val="00669D"/>
                </a:solidFill>
                <a:latin typeface="Arial"/>
                <a:cs typeface="Arial"/>
              </a:rPr>
              <a:t>this</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m</a:t>
            </a:r>
            <a:r>
              <a:rPr sz="2100" b="1" spc="-10" dirty="0">
                <a:solidFill>
                  <a:srgbClr val="00669D"/>
                </a:solidFill>
                <a:latin typeface="Arial"/>
                <a:cs typeface="Arial"/>
              </a:rPr>
              <a:t>pli</a:t>
            </a:r>
            <a:r>
              <a:rPr sz="2100" b="1" dirty="0">
                <a:solidFill>
                  <a:srgbClr val="00669D"/>
                </a:solidFill>
                <a:latin typeface="Arial"/>
                <a:cs typeface="Arial"/>
              </a:rPr>
              <a:t>es</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at</a:t>
            </a:r>
            <a:r>
              <a:rPr sz="2100" b="1" spc="-5" dirty="0">
                <a:solidFill>
                  <a:srgbClr val="00669D"/>
                </a:solidFill>
                <a:latin typeface="Arial"/>
                <a:cs typeface="Arial"/>
              </a:rPr>
              <a:t> </a:t>
            </a:r>
            <a:r>
              <a:rPr sz="2100" b="1" dirty="0">
                <a:solidFill>
                  <a:srgbClr val="00669D"/>
                </a:solidFill>
                <a:latin typeface="Arial"/>
                <a:cs typeface="Arial"/>
              </a:rPr>
              <a:t>a</a:t>
            </a:r>
            <a:r>
              <a:rPr sz="2100" b="1" spc="-10" dirty="0">
                <a:solidFill>
                  <a:srgbClr val="00669D"/>
                </a:solidFill>
                <a:latin typeface="Arial"/>
                <a:cs typeface="Arial"/>
              </a:rPr>
              <a:t>ll</a:t>
            </a:r>
            <a:r>
              <a:rPr sz="2100" b="1" spc="-5" dirty="0">
                <a:solidFill>
                  <a:srgbClr val="00669D"/>
                </a:solidFill>
                <a:latin typeface="Arial"/>
                <a:cs typeface="Arial"/>
              </a:rPr>
              <a:t> </a:t>
            </a:r>
            <a:r>
              <a:rPr sz="2100" b="1" spc="-10" dirty="0">
                <a:solidFill>
                  <a:srgbClr val="00669D"/>
                </a:solidFill>
                <a:latin typeface="Arial"/>
                <a:cs typeface="Arial"/>
              </a:rPr>
              <a:t>pl</a:t>
            </a:r>
            <a:r>
              <a:rPr sz="2100" b="1" dirty="0">
                <a:solidFill>
                  <a:srgbClr val="00669D"/>
                </a:solidFill>
                <a:latin typeface="Arial"/>
                <a:cs typeface="Arial"/>
              </a:rPr>
              <a:t>ayers</a:t>
            </a:r>
            <a:r>
              <a:rPr sz="2100" b="1" spc="-5" dirty="0">
                <a:solidFill>
                  <a:srgbClr val="00669D"/>
                </a:solidFill>
                <a:latin typeface="Arial"/>
                <a:cs typeface="Arial"/>
              </a:rPr>
              <a:t> </a:t>
            </a:r>
            <a:r>
              <a:rPr sz="2100" b="1" spc="-15" dirty="0">
                <a:solidFill>
                  <a:srgbClr val="00669D"/>
                </a:solidFill>
                <a:latin typeface="Arial"/>
                <a:cs typeface="Arial"/>
              </a:rPr>
              <a:t>h</a:t>
            </a:r>
            <a:r>
              <a:rPr sz="2100" b="1" dirty="0">
                <a:solidFill>
                  <a:srgbClr val="00669D"/>
                </a:solidFill>
                <a:latin typeface="Arial"/>
                <a:cs typeface="Arial"/>
              </a:rPr>
              <a:t>ave</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u="heavy" dirty="0">
                <a:solidFill>
                  <a:srgbClr val="00669D"/>
                </a:solidFill>
                <a:latin typeface="Arial"/>
                <a:cs typeface="Arial"/>
              </a:rPr>
              <a:t>same</a:t>
            </a:r>
            <a:r>
              <a:rPr sz="2100" b="1" u="heavy" spc="-10" dirty="0">
                <a:solidFill>
                  <a:srgbClr val="00669D"/>
                </a:solidFill>
                <a:latin typeface="Arial"/>
                <a:cs typeface="Arial"/>
              </a:rPr>
              <a:t> </a:t>
            </a:r>
            <a:r>
              <a:rPr sz="2100" b="1" u="heavy" dirty="0">
                <a:solidFill>
                  <a:srgbClr val="00669D"/>
                </a:solidFill>
                <a:latin typeface="Arial"/>
                <a:cs typeface="Arial"/>
              </a:rPr>
              <a:t>strate</a:t>
            </a:r>
            <a:r>
              <a:rPr sz="2100" b="1" u="heavy" spc="-15" dirty="0">
                <a:solidFill>
                  <a:srgbClr val="00669D"/>
                </a:solidFill>
                <a:latin typeface="Arial"/>
                <a:cs typeface="Arial"/>
              </a:rPr>
              <a:t>g</a:t>
            </a:r>
            <a:r>
              <a:rPr sz="2100" b="1" u="heavy" dirty="0">
                <a:solidFill>
                  <a:srgbClr val="00669D"/>
                </a:solidFill>
                <a:latin typeface="Arial"/>
                <a:cs typeface="Arial"/>
              </a:rPr>
              <a:t>y</a:t>
            </a:r>
            <a:r>
              <a:rPr sz="2100" b="1" u="heavy" spc="-10" dirty="0">
                <a:solidFill>
                  <a:srgbClr val="00669D"/>
                </a:solidFill>
                <a:latin typeface="Arial"/>
                <a:cs typeface="Arial"/>
              </a:rPr>
              <a:t> </a:t>
            </a:r>
            <a:r>
              <a:rPr sz="2100" b="1" u="heavy" dirty="0">
                <a:solidFill>
                  <a:srgbClr val="00669D"/>
                </a:solidFill>
                <a:latin typeface="Arial"/>
                <a:cs typeface="Arial"/>
              </a:rPr>
              <a:t>set</a:t>
            </a:r>
            <a:endParaRPr sz="2100" dirty="0">
              <a:latin typeface="Arial"/>
              <a:cs typeface="Arial"/>
            </a:endParaRPr>
          </a:p>
          <a:p>
            <a:pPr marL="469900" indent="-457200">
              <a:lnSpc>
                <a:spcPct val="100000"/>
              </a:lnSpc>
              <a:spcBef>
                <a:spcPts val="520"/>
              </a:spcBef>
              <a:buFont typeface="Arial"/>
              <a:buChar char="•"/>
              <a:tabLst>
                <a:tab pos="469900" algn="l"/>
              </a:tabLst>
            </a:pPr>
            <a:r>
              <a:rPr sz="2100" b="1" spc="-10" dirty="0">
                <a:solidFill>
                  <a:srgbClr val="00669D"/>
                </a:solidFill>
                <a:latin typeface="Arial"/>
                <a:cs typeface="Arial"/>
              </a:rPr>
              <a:t>it</a:t>
            </a:r>
            <a:r>
              <a:rPr sz="2100" b="1" spc="-5" dirty="0">
                <a:solidFill>
                  <a:srgbClr val="00669D"/>
                </a:solidFill>
                <a:latin typeface="Arial"/>
                <a:cs typeface="Arial"/>
              </a:rPr>
              <a:t> </a:t>
            </a:r>
            <a:r>
              <a:rPr sz="2100" b="1" dirty="0">
                <a:solidFill>
                  <a:srgbClr val="00669D"/>
                </a:solidFill>
                <a:latin typeface="Arial"/>
                <a:cs typeface="Arial"/>
              </a:rPr>
              <a:t>a</a:t>
            </a:r>
            <a:r>
              <a:rPr sz="2100" b="1" spc="-10" dirty="0">
                <a:solidFill>
                  <a:srgbClr val="00669D"/>
                </a:solidFill>
                <a:latin typeface="Arial"/>
                <a:cs typeface="Arial"/>
              </a:rPr>
              <a:t>l</a:t>
            </a:r>
            <a:r>
              <a:rPr sz="2100" b="1" dirty="0">
                <a:solidFill>
                  <a:srgbClr val="00669D"/>
                </a:solidFill>
                <a:latin typeface="Arial"/>
                <a:cs typeface="Arial"/>
              </a:rPr>
              <a:t>s</a:t>
            </a:r>
            <a:r>
              <a:rPr sz="2100" b="1" spc="-15" dirty="0">
                <a:solidFill>
                  <a:srgbClr val="00669D"/>
                </a:solidFill>
                <a:latin typeface="Arial"/>
                <a:cs typeface="Arial"/>
              </a:rPr>
              <a:t>o</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m</a:t>
            </a:r>
            <a:r>
              <a:rPr sz="2100" b="1" spc="-10" dirty="0">
                <a:solidFill>
                  <a:srgbClr val="00669D"/>
                </a:solidFill>
                <a:latin typeface="Arial"/>
                <a:cs typeface="Arial"/>
              </a:rPr>
              <a:t>pli</a:t>
            </a:r>
            <a:r>
              <a:rPr sz="2100" b="1" dirty="0">
                <a:solidFill>
                  <a:srgbClr val="00669D"/>
                </a:solidFill>
                <a:latin typeface="Arial"/>
                <a:cs typeface="Arial"/>
              </a:rPr>
              <a:t>es</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at</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spc="-15" dirty="0">
                <a:solidFill>
                  <a:srgbClr val="00669D"/>
                </a:solidFill>
                <a:latin typeface="Arial"/>
                <a:cs typeface="Arial"/>
              </a:rPr>
              <a:t>g</a:t>
            </a:r>
            <a:r>
              <a:rPr sz="2100" b="1" dirty="0">
                <a:solidFill>
                  <a:srgbClr val="00669D"/>
                </a:solidFill>
                <a:latin typeface="Arial"/>
                <a:cs typeface="Arial"/>
              </a:rPr>
              <a:t>ame</a:t>
            </a:r>
            <a:r>
              <a:rPr sz="2100" b="1" spc="-5" dirty="0">
                <a:solidFill>
                  <a:srgbClr val="00669D"/>
                </a:solidFill>
                <a:latin typeface="Arial"/>
                <a:cs typeface="Arial"/>
              </a:rPr>
              <a:t> </a:t>
            </a:r>
            <a:r>
              <a:rPr sz="2100" b="1" dirty="0">
                <a:solidFill>
                  <a:srgbClr val="00669D"/>
                </a:solidFill>
                <a:latin typeface="Arial"/>
                <a:cs typeface="Arial"/>
              </a:rPr>
              <a:t>m</a:t>
            </a:r>
            <a:r>
              <a:rPr sz="2100" b="1" spc="-15" dirty="0">
                <a:solidFill>
                  <a:srgbClr val="00669D"/>
                </a:solidFill>
                <a:latin typeface="Arial"/>
                <a:cs typeface="Arial"/>
              </a:rPr>
              <a:t>u</a:t>
            </a:r>
            <a:r>
              <a:rPr sz="2100" b="1" dirty="0">
                <a:solidFill>
                  <a:srgbClr val="00669D"/>
                </a:solidFill>
                <a:latin typeface="Arial"/>
                <a:cs typeface="Arial"/>
              </a:rPr>
              <a:t>st</a:t>
            </a:r>
            <a:r>
              <a:rPr sz="2100" b="1" spc="-5" dirty="0">
                <a:solidFill>
                  <a:srgbClr val="00669D"/>
                </a:solidFill>
                <a:latin typeface="Arial"/>
                <a:cs typeface="Arial"/>
              </a:rPr>
              <a:t> </a:t>
            </a:r>
            <a:r>
              <a:rPr sz="2100" b="1" spc="-15" dirty="0">
                <a:solidFill>
                  <a:srgbClr val="00669D"/>
                </a:solidFill>
                <a:latin typeface="Arial"/>
                <a:cs typeface="Arial"/>
              </a:rPr>
              <a:t>b</a:t>
            </a:r>
            <a:r>
              <a:rPr sz="2100" b="1" dirty="0">
                <a:solidFill>
                  <a:srgbClr val="00669D"/>
                </a:solidFill>
                <a:latin typeface="Arial"/>
                <a:cs typeface="Arial"/>
              </a:rPr>
              <a:t>e </a:t>
            </a:r>
            <a:r>
              <a:rPr sz="2100" b="1" u="heavy" dirty="0">
                <a:solidFill>
                  <a:srgbClr val="00669D"/>
                </a:solidFill>
                <a:latin typeface="Arial"/>
                <a:cs typeface="Arial"/>
              </a:rPr>
              <a:t>symmetr</a:t>
            </a:r>
            <a:r>
              <a:rPr sz="2100" b="1" u="heavy" spc="-10" dirty="0">
                <a:solidFill>
                  <a:srgbClr val="00669D"/>
                </a:solidFill>
                <a:latin typeface="Arial"/>
                <a:cs typeface="Arial"/>
              </a:rPr>
              <a:t>i</a:t>
            </a:r>
            <a:r>
              <a:rPr sz="2100" b="1" u="heavy" dirty="0">
                <a:solidFill>
                  <a:srgbClr val="00669D"/>
                </a:solidFill>
                <a:latin typeface="Arial"/>
                <a:cs typeface="Arial"/>
              </a:rPr>
              <a:t>c</a:t>
            </a:r>
            <a:endParaRPr sz="2100" dirty="0">
              <a:latin typeface="Arial"/>
              <a:cs typeface="Arial"/>
            </a:endParaRPr>
          </a:p>
          <a:p>
            <a:pPr marL="991869" lvl="1" indent="-457200">
              <a:lnSpc>
                <a:spcPct val="100000"/>
              </a:lnSpc>
              <a:spcBef>
                <a:spcPts val="520"/>
              </a:spcBef>
              <a:buFont typeface="Arial"/>
              <a:buChar char="•"/>
              <a:tabLst>
                <a:tab pos="992505" algn="l"/>
              </a:tabLst>
            </a:pPr>
            <a:r>
              <a:rPr sz="2100" b="1" spc="-10" dirty="0">
                <a:solidFill>
                  <a:srgbClr val="00669D"/>
                </a:solidFill>
                <a:latin typeface="Arial"/>
                <a:cs typeface="Arial"/>
              </a:rPr>
              <a:t>i.e.</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spc="-15" dirty="0">
                <a:solidFill>
                  <a:srgbClr val="00669D"/>
                </a:solidFill>
                <a:latin typeface="Arial"/>
                <a:cs typeface="Arial"/>
              </a:rPr>
              <a:t>g</a:t>
            </a:r>
            <a:r>
              <a:rPr sz="2100" b="1" dirty="0">
                <a:solidFill>
                  <a:srgbClr val="00669D"/>
                </a:solidFill>
                <a:latin typeface="Arial"/>
                <a:cs typeface="Arial"/>
              </a:rPr>
              <a:t>ame</a:t>
            </a:r>
            <a:r>
              <a:rPr sz="2100" b="1" spc="-5" dirty="0">
                <a:solidFill>
                  <a:srgbClr val="00669D"/>
                </a:solidFill>
                <a:latin typeface="Arial"/>
                <a:cs typeface="Arial"/>
              </a:rPr>
              <a:t> </a:t>
            </a:r>
            <a:r>
              <a:rPr sz="2100" b="1" spc="-10" dirty="0">
                <a:solidFill>
                  <a:srgbClr val="00669D"/>
                </a:solidFill>
                <a:latin typeface="Arial"/>
                <a:cs typeface="Arial"/>
              </a:rPr>
              <a:t>i</a:t>
            </a:r>
            <a:r>
              <a:rPr sz="2100" b="1" dirty="0">
                <a:solidFill>
                  <a:srgbClr val="00669D"/>
                </a:solidFill>
                <a:latin typeface="Arial"/>
                <a:cs typeface="Arial"/>
              </a:rPr>
              <a:t>s</a:t>
            </a:r>
            <a:r>
              <a:rPr sz="2100" b="1" spc="-5" dirty="0">
                <a:solidFill>
                  <a:srgbClr val="00669D"/>
                </a:solidFill>
                <a:latin typeface="Arial"/>
                <a:cs typeface="Arial"/>
              </a:rPr>
              <a:t> </a:t>
            </a:r>
            <a:r>
              <a:rPr sz="2100" b="1" dirty="0">
                <a:solidFill>
                  <a:srgbClr val="00669D"/>
                </a:solidFill>
                <a:latin typeface="Arial"/>
                <a:cs typeface="Arial"/>
              </a:rPr>
              <a:t>a</a:t>
            </a:r>
            <a:r>
              <a:rPr sz="2100" b="1" spc="-15" dirty="0">
                <a:solidFill>
                  <a:srgbClr val="00669D"/>
                </a:solidFill>
                <a:latin typeface="Arial"/>
                <a:cs typeface="Arial"/>
              </a:rPr>
              <a:t>gno</a:t>
            </a:r>
            <a:r>
              <a:rPr sz="2100" b="1" dirty="0">
                <a:solidFill>
                  <a:srgbClr val="00669D"/>
                </a:solidFill>
                <a:latin typeface="Arial"/>
                <a:cs typeface="Arial"/>
              </a:rPr>
              <a:t>s</a:t>
            </a:r>
            <a:r>
              <a:rPr sz="2100" b="1" spc="-10" dirty="0">
                <a:solidFill>
                  <a:srgbClr val="00669D"/>
                </a:solidFill>
                <a:latin typeface="Arial"/>
                <a:cs typeface="Arial"/>
              </a:rPr>
              <a:t>ti</a:t>
            </a:r>
            <a:r>
              <a:rPr sz="2100" b="1" dirty="0">
                <a:solidFill>
                  <a:srgbClr val="00669D"/>
                </a:solidFill>
                <a:latin typeface="Arial"/>
                <a:cs typeface="Arial"/>
              </a:rPr>
              <a:t>c</a:t>
            </a:r>
            <a:r>
              <a:rPr sz="2100" b="1" spc="-5" dirty="0">
                <a:solidFill>
                  <a:srgbClr val="00669D"/>
                </a:solidFill>
                <a:latin typeface="Arial"/>
                <a:cs typeface="Arial"/>
              </a:rPr>
              <a:t> </a:t>
            </a:r>
            <a:r>
              <a:rPr sz="2100" b="1" dirty="0">
                <a:solidFill>
                  <a:srgbClr val="00669D"/>
                </a:solidFill>
                <a:latin typeface="Arial"/>
                <a:cs typeface="Arial"/>
              </a:rPr>
              <a:t>a</a:t>
            </a:r>
            <a:r>
              <a:rPr sz="2100" b="1" spc="-15" dirty="0">
                <a:solidFill>
                  <a:srgbClr val="00669D"/>
                </a:solidFill>
                <a:latin typeface="Arial"/>
                <a:cs typeface="Arial"/>
              </a:rPr>
              <a:t>bou</a:t>
            </a:r>
            <a:r>
              <a:rPr sz="2100" b="1" dirty="0">
                <a:solidFill>
                  <a:srgbClr val="00669D"/>
                </a:solidFill>
                <a:latin typeface="Arial"/>
                <a:cs typeface="Arial"/>
              </a:rPr>
              <a:t>t</a:t>
            </a:r>
            <a:r>
              <a:rPr sz="2100" b="1" spc="-5" dirty="0">
                <a:solidFill>
                  <a:srgbClr val="00669D"/>
                </a:solidFill>
                <a:latin typeface="Arial"/>
                <a:cs typeface="Arial"/>
              </a:rPr>
              <a:t> </a:t>
            </a:r>
            <a:r>
              <a:rPr sz="2100" b="1" spc="-10" dirty="0">
                <a:solidFill>
                  <a:srgbClr val="00669D"/>
                </a:solidFill>
                <a:latin typeface="Arial"/>
                <a:cs typeface="Arial"/>
              </a:rPr>
              <a:t>th</a:t>
            </a:r>
            <a:r>
              <a:rPr sz="2100" b="1" dirty="0">
                <a:solidFill>
                  <a:srgbClr val="00669D"/>
                </a:solidFill>
                <a:latin typeface="Arial"/>
                <a:cs typeface="Arial"/>
              </a:rPr>
              <a:t>e</a:t>
            </a:r>
            <a:r>
              <a:rPr sz="2100" b="1" spc="-5" dirty="0">
                <a:solidFill>
                  <a:srgbClr val="00669D"/>
                </a:solidFill>
                <a:latin typeface="Arial"/>
                <a:cs typeface="Arial"/>
              </a:rPr>
              <a:t> </a:t>
            </a:r>
            <a:r>
              <a:rPr sz="2100" b="1" spc="-10" dirty="0">
                <a:solidFill>
                  <a:srgbClr val="00669D"/>
                </a:solidFill>
                <a:latin typeface="Arial"/>
                <a:cs typeface="Arial"/>
              </a:rPr>
              <a:t>pl</a:t>
            </a:r>
            <a:r>
              <a:rPr sz="2100" b="1" dirty="0">
                <a:solidFill>
                  <a:srgbClr val="00669D"/>
                </a:solidFill>
                <a:latin typeface="Arial"/>
                <a:cs typeface="Arial"/>
              </a:rPr>
              <a:t>ayers</a:t>
            </a:r>
            <a:r>
              <a:rPr sz="2100" b="1" spc="-10" dirty="0">
                <a:solidFill>
                  <a:srgbClr val="00669D"/>
                </a:solidFill>
                <a:latin typeface="Arial"/>
                <a:cs typeface="Arial"/>
              </a:rPr>
              <a:t>’</a:t>
            </a:r>
            <a:r>
              <a:rPr sz="2100" b="1" spc="-120" dirty="0">
                <a:solidFill>
                  <a:srgbClr val="00669D"/>
                </a:solidFill>
                <a:latin typeface="Arial"/>
                <a:cs typeface="Arial"/>
              </a:rPr>
              <a:t> </a:t>
            </a:r>
            <a:r>
              <a:rPr sz="2100" b="1" dirty="0">
                <a:solidFill>
                  <a:srgbClr val="00669D"/>
                </a:solidFill>
                <a:latin typeface="Arial"/>
                <a:cs typeface="Arial"/>
              </a:rPr>
              <a:t>r</a:t>
            </a:r>
            <a:r>
              <a:rPr sz="2100" b="1" spc="-10" dirty="0">
                <a:solidFill>
                  <a:srgbClr val="00669D"/>
                </a:solidFill>
                <a:latin typeface="Arial"/>
                <a:cs typeface="Arial"/>
              </a:rPr>
              <a:t>ol</a:t>
            </a:r>
            <a:r>
              <a:rPr sz="2100" b="1" dirty="0">
                <a:solidFill>
                  <a:srgbClr val="00669D"/>
                </a:solidFill>
                <a:latin typeface="Arial"/>
                <a:cs typeface="Arial"/>
              </a:rPr>
              <a:t>es</a:t>
            </a:r>
            <a:endParaRPr sz="2100" dirty="0">
              <a:latin typeface="Arial"/>
              <a:cs typeface="Arial"/>
            </a:endParaRPr>
          </a:p>
        </p:txBody>
      </p:sp>
      <p:sp>
        <p:nvSpPr>
          <p:cNvPr id="4" name="Rectangle 3">
            <a:extLst>
              <a:ext uri="{FF2B5EF4-FFF2-40B4-BE49-F238E27FC236}">
                <a16:creationId xmlns:a16="http://schemas.microsoft.com/office/drawing/2014/main" id="{9603D99C-A942-751C-ADBF-BEB94A49AC6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2F0AC4A0-FB19-7416-57B8-F74A1DE52A3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FB612A70-AC61-C1EB-F06A-111182B9462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24</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BC64B00D-9AFC-3103-1A39-4DE02DC81F7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18C8C01F-2F7B-C156-8ED8-AF77CFC2C06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extLst>
      <p:ext uri="{BB962C8B-B14F-4D97-AF65-F5344CB8AC3E}">
        <p14:creationId xmlns:p14="http://schemas.microsoft.com/office/powerpoint/2010/main" val="2159503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43955"/>
          </a:xfrm>
          <a:prstGeom prst="rect">
            <a:avLst/>
          </a:prstGeom>
        </p:spPr>
        <p:txBody>
          <a:bodyPr vert="horz" wrap="square" lIns="0" tIns="150047" rIns="0" bIns="0" rtlCol="0">
            <a:spAutoFit/>
          </a:bodyPr>
          <a:lstStyle/>
          <a:p>
            <a:pPr marL="104775">
              <a:lnSpc>
                <a:spcPct val="100000"/>
              </a:lnSpc>
            </a:pPr>
            <a:r>
              <a:rPr lang="en-US" dirty="0"/>
              <a:t>Symme</a:t>
            </a:r>
            <a:r>
              <a:rPr lang="en-US" spc="-15" dirty="0"/>
              <a:t>t</a:t>
            </a:r>
            <a:r>
              <a:rPr lang="en-US" dirty="0"/>
              <a:t>ric</a:t>
            </a:r>
            <a:r>
              <a:rPr lang="en-US" spc="-5" dirty="0"/>
              <a:t> </a:t>
            </a:r>
            <a:r>
              <a:rPr lang="en-US" spc="-30" dirty="0"/>
              <a:t>G</a:t>
            </a:r>
            <a:r>
              <a:rPr lang="en-US" dirty="0"/>
              <a:t>ames</a:t>
            </a:r>
            <a:endParaRPr dirty="0"/>
          </a:p>
        </p:txBody>
      </p:sp>
      <p:sp>
        <p:nvSpPr>
          <p:cNvPr id="4" name="object 13">
            <a:extLst>
              <a:ext uri="{FF2B5EF4-FFF2-40B4-BE49-F238E27FC236}">
                <a16:creationId xmlns:a16="http://schemas.microsoft.com/office/drawing/2014/main" id="{A2EBF813-57A8-FF2A-9636-FC3B3A5FD17D}"/>
              </a:ext>
            </a:extLst>
          </p:cNvPr>
          <p:cNvSpPr txBox="1"/>
          <p:nvPr/>
        </p:nvSpPr>
        <p:spPr>
          <a:xfrm>
            <a:off x="535099" y="1393874"/>
            <a:ext cx="7157720" cy="3725545"/>
          </a:xfrm>
          <a:prstGeom prst="rect">
            <a:avLst/>
          </a:prstGeom>
        </p:spPr>
        <p:txBody>
          <a:bodyPr vert="horz" wrap="square" lIns="0" tIns="0" rIns="0" bIns="0" rtlCol="0">
            <a:spAutoFit/>
          </a:bodyPr>
          <a:lstStyle/>
          <a:p>
            <a:pPr marL="12700">
              <a:lnSpc>
                <a:spcPct val="100000"/>
              </a:lnSpc>
            </a:pPr>
            <a:r>
              <a:rPr sz="2800" spc="-15" dirty="0">
                <a:latin typeface="Gill Sans MT"/>
                <a:cs typeface="Gill Sans MT"/>
              </a:rPr>
              <a:t>P</a:t>
            </a:r>
            <a:r>
              <a:rPr sz="2800" spc="-5" dirty="0">
                <a:latin typeface="Gill Sans MT"/>
                <a:cs typeface="Gill Sans MT"/>
              </a:rPr>
              <a:t>l</a:t>
            </a:r>
            <a:r>
              <a:rPr sz="2800" spc="-130" dirty="0">
                <a:latin typeface="Gill Sans MT"/>
                <a:cs typeface="Gill Sans MT"/>
              </a:rPr>
              <a:t>a</a:t>
            </a:r>
            <a:r>
              <a:rPr sz="2800" spc="-75" dirty="0">
                <a:latin typeface="Gill Sans MT"/>
                <a:cs typeface="Gill Sans MT"/>
              </a:rPr>
              <a:t>y</a:t>
            </a:r>
            <a:r>
              <a:rPr sz="2800" spc="-15" dirty="0">
                <a:latin typeface="Gill Sans MT"/>
                <a:cs typeface="Gill Sans MT"/>
              </a:rPr>
              <a:t>ers</a:t>
            </a:r>
            <a:r>
              <a:rPr sz="2800" spc="-5" dirty="0">
                <a:latin typeface="Gill Sans MT"/>
                <a:cs typeface="Gill Sans MT"/>
              </a:rPr>
              <a:t> </a:t>
            </a:r>
            <a:r>
              <a:rPr sz="2800" spc="-15" dirty="0">
                <a:latin typeface="Gill Sans MT"/>
                <a:cs typeface="Gill Sans MT"/>
              </a:rPr>
              <a:t>a</a:t>
            </a:r>
            <a:r>
              <a:rPr sz="2800" spc="-75" dirty="0">
                <a:latin typeface="Gill Sans MT"/>
                <a:cs typeface="Gill Sans MT"/>
              </a:rPr>
              <a:t>r</a:t>
            </a:r>
            <a:r>
              <a:rPr sz="2800" dirty="0">
                <a:latin typeface="Gill Sans MT"/>
                <a:cs typeface="Gill Sans MT"/>
              </a:rPr>
              <a:t>e</a:t>
            </a:r>
            <a:r>
              <a:rPr sz="2800" spc="-5" dirty="0">
                <a:latin typeface="Gill Sans MT"/>
                <a:cs typeface="Gill Sans MT"/>
              </a:rPr>
              <a:t> i</a:t>
            </a:r>
            <a:r>
              <a:rPr sz="2800" dirty="0">
                <a:latin typeface="Gill Sans MT"/>
                <a:cs typeface="Gill Sans MT"/>
              </a:rPr>
              <a:t>nte</a:t>
            </a:r>
            <a:r>
              <a:rPr sz="2800" spc="-70" dirty="0">
                <a:latin typeface="Gill Sans MT"/>
                <a:cs typeface="Gill Sans MT"/>
              </a:rPr>
              <a:t>r</a:t>
            </a:r>
            <a:r>
              <a:rPr sz="2800" spc="-15" dirty="0">
                <a:latin typeface="Gill Sans MT"/>
                <a:cs typeface="Gill Sans MT"/>
              </a:rPr>
              <a:t>changea</a:t>
            </a:r>
            <a:r>
              <a:rPr sz="2800" dirty="0">
                <a:latin typeface="Gill Sans MT"/>
                <a:cs typeface="Gill Sans MT"/>
              </a:rPr>
              <a:t>b</a:t>
            </a:r>
            <a:r>
              <a:rPr sz="2800" spc="-5" dirty="0">
                <a:latin typeface="Gill Sans MT"/>
                <a:cs typeface="Gill Sans MT"/>
              </a:rPr>
              <a:t>l</a:t>
            </a:r>
            <a:r>
              <a:rPr sz="2800" spc="55" dirty="0">
                <a:latin typeface="Gill Sans MT"/>
                <a:cs typeface="Gill Sans MT"/>
              </a:rPr>
              <a:t>e</a:t>
            </a:r>
            <a:r>
              <a:rPr sz="2800" dirty="0">
                <a:latin typeface="Gill Sans MT"/>
                <a:cs typeface="Gill Sans MT"/>
              </a:rPr>
              <a:t>,</a:t>
            </a:r>
            <a:r>
              <a:rPr sz="2800" spc="-285" dirty="0">
                <a:latin typeface="Gill Sans MT"/>
                <a:cs typeface="Gill Sans MT"/>
              </a:rPr>
              <a:t> </a:t>
            </a:r>
            <a:r>
              <a:rPr sz="2800" spc="-5" dirty="0">
                <a:latin typeface="Gill Sans MT"/>
                <a:cs typeface="Gill Sans MT"/>
              </a:rPr>
              <a:t>i.</a:t>
            </a:r>
            <a:r>
              <a:rPr sz="2800" spc="55" dirty="0">
                <a:latin typeface="Gill Sans MT"/>
                <a:cs typeface="Gill Sans MT"/>
              </a:rPr>
              <a:t>e</a:t>
            </a:r>
            <a:r>
              <a:rPr sz="2800" dirty="0">
                <a:latin typeface="Gill Sans MT"/>
                <a:cs typeface="Gill Sans MT"/>
              </a:rPr>
              <a:t>.</a:t>
            </a:r>
            <a:r>
              <a:rPr sz="2800" spc="-285" dirty="0">
                <a:latin typeface="Gill Sans MT"/>
                <a:cs typeface="Gill Sans MT"/>
              </a:rPr>
              <a:t> </a:t>
            </a:r>
            <a:r>
              <a:rPr sz="2950" i="1" spc="-120" dirty="0">
                <a:latin typeface="Times New Roman"/>
                <a:cs typeface="Times New Roman"/>
              </a:rPr>
              <a:t>a</a:t>
            </a:r>
            <a:r>
              <a:rPr sz="3075" i="1" spc="7" baseline="-20325" dirty="0">
                <a:latin typeface="Times New Roman"/>
                <a:cs typeface="Times New Roman"/>
              </a:rPr>
              <a:t>i</a:t>
            </a:r>
            <a:r>
              <a:rPr sz="3075" spc="157" baseline="-20325" dirty="0">
                <a:latin typeface="Century"/>
                <a:cs typeface="Century"/>
              </a:rPr>
              <a:t>,</a:t>
            </a:r>
            <a:r>
              <a:rPr sz="3075" i="1" spc="7" baseline="-20325" dirty="0">
                <a:latin typeface="Times New Roman"/>
                <a:cs typeface="Times New Roman"/>
              </a:rPr>
              <a:t>j</a:t>
            </a:r>
            <a:r>
              <a:rPr sz="3075" i="1" baseline="-20325" dirty="0">
                <a:latin typeface="Times New Roman"/>
                <a:cs typeface="Times New Roman"/>
              </a:rPr>
              <a:t> </a:t>
            </a:r>
            <a:r>
              <a:rPr sz="3075" i="1" spc="-315" baseline="-20325" dirty="0">
                <a:latin typeface="Times New Roman"/>
                <a:cs typeface="Times New Roman"/>
              </a:rPr>
              <a:t> </a:t>
            </a:r>
            <a:r>
              <a:rPr sz="2950" spc="210" dirty="0">
                <a:latin typeface="Century"/>
                <a:cs typeface="Century"/>
              </a:rPr>
              <a:t>=</a:t>
            </a:r>
            <a:r>
              <a:rPr sz="2950" spc="-5" dirty="0">
                <a:latin typeface="Century"/>
                <a:cs typeface="Century"/>
              </a:rPr>
              <a:t> </a:t>
            </a:r>
            <a:r>
              <a:rPr sz="2950" i="1" spc="-120" dirty="0">
                <a:latin typeface="Times New Roman"/>
                <a:cs typeface="Times New Roman"/>
              </a:rPr>
              <a:t>b</a:t>
            </a:r>
            <a:r>
              <a:rPr sz="3075" i="1" spc="7" baseline="-20325" dirty="0">
                <a:latin typeface="Times New Roman"/>
                <a:cs typeface="Times New Roman"/>
              </a:rPr>
              <a:t>j</a:t>
            </a:r>
            <a:r>
              <a:rPr sz="3075" spc="-82" baseline="-20325" dirty="0">
                <a:latin typeface="Century"/>
                <a:cs typeface="Century"/>
              </a:rPr>
              <a:t>,</a:t>
            </a:r>
            <a:r>
              <a:rPr sz="3075" i="1" spc="7" baseline="-20325" dirty="0">
                <a:latin typeface="Times New Roman"/>
                <a:cs typeface="Times New Roman"/>
              </a:rPr>
              <a:t>i</a:t>
            </a:r>
            <a:r>
              <a:rPr sz="3075" i="1" baseline="-20325" dirty="0">
                <a:latin typeface="Times New Roman"/>
                <a:cs typeface="Times New Roman"/>
              </a:rPr>
              <a:t> </a:t>
            </a:r>
            <a:r>
              <a:rPr sz="3075" i="1" spc="-375" baseline="-20325" dirty="0">
                <a:latin typeface="Times New Roman"/>
                <a:cs typeface="Times New Roman"/>
              </a:rPr>
              <a:t> </a:t>
            </a:r>
            <a:r>
              <a:rPr sz="2800" spc="-15" dirty="0">
                <a:latin typeface="Gill Sans MT"/>
                <a:cs typeface="Gill Sans MT"/>
              </a:rPr>
              <a:t>or</a:t>
            </a:r>
            <a:endParaRPr sz="2800" dirty="0">
              <a:latin typeface="Gill Sans MT"/>
              <a:cs typeface="Gill Sans MT"/>
            </a:endParaRPr>
          </a:p>
          <a:p>
            <a:pPr>
              <a:lnSpc>
                <a:spcPct val="100000"/>
              </a:lnSpc>
              <a:spcBef>
                <a:spcPts val="21"/>
              </a:spcBef>
            </a:pPr>
            <a:endParaRPr sz="3050" dirty="0">
              <a:latin typeface="Times New Roman"/>
              <a:cs typeface="Times New Roman"/>
            </a:endParaRPr>
          </a:p>
          <a:p>
            <a:pPr marL="12700">
              <a:lnSpc>
                <a:spcPct val="100000"/>
              </a:lnSpc>
            </a:pPr>
            <a:r>
              <a:rPr sz="2950" i="1" spc="-20" dirty="0">
                <a:latin typeface="Times New Roman"/>
                <a:cs typeface="Times New Roman"/>
              </a:rPr>
              <a:t>A</a:t>
            </a:r>
            <a:r>
              <a:rPr sz="2950" i="1" spc="75" dirty="0">
                <a:latin typeface="Times New Roman"/>
                <a:cs typeface="Times New Roman"/>
              </a:rPr>
              <a:t> </a:t>
            </a:r>
            <a:r>
              <a:rPr sz="2950" spc="210" dirty="0">
                <a:latin typeface="Century"/>
                <a:cs typeface="Century"/>
              </a:rPr>
              <a:t>=</a:t>
            </a:r>
            <a:r>
              <a:rPr sz="2950" spc="-5" dirty="0">
                <a:latin typeface="Century"/>
                <a:cs typeface="Century"/>
              </a:rPr>
              <a:t> </a:t>
            </a:r>
            <a:r>
              <a:rPr sz="2950" i="1" spc="130" dirty="0">
                <a:latin typeface="Times New Roman"/>
                <a:cs typeface="Times New Roman"/>
              </a:rPr>
              <a:t>B</a:t>
            </a:r>
            <a:r>
              <a:rPr sz="3075" i="1" spc="15" baseline="29810" dirty="0">
                <a:latin typeface="Times New Roman"/>
                <a:cs typeface="Times New Roman"/>
              </a:rPr>
              <a:t>T</a:t>
            </a:r>
            <a:endParaRPr sz="3075" baseline="29810" dirty="0">
              <a:latin typeface="Times New Roman"/>
              <a:cs typeface="Times New Roman"/>
            </a:endParaRPr>
          </a:p>
          <a:p>
            <a:pPr>
              <a:lnSpc>
                <a:spcPct val="100000"/>
              </a:lnSpc>
              <a:spcBef>
                <a:spcPts val="5"/>
              </a:spcBef>
            </a:pPr>
            <a:endParaRPr sz="2850" dirty="0">
              <a:latin typeface="Times New Roman"/>
              <a:cs typeface="Times New Roman"/>
            </a:endParaRPr>
          </a:p>
          <a:p>
            <a:pPr marL="12700" marR="5080">
              <a:lnSpc>
                <a:spcPts val="3200"/>
              </a:lnSpc>
            </a:pPr>
            <a:r>
              <a:rPr sz="2800" dirty="0">
                <a:latin typeface="Gill Sans MT"/>
                <a:cs typeface="Gill Sans MT"/>
              </a:rPr>
              <a:t>S</a:t>
            </a:r>
            <a:r>
              <a:rPr sz="2800" spc="-5" dirty="0">
                <a:latin typeface="Gill Sans MT"/>
                <a:cs typeface="Gill Sans MT"/>
              </a:rPr>
              <a:t>i</a:t>
            </a:r>
            <a:r>
              <a:rPr sz="2800" spc="-15" dirty="0">
                <a:latin typeface="Gill Sans MT"/>
                <a:cs typeface="Gill Sans MT"/>
              </a:rPr>
              <a:t>nce</a:t>
            </a:r>
            <a:r>
              <a:rPr sz="2800" spc="-5" dirty="0">
                <a:latin typeface="Gill Sans MT"/>
                <a:cs typeface="Gill Sans MT"/>
              </a:rPr>
              <a:t> </a:t>
            </a:r>
            <a:r>
              <a:rPr sz="2800" dirty="0">
                <a:latin typeface="Gill Sans MT"/>
                <a:cs typeface="Gill Sans MT"/>
              </a:rPr>
              <a:t>p</a:t>
            </a:r>
            <a:r>
              <a:rPr sz="2800" spc="-5" dirty="0">
                <a:latin typeface="Gill Sans MT"/>
                <a:cs typeface="Gill Sans MT"/>
              </a:rPr>
              <a:t>l</a:t>
            </a:r>
            <a:r>
              <a:rPr sz="2800" spc="-130" dirty="0">
                <a:latin typeface="Gill Sans MT"/>
                <a:cs typeface="Gill Sans MT"/>
              </a:rPr>
              <a:t>a</a:t>
            </a:r>
            <a:r>
              <a:rPr sz="2800" spc="-75" dirty="0">
                <a:latin typeface="Gill Sans MT"/>
                <a:cs typeface="Gill Sans MT"/>
              </a:rPr>
              <a:t>y</a:t>
            </a:r>
            <a:r>
              <a:rPr sz="2800" spc="-15" dirty="0">
                <a:latin typeface="Gill Sans MT"/>
                <a:cs typeface="Gill Sans MT"/>
              </a:rPr>
              <a:t>ers</a:t>
            </a:r>
            <a:r>
              <a:rPr sz="2800" spc="-5" dirty="0">
                <a:latin typeface="Gill Sans MT"/>
                <a:cs typeface="Gill Sans MT"/>
              </a:rPr>
              <a:t> </a:t>
            </a:r>
            <a:r>
              <a:rPr sz="2800" spc="-15" dirty="0">
                <a:latin typeface="Gill Sans MT"/>
                <a:cs typeface="Gill Sans MT"/>
              </a:rPr>
              <a:t>a</a:t>
            </a:r>
            <a:r>
              <a:rPr sz="2800" spc="-75" dirty="0">
                <a:latin typeface="Gill Sans MT"/>
                <a:cs typeface="Gill Sans MT"/>
              </a:rPr>
              <a:t>r</a:t>
            </a:r>
            <a:r>
              <a:rPr sz="2800" dirty="0">
                <a:latin typeface="Gill Sans MT"/>
                <a:cs typeface="Gill Sans MT"/>
              </a:rPr>
              <a:t>e</a:t>
            </a:r>
            <a:r>
              <a:rPr sz="2800" spc="-5" dirty="0">
                <a:latin typeface="Gill Sans MT"/>
                <a:cs typeface="Gill Sans MT"/>
              </a:rPr>
              <a:t> i</a:t>
            </a:r>
            <a:r>
              <a:rPr sz="2800" dirty="0">
                <a:latin typeface="Gill Sans MT"/>
                <a:cs typeface="Gill Sans MT"/>
              </a:rPr>
              <a:t>nte</a:t>
            </a:r>
            <a:r>
              <a:rPr sz="2800" spc="-70" dirty="0">
                <a:latin typeface="Gill Sans MT"/>
                <a:cs typeface="Gill Sans MT"/>
              </a:rPr>
              <a:t>r</a:t>
            </a:r>
            <a:r>
              <a:rPr sz="2800" spc="-15" dirty="0">
                <a:latin typeface="Gill Sans MT"/>
                <a:cs typeface="Gill Sans MT"/>
              </a:rPr>
              <a:t>changea</a:t>
            </a:r>
            <a:r>
              <a:rPr sz="2800" dirty="0">
                <a:latin typeface="Gill Sans MT"/>
                <a:cs typeface="Gill Sans MT"/>
              </a:rPr>
              <a:t>b</a:t>
            </a:r>
            <a:r>
              <a:rPr sz="2800" spc="-5" dirty="0">
                <a:latin typeface="Gill Sans MT"/>
                <a:cs typeface="Gill Sans MT"/>
              </a:rPr>
              <a:t>l</a:t>
            </a:r>
            <a:r>
              <a:rPr sz="2800" dirty="0">
                <a:latin typeface="Gill Sans MT"/>
                <a:cs typeface="Gill Sans MT"/>
              </a:rPr>
              <a:t>e</a:t>
            </a:r>
            <a:r>
              <a:rPr sz="2800" spc="-5" dirty="0">
                <a:latin typeface="Gill Sans MT"/>
                <a:cs typeface="Gill Sans MT"/>
              </a:rPr>
              <a:t> </a:t>
            </a:r>
            <a:r>
              <a:rPr sz="2800" spc="-60" dirty="0">
                <a:latin typeface="Gill Sans MT"/>
                <a:cs typeface="Gill Sans MT"/>
              </a:rPr>
              <a:t>w</a:t>
            </a:r>
            <a:r>
              <a:rPr sz="2800" dirty="0">
                <a:latin typeface="Gill Sans MT"/>
                <a:cs typeface="Gill Sans MT"/>
              </a:rPr>
              <a:t>e</a:t>
            </a:r>
            <a:r>
              <a:rPr sz="2800" spc="-5" dirty="0">
                <a:latin typeface="Gill Sans MT"/>
                <a:cs typeface="Gill Sans MT"/>
              </a:rPr>
              <a:t> </a:t>
            </a:r>
            <a:r>
              <a:rPr sz="2800" spc="-20" dirty="0">
                <a:latin typeface="Gill Sans MT"/>
                <a:cs typeface="Gill Sans MT"/>
              </a:rPr>
              <a:t>o</a:t>
            </a:r>
            <a:r>
              <a:rPr sz="2800" dirty="0">
                <a:latin typeface="Gill Sans MT"/>
                <a:cs typeface="Gill Sans MT"/>
              </a:rPr>
              <a:t>n</a:t>
            </a:r>
            <a:r>
              <a:rPr sz="2800" spc="-30" dirty="0">
                <a:latin typeface="Gill Sans MT"/>
                <a:cs typeface="Gill Sans MT"/>
              </a:rPr>
              <a:t>l</a:t>
            </a:r>
            <a:r>
              <a:rPr sz="2800" spc="-15" dirty="0">
                <a:latin typeface="Gill Sans MT"/>
                <a:cs typeface="Gill Sans MT"/>
              </a:rPr>
              <a:t>y cons</a:t>
            </a:r>
            <a:r>
              <a:rPr sz="2800" spc="-5" dirty="0">
                <a:latin typeface="Gill Sans MT"/>
                <a:cs typeface="Gill Sans MT"/>
              </a:rPr>
              <a:t>i</a:t>
            </a:r>
            <a:r>
              <a:rPr sz="2800" spc="-15" dirty="0">
                <a:latin typeface="Gill Sans MT"/>
                <a:cs typeface="Gill Sans MT"/>
              </a:rPr>
              <a:t>d</a:t>
            </a:r>
            <a:r>
              <a:rPr sz="2800" dirty="0">
                <a:latin typeface="Gill Sans MT"/>
                <a:cs typeface="Gill Sans MT"/>
              </a:rPr>
              <a:t>er</a:t>
            </a:r>
            <a:r>
              <a:rPr sz="2800" spc="-5" dirty="0">
                <a:latin typeface="Gill Sans MT"/>
                <a:cs typeface="Gill Sans MT"/>
              </a:rPr>
              <a:t> </a:t>
            </a:r>
            <a:r>
              <a:rPr sz="2800" spc="-15" dirty="0">
                <a:latin typeface="Gill Sans MT"/>
                <a:cs typeface="Gill Sans MT"/>
              </a:rPr>
              <a:t>s</a:t>
            </a:r>
            <a:r>
              <a:rPr sz="2800" dirty="0">
                <a:latin typeface="Gill Sans MT"/>
                <a:cs typeface="Gill Sans MT"/>
              </a:rPr>
              <a:t>ymmetr</a:t>
            </a:r>
            <a:r>
              <a:rPr sz="2800" spc="-5" dirty="0">
                <a:latin typeface="Gill Sans MT"/>
                <a:cs typeface="Gill Sans MT"/>
              </a:rPr>
              <a:t>i</a:t>
            </a:r>
            <a:r>
              <a:rPr sz="2800" spc="-15" dirty="0">
                <a:latin typeface="Gill Sans MT"/>
                <a:cs typeface="Gill Sans MT"/>
              </a:rPr>
              <a:t>c</a:t>
            </a:r>
            <a:r>
              <a:rPr sz="2800" spc="-5" dirty="0">
                <a:latin typeface="Gill Sans MT"/>
                <a:cs typeface="Gill Sans MT"/>
              </a:rPr>
              <a:t> </a:t>
            </a:r>
            <a:r>
              <a:rPr sz="2800" spc="-15" dirty="0">
                <a:latin typeface="Gill Sans MT"/>
                <a:cs typeface="Gill Sans MT"/>
              </a:rPr>
              <a:t>pa</a:t>
            </a:r>
            <a:r>
              <a:rPr sz="2800" spc="-5" dirty="0">
                <a:latin typeface="Gill Sans MT"/>
                <a:cs typeface="Gill Sans MT"/>
              </a:rPr>
              <a:t>i</a:t>
            </a:r>
            <a:r>
              <a:rPr sz="2800" spc="-15" dirty="0">
                <a:latin typeface="Gill Sans MT"/>
                <a:cs typeface="Gill Sans MT"/>
              </a:rPr>
              <a:t>rs</a:t>
            </a:r>
            <a:r>
              <a:rPr sz="2800" spc="-5" dirty="0">
                <a:latin typeface="Gill Sans MT"/>
                <a:cs typeface="Gill Sans MT"/>
              </a:rPr>
              <a:t> (</a:t>
            </a:r>
            <a:r>
              <a:rPr sz="2800" i="1" spc="-15" dirty="0">
                <a:latin typeface="Gill Sans MT"/>
                <a:cs typeface="Gill Sans MT"/>
              </a:rPr>
              <a:t>x</a:t>
            </a:r>
            <a:r>
              <a:rPr sz="2800" dirty="0">
                <a:latin typeface="Gill Sans MT"/>
                <a:cs typeface="Gill Sans MT"/>
              </a:rPr>
              <a:t>,</a:t>
            </a:r>
            <a:r>
              <a:rPr sz="2800" spc="-285" dirty="0">
                <a:latin typeface="Gill Sans MT"/>
                <a:cs typeface="Gill Sans MT"/>
              </a:rPr>
              <a:t> </a:t>
            </a:r>
            <a:r>
              <a:rPr sz="2800" i="1" spc="-15" dirty="0">
                <a:latin typeface="Gill Sans MT"/>
                <a:cs typeface="Gill Sans MT"/>
              </a:rPr>
              <a:t>x</a:t>
            </a:r>
            <a:r>
              <a:rPr sz="2800" dirty="0">
                <a:latin typeface="Gill Sans MT"/>
                <a:cs typeface="Gill Sans MT"/>
              </a:rPr>
              <a:t>)</a:t>
            </a:r>
            <a:r>
              <a:rPr sz="2800" spc="-5" dirty="0">
                <a:latin typeface="Gill Sans MT"/>
                <a:cs typeface="Gill Sans MT"/>
              </a:rPr>
              <a:t> </a:t>
            </a:r>
            <a:r>
              <a:rPr sz="2800" spc="-30" dirty="0">
                <a:latin typeface="Gill Sans MT"/>
                <a:cs typeface="Gill Sans MT"/>
              </a:rPr>
              <a:t>f</a:t>
            </a:r>
            <a:r>
              <a:rPr sz="2800" spc="-15" dirty="0">
                <a:latin typeface="Gill Sans MT"/>
                <a:cs typeface="Gill Sans MT"/>
              </a:rPr>
              <a:t>or</a:t>
            </a:r>
            <a:r>
              <a:rPr sz="2800" spc="-5" dirty="0">
                <a:latin typeface="Gill Sans MT"/>
                <a:cs typeface="Gill Sans MT"/>
              </a:rPr>
              <a:t> </a:t>
            </a:r>
            <a:r>
              <a:rPr sz="2800" spc="-15" dirty="0">
                <a:latin typeface="Gill Sans MT"/>
                <a:cs typeface="Gill Sans MT"/>
              </a:rPr>
              <a:t>a</a:t>
            </a:r>
            <a:r>
              <a:rPr sz="2800" dirty="0">
                <a:latin typeface="Gill Sans MT"/>
                <a:cs typeface="Gill Sans MT"/>
              </a:rPr>
              <a:t>n</a:t>
            </a:r>
            <a:r>
              <a:rPr sz="2800" spc="-5" dirty="0">
                <a:latin typeface="Gill Sans MT"/>
                <a:cs typeface="Gill Sans MT"/>
              </a:rPr>
              <a:t> </a:t>
            </a:r>
            <a:r>
              <a:rPr sz="2800" dirty="0">
                <a:latin typeface="Gill Sans MT"/>
                <a:cs typeface="Gill Sans MT"/>
              </a:rPr>
              <a:t>equi</a:t>
            </a:r>
            <a:r>
              <a:rPr sz="2800" spc="-5" dirty="0">
                <a:latin typeface="Gill Sans MT"/>
                <a:cs typeface="Gill Sans MT"/>
              </a:rPr>
              <a:t>li</a:t>
            </a:r>
            <a:r>
              <a:rPr sz="2800" dirty="0">
                <a:latin typeface="Gill Sans MT"/>
                <a:cs typeface="Gill Sans MT"/>
              </a:rPr>
              <a:t>brium.</a:t>
            </a:r>
          </a:p>
          <a:p>
            <a:pPr>
              <a:lnSpc>
                <a:spcPct val="100000"/>
              </a:lnSpc>
              <a:spcBef>
                <a:spcPts val="37"/>
              </a:spcBef>
            </a:pPr>
            <a:endParaRPr sz="2750" dirty="0">
              <a:latin typeface="Times New Roman"/>
              <a:cs typeface="Times New Roman"/>
            </a:endParaRPr>
          </a:p>
          <a:p>
            <a:pPr marL="12700" marR="189230">
              <a:lnSpc>
                <a:spcPts val="3200"/>
              </a:lnSpc>
            </a:pPr>
            <a:r>
              <a:rPr sz="2800" spc="-20" dirty="0">
                <a:latin typeface="Gill Sans MT"/>
                <a:cs typeface="Gill Sans MT"/>
              </a:rPr>
              <a:t>A</a:t>
            </a:r>
            <a:r>
              <a:rPr sz="2800" spc="-5" dirty="0">
                <a:latin typeface="Gill Sans MT"/>
                <a:cs typeface="Gill Sans MT"/>
              </a:rPr>
              <a:t> </a:t>
            </a:r>
            <a:r>
              <a:rPr sz="2800" spc="-15" dirty="0">
                <a:latin typeface="Gill Sans MT"/>
                <a:cs typeface="Gill Sans MT"/>
              </a:rPr>
              <a:t>strate</a:t>
            </a:r>
            <a:r>
              <a:rPr sz="2800" spc="40" dirty="0">
                <a:latin typeface="Gill Sans MT"/>
                <a:cs typeface="Gill Sans MT"/>
              </a:rPr>
              <a:t>g</a:t>
            </a:r>
            <a:r>
              <a:rPr sz="2800" spc="-15" dirty="0">
                <a:latin typeface="Gill Sans MT"/>
                <a:cs typeface="Gill Sans MT"/>
              </a:rPr>
              <a:t>y</a:t>
            </a:r>
            <a:r>
              <a:rPr sz="2800" spc="-5" dirty="0">
                <a:latin typeface="Gill Sans MT"/>
                <a:cs typeface="Gill Sans MT"/>
              </a:rPr>
              <a:t> </a:t>
            </a:r>
            <a:r>
              <a:rPr sz="2800" i="1" spc="-15" dirty="0">
                <a:latin typeface="Gill Sans MT"/>
                <a:cs typeface="Gill Sans MT"/>
              </a:rPr>
              <a:t>x</a:t>
            </a:r>
            <a:r>
              <a:rPr sz="2800" i="1" spc="-5" dirty="0">
                <a:latin typeface="Gill Sans MT"/>
                <a:cs typeface="Gill Sans MT"/>
              </a:rPr>
              <a:t> </a:t>
            </a:r>
            <a:r>
              <a:rPr sz="2800" spc="-5" dirty="0">
                <a:latin typeface="Gill Sans MT"/>
                <a:cs typeface="Gill Sans MT"/>
              </a:rPr>
              <a:t>i</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latin typeface="Gill Sans MT"/>
                <a:cs typeface="Gill Sans MT"/>
              </a:rPr>
              <a:t>Nas</a:t>
            </a:r>
            <a:r>
              <a:rPr sz="2800" dirty="0">
                <a:latin typeface="Gill Sans MT"/>
                <a:cs typeface="Gill Sans MT"/>
              </a:rPr>
              <a:t>h</a:t>
            </a:r>
            <a:r>
              <a:rPr sz="2800" spc="-5" dirty="0">
                <a:latin typeface="Gill Sans MT"/>
                <a:cs typeface="Gill Sans MT"/>
              </a:rPr>
              <a:t> </a:t>
            </a:r>
            <a:r>
              <a:rPr sz="2800" dirty="0">
                <a:latin typeface="Gill Sans MT"/>
                <a:cs typeface="Gill Sans MT"/>
              </a:rPr>
              <a:t>equi</a:t>
            </a:r>
            <a:r>
              <a:rPr sz="2800" spc="-5" dirty="0">
                <a:latin typeface="Gill Sans MT"/>
                <a:cs typeface="Gill Sans MT"/>
              </a:rPr>
              <a:t>li</a:t>
            </a:r>
            <a:r>
              <a:rPr sz="2800" dirty="0">
                <a:latin typeface="Gill Sans MT"/>
                <a:cs typeface="Gill Sans MT"/>
              </a:rPr>
              <a:t>bri</a:t>
            </a:r>
            <a:r>
              <a:rPr sz="2800" spc="-20" dirty="0">
                <a:latin typeface="Gill Sans MT"/>
                <a:cs typeface="Gill Sans MT"/>
              </a:rPr>
              <a:t>um</a:t>
            </a:r>
            <a:r>
              <a:rPr sz="2800" spc="-5" dirty="0">
                <a:latin typeface="Gill Sans MT"/>
                <a:cs typeface="Gill Sans MT"/>
              </a:rPr>
              <a:t> i</a:t>
            </a:r>
            <a:r>
              <a:rPr sz="2800" dirty="0">
                <a:latin typeface="Gill Sans MT"/>
                <a:cs typeface="Gill Sans MT"/>
              </a:rPr>
              <a:t>f</a:t>
            </a:r>
            <a:r>
              <a:rPr sz="2800" spc="-5" dirty="0">
                <a:latin typeface="Gill Sans MT"/>
                <a:cs typeface="Gill Sans MT"/>
              </a:rPr>
              <a:t> </a:t>
            </a:r>
            <a:r>
              <a:rPr sz="2800" spc="-30" dirty="0">
                <a:latin typeface="Gill Sans MT"/>
                <a:cs typeface="Gill Sans MT"/>
              </a:rPr>
              <a:t>f</a:t>
            </a:r>
            <a:r>
              <a:rPr sz="2800" spc="-15" dirty="0">
                <a:latin typeface="Gill Sans MT"/>
                <a:cs typeface="Gill Sans MT"/>
              </a:rPr>
              <a:t>or</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l</a:t>
            </a:r>
            <a:r>
              <a:rPr sz="2800" dirty="0">
                <a:latin typeface="Gill Sans MT"/>
                <a:cs typeface="Gill Sans MT"/>
              </a:rPr>
              <a:t>l</a:t>
            </a:r>
            <a:r>
              <a:rPr sz="2800" spc="-5" dirty="0">
                <a:latin typeface="Gill Sans MT"/>
                <a:cs typeface="Gill Sans MT"/>
              </a:rPr>
              <a:t> </a:t>
            </a:r>
            <a:r>
              <a:rPr sz="2800" spc="-20" dirty="0">
                <a:latin typeface="Gill Sans MT"/>
                <a:cs typeface="Gill Sans MT"/>
              </a:rPr>
              <a:t>o</a:t>
            </a:r>
            <a:r>
              <a:rPr sz="2800" dirty="0">
                <a:latin typeface="Gill Sans MT"/>
                <a:cs typeface="Gill Sans MT"/>
              </a:rPr>
              <a:t>ther </a:t>
            </a:r>
            <a:r>
              <a:rPr sz="2800" spc="-15" dirty="0">
                <a:latin typeface="Gill Sans MT"/>
                <a:cs typeface="Gill Sans MT"/>
              </a:rPr>
              <a:t>strateg</a:t>
            </a:r>
            <a:r>
              <a:rPr sz="2800" spc="-5" dirty="0">
                <a:latin typeface="Gill Sans MT"/>
                <a:cs typeface="Gill Sans MT"/>
              </a:rPr>
              <a:t>i</a:t>
            </a:r>
            <a:r>
              <a:rPr sz="2800" spc="-15" dirty="0">
                <a:latin typeface="Gill Sans MT"/>
                <a:cs typeface="Gill Sans MT"/>
              </a:rPr>
              <a:t>es</a:t>
            </a:r>
            <a:r>
              <a:rPr sz="2800" spc="-5" dirty="0">
                <a:latin typeface="Gill Sans MT"/>
                <a:cs typeface="Gill Sans MT"/>
              </a:rPr>
              <a:t> </a:t>
            </a:r>
            <a:r>
              <a:rPr sz="2800" i="1" dirty="0">
                <a:latin typeface="Gill Sans MT"/>
                <a:cs typeface="Gill Sans MT"/>
              </a:rPr>
              <a:t>z:</a:t>
            </a:r>
            <a:endParaRPr sz="2800" dirty="0">
              <a:latin typeface="Gill Sans MT"/>
              <a:cs typeface="Gill Sans MT"/>
            </a:endParaRPr>
          </a:p>
        </p:txBody>
      </p:sp>
      <p:sp>
        <p:nvSpPr>
          <p:cNvPr id="6" name="object 14">
            <a:extLst>
              <a:ext uri="{FF2B5EF4-FFF2-40B4-BE49-F238E27FC236}">
                <a16:creationId xmlns:a16="http://schemas.microsoft.com/office/drawing/2014/main" id="{127B3FDC-7227-6CB2-711F-87C1C3DD463D}"/>
              </a:ext>
            </a:extLst>
          </p:cNvPr>
          <p:cNvSpPr txBox="1"/>
          <p:nvPr/>
        </p:nvSpPr>
        <p:spPr>
          <a:xfrm>
            <a:off x="535099" y="5494717"/>
            <a:ext cx="2063114" cy="481330"/>
          </a:xfrm>
          <a:prstGeom prst="rect">
            <a:avLst/>
          </a:prstGeom>
        </p:spPr>
        <p:txBody>
          <a:bodyPr vert="horz" wrap="square" lIns="0" tIns="0" rIns="0" bIns="0" rtlCol="0">
            <a:spAutoFit/>
          </a:bodyPr>
          <a:lstStyle/>
          <a:p>
            <a:pPr marL="12700">
              <a:lnSpc>
                <a:spcPct val="100000"/>
              </a:lnSpc>
            </a:pPr>
            <a:r>
              <a:rPr sz="2950" i="1" spc="135" dirty="0">
                <a:latin typeface="Times New Roman"/>
                <a:cs typeface="Times New Roman"/>
              </a:rPr>
              <a:t>x</a:t>
            </a:r>
            <a:r>
              <a:rPr sz="3075" i="1" spc="15" baseline="29810" dirty="0">
                <a:latin typeface="Times New Roman"/>
                <a:cs typeface="Times New Roman"/>
              </a:rPr>
              <a:t>T</a:t>
            </a:r>
            <a:r>
              <a:rPr sz="3075" i="1" spc="-157" baseline="29810" dirty="0">
                <a:latin typeface="Times New Roman"/>
                <a:cs typeface="Times New Roman"/>
              </a:rPr>
              <a:t> </a:t>
            </a:r>
            <a:r>
              <a:rPr sz="2950" i="1" spc="120" dirty="0">
                <a:latin typeface="Times New Roman"/>
                <a:cs typeface="Times New Roman"/>
              </a:rPr>
              <a:t>A</a:t>
            </a:r>
            <a:r>
              <a:rPr sz="2950" i="1" spc="-15" dirty="0">
                <a:latin typeface="Times New Roman"/>
                <a:cs typeface="Times New Roman"/>
              </a:rPr>
              <a:t>x</a:t>
            </a:r>
            <a:r>
              <a:rPr sz="2950" i="1" spc="75" dirty="0">
                <a:latin typeface="Times New Roman"/>
                <a:cs typeface="Times New Roman"/>
              </a:rPr>
              <a:t> </a:t>
            </a:r>
            <a:r>
              <a:rPr sz="2950" spc="-355" dirty="0">
                <a:latin typeface="Lucida Sans Unicode"/>
                <a:cs typeface="Lucida Sans Unicode"/>
              </a:rPr>
              <a:t>≥</a:t>
            </a:r>
            <a:r>
              <a:rPr sz="2950" spc="-114" dirty="0">
                <a:latin typeface="Lucida Sans Unicode"/>
                <a:cs typeface="Lucida Sans Unicode"/>
              </a:rPr>
              <a:t> </a:t>
            </a:r>
            <a:r>
              <a:rPr sz="2950" i="1" spc="135" dirty="0">
                <a:latin typeface="Times New Roman"/>
                <a:cs typeface="Times New Roman"/>
              </a:rPr>
              <a:t>z</a:t>
            </a:r>
            <a:r>
              <a:rPr sz="3075" i="1" spc="15" baseline="29810" dirty="0">
                <a:latin typeface="Times New Roman"/>
                <a:cs typeface="Times New Roman"/>
              </a:rPr>
              <a:t>T</a:t>
            </a:r>
            <a:r>
              <a:rPr sz="3075" i="1" spc="-157" baseline="29810" dirty="0">
                <a:latin typeface="Times New Roman"/>
                <a:cs typeface="Times New Roman"/>
              </a:rPr>
              <a:t> </a:t>
            </a:r>
            <a:r>
              <a:rPr sz="2950" i="1" spc="120" dirty="0">
                <a:latin typeface="Times New Roman"/>
                <a:cs typeface="Times New Roman"/>
              </a:rPr>
              <a:t>A</a:t>
            </a:r>
            <a:r>
              <a:rPr sz="2950" i="1" spc="-15" dirty="0">
                <a:latin typeface="Times New Roman"/>
                <a:cs typeface="Times New Roman"/>
              </a:rPr>
              <a:t>x</a:t>
            </a:r>
            <a:endParaRPr sz="2950" dirty="0">
              <a:latin typeface="Times New Roman"/>
              <a:cs typeface="Times New Roman"/>
            </a:endParaRPr>
          </a:p>
        </p:txBody>
      </p:sp>
      <p:grpSp>
        <p:nvGrpSpPr>
          <p:cNvPr id="9" name="Group 8">
            <a:extLst>
              <a:ext uri="{FF2B5EF4-FFF2-40B4-BE49-F238E27FC236}">
                <a16:creationId xmlns:a16="http://schemas.microsoft.com/office/drawing/2014/main" id="{4D622929-7493-E65B-D4AC-373E56309658}"/>
              </a:ext>
            </a:extLst>
          </p:cNvPr>
          <p:cNvGrpSpPr/>
          <p:nvPr/>
        </p:nvGrpSpPr>
        <p:grpSpPr>
          <a:xfrm>
            <a:off x="5410200" y="4967667"/>
            <a:ext cx="2549673" cy="1054100"/>
            <a:chOff x="5183927" y="5142584"/>
            <a:chExt cx="2549673" cy="1054100"/>
          </a:xfrm>
        </p:grpSpPr>
        <p:sp>
          <p:nvSpPr>
            <p:cNvPr id="10" name="object 7">
              <a:extLst>
                <a:ext uri="{FF2B5EF4-FFF2-40B4-BE49-F238E27FC236}">
                  <a16:creationId xmlns:a16="http://schemas.microsoft.com/office/drawing/2014/main" id="{6FCC100C-29E3-A587-9224-B7798C982A9B}"/>
                </a:ext>
              </a:extLst>
            </p:cNvPr>
            <p:cNvSpPr/>
            <p:nvPr/>
          </p:nvSpPr>
          <p:spPr>
            <a:xfrm>
              <a:off x="5183927" y="5142584"/>
              <a:ext cx="2549673" cy="1054100"/>
            </a:xfrm>
            <a:prstGeom prst="rect">
              <a:avLst/>
            </a:prstGeom>
            <a:blipFill>
              <a:blip r:embed="rId3" cstate="print"/>
              <a:stretch>
                <a:fillRect/>
              </a:stretch>
            </a:blipFill>
          </p:spPr>
          <p:txBody>
            <a:bodyPr wrap="square" lIns="0" tIns="0" rIns="0" bIns="0" rtlCol="0"/>
            <a:lstStyle/>
            <a:p>
              <a:endParaRPr/>
            </a:p>
          </p:txBody>
        </p:sp>
        <p:sp>
          <p:nvSpPr>
            <p:cNvPr id="11" name="object 8">
              <a:extLst>
                <a:ext uri="{FF2B5EF4-FFF2-40B4-BE49-F238E27FC236}">
                  <a16:creationId xmlns:a16="http://schemas.microsoft.com/office/drawing/2014/main" id="{63FE267B-B3B4-C9E4-666D-B034483B590F}"/>
                </a:ext>
              </a:extLst>
            </p:cNvPr>
            <p:cNvSpPr/>
            <p:nvPr/>
          </p:nvSpPr>
          <p:spPr>
            <a:xfrm>
              <a:off x="5222027" y="5155284"/>
              <a:ext cx="2473960" cy="977900"/>
            </a:xfrm>
            <a:custGeom>
              <a:avLst/>
              <a:gdLst/>
              <a:ahLst/>
              <a:cxnLst/>
              <a:rect l="l" t="t" r="r" b="b"/>
              <a:pathLst>
                <a:path w="2473959" h="977900">
                  <a:moveTo>
                    <a:pt x="0" y="977900"/>
                  </a:moveTo>
                  <a:lnTo>
                    <a:pt x="2473473" y="977900"/>
                  </a:lnTo>
                  <a:lnTo>
                    <a:pt x="2473473" y="0"/>
                  </a:lnTo>
                  <a:lnTo>
                    <a:pt x="0" y="0"/>
                  </a:lnTo>
                  <a:lnTo>
                    <a:pt x="0" y="977900"/>
                  </a:lnTo>
                  <a:close/>
                </a:path>
              </a:pathLst>
            </a:custGeom>
            <a:solidFill>
              <a:srgbClr val="005493"/>
            </a:solidFill>
          </p:spPr>
          <p:txBody>
            <a:bodyPr wrap="square" lIns="0" tIns="0" rIns="0" bIns="0" rtlCol="0"/>
            <a:lstStyle/>
            <a:p>
              <a:endParaRPr/>
            </a:p>
          </p:txBody>
        </p:sp>
        <p:sp>
          <p:nvSpPr>
            <p:cNvPr id="12" name="object 9">
              <a:extLst>
                <a:ext uri="{FF2B5EF4-FFF2-40B4-BE49-F238E27FC236}">
                  <a16:creationId xmlns:a16="http://schemas.microsoft.com/office/drawing/2014/main" id="{E06F477C-2B41-CDCF-9780-0DE7AE55928A}"/>
                </a:ext>
              </a:extLst>
            </p:cNvPr>
            <p:cNvSpPr/>
            <p:nvPr/>
          </p:nvSpPr>
          <p:spPr>
            <a:xfrm>
              <a:off x="5283200" y="5232400"/>
              <a:ext cx="2362200" cy="317500"/>
            </a:xfrm>
            <a:prstGeom prst="rect">
              <a:avLst/>
            </a:prstGeom>
            <a:blipFill>
              <a:blip r:embed="rId4" cstate="print"/>
              <a:stretch>
                <a:fillRect/>
              </a:stretch>
            </a:blipFill>
          </p:spPr>
          <p:txBody>
            <a:bodyPr wrap="square" lIns="0" tIns="0" rIns="0" bIns="0" rtlCol="0"/>
            <a:lstStyle/>
            <a:p>
              <a:endParaRPr/>
            </a:p>
          </p:txBody>
        </p:sp>
        <p:sp>
          <p:nvSpPr>
            <p:cNvPr id="13" name="object 10">
              <a:extLst>
                <a:ext uri="{FF2B5EF4-FFF2-40B4-BE49-F238E27FC236}">
                  <a16:creationId xmlns:a16="http://schemas.microsoft.com/office/drawing/2014/main" id="{2EE508AD-D00B-0C00-8DB4-943F9E42C727}"/>
                </a:ext>
              </a:extLst>
            </p:cNvPr>
            <p:cNvSpPr/>
            <p:nvPr/>
          </p:nvSpPr>
          <p:spPr>
            <a:xfrm>
              <a:off x="5295900" y="5524500"/>
              <a:ext cx="2336800" cy="317500"/>
            </a:xfrm>
            <a:prstGeom prst="rect">
              <a:avLst/>
            </a:prstGeom>
            <a:blipFill>
              <a:blip r:embed="rId5" cstate="print"/>
              <a:stretch>
                <a:fillRect/>
              </a:stretch>
            </a:blipFill>
          </p:spPr>
          <p:txBody>
            <a:bodyPr wrap="square" lIns="0" tIns="0" rIns="0" bIns="0" rtlCol="0"/>
            <a:lstStyle/>
            <a:p>
              <a:endParaRPr/>
            </a:p>
          </p:txBody>
        </p:sp>
        <p:sp>
          <p:nvSpPr>
            <p:cNvPr id="14" name="object 11">
              <a:extLst>
                <a:ext uri="{FF2B5EF4-FFF2-40B4-BE49-F238E27FC236}">
                  <a16:creationId xmlns:a16="http://schemas.microsoft.com/office/drawing/2014/main" id="{8E54B5C1-3DB5-F892-9268-2AF10F46BB49}"/>
                </a:ext>
              </a:extLst>
            </p:cNvPr>
            <p:cNvSpPr/>
            <p:nvPr/>
          </p:nvSpPr>
          <p:spPr>
            <a:xfrm>
              <a:off x="5422900" y="5816600"/>
              <a:ext cx="2070100" cy="317500"/>
            </a:xfrm>
            <a:prstGeom prst="rect">
              <a:avLst/>
            </a:prstGeom>
            <a:blipFill>
              <a:blip r:embed="rId6" cstate="print"/>
              <a:stretch>
                <a:fillRect/>
              </a:stretch>
            </a:blipFill>
          </p:spPr>
          <p:txBody>
            <a:bodyPr wrap="square" lIns="0" tIns="0" rIns="0" bIns="0" rtlCol="0"/>
            <a:lstStyle/>
            <a:p>
              <a:endParaRPr/>
            </a:p>
          </p:txBody>
        </p:sp>
        <p:sp>
          <p:nvSpPr>
            <p:cNvPr id="15" name="object 12">
              <a:extLst>
                <a:ext uri="{FF2B5EF4-FFF2-40B4-BE49-F238E27FC236}">
                  <a16:creationId xmlns:a16="http://schemas.microsoft.com/office/drawing/2014/main" id="{B76131AC-3F84-D970-79E5-5C10C94DBB6F}"/>
                </a:ext>
              </a:extLst>
            </p:cNvPr>
            <p:cNvSpPr txBox="1"/>
            <p:nvPr/>
          </p:nvSpPr>
          <p:spPr>
            <a:xfrm>
              <a:off x="5222027" y="5155284"/>
              <a:ext cx="2473960" cy="977900"/>
            </a:xfrm>
            <a:prstGeom prst="rect">
              <a:avLst/>
            </a:prstGeom>
          </p:spPr>
          <p:txBody>
            <a:bodyPr vert="horz" wrap="square" lIns="0" tIns="0" rIns="0" bIns="0" rtlCol="0">
              <a:spAutoFit/>
            </a:bodyPr>
            <a:lstStyle/>
            <a:p>
              <a:pPr marL="105410" marR="84455" indent="-13335" algn="just">
                <a:lnSpc>
                  <a:spcPts val="2300"/>
                </a:lnSpc>
              </a:pPr>
              <a:r>
                <a:rPr sz="2000" dirty="0">
                  <a:solidFill>
                    <a:srgbClr val="FFFFFF"/>
                  </a:solidFill>
                  <a:latin typeface="Gill Sans MT"/>
                  <a:cs typeface="Gill Sans MT"/>
                </a:rPr>
                <a:t>It</a:t>
              </a:r>
              <a:r>
                <a:rPr sz="2000" spc="-5" dirty="0">
                  <a:solidFill>
                    <a:srgbClr val="FFFFFF"/>
                  </a:solidFill>
                  <a:latin typeface="Gill Sans MT"/>
                  <a:cs typeface="Gill Sans MT"/>
                </a:rPr>
                <a:t> </a:t>
              </a:r>
              <a:r>
                <a:rPr sz="2000" spc="-10" dirty="0">
                  <a:solidFill>
                    <a:srgbClr val="FFFFFF"/>
                  </a:solidFill>
                  <a:latin typeface="Gill Sans MT"/>
                  <a:cs typeface="Gill Sans MT"/>
                </a:rPr>
                <a:t>turns</a:t>
              </a:r>
              <a:r>
                <a:rPr sz="2000" spc="-5" dirty="0">
                  <a:solidFill>
                    <a:srgbClr val="FFFFFF"/>
                  </a:solidFill>
                  <a:latin typeface="Gill Sans MT"/>
                  <a:cs typeface="Gill Sans MT"/>
                </a:rPr>
                <a:t> </a:t>
              </a:r>
              <a:r>
                <a:rPr sz="2000" spc="-15" dirty="0">
                  <a:solidFill>
                    <a:srgbClr val="FFFFFF"/>
                  </a:solidFill>
                  <a:latin typeface="Gill Sans MT"/>
                  <a:cs typeface="Gill Sans MT"/>
                </a:rPr>
                <a:t>o</a:t>
              </a:r>
              <a:r>
                <a:rPr sz="2000" dirty="0">
                  <a:solidFill>
                    <a:srgbClr val="FFFFFF"/>
                  </a:solidFill>
                  <a:latin typeface="Gill Sans MT"/>
                  <a:cs typeface="Gill Sans MT"/>
                </a:rPr>
                <a:t>ut</a:t>
              </a:r>
              <a:r>
                <a:rPr sz="2000" spc="-5" dirty="0">
                  <a:solidFill>
                    <a:srgbClr val="FFFFFF"/>
                  </a:solidFill>
                  <a:latin typeface="Gill Sans MT"/>
                  <a:cs typeface="Gill Sans MT"/>
                </a:rPr>
                <a:t> </a:t>
              </a:r>
              <a:r>
                <a:rPr sz="2000" spc="-10" dirty="0">
                  <a:solidFill>
                    <a:srgbClr val="FFFFFF"/>
                  </a:solidFill>
                  <a:latin typeface="Gill Sans MT"/>
                  <a:cs typeface="Gill Sans MT"/>
                </a:rPr>
                <a:t>tha</a:t>
              </a:r>
              <a:r>
                <a:rPr sz="2000" dirty="0">
                  <a:solidFill>
                    <a:srgbClr val="FFFFFF"/>
                  </a:solidFill>
                  <a:latin typeface="Gill Sans MT"/>
                  <a:cs typeface="Gill Sans MT"/>
                </a:rPr>
                <a:t>t</a:t>
              </a:r>
              <a:r>
                <a:rPr sz="2000" spc="-5" dirty="0">
                  <a:solidFill>
                    <a:srgbClr val="FFFFFF"/>
                  </a:solidFill>
                  <a:latin typeface="Gill Sans MT"/>
                  <a:cs typeface="Gill Sans MT"/>
                </a:rPr>
                <a:t> </a:t>
              </a:r>
              <a:r>
                <a:rPr sz="2000" spc="-35" dirty="0">
                  <a:solidFill>
                    <a:srgbClr val="FFFFFF"/>
                  </a:solidFill>
                  <a:latin typeface="Gill Sans MT"/>
                  <a:cs typeface="Gill Sans MT"/>
                </a:rPr>
                <a:t>e</a:t>
              </a:r>
              <a:r>
                <a:rPr sz="2000" spc="-50" dirty="0">
                  <a:solidFill>
                    <a:srgbClr val="FFFFFF"/>
                  </a:solidFill>
                  <a:latin typeface="Gill Sans MT"/>
                  <a:cs typeface="Gill Sans MT"/>
                </a:rPr>
                <a:t>v</a:t>
              </a:r>
              <a:r>
                <a:rPr sz="2000" dirty="0">
                  <a:solidFill>
                    <a:srgbClr val="FFFFFF"/>
                  </a:solidFill>
                  <a:latin typeface="Gill Sans MT"/>
                  <a:cs typeface="Gill Sans MT"/>
                </a:rPr>
                <a:t>e</a:t>
              </a:r>
              <a:r>
                <a:rPr sz="2000" spc="55" dirty="0">
                  <a:solidFill>
                    <a:srgbClr val="FFFFFF"/>
                  </a:solidFill>
                  <a:latin typeface="Gill Sans MT"/>
                  <a:cs typeface="Gill Sans MT"/>
                </a:rPr>
                <a:t>r</a:t>
              </a:r>
              <a:r>
                <a:rPr sz="2000" spc="-10" dirty="0">
                  <a:solidFill>
                    <a:srgbClr val="FFFFFF"/>
                  </a:solidFill>
                  <a:latin typeface="Gill Sans MT"/>
                  <a:cs typeface="Gill Sans MT"/>
                </a:rPr>
                <a:t>y s</a:t>
              </a:r>
              <a:r>
                <a:rPr sz="2000" dirty="0">
                  <a:solidFill>
                    <a:srgbClr val="FFFFFF"/>
                  </a:solidFill>
                  <a:latin typeface="Gill Sans MT"/>
                  <a:cs typeface="Gill Sans MT"/>
                </a:rPr>
                <a:t>ymmetr</a:t>
              </a:r>
              <a:r>
                <a:rPr sz="2000" spc="-5" dirty="0">
                  <a:solidFill>
                    <a:srgbClr val="FFFFFF"/>
                  </a:solidFill>
                  <a:latin typeface="Gill Sans MT"/>
                  <a:cs typeface="Gill Sans MT"/>
                </a:rPr>
                <a:t>i</a:t>
              </a:r>
              <a:r>
                <a:rPr sz="2000" spc="-10" dirty="0">
                  <a:solidFill>
                    <a:srgbClr val="FFFFFF"/>
                  </a:solidFill>
                  <a:latin typeface="Gill Sans MT"/>
                  <a:cs typeface="Gill Sans MT"/>
                </a:rPr>
                <a:t>c</a:t>
              </a:r>
              <a:r>
                <a:rPr sz="2000" spc="-5" dirty="0">
                  <a:solidFill>
                    <a:srgbClr val="FFFFFF"/>
                  </a:solidFill>
                  <a:latin typeface="Gill Sans MT"/>
                  <a:cs typeface="Gill Sans MT"/>
                </a:rPr>
                <a:t> </a:t>
              </a:r>
              <a:r>
                <a:rPr sz="2000" spc="-10" dirty="0">
                  <a:solidFill>
                    <a:srgbClr val="FFFFFF"/>
                  </a:solidFill>
                  <a:latin typeface="Gill Sans MT"/>
                  <a:cs typeface="Gill Sans MT"/>
                </a:rPr>
                <a:t>ga</a:t>
              </a:r>
              <a:r>
                <a:rPr sz="2000" dirty="0">
                  <a:solidFill>
                    <a:srgbClr val="FFFFFF"/>
                  </a:solidFill>
                  <a:latin typeface="Gill Sans MT"/>
                  <a:cs typeface="Gill Sans MT"/>
                </a:rPr>
                <a:t>me</a:t>
              </a:r>
              <a:r>
                <a:rPr sz="2000" spc="-5" dirty="0">
                  <a:solidFill>
                    <a:srgbClr val="FFFFFF"/>
                  </a:solidFill>
                  <a:latin typeface="Gill Sans MT"/>
                  <a:cs typeface="Gill Sans MT"/>
                </a:rPr>
                <a:t> </a:t>
              </a:r>
              <a:r>
                <a:rPr sz="2000" spc="-10" dirty="0">
                  <a:solidFill>
                    <a:srgbClr val="FFFFFF"/>
                  </a:solidFill>
                  <a:latin typeface="Gill Sans MT"/>
                  <a:cs typeface="Gill Sans MT"/>
                </a:rPr>
                <a:t>has</a:t>
              </a:r>
              <a:r>
                <a:rPr sz="2000" spc="-5" dirty="0">
                  <a:solidFill>
                    <a:srgbClr val="FFFFFF"/>
                  </a:solidFill>
                  <a:latin typeface="Gill Sans MT"/>
                  <a:cs typeface="Gill Sans MT"/>
                </a:rPr>
                <a:t> </a:t>
              </a:r>
              <a:r>
                <a:rPr sz="2000" spc="-10" dirty="0">
                  <a:solidFill>
                    <a:srgbClr val="FFFFFF"/>
                  </a:solidFill>
                  <a:latin typeface="Gill Sans MT"/>
                  <a:cs typeface="Gill Sans MT"/>
                </a:rPr>
                <a:t>a s</a:t>
              </a:r>
              <a:r>
                <a:rPr sz="2000" dirty="0">
                  <a:solidFill>
                    <a:srgbClr val="FFFFFF"/>
                  </a:solidFill>
                  <a:latin typeface="Gill Sans MT"/>
                  <a:cs typeface="Gill Sans MT"/>
                </a:rPr>
                <a:t>ymmetr</a:t>
              </a:r>
              <a:r>
                <a:rPr sz="2000" spc="-5" dirty="0">
                  <a:solidFill>
                    <a:srgbClr val="FFFFFF"/>
                  </a:solidFill>
                  <a:latin typeface="Gill Sans MT"/>
                  <a:cs typeface="Gill Sans MT"/>
                </a:rPr>
                <a:t>i</a:t>
              </a:r>
              <a:r>
                <a:rPr sz="2000" spc="-10" dirty="0">
                  <a:solidFill>
                    <a:srgbClr val="FFFFFF"/>
                  </a:solidFill>
                  <a:latin typeface="Gill Sans MT"/>
                  <a:cs typeface="Gill Sans MT"/>
                </a:rPr>
                <a:t>c</a:t>
              </a:r>
              <a:r>
                <a:rPr sz="2000" spc="-5" dirty="0">
                  <a:solidFill>
                    <a:srgbClr val="FFFFFF"/>
                  </a:solidFill>
                  <a:latin typeface="Gill Sans MT"/>
                  <a:cs typeface="Gill Sans MT"/>
                </a:rPr>
                <a:t> </a:t>
              </a:r>
              <a:r>
                <a:rPr sz="2000" spc="-15" dirty="0">
                  <a:solidFill>
                    <a:srgbClr val="FFFFFF"/>
                  </a:solidFill>
                  <a:latin typeface="Gill Sans MT"/>
                  <a:cs typeface="Gill Sans MT"/>
                </a:rPr>
                <a:t>Nas</a:t>
              </a:r>
              <a:r>
                <a:rPr sz="2000" dirty="0">
                  <a:solidFill>
                    <a:srgbClr val="FFFFFF"/>
                  </a:solidFill>
                  <a:latin typeface="Gill Sans MT"/>
                  <a:cs typeface="Gill Sans MT"/>
                </a:rPr>
                <a:t>h</a:t>
              </a:r>
              <a:r>
                <a:rPr sz="2000" spc="-5" dirty="0">
                  <a:solidFill>
                    <a:srgbClr val="FFFFFF"/>
                  </a:solidFill>
                  <a:latin typeface="Gill Sans MT"/>
                  <a:cs typeface="Gill Sans MT"/>
                </a:rPr>
                <a:t> </a:t>
              </a:r>
              <a:r>
                <a:rPr sz="2000" dirty="0">
                  <a:solidFill>
                    <a:srgbClr val="FFFFFF"/>
                  </a:solidFill>
                  <a:latin typeface="Gill Sans MT"/>
                  <a:cs typeface="Gill Sans MT"/>
                </a:rPr>
                <a:t>Eq</a:t>
              </a:r>
              <a:endParaRPr sz="2000" dirty="0">
                <a:latin typeface="Gill Sans MT"/>
                <a:cs typeface="Gill Sans MT"/>
              </a:endParaRPr>
            </a:p>
          </p:txBody>
        </p:sp>
      </p:grpSp>
      <p:sp>
        <p:nvSpPr>
          <p:cNvPr id="3" name="Rectangle 2">
            <a:extLst>
              <a:ext uri="{FF2B5EF4-FFF2-40B4-BE49-F238E27FC236}">
                <a16:creationId xmlns:a16="http://schemas.microsoft.com/office/drawing/2014/main" id="{87782500-FB22-05D2-CA53-CB882B457CFE}"/>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74A210AD-214E-CB31-2647-94C6B7D6F1C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8">
            <a:extLst>
              <a:ext uri="{FF2B5EF4-FFF2-40B4-BE49-F238E27FC236}">
                <a16:creationId xmlns:a16="http://schemas.microsoft.com/office/drawing/2014/main" id="{D47ED1F1-5BC8-7528-DA72-A4DBAE5232DC}"/>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25</a:t>
            </a:fld>
            <a:r>
              <a:rPr lang="en-US" sz="2000" dirty="0">
                <a:solidFill>
                  <a:prstClr val="black"/>
                </a:solidFill>
                <a:latin typeface="Comic Sans MS"/>
                <a:sym typeface="Comic Sans MS"/>
              </a:rPr>
              <a:t>/59</a:t>
            </a:r>
          </a:p>
        </p:txBody>
      </p:sp>
      <p:sp>
        <p:nvSpPr>
          <p:cNvPr id="16" name="Footer Placeholder 9">
            <a:extLst>
              <a:ext uri="{FF2B5EF4-FFF2-40B4-BE49-F238E27FC236}">
                <a16:creationId xmlns:a16="http://schemas.microsoft.com/office/drawing/2014/main" id="{C384EC2B-6EFF-C551-6A7B-7F59E58FC4A9}"/>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7" name="Rectangle 16">
            <a:extLst>
              <a:ext uri="{FF2B5EF4-FFF2-40B4-BE49-F238E27FC236}">
                <a16:creationId xmlns:a16="http://schemas.microsoft.com/office/drawing/2014/main" id="{0E51A6FB-2B4E-B4CA-C17A-2F88E7C8C70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extLst>
      <p:ext uri="{BB962C8B-B14F-4D97-AF65-F5344CB8AC3E}">
        <p14:creationId xmlns:p14="http://schemas.microsoft.com/office/powerpoint/2010/main" val="675484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Nash</a:t>
            </a:r>
            <a:r>
              <a:rPr spc="-5" dirty="0"/>
              <a:t> </a:t>
            </a:r>
            <a:r>
              <a:rPr dirty="0"/>
              <a:t>Equilibrium</a:t>
            </a:r>
            <a:r>
              <a:rPr spc="-5" dirty="0"/>
              <a:t> </a:t>
            </a:r>
            <a:r>
              <a:rPr spc="-25" dirty="0"/>
              <a:t>&amp;</a:t>
            </a:r>
            <a:r>
              <a:rPr spc="-5" dirty="0"/>
              <a:t> </a:t>
            </a:r>
            <a:r>
              <a:rPr dirty="0"/>
              <a:t>Process</a:t>
            </a:r>
            <a:r>
              <a:rPr spc="-5" dirty="0"/>
              <a:t> </a:t>
            </a:r>
            <a:r>
              <a:rPr dirty="0"/>
              <a:t>Dynamics</a:t>
            </a:r>
          </a:p>
        </p:txBody>
      </p:sp>
      <p:sp>
        <p:nvSpPr>
          <p:cNvPr id="6" name="object 6"/>
          <p:cNvSpPr txBox="1"/>
          <p:nvPr/>
        </p:nvSpPr>
        <p:spPr>
          <a:xfrm>
            <a:off x="1362463" y="2030750"/>
            <a:ext cx="6045835" cy="1188085"/>
          </a:xfrm>
          <a:prstGeom prst="rect">
            <a:avLst/>
          </a:prstGeom>
          <a:solidFill>
            <a:srgbClr val="F5EC00"/>
          </a:solidFill>
          <a:ln w="3175">
            <a:solidFill>
              <a:srgbClr val="000000"/>
            </a:solidFill>
          </a:ln>
        </p:spPr>
        <p:txBody>
          <a:bodyPr vert="horz" wrap="square" lIns="0" tIns="0" rIns="0" bIns="0" rtlCol="0">
            <a:spAutoFit/>
          </a:bodyPr>
          <a:lstStyle/>
          <a:p>
            <a:pPr marL="149860" marR="142240" indent="-635" algn="ctr">
              <a:lnSpc>
                <a:spcPts val="2800"/>
              </a:lnSpc>
            </a:pPr>
            <a:r>
              <a:rPr sz="2400" spc="-20" dirty="0">
                <a:latin typeface="Gill Sans MT"/>
                <a:cs typeface="Gill Sans MT"/>
              </a:rPr>
              <a:t>A</a:t>
            </a:r>
            <a:r>
              <a:rPr sz="2400" spc="-5" dirty="0">
                <a:latin typeface="Gill Sans MT"/>
                <a:cs typeface="Gill Sans MT"/>
              </a:rPr>
              <a:t> </a:t>
            </a:r>
            <a:r>
              <a:rPr sz="2400" spc="-15" dirty="0">
                <a:latin typeface="Gill Sans MT"/>
                <a:cs typeface="Gill Sans MT"/>
              </a:rPr>
              <a:t>dyna</a:t>
            </a:r>
            <a:r>
              <a:rPr sz="2400" dirty="0">
                <a:latin typeface="Gill Sans MT"/>
                <a:cs typeface="Gill Sans MT"/>
              </a:rPr>
              <a:t>mi</a:t>
            </a:r>
            <a:r>
              <a:rPr sz="2400" spc="-15" dirty="0">
                <a:latin typeface="Gill Sans MT"/>
                <a:cs typeface="Gill Sans MT"/>
              </a:rPr>
              <a:t>c</a:t>
            </a:r>
            <a:r>
              <a:rPr sz="2400" spc="-5" dirty="0">
                <a:latin typeface="Gill Sans MT"/>
                <a:cs typeface="Gill Sans MT"/>
              </a:rPr>
              <a:t> </a:t>
            </a:r>
            <a:r>
              <a:rPr sz="2400" spc="-15" dirty="0">
                <a:latin typeface="Gill Sans MT"/>
                <a:cs typeface="Gill Sans MT"/>
              </a:rPr>
              <a:t>p</a:t>
            </a:r>
            <a:r>
              <a:rPr sz="2400" spc="-70" dirty="0">
                <a:latin typeface="Gill Sans MT"/>
                <a:cs typeface="Gill Sans MT"/>
              </a:rPr>
              <a:t>r</a:t>
            </a:r>
            <a:r>
              <a:rPr sz="2400" spc="-15" dirty="0">
                <a:latin typeface="Gill Sans MT"/>
                <a:cs typeface="Gill Sans MT"/>
              </a:rPr>
              <a:t>ocess</a:t>
            </a:r>
            <a:r>
              <a:rPr sz="2400" spc="-5" dirty="0">
                <a:latin typeface="Gill Sans MT"/>
                <a:cs typeface="Gill Sans MT"/>
              </a:rPr>
              <a:t> </a:t>
            </a:r>
            <a:r>
              <a:rPr sz="2400" spc="-10" dirty="0">
                <a:latin typeface="Gill Sans MT"/>
                <a:cs typeface="Gill Sans MT"/>
              </a:rPr>
              <a:t>tha</a:t>
            </a:r>
            <a:r>
              <a:rPr sz="2400" dirty="0">
                <a:latin typeface="Gill Sans MT"/>
                <a:cs typeface="Gill Sans MT"/>
              </a:rPr>
              <a:t>t</a:t>
            </a:r>
            <a:r>
              <a:rPr sz="2400" spc="-5" dirty="0">
                <a:latin typeface="Gill Sans MT"/>
                <a:cs typeface="Gill Sans MT"/>
              </a:rPr>
              <a:t> </a:t>
            </a:r>
            <a:r>
              <a:rPr sz="2400" spc="-15" dirty="0">
                <a:latin typeface="Gill Sans MT"/>
                <a:cs typeface="Gill Sans MT"/>
              </a:rPr>
              <a:t>a</a:t>
            </a:r>
            <a:r>
              <a:rPr sz="2400" spc="-25" dirty="0">
                <a:latin typeface="Gill Sans MT"/>
                <a:cs typeface="Gill Sans MT"/>
              </a:rPr>
              <a:t>l</a:t>
            </a:r>
            <a:r>
              <a:rPr sz="2400" dirty="0">
                <a:latin typeface="Gill Sans MT"/>
                <a:cs typeface="Gill Sans MT"/>
              </a:rPr>
              <a:t>w</a:t>
            </a:r>
            <a:r>
              <a:rPr sz="2400" spc="-114" dirty="0">
                <a:latin typeface="Gill Sans MT"/>
                <a:cs typeface="Gill Sans MT"/>
              </a:rPr>
              <a:t>a</a:t>
            </a:r>
            <a:r>
              <a:rPr sz="2400" spc="-10" dirty="0">
                <a:latin typeface="Gill Sans MT"/>
                <a:cs typeface="Gill Sans MT"/>
              </a:rPr>
              <a:t>ys</a:t>
            </a:r>
            <a:r>
              <a:rPr sz="2400" spc="-5" dirty="0">
                <a:latin typeface="Gill Sans MT"/>
                <a:cs typeface="Gill Sans MT"/>
              </a:rPr>
              <a:t> </a:t>
            </a:r>
            <a:r>
              <a:rPr sz="2400" spc="-20" dirty="0">
                <a:latin typeface="Gill Sans MT"/>
                <a:cs typeface="Gill Sans MT"/>
              </a:rPr>
              <a:t>m</a:t>
            </a:r>
            <a:r>
              <a:rPr sz="2400" spc="-40" dirty="0">
                <a:latin typeface="Gill Sans MT"/>
                <a:cs typeface="Gill Sans MT"/>
              </a:rPr>
              <a:t>o</a:t>
            </a:r>
            <a:r>
              <a:rPr sz="2400" spc="-65" dirty="0">
                <a:latin typeface="Gill Sans MT"/>
                <a:cs typeface="Gill Sans MT"/>
              </a:rPr>
              <a:t>v</a:t>
            </a:r>
            <a:r>
              <a:rPr sz="2400" spc="-15" dirty="0">
                <a:latin typeface="Gill Sans MT"/>
                <a:cs typeface="Gill Sans MT"/>
              </a:rPr>
              <a:t>es</a:t>
            </a:r>
            <a:r>
              <a:rPr sz="2400" spc="-5" dirty="0">
                <a:latin typeface="Gill Sans MT"/>
                <a:cs typeface="Gill Sans MT"/>
              </a:rPr>
              <a:t> </a:t>
            </a:r>
            <a:r>
              <a:rPr sz="2400" dirty="0">
                <a:latin typeface="Gill Sans MT"/>
                <a:cs typeface="Gill Sans MT"/>
              </a:rPr>
              <a:t>in</a:t>
            </a:r>
            <a:r>
              <a:rPr sz="2400" spc="-5" dirty="0">
                <a:latin typeface="Gill Sans MT"/>
                <a:cs typeface="Gill Sans MT"/>
              </a:rPr>
              <a:t> </a:t>
            </a:r>
            <a:r>
              <a:rPr sz="2400" dirty="0">
                <a:latin typeface="Gill Sans MT"/>
                <a:cs typeface="Gill Sans MT"/>
              </a:rPr>
              <a:t>the </a:t>
            </a:r>
            <a:r>
              <a:rPr sz="2400" spc="-15" dirty="0">
                <a:latin typeface="Gill Sans MT"/>
                <a:cs typeface="Gill Sans MT"/>
              </a:rPr>
              <a:t>d</a:t>
            </a:r>
            <a:r>
              <a:rPr sz="2400" dirty="0">
                <a:latin typeface="Gill Sans MT"/>
                <a:cs typeface="Gill Sans MT"/>
              </a:rPr>
              <a:t>i</a:t>
            </a:r>
            <a:r>
              <a:rPr sz="2400" spc="-60" dirty="0">
                <a:latin typeface="Gill Sans MT"/>
                <a:cs typeface="Gill Sans MT"/>
              </a:rPr>
              <a:t>r</a:t>
            </a:r>
            <a:r>
              <a:rPr sz="2400" dirty="0">
                <a:latin typeface="Gill Sans MT"/>
                <a:cs typeface="Gill Sans MT"/>
              </a:rPr>
              <a:t>ecti</a:t>
            </a:r>
            <a:r>
              <a:rPr sz="2400" spc="-15" dirty="0">
                <a:latin typeface="Gill Sans MT"/>
                <a:cs typeface="Gill Sans MT"/>
              </a:rPr>
              <a:t>o</a:t>
            </a:r>
            <a:r>
              <a:rPr sz="2400" dirty="0">
                <a:latin typeface="Gill Sans MT"/>
                <a:cs typeface="Gill Sans MT"/>
              </a:rPr>
              <a:t>n</a:t>
            </a:r>
            <a:r>
              <a:rPr sz="2400" spc="-5" dirty="0">
                <a:latin typeface="Gill Sans MT"/>
                <a:cs typeface="Gill Sans MT"/>
              </a:rPr>
              <a:t> </a:t>
            </a:r>
            <a:r>
              <a:rPr sz="2400" spc="-15" dirty="0">
                <a:latin typeface="Gill Sans MT"/>
                <a:cs typeface="Gill Sans MT"/>
              </a:rPr>
              <a:t>o</a:t>
            </a:r>
            <a:r>
              <a:rPr sz="2400" dirty="0">
                <a:latin typeface="Gill Sans MT"/>
                <a:cs typeface="Gill Sans MT"/>
              </a:rPr>
              <a:t>f</a:t>
            </a:r>
            <a:r>
              <a:rPr sz="2400" spc="-5" dirty="0">
                <a:latin typeface="Gill Sans MT"/>
                <a:cs typeface="Gill Sans MT"/>
              </a:rPr>
              <a:t> </a:t>
            </a:r>
            <a:r>
              <a:rPr sz="2400" dirty="0">
                <a:latin typeface="Gill Sans MT"/>
                <a:cs typeface="Gill Sans MT"/>
              </a:rPr>
              <a:t>i</a:t>
            </a:r>
            <a:r>
              <a:rPr sz="2400" spc="-15" dirty="0">
                <a:latin typeface="Gill Sans MT"/>
                <a:cs typeface="Gill Sans MT"/>
              </a:rPr>
              <a:t>nc</a:t>
            </a:r>
            <a:r>
              <a:rPr sz="2400" spc="-60" dirty="0">
                <a:latin typeface="Gill Sans MT"/>
                <a:cs typeface="Gill Sans MT"/>
              </a:rPr>
              <a:t>r</a:t>
            </a:r>
            <a:r>
              <a:rPr sz="2400" spc="-15" dirty="0">
                <a:latin typeface="Gill Sans MT"/>
                <a:cs typeface="Gill Sans MT"/>
              </a:rPr>
              <a:t>eased</a:t>
            </a:r>
            <a:r>
              <a:rPr sz="2400" spc="-5" dirty="0">
                <a:latin typeface="Gill Sans MT"/>
                <a:cs typeface="Gill Sans MT"/>
              </a:rPr>
              <a:t> </a:t>
            </a:r>
            <a:r>
              <a:rPr sz="2400" spc="-15" dirty="0">
                <a:latin typeface="Gill Sans MT"/>
                <a:cs typeface="Gill Sans MT"/>
              </a:rPr>
              <a:t>p</a:t>
            </a:r>
            <a:r>
              <a:rPr sz="2400" spc="-114" dirty="0">
                <a:latin typeface="Gill Sans MT"/>
                <a:cs typeface="Gill Sans MT"/>
              </a:rPr>
              <a:t>a</a:t>
            </a:r>
            <a:r>
              <a:rPr sz="2400" spc="-65" dirty="0">
                <a:latin typeface="Gill Sans MT"/>
                <a:cs typeface="Gill Sans MT"/>
              </a:rPr>
              <a:t>y</a:t>
            </a:r>
            <a:r>
              <a:rPr sz="2400" spc="-15" dirty="0">
                <a:latin typeface="Gill Sans MT"/>
                <a:cs typeface="Gill Sans MT"/>
              </a:rPr>
              <a:t>o</a:t>
            </a:r>
            <a:r>
              <a:rPr sz="2400" dirty="0">
                <a:latin typeface="Gill Sans MT"/>
                <a:cs typeface="Gill Sans MT"/>
              </a:rPr>
              <a:t>ff</a:t>
            </a:r>
            <a:r>
              <a:rPr sz="2400" spc="-5" dirty="0">
                <a:latin typeface="Gill Sans MT"/>
                <a:cs typeface="Gill Sans MT"/>
              </a:rPr>
              <a:t> </a:t>
            </a:r>
            <a:r>
              <a:rPr sz="2400" spc="-15" dirty="0">
                <a:latin typeface="Gill Sans MT"/>
                <a:cs typeface="Gill Sans MT"/>
              </a:rPr>
              <a:t>ca</a:t>
            </a:r>
            <a:r>
              <a:rPr sz="2400" dirty="0">
                <a:latin typeface="Gill Sans MT"/>
                <a:cs typeface="Gill Sans MT"/>
              </a:rPr>
              <a:t>n</a:t>
            </a:r>
            <a:r>
              <a:rPr sz="2400" spc="-5" dirty="0">
                <a:latin typeface="Gill Sans MT"/>
                <a:cs typeface="Gill Sans MT"/>
              </a:rPr>
              <a:t> </a:t>
            </a:r>
            <a:r>
              <a:rPr sz="2400" spc="-15" dirty="0">
                <a:latin typeface="Gill Sans MT"/>
                <a:cs typeface="Gill Sans MT"/>
              </a:rPr>
              <a:t>o</a:t>
            </a:r>
            <a:r>
              <a:rPr sz="2400" dirty="0">
                <a:latin typeface="Gill Sans MT"/>
                <a:cs typeface="Gill Sans MT"/>
              </a:rPr>
              <a:t>n</a:t>
            </a:r>
            <a:r>
              <a:rPr sz="2400" spc="-25" dirty="0">
                <a:latin typeface="Gill Sans MT"/>
                <a:cs typeface="Gill Sans MT"/>
              </a:rPr>
              <a:t>l</a:t>
            </a:r>
            <a:r>
              <a:rPr sz="2400" spc="-15" dirty="0">
                <a:latin typeface="Gill Sans MT"/>
                <a:cs typeface="Gill Sans MT"/>
              </a:rPr>
              <a:t>y</a:t>
            </a:r>
            <a:r>
              <a:rPr sz="2400" spc="-5" dirty="0">
                <a:latin typeface="Gill Sans MT"/>
                <a:cs typeface="Gill Sans MT"/>
              </a:rPr>
              <a:t> </a:t>
            </a:r>
            <a:r>
              <a:rPr sz="2400" spc="-15" dirty="0">
                <a:latin typeface="Gill Sans MT"/>
                <a:cs typeface="Gill Sans MT"/>
              </a:rPr>
              <a:t>sto</a:t>
            </a:r>
            <a:r>
              <a:rPr sz="2400" dirty="0">
                <a:latin typeface="Gill Sans MT"/>
                <a:cs typeface="Gill Sans MT"/>
              </a:rPr>
              <a:t>p</a:t>
            </a:r>
            <a:r>
              <a:rPr sz="2400" spc="-5" dirty="0">
                <a:latin typeface="Gill Sans MT"/>
                <a:cs typeface="Gill Sans MT"/>
              </a:rPr>
              <a:t> </a:t>
            </a:r>
            <a:r>
              <a:rPr sz="2400" spc="-15" dirty="0">
                <a:latin typeface="Gill Sans MT"/>
                <a:cs typeface="Gill Sans MT"/>
              </a:rPr>
              <a:t>a</a:t>
            </a:r>
            <a:r>
              <a:rPr sz="2400" dirty="0">
                <a:latin typeface="Gill Sans MT"/>
                <a:cs typeface="Gill Sans MT"/>
              </a:rPr>
              <a:t>t</a:t>
            </a:r>
            <a:r>
              <a:rPr sz="2400" spc="-5" dirty="0">
                <a:latin typeface="Gill Sans MT"/>
                <a:cs typeface="Gill Sans MT"/>
              </a:rPr>
              <a:t> </a:t>
            </a:r>
            <a:r>
              <a:rPr sz="2400" spc="-15" dirty="0">
                <a:latin typeface="Gill Sans MT"/>
                <a:cs typeface="Gill Sans MT"/>
              </a:rPr>
              <a:t>a Nas</a:t>
            </a:r>
            <a:r>
              <a:rPr sz="2400" dirty="0">
                <a:latin typeface="Gill Sans MT"/>
                <a:cs typeface="Gill Sans MT"/>
              </a:rPr>
              <a:t>h</a:t>
            </a:r>
            <a:r>
              <a:rPr sz="2400" spc="-5" dirty="0">
                <a:latin typeface="Gill Sans MT"/>
                <a:cs typeface="Gill Sans MT"/>
              </a:rPr>
              <a:t> </a:t>
            </a:r>
            <a:r>
              <a:rPr sz="2400" dirty="0">
                <a:latin typeface="Gill Sans MT"/>
                <a:cs typeface="Gill Sans MT"/>
              </a:rPr>
              <a:t>Equilibri</a:t>
            </a:r>
            <a:r>
              <a:rPr sz="2400" spc="-20" dirty="0">
                <a:latin typeface="Gill Sans MT"/>
                <a:cs typeface="Gill Sans MT"/>
              </a:rPr>
              <a:t>um</a:t>
            </a:r>
            <a:endParaRPr sz="2400" dirty="0">
              <a:latin typeface="Gill Sans MT"/>
              <a:cs typeface="Gill Sans MT"/>
            </a:endParaRPr>
          </a:p>
        </p:txBody>
      </p:sp>
      <p:sp>
        <p:nvSpPr>
          <p:cNvPr id="7" name="object 7"/>
          <p:cNvSpPr txBox="1"/>
          <p:nvPr/>
        </p:nvSpPr>
        <p:spPr>
          <a:xfrm>
            <a:off x="1069504" y="4303363"/>
            <a:ext cx="6856095" cy="381000"/>
          </a:xfrm>
          <a:prstGeom prst="rect">
            <a:avLst/>
          </a:prstGeom>
        </p:spPr>
        <p:txBody>
          <a:bodyPr vert="horz" wrap="square" lIns="0" tIns="0" rIns="0" bIns="0" rtlCol="0">
            <a:spAutoFit/>
          </a:bodyPr>
          <a:lstStyle/>
          <a:p>
            <a:pPr marL="12700">
              <a:lnSpc>
                <a:spcPct val="100000"/>
              </a:lnSpc>
            </a:pPr>
            <a:r>
              <a:rPr sz="2800" dirty="0">
                <a:latin typeface="Arial"/>
                <a:cs typeface="Arial"/>
              </a:rPr>
              <a:t>Can a mutant ove</a:t>
            </a:r>
            <a:r>
              <a:rPr sz="2800" spc="50" dirty="0">
                <a:latin typeface="Arial"/>
                <a:cs typeface="Arial"/>
              </a:rPr>
              <a:t>r</a:t>
            </a:r>
            <a:r>
              <a:rPr sz="2800" dirty="0">
                <a:latin typeface="Arial"/>
                <a:cs typeface="Arial"/>
              </a:rPr>
              <a:t>tu</a:t>
            </a:r>
            <a:r>
              <a:rPr sz="2800" spc="50" dirty="0">
                <a:latin typeface="Arial"/>
                <a:cs typeface="Arial"/>
              </a:rPr>
              <a:t>r</a:t>
            </a:r>
            <a:r>
              <a:rPr sz="2800" dirty="0">
                <a:latin typeface="Arial"/>
                <a:cs typeface="Arial"/>
              </a:rPr>
              <a:t>n a Nash </a:t>
            </a:r>
            <a:r>
              <a:rPr sz="2800" spc="-15" dirty="0">
                <a:latin typeface="Arial"/>
                <a:cs typeface="Arial"/>
              </a:rPr>
              <a:t>Equilibrium?</a:t>
            </a:r>
            <a:endParaRPr sz="2800" dirty="0">
              <a:latin typeface="Arial"/>
              <a:cs typeface="Arial"/>
            </a:endParaRPr>
          </a:p>
        </p:txBody>
      </p:sp>
      <p:sp>
        <p:nvSpPr>
          <p:cNvPr id="3" name="Rectangle 2">
            <a:extLst>
              <a:ext uri="{FF2B5EF4-FFF2-40B4-BE49-F238E27FC236}">
                <a16:creationId xmlns:a16="http://schemas.microsoft.com/office/drawing/2014/main" id="{1B1491C0-4E38-EE1B-F5D9-201A609FDE26}"/>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46976DF2-8DE6-71A7-F3C5-F3F6E3FECF3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8">
            <a:extLst>
              <a:ext uri="{FF2B5EF4-FFF2-40B4-BE49-F238E27FC236}">
                <a16:creationId xmlns:a16="http://schemas.microsoft.com/office/drawing/2014/main" id="{1B3507D1-A095-6171-FCE5-78DFF4CF0F6D}"/>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26</a:t>
            </a:fld>
            <a:r>
              <a:rPr lang="en-US" sz="2000" dirty="0">
                <a:solidFill>
                  <a:prstClr val="black"/>
                </a:solidFill>
                <a:latin typeface="Comic Sans MS"/>
                <a:sym typeface="Comic Sans MS"/>
              </a:rPr>
              <a:t>/59</a:t>
            </a:r>
          </a:p>
        </p:txBody>
      </p:sp>
      <p:sp>
        <p:nvSpPr>
          <p:cNvPr id="9" name="Footer Placeholder 9">
            <a:extLst>
              <a:ext uri="{FF2B5EF4-FFF2-40B4-BE49-F238E27FC236}">
                <a16:creationId xmlns:a16="http://schemas.microsoft.com/office/drawing/2014/main" id="{18220E5B-8E32-1FA2-5660-A6F1B97A50D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FC004B42-E4B5-154C-0127-EB1F360FCB2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2" name="TextBox 11">
            <a:extLst>
              <a:ext uri="{FF2B5EF4-FFF2-40B4-BE49-F238E27FC236}">
                <a16:creationId xmlns:a16="http://schemas.microsoft.com/office/drawing/2014/main" id="{4E085370-1215-7075-8CF6-2FF4B2CABD7F}"/>
              </a:ext>
            </a:extLst>
          </p:cNvPr>
          <p:cNvSpPr txBox="1"/>
          <p:nvPr/>
        </p:nvSpPr>
        <p:spPr>
          <a:xfrm>
            <a:off x="1069504" y="4935922"/>
            <a:ext cx="6856095" cy="646331"/>
          </a:xfrm>
          <a:prstGeom prst="rect">
            <a:avLst/>
          </a:prstGeom>
          <a:noFill/>
        </p:spPr>
        <p:txBody>
          <a:bodyPr wrap="square">
            <a:spAutoFit/>
          </a:bodyPr>
          <a:lstStyle/>
          <a:p>
            <a:r>
              <a:rPr lang="en-US" b="0" i="0" dirty="0">
                <a:solidFill>
                  <a:schemeClr val="tx2">
                    <a:lumMod val="60000"/>
                    <a:lumOff val="40000"/>
                  </a:schemeClr>
                </a:solidFill>
                <a:effectLst/>
                <a:latin typeface="Söhne"/>
              </a:rPr>
              <a:t>a mutant player can potentially disrupt an existing equilibrium if they perform better. </a:t>
            </a:r>
            <a:endParaRPr lang="en-US" dirty="0">
              <a:solidFill>
                <a:schemeClr val="tx2">
                  <a:lumMod val="60000"/>
                  <a:lumOff val="4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p:nvPr/>
        </p:nvSpPr>
        <p:spPr>
          <a:xfrm>
            <a:off x="321627" y="278284"/>
            <a:ext cx="6115685" cy="508000"/>
          </a:xfrm>
          <a:prstGeom prst="rect">
            <a:avLst/>
          </a:prstGeom>
        </p:spPr>
        <p:txBody>
          <a:bodyPr vert="horz" wrap="square" lIns="0" tIns="0" rIns="0" bIns="0" rtlCol="0">
            <a:spAutoFit/>
          </a:bodyPr>
          <a:lstStyle/>
          <a:p>
            <a:pPr marL="12700">
              <a:lnSpc>
                <a:spcPct val="100000"/>
              </a:lnSpc>
            </a:pPr>
            <a:r>
              <a:rPr sz="3800" dirty="0">
                <a:latin typeface="Arial"/>
                <a:cs typeface="Arial"/>
              </a:rPr>
              <a:t>Evolu</a:t>
            </a:r>
            <a:r>
              <a:rPr sz="3800" spc="-20" dirty="0">
                <a:latin typeface="Arial"/>
                <a:cs typeface="Arial"/>
              </a:rPr>
              <a:t>t</a:t>
            </a:r>
            <a:r>
              <a:rPr sz="3800" dirty="0">
                <a:latin typeface="Arial"/>
                <a:cs typeface="Arial"/>
              </a:rPr>
              <a:t>ionary</a:t>
            </a:r>
            <a:r>
              <a:rPr sz="3800" spc="-5" dirty="0">
                <a:latin typeface="Arial"/>
                <a:cs typeface="Arial"/>
              </a:rPr>
              <a:t> </a:t>
            </a:r>
            <a:r>
              <a:rPr sz="3800" spc="-30" dirty="0">
                <a:latin typeface="Arial"/>
                <a:cs typeface="Arial"/>
              </a:rPr>
              <a:t>S</a:t>
            </a:r>
            <a:r>
              <a:rPr sz="3800" spc="-20" dirty="0">
                <a:latin typeface="Arial"/>
                <a:cs typeface="Arial"/>
              </a:rPr>
              <a:t>t</a:t>
            </a:r>
            <a:r>
              <a:rPr sz="3800" dirty="0">
                <a:latin typeface="Arial"/>
                <a:cs typeface="Arial"/>
              </a:rPr>
              <a:t>able</a:t>
            </a:r>
            <a:r>
              <a:rPr sz="3800" spc="-5" dirty="0">
                <a:latin typeface="Arial"/>
                <a:cs typeface="Arial"/>
              </a:rPr>
              <a:t> </a:t>
            </a:r>
            <a:r>
              <a:rPr sz="3800" spc="-30" dirty="0">
                <a:latin typeface="Arial"/>
                <a:cs typeface="Arial"/>
              </a:rPr>
              <a:t>S</a:t>
            </a:r>
            <a:r>
              <a:rPr sz="3800" spc="-20" dirty="0">
                <a:latin typeface="Arial"/>
                <a:cs typeface="Arial"/>
              </a:rPr>
              <a:t>t</a:t>
            </a:r>
            <a:r>
              <a:rPr sz="3800" dirty="0">
                <a:latin typeface="Arial"/>
                <a:cs typeface="Arial"/>
              </a:rPr>
              <a:t>ra</a:t>
            </a:r>
            <a:r>
              <a:rPr sz="3800" spc="-20" dirty="0">
                <a:latin typeface="Arial"/>
                <a:cs typeface="Arial"/>
              </a:rPr>
              <a:t>t</a:t>
            </a:r>
            <a:r>
              <a:rPr sz="3800" dirty="0">
                <a:latin typeface="Arial"/>
                <a:cs typeface="Arial"/>
              </a:rPr>
              <a:t>egy</a:t>
            </a:r>
          </a:p>
        </p:txBody>
      </p:sp>
      <p:sp>
        <p:nvSpPr>
          <p:cNvPr id="9" name="object 9"/>
          <p:cNvSpPr txBox="1"/>
          <p:nvPr/>
        </p:nvSpPr>
        <p:spPr>
          <a:xfrm>
            <a:off x="417763" y="1632592"/>
            <a:ext cx="5105399" cy="1344855"/>
          </a:xfrm>
          <a:prstGeom prst="rect">
            <a:avLst/>
          </a:prstGeom>
        </p:spPr>
        <p:txBody>
          <a:bodyPr vert="horz" wrap="square" lIns="0" tIns="0" rIns="0" bIns="0" rtlCol="0">
            <a:spAutoFit/>
          </a:bodyPr>
          <a:lstStyle/>
          <a:p>
            <a:pPr marL="228600" marR="5080" indent="-228600" algn="just">
              <a:lnSpc>
                <a:spcPct val="115399"/>
              </a:lnSpc>
              <a:buFont typeface="Arial" panose="020B0604020202020204" pitchFamily="34" charset="0"/>
              <a:buChar char="•"/>
            </a:pPr>
            <a:r>
              <a:rPr sz="2600" spc="-15" dirty="0">
                <a:latin typeface="Gill Sans MT"/>
                <a:cs typeface="Gill Sans MT"/>
              </a:rPr>
              <a:t>Imagine</a:t>
            </a:r>
            <a:r>
              <a:rPr sz="2600" spc="-5" dirty="0">
                <a:latin typeface="Gill Sans MT"/>
                <a:cs typeface="Gill Sans MT"/>
              </a:rPr>
              <a:t> </a:t>
            </a:r>
            <a:r>
              <a:rPr sz="2600" spc="-15" dirty="0">
                <a:latin typeface="Gill Sans MT"/>
                <a:cs typeface="Gill Sans MT"/>
              </a:rPr>
              <a:t>a</a:t>
            </a:r>
            <a:r>
              <a:rPr sz="2600" spc="-5" dirty="0">
                <a:latin typeface="Gill Sans MT"/>
                <a:cs typeface="Gill Sans MT"/>
              </a:rPr>
              <a:t> </a:t>
            </a:r>
            <a:r>
              <a:rPr sz="2600" u="heavy" dirty="0">
                <a:latin typeface="Gill Sans MT"/>
                <a:cs typeface="Gill Sans MT"/>
              </a:rPr>
              <a:t>l</a:t>
            </a:r>
            <a:r>
              <a:rPr sz="2600" u="heavy" spc="-15" dirty="0">
                <a:latin typeface="Gill Sans MT"/>
                <a:cs typeface="Gill Sans MT"/>
              </a:rPr>
              <a:t>arg</a:t>
            </a:r>
            <a:r>
              <a:rPr sz="2600" u="heavy" dirty="0">
                <a:latin typeface="Gill Sans MT"/>
                <a:cs typeface="Gill Sans MT"/>
              </a:rPr>
              <a:t>e</a:t>
            </a:r>
            <a:r>
              <a:rPr sz="2600" u="heavy" spc="-15" dirty="0">
                <a:latin typeface="Gill Sans MT"/>
                <a:cs typeface="Gill Sans MT"/>
              </a:rPr>
              <a:t> po</a:t>
            </a:r>
            <a:r>
              <a:rPr sz="2600" u="heavy" dirty="0">
                <a:latin typeface="Gill Sans MT"/>
                <a:cs typeface="Gill Sans MT"/>
              </a:rPr>
              <a:t>pul</a:t>
            </a:r>
            <a:r>
              <a:rPr sz="2600" u="heavy" spc="-15" dirty="0">
                <a:latin typeface="Gill Sans MT"/>
                <a:cs typeface="Gill Sans MT"/>
              </a:rPr>
              <a:t>a</a:t>
            </a:r>
            <a:r>
              <a:rPr sz="2600" u="heavy" dirty="0">
                <a:latin typeface="Gill Sans MT"/>
                <a:cs typeface="Gill Sans MT"/>
              </a:rPr>
              <a:t>ti</a:t>
            </a:r>
            <a:r>
              <a:rPr sz="2600" u="heavy" spc="-15" dirty="0">
                <a:latin typeface="Gill Sans MT"/>
                <a:cs typeface="Gill Sans MT"/>
              </a:rPr>
              <a:t>o</a:t>
            </a:r>
            <a:r>
              <a:rPr sz="2600" u="heavy" dirty="0">
                <a:latin typeface="Gill Sans MT"/>
                <a:cs typeface="Gill Sans MT"/>
              </a:rPr>
              <a:t>n</a:t>
            </a:r>
            <a:r>
              <a:rPr sz="2600" spc="-5" dirty="0">
                <a:latin typeface="Gill Sans MT"/>
                <a:cs typeface="Gill Sans MT"/>
              </a:rPr>
              <a:t> </a:t>
            </a:r>
            <a:r>
              <a:rPr sz="2600" spc="-15" dirty="0">
                <a:latin typeface="Gill Sans MT"/>
                <a:cs typeface="Gill Sans MT"/>
              </a:rPr>
              <a:t>o</a:t>
            </a:r>
            <a:r>
              <a:rPr sz="2600" dirty="0">
                <a:latin typeface="Gill Sans MT"/>
                <a:cs typeface="Gill Sans MT"/>
              </a:rPr>
              <a:t>f</a:t>
            </a:r>
            <a:r>
              <a:rPr sz="2600" spc="-5" dirty="0">
                <a:latin typeface="Gill Sans MT"/>
                <a:cs typeface="Gill Sans MT"/>
              </a:rPr>
              <a:t> </a:t>
            </a:r>
            <a:r>
              <a:rPr sz="2600" dirty="0">
                <a:latin typeface="Gill Sans MT"/>
                <a:cs typeface="Gill Sans MT"/>
              </a:rPr>
              <a:t>pl</a:t>
            </a:r>
            <a:r>
              <a:rPr sz="2600" spc="-120" dirty="0">
                <a:latin typeface="Gill Sans MT"/>
                <a:cs typeface="Gill Sans MT"/>
              </a:rPr>
              <a:t>a</a:t>
            </a:r>
            <a:r>
              <a:rPr sz="2600" spc="-70" dirty="0">
                <a:latin typeface="Gill Sans MT"/>
                <a:cs typeface="Gill Sans MT"/>
              </a:rPr>
              <a:t>y</a:t>
            </a:r>
            <a:r>
              <a:rPr sz="2600" spc="-15" dirty="0">
                <a:latin typeface="Gill Sans MT"/>
                <a:cs typeface="Gill Sans MT"/>
              </a:rPr>
              <a:t>ers</a:t>
            </a:r>
            <a:r>
              <a:rPr sz="2600" dirty="0">
                <a:latin typeface="Gill Sans MT"/>
                <a:cs typeface="Gill Sans MT"/>
              </a:rPr>
              <a:t>, </a:t>
            </a:r>
            <a:r>
              <a:rPr sz="2600" spc="-15" dirty="0">
                <a:latin typeface="Gill Sans MT"/>
                <a:cs typeface="Gill Sans MT"/>
              </a:rPr>
              <a:t>rando</a:t>
            </a:r>
            <a:r>
              <a:rPr sz="2600" dirty="0">
                <a:latin typeface="Gill Sans MT"/>
                <a:cs typeface="Gill Sans MT"/>
              </a:rPr>
              <a:t>m</a:t>
            </a:r>
            <a:r>
              <a:rPr sz="2600" spc="-30" dirty="0">
                <a:latin typeface="Gill Sans MT"/>
                <a:cs typeface="Gill Sans MT"/>
              </a:rPr>
              <a:t>l</a:t>
            </a:r>
            <a:r>
              <a:rPr sz="2600" spc="-15" dirty="0">
                <a:latin typeface="Gill Sans MT"/>
                <a:cs typeface="Gill Sans MT"/>
              </a:rPr>
              <a:t>y</a:t>
            </a:r>
            <a:r>
              <a:rPr sz="2600" spc="-5" dirty="0">
                <a:latin typeface="Gill Sans MT"/>
                <a:cs typeface="Gill Sans MT"/>
              </a:rPr>
              <a:t> </a:t>
            </a:r>
            <a:r>
              <a:rPr sz="2600" spc="-15" dirty="0">
                <a:latin typeface="Gill Sans MT"/>
                <a:cs typeface="Gill Sans MT"/>
              </a:rPr>
              <a:t>dr</a:t>
            </a:r>
            <a:r>
              <a:rPr sz="2600" spc="-110" dirty="0">
                <a:latin typeface="Gill Sans MT"/>
                <a:cs typeface="Gill Sans MT"/>
              </a:rPr>
              <a:t>a</a:t>
            </a:r>
            <a:r>
              <a:rPr sz="2600" dirty="0">
                <a:latin typeface="Gill Sans MT"/>
                <a:cs typeface="Gill Sans MT"/>
              </a:rPr>
              <a:t>wn</a:t>
            </a:r>
            <a:r>
              <a:rPr sz="2600" spc="-5" dirty="0">
                <a:latin typeface="Gill Sans MT"/>
                <a:cs typeface="Gill Sans MT"/>
              </a:rPr>
              <a:t> </a:t>
            </a:r>
            <a:r>
              <a:rPr sz="2600" spc="-15" dirty="0">
                <a:latin typeface="Gill Sans MT"/>
                <a:cs typeface="Gill Sans MT"/>
              </a:rPr>
              <a:t>to</a:t>
            </a:r>
            <a:r>
              <a:rPr sz="2600" spc="-5" dirty="0">
                <a:latin typeface="Gill Sans MT"/>
                <a:cs typeface="Gill Sans MT"/>
              </a:rPr>
              <a:t> </a:t>
            </a:r>
            <a:r>
              <a:rPr sz="2600" dirty="0">
                <a:latin typeface="Gill Sans MT"/>
                <a:cs typeface="Gill Sans MT"/>
              </a:rPr>
              <a:t>pl</a:t>
            </a:r>
            <a:r>
              <a:rPr sz="2600" spc="-120" dirty="0">
                <a:latin typeface="Gill Sans MT"/>
                <a:cs typeface="Gill Sans MT"/>
              </a:rPr>
              <a:t>a</a:t>
            </a:r>
            <a:r>
              <a:rPr sz="2600" spc="-15" dirty="0">
                <a:latin typeface="Gill Sans MT"/>
                <a:cs typeface="Gill Sans MT"/>
              </a:rPr>
              <a:t>y</a:t>
            </a:r>
            <a:r>
              <a:rPr sz="2600" spc="-5" dirty="0">
                <a:latin typeface="Gill Sans MT"/>
                <a:cs typeface="Gill Sans MT"/>
              </a:rPr>
              <a:t> </a:t>
            </a:r>
            <a:r>
              <a:rPr sz="2600" spc="-15" dirty="0">
                <a:latin typeface="Gill Sans MT"/>
                <a:cs typeface="Gill Sans MT"/>
              </a:rPr>
              <a:t>a</a:t>
            </a:r>
            <a:r>
              <a:rPr sz="2600" spc="-5" dirty="0">
                <a:latin typeface="Gill Sans MT"/>
                <a:cs typeface="Gill Sans MT"/>
              </a:rPr>
              <a:t> </a:t>
            </a:r>
            <a:r>
              <a:rPr sz="2600" spc="-10" dirty="0">
                <a:latin typeface="Gill Sans MT"/>
                <a:cs typeface="Gill Sans MT"/>
              </a:rPr>
              <a:t>s</a:t>
            </a:r>
            <a:r>
              <a:rPr sz="2600" dirty="0">
                <a:latin typeface="Gill Sans MT"/>
                <a:cs typeface="Gill Sans MT"/>
              </a:rPr>
              <a:t>ymmetr</a:t>
            </a:r>
            <a:r>
              <a:rPr sz="2600" spc="-5" dirty="0">
                <a:latin typeface="Gill Sans MT"/>
                <a:cs typeface="Gill Sans MT"/>
              </a:rPr>
              <a:t>i</a:t>
            </a:r>
            <a:r>
              <a:rPr sz="2600" spc="-15" dirty="0">
                <a:latin typeface="Gill Sans MT"/>
                <a:cs typeface="Gill Sans MT"/>
              </a:rPr>
              <a:t>c</a:t>
            </a:r>
            <a:r>
              <a:rPr sz="2600" spc="-10" dirty="0">
                <a:latin typeface="Gill Sans MT"/>
                <a:cs typeface="Gill Sans MT"/>
              </a:rPr>
              <a:t> ga</a:t>
            </a:r>
            <a:r>
              <a:rPr sz="2600" dirty="0">
                <a:latin typeface="Gill Sans MT"/>
                <a:cs typeface="Gill Sans MT"/>
              </a:rPr>
              <a:t>me</a:t>
            </a:r>
          </a:p>
        </p:txBody>
      </p:sp>
      <p:sp>
        <p:nvSpPr>
          <p:cNvPr id="11" name="object 11"/>
          <p:cNvSpPr txBox="1"/>
          <p:nvPr/>
        </p:nvSpPr>
        <p:spPr>
          <a:xfrm>
            <a:off x="417763" y="3168369"/>
            <a:ext cx="5113019" cy="1804981"/>
          </a:xfrm>
          <a:prstGeom prst="rect">
            <a:avLst/>
          </a:prstGeom>
        </p:spPr>
        <p:txBody>
          <a:bodyPr vert="horz" wrap="square" lIns="0" tIns="0" rIns="0" bIns="0" rtlCol="0">
            <a:spAutoFit/>
          </a:bodyPr>
          <a:lstStyle/>
          <a:p>
            <a:pPr marL="228600" marR="5080" indent="-215900">
              <a:lnSpc>
                <a:spcPct val="115399"/>
              </a:lnSpc>
              <a:buFont typeface="Arial" panose="020B0604020202020204" pitchFamily="34" charset="0"/>
              <a:buChar char="•"/>
            </a:pPr>
            <a:r>
              <a:rPr sz="2600" dirty="0">
                <a:latin typeface="Gill Sans MT"/>
                <a:cs typeface="Gill Sans MT"/>
              </a:rPr>
              <a:t>The</a:t>
            </a:r>
            <a:r>
              <a:rPr sz="2600" spc="-5" dirty="0">
                <a:latin typeface="Gill Sans MT"/>
                <a:cs typeface="Gill Sans MT"/>
              </a:rPr>
              <a:t> </a:t>
            </a:r>
            <a:r>
              <a:rPr sz="2600" dirty="0">
                <a:latin typeface="Gill Sans MT"/>
                <a:cs typeface="Gill Sans MT"/>
              </a:rPr>
              <a:t>p</a:t>
            </a:r>
            <a:r>
              <a:rPr sz="2600" spc="-120" dirty="0">
                <a:latin typeface="Gill Sans MT"/>
                <a:cs typeface="Gill Sans MT"/>
              </a:rPr>
              <a:t>a</a:t>
            </a:r>
            <a:r>
              <a:rPr sz="2600" spc="-70" dirty="0">
                <a:latin typeface="Gill Sans MT"/>
                <a:cs typeface="Gill Sans MT"/>
              </a:rPr>
              <a:t>y</a:t>
            </a:r>
            <a:r>
              <a:rPr sz="2600" spc="-10" dirty="0">
                <a:latin typeface="Gill Sans MT"/>
                <a:cs typeface="Gill Sans MT"/>
              </a:rPr>
              <a:t>offs</a:t>
            </a:r>
            <a:r>
              <a:rPr sz="2600" spc="-5" dirty="0">
                <a:latin typeface="Gill Sans MT"/>
                <a:cs typeface="Gill Sans MT"/>
              </a:rPr>
              <a:t> </a:t>
            </a:r>
            <a:r>
              <a:rPr sz="2600" spc="-15" dirty="0">
                <a:latin typeface="Gill Sans MT"/>
                <a:cs typeface="Gill Sans MT"/>
              </a:rPr>
              <a:t>o</a:t>
            </a:r>
            <a:r>
              <a:rPr sz="2600" dirty="0">
                <a:latin typeface="Gill Sans MT"/>
                <a:cs typeface="Gill Sans MT"/>
              </a:rPr>
              <a:t>f</a:t>
            </a:r>
            <a:r>
              <a:rPr sz="2600" spc="-5" dirty="0">
                <a:latin typeface="Gill Sans MT"/>
                <a:cs typeface="Gill Sans MT"/>
              </a:rPr>
              <a:t> </a:t>
            </a:r>
            <a:r>
              <a:rPr sz="2600" dirty="0">
                <a:latin typeface="Gill Sans MT"/>
                <a:cs typeface="Gill Sans MT"/>
              </a:rPr>
              <a:t>the</a:t>
            </a:r>
            <a:r>
              <a:rPr sz="2600" spc="-5" dirty="0">
                <a:latin typeface="Gill Sans MT"/>
                <a:cs typeface="Gill Sans MT"/>
              </a:rPr>
              <a:t> </a:t>
            </a:r>
            <a:r>
              <a:rPr sz="2600" spc="-15" dirty="0">
                <a:latin typeface="Gill Sans MT"/>
                <a:cs typeface="Gill Sans MT"/>
              </a:rPr>
              <a:t>ga</a:t>
            </a:r>
            <a:r>
              <a:rPr sz="2600" dirty="0">
                <a:latin typeface="Gill Sans MT"/>
                <a:cs typeface="Gill Sans MT"/>
              </a:rPr>
              <a:t>me</a:t>
            </a:r>
            <a:r>
              <a:rPr sz="2600" spc="-5" dirty="0">
                <a:latin typeface="Gill Sans MT"/>
                <a:cs typeface="Gill Sans MT"/>
              </a:rPr>
              <a:t> </a:t>
            </a:r>
            <a:r>
              <a:rPr sz="2600" spc="-15" dirty="0">
                <a:latin typeface="Gill Sans MT"/>
                <a:cs typeface="Gill Sans MT"/>
              </a:rPr>
              <a:t>a</a:t>
            </a:r>
            <a:r>
              <a:rPr sz="2600" spc="-70" dirty="0">
                <a:latin typeface="Gill Sans MT"/>
                <a:cs typeface="Gill Sans MT"/>
              </a:rPr>
              <a:t>r</a:t>
            </a:r>
            <a:r>
              <a:rPr sz="2600" dirty="0">
                <a:latin typeface="Gill Sans MT"/>
                <a:cs typeface="Gill Sans MT"/>
              </a:rPr>
              <a:t>e</a:t>
            </a:r>
            <a:r>
              <a:rPr sz="2600" spc="-5" dirty="0">
                <a:latin typeface="Gill Sans MT"/>
                <a:cs typeface="Gill Sans MT"/>
              </a:rPr>
              <a:t> </a:t>
            </a:r>
            <a:r>
              <a:rPr sz="2600" spc="-15" dirty="0">
                <a:latin typeface="Gill Sans MT"/>
                <a:cs typeface="Gill Sans MT"/>
              </a:rPr>
              <a:t>assumed</a:t>
            </a:r>
            <a:r>
              <a:rPr sz="2600" spc="-10" dirty="0">
                <a:latin typeface="Gill Sans MT"/>
                <a:cs typeface="Gill Sans MT"/>
              </a:rPr>
              <a:t> to</a:t>
            </a:r>
            <a:r>
              <a:rPr sz="2600" spc="-5" dirty="0">
                <a:latin typeface="Gill Sans MT"/>
                <a:cs typeface="Gill Sans MT"/>
              </a:rPr>
              <a:t> </a:t>
            </a:r>
            <a:r>
              <a:rPr sz="2600" dirty="0">
                <a:latin typeface="Gill Sans MT"/>
                <a:cs typeface="Gill Sans MT"/>
              </a:rPr>
              <a:t>be</a:t>
            </a:r>
            <a:r>
              <a:rPr sz="2600" spc="-265" dirty="0">
                <a:latin typeface="Gill Sans MT"/>
                <a:cs typeface="Gill Sans MT"/>
              </a:rPr>
              <a:t> </a:t>
            </a:r>
            <a:r>
              <a:rPr sz="2600" spc="-15" dirty="0">
                <a:latin typeface="Gill Sans MT"/>
                <a:cs typeface="Gill Sans MT"/>
              </a:rPr>
              <a:t>“</a:t>
            </a:r>
            <a:r>
              <a:rPr sz="2600" spc="35" dirty="0">
                <a:latin typeface="Gill Sans MT"/>
                <a:cs typeface="Gill Sans MT"/>
              </a:rPr>
              <a:t>fi</a:t>
            </a:r>
            <a:r>
              <a:rPr sz="2600" spc="-15" dirty="0">
                <a:latin typeface="Gill Sans MT"/>
                <a:cs typeface="Gill Sans MT"/>
              </a:rPr>
              <a:t>tnesses”</a:t>
            </a:r>
            <a:r>
              <a:rPr sz="2600" spc="-5" dirty="0">
                <a:latin typeface="Gill Sans MT"/>
                <a:cs typeface="Gill Sans MT"/>
              </a:rPr>
              <a:t> </a:t>
            </a:r>
            <a:r>
              <a:rPr sz="2600" dirty="0">
                <a:latin typeface="Gill Sans MT"/>
                <a:cs typeface="Gill Sans MT"/>
              </a:rPr>
              <a:t>in</a:t>
            </a:r>
            <a:r>
              <a:rPr sz="2600" spc="-5" dirty="0">
                <a:latin typeface="Gill Sans MT"/>
                <a:cs typeface="Gill Sans MT"/>
              </a:rPr>
              <a:t> </a:t>
            </a:r>
            <a:r>
              <a:rPr sz="2600" dirty="0">
                <a:latin typeface="Gill Sans MT"/>
                <a:cs typeface="Gill Sans MT"/>
              </a:rPr>
              <a:t>the</a:t>
            </a:r>
            <a:r>
              <a:rPr sz="2600" spc="-5" dirty="0">
                <a:latin typeface="Gill Sans MT"/>
                <a:cs typeface="Gill Sans MT"/>
              </a:rPr>
              <a:t> </a:t>
            </a:r>
            <a:r>
              <a:rPr sz="2600" spc="-15" dirty="0">
                <a:latin typeface="Gill Sans MT"/>
                <a:cs typeface="Gill Sans MT"/>
              </a:rPr>
              <a:t>sens</a:t>
            </a:r>
            <a:r>
              <a:rPr sz="2600" dirty="0">
                <a:latin typeface="Gill Sans MT"/>
                <a:cs typeface="Gill Sans MT"/>
              </a:rPr>
              <a:t>e</a:t>
            </a:r>
            <a:r>
              <a:rPr sz="2600" spc="-5" dirty="0">
                <a:latin typeface="Gill Sans MT"/>
                <a:cs typeface="Gill Sans MT"/>
              </a:rPr>
              <a:t> </a:t>
            </a:r>
            <a:r>
              <a:rPr sz="2600" spc="-15" dirty="0">
                <a:latin typeface="Gill Sans MT"/>
                <a:cs typeface="Gill Sans MT"/>
              </a:rPr>
              <a:t>tha</a:t>
            </a:r>
            <a:r>
              <a:rPr sz="2600" dirty="0">
                <a:latin typeface="Gill Sans MT"/>
                <a:cs typeface="Gill Sans MT"/>
              </a:rPr>
              <a:t>t</a:t>
            </a:r>
            <a:r>
              <a:rPr sz="2600" spc="-5" dirty="0">
                <a:latin typeface="Gill Sans MT"/>
                <a:cs typeface="Gill Sans MT"/>
              </a:rPr>
              <a:t> </a:t>
            </a:r>
            <a:r>
              <a:rPr sz="2600" spc="-15" dirty="0">
                <a:solidFill>
                  <a:srgbClr val="FF2600"/>
                </a:solidFill>
                <a:latin typeface="Gill Sans MT"/>
                <a:cs typeface="Gill Sans MT"/>
              </a:rPr>
              <a:t>a p</a:t>
            </a:r>
            <a:r>
              <a:rPr sz="2600" spc="-80" dirty="0">
                <a:solidFill>
                  <a:srgbClr val="FF2600"/>
                </a:solidFill>
                <a:latin typeface="Gill Sans MT"/>
                <a:cs typeface="Gill Sans MT"/>
              </a:rPr>
              <a:t>r</a:t>
            </a:r>
            <a:r>
              <a:rPr sz="2600" spc="-15" dirty="0">
                <a:solidFill>
                  <a:srgbClr val="FF2600"/>
                </a:solidFill>
                <a:latin typeface="Gill Sans MT"/>
                <a:cs typeface="Gill Sans MT"/>
              </a:rPr>
              <a:t>ocess</a:t>
            </a:r>
            <a:r>
              <a:rPr sz="2600" spc="-5" dirty="0">
                <a:solidFill>
                  <a:srgbClr val="FF2600"/>
                </a:solidFill>
                <a:latin typeface="Gill Sans MT"/>
                <a:cs typeface="Gill Sans MT"/>
              </a:rPr>
              <a:t> </a:t>
            </a:r>
            <a:r>
              <a:rPr sz="2600" spc="-15" dirty="0">
                <a:solidFill>
                  <a:srgbClr val="FF2600"/>
                </a:solidFill>
                <a:latin typeface="Gill Sans MT"/>
                <a:cs typeface="Gill Sans MT"/>
              </a:rPr>
              <a:t>o</a:t>
            </a:r>
            <a:r>
              <a:rPr sz="2600" dirty="0">
                <a:solidFill>
                  <a:srgbClr val="FF2600"/>
                </a:solidFill>
                <a:latin typeface="Gill Sans MT"/>
                <a:cs typeface="Gill Sans MT"/>
              </a:rPr>
              <a:t>f</a:t>
            </a:r>
            <a:r>
              <a:rPr sz="2600" spc="-5" dirty="0">
                <a:solidFill>
                  <a:srgbClr val="FF2600"/>
                </a:solidFill>
                <a:latin typeface="Gill Sans MT"/>
                <a:cs typeface="Gill Sans MT"/>
              </a:rPr>
              <a:t> (</a:t>
            </a:r>
            <a:r>
              <a:rPr sz="2600" spc="-15" dirty="0">
                <a:solidFill>
                  <a:srgbClr val="FF2600"/>
                </a:solidFill>
                <a:latin typeface="Gill Sans MT"/>
                <a:cs typeface="Gill Sans MT"/>
              </a:rPr>
              <a:t>natura</a:t>
            </a:r>
            <a:r>
              <a:rPr sz="2600" dirty="0">
                <a:solidFill>
                  <a:srgbClr val="FF2600"/>
                </a:solidFill>
                <a:latin typeface="Gill Sans MT"/>
                <a:cs typeface="Gill Sans MT"/>
              </a:rPr>
              <a:t>l)</a:t>
            </a:r>
            <a:r>
              <a:rPr sz="2600" spc="-5" dirty="0">
                <a:solidFill>
                  <a:srgbClr val="FF2600"/>
                </a:solidFill>
                <a:latin typeface="Gill Sans MT"/>
                <a:cs typeface="Gill Sans MT"/>
              </a:rPr>
              <a:t> </a:t>
            </a:r>
            <a:r>
              <a:rPr sz="2600" spc="-10" dirty="0">
                <a:solidFill>
                  <a:srgbClr val="FF2600"/>
                </a:solidFill>
                <a:latin typeface="Gill Sans MT"/>
                <a:cs typeface="Gill Sans MT"/>
              </a:rPr>
              <a:t>s</a:t>
            </a:r>
            <a:r>
              <a:rPr sz="2600" dirty="0">
                <a:solidFill>
                  <a:srgbClr val="FF2600"/>
                </a:solidFill>
                <a:latin typeface="Gill Sans MT"/>
                <a:cs typeface="Gill Sans MT"/>
              </a:rPr>
              <a:t>electi</a:t>
            </a:r>
            <a:r>
              <a:rPr sz="2600" spc="-15" dirty="0">
                <a:solidFill>
                  <a:srgbClr val="FF2600"/>
                </a:solidFill>
                <a:latin typeface="Gill Sans MT"/>
                <a:cs typeface="Gill Sans MT"/>
              </a:rPr>
              <a:t>o</a:t>
            </a:r>
            <a:r>
              <a:rPr sz="2600" dirty="0">
                <a:solidFill>
                  <a:srgbClr val="FF2600"/>
                </a:solidFill>
                <a:latin typeface="Gill Sans MT"/>
                <a:cs typeface="Gill Sans MT"/>
              </a:rPr>
              <a:t>n</a:t>
            </a:r>
            <a:r>
              <a:rPr sz="2600" spc="-5" dirty="0">
                <a:solidFill>
                  <a:srgbClr val="FF2600"/>
                </a:solidFill>
                <a:latin typeface="Gill Sans MT"/>
                <a:cs typeface="Gill Sans MT"/>
              </a:rPr>
              <a:t> </a:t>
            </a:r>
            <a:r>
              <a:rPr sz="2600" spc="-10" dirty="0">
                <a:solidFill>
                  <a:srgbClr val="FF2600"/>
                </a:solidFill>
                <a:latin typeface="Gill Sans MT"/>
                <a:cs typeface="Gill Sans MT"/>
              </a:rPr>
              <a:t>f</a:t>
            </a:r>
            <a:r>
              <a:rPr sz="2600" spc="-110" dirty="0">
                <a:solidFill>
                  <a:srgbClr val="FF2600"/>
                </a:solidFill>
                <a:latin typeface="Gill Sans MT"/>
                <a:cs typeface="Gill Sans MT"/>
              </a:rPr>
              <a:t>a</a:t>
            </a:r>
            <a:r>
              <a:rPr sz="2600" spc="-70" dirty="0">
                <a:solidFill>
                  <a:srgbClr val="FF2600"/>
                </a:solidFill>
                <a:latin typeface="Gill Sans MT"/>
                <a:cs typeface="Gill Sans MT"/>
              </a:rPr>
              <a:t>v</a:t>
            </a:r>
            <a:r>
              <a:rPr sz="2600" spc="-15" dirty="0">
                <a:solidFill>
                  <a:srgbClr val="FF2600"/>
                </a:solidFill>
                <a:latin typeface="Gill Sans MT"/>
                <a:cs typeface="Gill Sans MT"/>
              </a:rPr>
              <a:t>ours thos</a:t>
            </a:r>
            <a:r>
              <a:rPr sz="2600" dirty="0">
                <a:solidFill>
                  <a:srgbClr val="FF2600"/>
                </a:solidFill>
                <a:latin typeface="Gill Sans MT"/>
                <a:cs typeface="Gill Sans MT"/>
              </a:rPr>
              <a:t>e</a:t>
            </a:r>
            <a:r>
              <a:rPr sz="2600" spc="-5" dirty="0">
                <a:solidFill>
                  <a:srgbClr val="FF2600"/>
                </a:solidFill>
                <a:latin typeface="Gill Sans MT"/>
                <a:cs typeface="Gill Sans MT"/>
              </a:rPr>
              <a:t> </a:t>
            </a:r>
            <a:r>
              <a:rPr sz="2600" spc="-15" dirty="0">
                <a:solidFill>
                  <a:srgbClr val="FF2600"/>
                </a:solidFill>
                <a:latin typeface="Gill Sans MT"/>
                <a:cs typeface="Gill Sans MT"/>
              </a:rPr>
              <a:t>ea</a:t>
            </a:r>
            <a:r>
              <a:rPr sz="2600" dirty="0">
                <a:solidFill>
                  <a:srgbClr val="FF2600"/>
                </a:solidFill>
                <a:latin typeface="Gill Sans MT"/>
                <a:cs typeface="Gill Sans MT"/>
              </a:rPr>
              <a:t>rn</a:t>
            </a:r>
            <a:r>
              <a:rPr sz="2600" spc="-5" dirty="0">
                <a:solidFill>
                  <a:srgbClr val="FF2600"/>
                </a:solidFill>
                <a:latin typeface="Gill Sans MT"/>
                <a:cs typeface="Gill Sans MT"/>
              </a:rPr>
              <a:t>i</a:t>
            </a:r>
            <a:r>
              <a:rPr sz="2600" spc="-15" dirty="0">
                <a:solidFill>
                  <a:srgbClr val="FF2600"/>
                </a:solidFill>
                <a:latin typeface="Gill Sans MT"/>
                <a:cs typeface="Gill Sans MT"/>
              </a:rPr>
              <a:t>ng</a:t>
            </a:r>
            <a:r>
              <a:rPr sz="2600" spc="-5" dirty="0">
                <a:solidFill>
                  <a:srgbClr val="FF2600"/>
                </a:solidFill>
                <a:latin typeface="Gill Sans MT"/>
                <a:cs typeface="Gill Sans MT"/>
              </a:rPr>
              <a:t> </a:t>
            </a:r>
            <a:r>
              <a:rPr sz="2600" dirty="0">
                <a:solidFill>
                  <a:srgbClr val="FF2600"/>
                </a:solidFill>
                <a:latin typeface="Gill Sans MT"/>
                <a:cs typeface="Gill Sans MT"/>
              </a:rPr>
              <a:t>hi</a:t>
            </a:r>
            <a:r>
              <a:rPr sz="2600" spc="-15" dirty="0">
                <a:solidFill>
                  <a:srgbClr val="FF2600"/>
                </a:solidFill>
                <a:latin typeface="Gill Sans MT"/>
                <a:cs typeface="Gill Sans MT"/>
              </a:rPr>
              <a:t>g</a:t>
            </a:r>
            <a:r>
              <a:rPr sz="2600" dirty="0">
                <a:solidFill>
                  <a:srgbClr val="FF2600"/>
                </a:solidFill>
                <a:latin typeface="Gill Sans MT"/>
                <a:cs typeface="Gill Sans MT"/>
              </a:rPr>
              <a:t>her</a:t>
            </a:r>
            <a:r>
              <a:rPr sz="2600" spc="-5" dirty="0">
                <a:solidFill>
                  <a:srgbClr val="FF2600"/>
                </a:solidFill>
                <a:latin typeface="Gill Sans MT"/>
                <a:cs typeface="Gill Sans MT"/>
              </a:rPr>
              <a:t> </a:t>
            </a:r>
            <a:r>
              <a:rPr sz="2600" dirty="0">
                <a:solidFill>
                  <a:srgbClr val="FF2600"/>
                </a:solidFill>
                <a:latin typeface="Gill Sans MT"/>
                <a:cs typeface="Gill Sans MT"/>
              </a:rPr>
              <a:t>p</a:t>
            </a:r>
            <a:r>
              <a:rPr sz="2600" spc="-120" dirty="0">
                <a:solidFill>
                  <a:srgbClr val="FF2600"/>
                </a:solidFill>
                <a:latin typeface="Gill Sans MT"/>
                <a:cs typeface="Gill Sans MT"/>
              </a:rPr>
              <a:t>a</a:t>
            </a:r>
            <a:r>
              <a:rPr sz="2600" spc="-70" dirty="0">
                <a:solidFill>
                  <a:srgbClr val="FF2600"/>
                </a:solidFill>
                <a:latin typeface="Gill Sans MT"/>
                <a:cs typeface="Gill Sans MT"/>
              </a:rPr>
              <a:t>y</a:t>
            </a:r>
            <a:r>
              <a:rPr sz="2600" spc="-10" dirty="0">
                <a:solidFill>
                  <a:srgbClr val="FF2600"/>
                </a:solidFill>
                <a:latin typeface="Gill Sans MT"/>
                <a:cs typeface="Gill Sans MT"/>
              </a:rPr>
              <a:t>offs</a:t>
            </a:r>
            <a:endParaRPr sz="2600" dirty="0">
              <a:latin typeface="Gill Sans MT"/>
              <a:cs typeface="Gill Sans MT"/>
            </a:endParaRPr>
          </a:p>
        </p:txBody>
      </p:sp>
      <p:sp>
        <p:nvSpPr>
          <p:cNvPr id="13" name="object 13"/>
          <p:cNvSpPr txBox="1"/>
          <p:nvPr/>
        </p:nvSpPr>
        <p:spPr>
          <a:xfrm>
            <a:off x="417762" y="5161346"/>
            <a:ext cx="5297237" cy="884729"/>
          </a:xfrm>
          <a:prstGeom prst="rect">
            <a:avLst/>
          </a:prstGeom>
        </p:spPr>
        <p:txBody>
          <a:bodyPr vert="horz" wrap="square" lIns="0" tIns="0" rIns="0" bIns="0" rtlCol="0">
            <a:spAutoFit/>
          </a:bodyPr>
          <a:lstStyle/>
          <a:p>
            <a:pPr marL="228600" marR="5080" indent="-228600">
              <a:lnSpc>
                <a:spcPct val="115399"/>
              </a:lnSpc>
              <a:buFont typeface="Arial" panose="020B0604020202020204" pitchFamily="34" charset="0"/>
              <a:buChar char="•"/>
            </a:pPr>
            <a:r>
              <a:rPr sz="2600" spc="-20" dirty="0">
                <a:latin typeface="Gill Sans MT"/>
                <a:cs typeface="Gill Sans MT"/>
              </a:rPr>
              <a:t>What</a:t>
            </a:r>
            <a:r>
              <a:rPr sz="2600" spc="-5" dirty="0">
                <a:latin typeface="Gill Sans MT"/>
                <a:cs typeface="Gill Sans MT"/>
              </a:rPr>
              <a:t> </a:t>
            </a:r>
            <a:r>
              <a:rPr sz="2600" dirty="0">
                <a:latin typeface="Gill Sans MT"/>
                <a:cs typeface="Gill Sans MT"/>
              </a:rPr>
              <a:t>i</a:t>
            </a:r>
            <a:r>
              <a:rPr sz="2600" spc="-10" dirty="0">
                <a:latin typeface="Gill Sans MT"/>
                <a:cs typeface="Gill Sans MT"/>
              </a:rPr>
              <a:t>s</a:t>
            </a:r>
            <a:r>
              <a:rPr sz="2600" spc="-5" dirty="0">
                <a:latin typeface="Gill Sans MT"/>
                <a:cs typeface="Gill Sans MT"/>
              </a:rPr>
              <a:t> </a:t>
            </a:r>
            <a:r>
              <a:rPr sz="2600" dirty="0">
                <a:latin typeface="Gill Sans MT"/>
                <a:cs typeface="Gill Sans MT"/>
              </a:rPr>
              <a:t>the</a:t>
            </a:r>
            <a:r>
              <a:rPr sz="2600" spc="-5" dirty="0">
                <a:latin typeface="Gill Sans MT"/>
                <a:cs typeface="Gill Sans MT"/>
              </a:rPr>
              <a:t> </a:t>
            </a:r>
            <a:r>
              <a:rPr sz="2600" spc="-15" dirty="0">
                <a:solidFill>
                  <a:srgbClr val="FF2600"/>
                </a:solidFill>
                <a:latin typeface="Gill Sans MT"/>
                <a:cs typeface="Gill Sans MT"/>
              </a:rPr>
              <a:t>cond</a:t>
            </a:r>
            <a:r>
              <a:rPr sz="2600" dirty="0">
                <a:solidFill>
                  <a:srgbClr val="FF2600"/>
                </a:solidFill>
                <a:latin typeface="Gill Sans MT"/>
                <a:cs typeface="Gill Sans MT"/>
              </a:rPr>
              <a:t>iti</a:t>
            </a:r>
            <a:r>
              <a:rPr sz="2600" spc="-15" dirty="0">
                <a:solidFill>
                  <a:srgbClr val="FF2600"/>
                </a:solidFill>
                <a:latin typeface="Gill Sans MT"/>
                <a:cs typeface="Gill Sans MT"/>
              </a:rPr>
              <a:t>o</a:t>
            </a:r>
            <a:r>
              <a:rPr sz="2600" dirty="0">
                <a:solidFill>
                  <a:srgbClr val="FF2600"/>
                </a:solidFill>
                <a:latin typeface="Gill Sans MT"/>
                <a:cs typeface="Gill Sans MT"/>
              </a:rPr>
              <a:t>n</a:t>
            </a:r>
            <a:r>
              <a:rPr sz="2600" spc="-5" dirty="0">
                <a:solidFill>
                  <a:srgbClr val="FF2600"/>
                </a:solidFill>
                <a:latin typeface="Gill Sans MT"/>
                <a:cs typeface="Gill Sans MT"/>
              </a:rPr>
              <a:t> </a:t>
            </a:r>
            <a:r>
              <a:rPr sz="2600" spc="-30" dirty="0">
                <a:solidFill>
                  <a:srgbClr val="FF2600"/>
                </a:solidFill>
                <a:latin typeface="Gill Sans MT"/>
                <a:cs typeface="Gill Sans MT"/>
              </a:rPr>
              <a:t>f</a:t>
            </a:r>
            <a:r>
              <a:rPr sz="2600" spc="-15" dirty="0">
                <a:solidFill>
                  <a:srgbClr val="FF2600"/>
                </a:solidFill>
                <a:latin typeface="Gill Sans MT"/>
                <a:cs typeface="Gill Sans MT"/>
              </a:rPr>
              <a:t>or</a:t>
            </a:r>
            <a:r>
              <a:rPr sz="2600" spc="-5" dirty="0">
                <a:solidFill>
                  <a:srgbClr val="FF2600"/>
                </a:solidFill>
                <a:latin typeface="Gill Sans MT"/>
                <a:cs typeface="Gill Sans MT"/>
              </a:rPr>
              <a:t> </a:t>
            </a:r>
            <a:r>
              <a:rPr sz="2600" spc="-10" dirty="0">
                <a:solidFill>
                  <a:srgbClr val="FF2600"/>
                </a:solidFill>
                <a:latin typeface="Gill Sans MT"/>
                <a:cs typeface="Gill Sans MT"/>
              </a:rPr>
              <a:t>s</a:t>
            </a:r>
            <a:r>
              <a:rPr sz="2600" dirty="0">
                <a:solidFill>
                  <a:srgbClr val="FF2600"/>
                </a:solidFill>
                <a:latin typeface="Gill Sans MT"/>
                <a:cs typeface="Gill Sans MT"/>
              </a:rPr>
              <a:t>electi</a:t>
            </a:r>
            <a:r>
              <a:rPr sz="2600" spc="-15" dirty="0">
                <a:solidFill>
                  <a:srgbClr val="FF2600"/>
                </a:solidFill>
                <a:latin typeface="Gill Sans MT"/>
                <a:cs typeface="Gill Sans MT"/>
              </a:rPr>
              <a:t>o</a:t>
            </a:r>
            <a:r>
              <a:rPr sz="2600" dirty="0">
                <a:solidFill>
                  <a:srgbClr val="FF2600"/>
                </a:solidFill>
                <a:latin typeface="Gill Sans MT"/>
                <a:cs typeface="Gill Sans MT"/>
              </a:rPr>
              <a:t>n</a:t>
            </a:r>
            <a:r>
              <a:rPr sz="2600" spc="-5" dirty="0">
                <a:solidFill>
                  <a:srgbClr val="FF2600"/>
                </a:solidFill>
                <a:latin typeface="Gill Sans MT"/>
                <a:cs typeface="Gill Sans MT"/>
              </a:rPr>
              <a:t> </a:t>
            </a:r>
            <a:r>
              <a:rPr sz="2600" spc="-15" dirty="0">
                <a:solidFill>
                  <a:srgbClr val="FF2600"/>
                </a:solidFill>
                <a:latin typeface="Gill Sans MT"/>
                <a:cs typeface="Gill Sans MT"/>
              </a:rPr>
              <a:t>to </a:t>
            </a:r>
            <a:r>
              <a:rPr sz="2600" u="sng" spc="-15" dirty="0">
                <a:solidFill>
                  <a:srgbClr val="FF2600"/>
                </a:solidFill>
                <a:latin typeface="Gill Sans MT"/>
                <a:cs typeface="Gill Sans MT"/>
              </a:rPr>
              <a:t>oppos</a:t>
            </a:r>
            <a:r>
              <a:rPr sz="2600" u="sng" dirty="0">
                <a:solidFill>
                  <a:srgbClr val="FF2600"/>
                </a:solidFill>
                <a:latin typeface="Gill Sans MT"/>
                <a:cs typeface="Gill Sans MT"/>
              </a:rPr>
              <a:t>e</a:t>
            </a:r>
            <a:r>
              <a:rPr sz="2600" u="sng" spc="-5" dirty="0">
                <a:solidFill>
                  <a:srgbClr val="FF2600"/>
                </a:solidFill>
                <a:latin typeface="Gill Sans MT"/>
                <a:cs typeface="Gill Sans MT"/>
              </a:rPr>
              <a:t> </a:t>
            </a:r>
            <a:r>
              <a:rPr sz="2600" u="sng" dirty="0">
                <a:solidFill>
                  <a:srgbClr val="FF2600"/>
                </a:solidFill>
                <a:latin typeface="Gill Sans MT"/>
                <a:cs typeface="Gill Sans MT"/>
              </a:rPr>
              <a:t>the</a:t>
            </a:r>
            <a:r>
              <a:rPr sz="2600" u="sng" spc="-5" dirty="0">
                <a:solidFill>
                  <a:srgbClr val="FF2600"/>
                </a:solidFill>
                <a:latin typeface="Gill Sans MT"/>
                <a:cs typeface="Gill Sans MT"/>
              </a:rPr>
              <a:t> </a:t>
            </a:r>
            <a:r>
              <a:rPr sz="2600" u="sng" dirty="0">
                <a:solidFill>
                  <a:srgbClr val="FF2600"/>
                </a:solidFill>
                <a:latin typeface="Gill Sans MT"/>
                <a:cs typeface="Gill Sans MT"/>
              </a:rPr>
              <a:t>i</a:t>
            </a:r>
            <a:r>
              <a:rPr sz="2600" u="sng" spc="-40" dirty="0">
                <a:solidFill>
                  <a:srgbClr val="FF2600"/>
                </a:solidFill>
                <a:latin typeface="Gill Sans MT"/>
                <a:cs typeface="Gill Sans MT"/>
              </a:rPr>
              <a:t>n</a:t>
            </a:r>
            <a:r>
              <a:rPr sz="2600" u="sng" spc="-15" dirty="0">
                <a:solidFill>
                  <a:srgbClr val="FF2600"/>
                </a:solidFill>
                <a:latin typeface="Gill Sans MT"/>
                <a:cs typeface="Gill Sans MT"/>
              </a:rPr>
              <a:t>vas</a:t>
            </a:r>
            <a:r>
              <a:rPr sz="2600" u="sng" dirty="0">
                <a:solidFill>
                  <a:srgbClr val="FF2600"/>
                </a:solidFill>
                <a:latin typeface="Gill Sans MT"/>
                <a:cs typeface="Gill Sans MT"/>
              </a:rPr>
              <a:t>i</a:t>
            </a:r>
            <a:r>
              <a:rPr sz="2600" u="sng" spc="-15" dirty="0">
                <a:solidFill>
                  <a:srgbClr val="FF2600"/>
                </a:solidFill>
                <a:latin typeface="Gill Sans MT"/>
                <a:cs typeface="Gill Sans MT"/>
              </a:rPr>
              <a:t>o</a:t>
            </a:r>
            <a:r>
              <a:rPr sz="2600" u="sng" dirty="0">
                <a:solidFill>
                  <a:srgbClr val="FF2600"/>
                </a:solidFill>
                <a:latin typeface="Gill Sans MT"/>
                <a:cs typeface="Gill Sans MT"/>
              </a:rPr>
              <a:t>n</a:t>
            </a:r>
            <a:r>
              <a:rPr sz="2600" u="sng" spc="-5" dirty="0">
                <a:solidFill>
                  <a:srgbClr val="FF2600"/>
                </a:solidFill>
                <a:latin typeface="Gill Sans MT"/>
                <a:cs typeface="Gill Sans MT"/>
              </a:rPr>
              <a:t> </a:t>
            </a:r>
            <a:r>
              <a:rPr sz="2600" u="sng" spc="-15" dirty="0">
                <a:solidFill>
                  <a:srgbClr val="FF2600"/>
                </a:solidFill>
                <a:latin typeface="Gill Sans MT"/>
                <a:cs typeface="Gill Sans MT"/>
              </a:rPr>
              <a:t>o</a:t>
            </a:r>
            <a:r>
              <a:rPr sz="2600" u="sng" dirty="0">
                <a:solidFill>
                  <a:srgbClr val="FF2600"/>
                </a:solidFill>
                <a:latin typeface="Gill Sans MT"/>
                <a:cs typeface="Gill Sans MT"/>
              </a:rPr>
              <a:t>f</a:t>
            </a:r>
            <a:r>
              <a:rPr sz="2600" u="sng" spc="-5" dirty="0">
                <a:solidFill>
                  <a:srgbClr val="FF2600"/>
                </a:solidFill>
                <a:latin typeface="Gill Sans MT"/>
                <a:cs typeface="Gill Sans MT"/>
              </a:rPr>
              <a:t> </a:t>
            </a:r>
            <a:r>
              <a:rPr sz="2600" u="sng" spc="-15" dirty="0">
                <a:solidFill>
                  <a:srgbClr val="FF2600"/>
                </a:solidFill>
                <a:latin typeface="Gill Sans MT"/>
                <a:cs typeface="Gill Sans MT"/>
              </a:rPr>
              <a:t>a</a:t>
            </a:r>
            <a:r>
              <a:rPr sz="2600" u="sng" spc="-5" dirty="0">
                <a:solidFill>
                  <a:srgbClr val="FF2600"/>
                </a:solidFill>
                <a:latin typeface="Gill Sans MT"/>
                <a:cs typeface="Gill Sans MT"/>
              </a:rPr>
              <a:t> </a:t>
            </a:r>
            <a:r>
              <a:rPr sz="2600" u="sng" spc="-50" dirty="0">
                <a:solidFill>
                  <a:srgbClr val="FF2600"/>
                </a:solidFill>
                <a:latin typeface="Gill Sans MT"/>
                <a:cs typeface="Gill Sans MT"/>
              </a:rPr>
              <a:t>m</a:t>
            </a:r>
            <a:r>
              <a:rPr sz="2600" u="sng" spc="-15" dirty="0">
                <a:solidFill>
                  <a:srgbClr val="FF2600"/>
                </a:solidFill>
                <a:latin typeface="Gill Sans MT"/>
                <a:cs typeface="Gill Sans MT"/>
              </a:rPr>
              <a:t>uta</a:t>
            </a:r>
            <a:r>
              <a:rPr sz="2600" u="sng" dirty="0">
                <a:solidFill>
                  <a:srgbClr val="FF2600"/>
                </a:solidFill>
                <a:latin typeface="Gill Sans MT"/>
                <a:cs typeface="Gill Sans MT"/>
              </a:rPr>
              <a:t>n</a:t>
            </a:r>
            <a:r>
              <a:rPr sz="2600" u="sng" spc="-5" dirty="0">
                <a:solidFill>
                  <a:srgbClr val="FF2600"/>
                </a:solidFill>
                <a:latin typeface="Gill Sans MT"/>
                <a:cs typeface="Gill Sans MT"/>
              </a:rPr>
              <a:t>t</a:t>
            </a:r>
            <a:r>
              <a:rPr sz="2600" dirty="0">
                <a:latin typeface="Gill Sans MT"/>
                <a:cs typeface="Gill Sans MT"/>
              </a:rPr>
              <a:t>?</a:t>
            </a:r>
          </a:p>
        </p:txBody>
      </p:sp>
      <p:sp>
        <p:nvSpPr>
          <p:cNvPr id="15" name="object 15"/>
          <p:cNvSpPr txBox="1"/>
          <p:nvPr/>
        </p:nvSpPr>
        <p:spPr>
          <a:xfrm>
            <a:off x="8345457" y="2272834"/>
            <a:ext cx="161290" cy="228600"/>
          </a:xfrm>
          <a:prstGeom prst="rect">
            <a:avLst/>
          </a:prstGeom>
        </p:spPr>
        <p:txBody>
          <a:bodyPr vert="horz" wrap="square" lIns="0" tIns="0" rIns="0" bIns="0" rtlCol="0">
            <a:spAutoFit/>
          </a:bodyPr>
          <a:lstStyle/>
          <a:p>
            <a:pPr marL="12700">
              <a:lnSpc>
                <a:spcPct val="100000"/>
              </a:lnSpc>
            </a:pPr>
            <a:r>
              <a:rPr sz="1600" spc="-15" dirty="0">
                <a:solidFill>
                  <a:srgbClr val="0042AA"/>
                </a:solidFill>
                <a:latin typeface="Arial"/>
                <a:cs typeface="Arial"/>
              </a:rPr>
              <a:t>P</a:t>
            </a:r>
            <a:endParaRPr sz="1600">
              <a:latin typeface="Arial"/>
              <a:cs typeface="Arial"/>
            </a:endParaRPr>
          </a:p>
        </p:txBody>
      </p:sp>
      <p:sp>
        <p:nvSpPr>
          <p:cNvPr id="16" name="object 16"/>
          <p:cNvSpPr/>
          <p:nvPr/>
        </p:nvSpPr>
        <p:spPr>
          <a:xfrm>
            <a:off x="5981075" y="1744447"/>
            <a:ext cx="2562860" cy="285750"/>
          </a:xfrm>
          <a:custGeom>
            <a:avLst/>
            <a:gdLst/>
            <a:ahLst/>
            <a:cxnLst/>
            <a:rect l="l" t="t" r="r" b="b"/>
            <a:pathLst>
              <a:path w="2562859" h="285750">
                <a:moveTo>
                  <a:pt x="0" y="285750"/>
                </a:moveTo>
                <a:lnTo>
                  <a:pt x="2562820" y="285750"/>
                </a:lnTo>
                <a:lnTo>
                  <a:pt x="2562820" y="0"/>
                </a:lnTo>
                <a:lnTo>
                  <a:pt x="0" y="0"/>
                </a:lnTo>
                <a:lnTo>
                  <a:pt x="0" y="285750"/>
                </a:lnTo>
                <a:close/>
              </a:path>
            </a:pathLst>
          </a:custGeom>
          <a:solidFill>
            <a:srgbClr val="0433FF"/>
          </a:solidFill>
        </p:spPr>
        <p:txBody>
          <a:bodyPr wrap="square" lIns="0" tIns="0" rIns="0" bIns="0" rtlCol="0"/>
          <a:lstStyle/>
          <a:p>
            <a:endParaRPr/>
          </a:p>
        </p:txBody>
      </p:sp>
      <p:sp>
        <p:nvSpPr>
          <p:cNvPr id="17" name="object 17"/>
          <p:cNvSpPr/>
          <p:nvPr/>
        </p:nvSpPr>
        <p:spPr>
          <a:xfrm>
            <a:off x="5981075" y="1744447"/>
            <a:ext cx="2562860" cy="285750"/>
          </a:xfrm>
          <a:custGeom>
            <a:avLst/>
            <a:gdLst/>
            <a:ahLst/>
            <a:cxnLst/>
            <a:rect l="l" t="t" r="r" b="b"/>
            <a:pathLst>
              <a:path w="2562859" h="285750">
                <a:moveTo>
                  <a:pt x="0" y="0"/>
                </a:moveTo>
                <a:lnTo>
                  <a:pt x="2562820" y="0"/>
                </a:lnTo>
                <a:lnTo>
                  <a:pt x="2562820" y="285750"/>
                </a:lnTo>
                <a:lnTo>
                  <a:pt x="0" y="285750"/>
                </a:lnTo>
                <a:lnTo>
                  <a:pt x="0" y="0"/>
                </a:lnTo>
                <a:close/>
              </a:path>
            </a:pathLst>
          </a:custGeom>
          <a:ln w="3175">
            <a:solidFill>
              <a:srgbClr val="000000"/>
            </a:solidFill>
          </a:ln>
        </p:spPr>
        <p:txBody>
          <a:bodyPr wrap="square" lIns="0" tIns="0" rIns="0" bIns="0" rtlCol="0"/>
          <a:lstStyle/>
          <a:p>
            <a:endParaRPr/>
          </a:p>
        </p:txBody>
      </p:sp>
      <p:sp>
        <p:nvSpPr>
          <p:cNvPr id="18" name="object 18"/>
          <p:cNvSpPr/>
          <p:nvPr/>
        </p:nvSpPr>
        <p:spPr>
          <a:xfrm>
            <a:off x="5981075" y="2771362"/>
            <a:ext cx="116205" cy="285750"/>
          </a:xfrm>
          <a:custGeom>
            <a:avLst/>
            <a:gdLst/>
            <a:ahLst/>
            <a:cxnLst/>
            <a:rect l="l" t="t" r="r" b="b"/>
            <a:pathLst>
              <a:path w="116204" h="285750">
                <a:moveTo>
                  <a:pt x="0" y="285750"/>
                </a:moveTo>
                <a:lnTo>
                  <a:pt x="116085" y="285750"/>
                </a:lnTo>
                <a:lnTo>
                  <a:pt x="116085" y="0"/>
                </a:lnTo>
                <a:lnTo>
                  <a:pt x="0" y="0"/>
                </a:lnTo>
                <a:lnTo>
                  <a:pt x="0" y="285750"/>
                </a:lnTo>
                <a:close/>
              </a:path>
            </a:pathLst>
          </a:custGeom>
          <a:solidFill>
            <a:srgbClr val="FF2600"/>
          </a:solidFill>
        </p:spPr>
        <p:txBody>
          <a:bodyPr wrap="square" lIns="0" tIns="0" rIns="0" bIns="0" rtlCol="0"/>
          <a:lstStyle/>
          <a:p>
            <a:endParaRPr/>
          </a:p>
        </p:txBody>
      </p:sp>
      <p:sp>
        <p:nvSpPr>
          <p:cNvPr id="19" name="object 19"/>
          <p:cNvSpPr/>
          <p:nvPr/>
        </p:nvSpPr>
        <p:spPr>
          <a:xfrm>
            <a:off x="5981075" y="2771362"/>
            <a:ext cx="116205" cy="285750"/>
          </a:xfrm>
          <a:custGeom>
            <a:avLst/>
            <a:gdLst/>
            <a:ahLst/>
            <a:cxnLst/>
            <a:rect l="l" t="t" r="r" b="b"/>
            <a:pathLst>
              <a:path w="116204" h="285750">
                <a:moveTo>
                  <a:pt x="0" y="0"/>
                </a:moveTo>
                <a:lnTo>
                  <a:pt x="116085" y="0"/>
                </a:lnTo>
                <a:lnTo>
                  <a:pt x="116085" y="285750"/>
                </a:lnTo>
                <a:lnTo>
                  <a:pt x="0" y="285750"/>
                </a:lnTo>
                <a:lnTo>
                  <a:pt x="0" y="0"/>
                </a:lnTo>
                <a:close/>
              </a:path>
            </a:pathLst>
          </a:custGeom>
          <a:ln w="3175">
            <a:solidFill>
              <a:srgbClr val="000000"/>
            </a:solidFill>
          </a:ln>
        </p:spPr>
        <p:txBody>
          <a:bodyPr wrap="square" lIns="0" tIns="0" rIns="0" bIns="0" rtlCol="0"/>
          <a:lstStyle/>
          <a:p>
            <a:endParaRPr/>
          </a:p>
        </p:txBody>
      </p:sp>
      <p:sp>
        <p:nvSpPr>
          <p:cNvPr id="20" name="object 20"/>
          <p:cNvSpPr/>
          <p:nvPr/>
        </p:nvSpPr>
        <p:spPr>
          <a:xfrm>
            <a:off x="6097160" y="2771362"/>
            <a:ext cx="2447290" cy="285750"/>
          </a:xfrm>
          <a:custGeom>
            <a:avLst/>
            <a:gdLst/>
            <a:ahLst/>
            <a:cxnLst/>
            <a:rect l="l" t="t" r="r" b="b"/>
            <a:pathLst>
              <a:path w="2447290" h="285750">
                <a:moveTo>
                  <a:pt x="0" y="285750"/>
                </a:moveTo>
                <a:lnTo>
                  <a:pt x="2446733" y="285750"/>
                </a:lnTo>
                <a:lnTo>
                  <a:pt x="2446733" y="0"/>
                </a:lnTo>
                <a:lnTo>
                  <a:pt x="0" y="0"/>
                </a:lnTo>
                <a:lnTo>
                  <a:pt x="0" y="285750"/>
                </a:lnTo>
                <a:close/>
              </a:path>
            </a:pathLst>
          </a:custGeom>
          <a:solidFill>
            <a:srgbClr val="0433FF"/>
          </a:solidFill>
        </p:spPr>
        <p:txBody>
          <a:bodyPr wrap="square" lIns="0" tIns="0" rIns="0" bIns="0" rtlCol="0"/>
          <a:lstStyle/>
          <a:p>
            <a:endParaRPr/>
          </a:p>
        </p:txBody>
      </p:sp>
      <p:sp>
        <p:nvSpPr>
          <p:cNvPr id="21" name="object 21"/>
          <p:cNvSpPr/>
          <p:nvPr/>
        </p:nvSpPr>
        <p:spPr>
          <a:xfrm>
            <a:off x="6097160" y="2771362"/>
            <a:ext cx="2447290" cy="285750"/>
          </a:xfrm>
          <a:custGeom>
            <a:avLst/>
            <a:gdLst/>
            <a:ahLst/>
            <a:cxnLst/>
            <a:rect l="l" t="t" r="r" b="b"/>
            <a:pathLst>
              <a:path w="2447290" h="285750">
                <a:moveTo>
                  <a:pt x="0" y="0"/>
                </a:moveTo>
                <a:lnTo>
                  <a:pt x="2446733" y="0"/>
                </a:lnTo>
                <a:lnTo>
                  <a:pt x="2446733" y="285750"/>
                </a:lnTo>
                <a:lnTo>
                  <a:pt x="0" y="285750"/>
                </a:lnTo>
                <a:lnTo>
                  <a:pt x="0" y="0"/>
                </a:lnTo>
                <a:close/>
              </a:path>
            </a:pathLst>
          </a:custGeom>
          <a:ln w="3175">
            <a:solidFill>
              <a:srgbClr val="000000"/>
            </a:solidFill>
          </a:ln>
        </p:spPr>
        <p:txBody>
          <a:bodyPr wrap="square" lIns="0" tIns="0" rIns="0" bIns="0" rtlCol="0"/>
          <a:lstStyle/>
          <a:p>
            <a:endParaRPr/>
          </a:p>
        </p:txBody>
      </p:sp>
      <p:sp>
        <p:nvSpPr>
          <p:cNvPr id="22" name="object 22"/>
          <p:cNvSpPr txBox="1"/>
          <p:nvPr/>
        </p:nvSpPr>
        <p:spPr>
          <a:xfrm>
            <a:off x="5979090" y="3219382"/>
            <a:ext cx="183515" cy="228600"/>
          </a:xfrm>
          <a:prstGeom prst="rect">
            <a:avLst/>
          </a:prstGeom>
        </p:spPr>
        <p:txBody>
          <a:bodyPr vert="horz" wrap="square" lIns="0" tIns="0" rIns="0" bIns="0" rtlCol="0">
            <a:spAutoFit/>
          </a:bodyPr>
          <a:lstStyle/>
          <a:p>
            <a:pPr marL="12700">
              <a:lnSpc>
                <a:spcPct val="100000"/>
              </a:lnSpc>
            </a:pPr>
            <a:r>
              <a:rPr sz="1600" spc="-15" dirty="0">
                <a:solidFill>
                  <a:srgbClr val="FF2600"/>
                </a:solidFill>
                <a:latin typeface="Arial"/>
                <a:cs typeface="Arial"/>
              </a:rPr>
              <a:t>Q</a:t>
            </a:r>
            <a:endParaRPr sz="1600">
              <a:latin typeface="Arial"/>
              <a:cs typeface="Arial"/>
            </a:endParaRPr>
          </a:p>
        </p:txBody>
      </p:sp>
      <p:sp>
        <p:nvSpPr>
          <p:cNvPr id="23" name="object 23"/>
          <p:cNvSpPr txBox="1"/>
          <p:nvPr/>
        </p:nvSpPr>
        <p:spPr>
          <a:xfrm>
            <a:off x="8345457" y="3219382"/>
            <a:ext cx="161290" cy="228600"/>
          </a:xfrm>
          <a:prstGeom prst="rect">
            <a:avLst/>
          </a:prstGeom>
        </p:spPr>
        <p:txBody>
          <a:bodyPr vert="horz" wrap="square" lIns="0" tIns="0" rIns="0" bIns="0" rtlCol="0">
            <a:spAutoFit/>
          </a:bodyPr>
          <a:lstStyle/>
          <a:p>
            <a:pPr marL="12700">
              <a:lnSpc>
                <a:spcPct val="100000"/>
              </a:lnSpc>
            </a:pPr>
            <a:r>
              <a:rPr sz="1600" spc="-15" dirty="0">
                <a:solidFill>
                  <a:srgbClr val="0042AA"/>
                </a:solidFill>
                <a:latin typeface="Arial"/>
                <a:cs typeface="Arial"/>
              </a:rPr>
              <a:t>P</a:t>
            </a:r>
            <a:endParaRPr sz="1600">
              <a:latin typeface="Arial"/>
              <a:cs typeface="Arial"/>
            </a:endParaRPr>
          </a:p>
        </p:txBody>
      </p:sp>
      <p:sp>
        <p:nvSpPr>
          <p:cNvPr id="24" name="object 24"/>
          <p:cNvSpPr/>
          <p:nvPr/>
        </p:nvSpPr>
        <p:spPr>
          <a:xfrm>
            <a:off x="7258020" y="2173072"/>
            <a:ext cx="8255" cy="431800"/>
          </a:xfrm>
          <a:custGeom>
            <a:avLst/>
            <a:gdLst/>
            <a:ahLst/>
            <a:cxnLst/>
            <a:rect l="l" t="t" r="r" b="b"/>
            <a:pathLst>
              <a:path w="8254" h="431800">
                <a:moveTo>
                  <a:pt x="7989" y="431411"/>
                </a:moveTo>
                <a:lnTo>
                  <a:pt x="7871" y="425062"/>
                </a:lnTo>
                <a:lnTo>
                  <a:pt x="0" y="0"/>
                </a:lnTo>
              </a:path>
            </a:pathLst>
          </a:custGeom>
          <a:ln w="12699">
            <a:solidFill>
              <a:srgbClr val="000000"/>
            </a:solidFill>
          </a:ln>
        </p:spPr>
        <p:txBody>
          <a:bodyPr wrap="square" lIns="0" tIns="0" rIns="0" bIns="0" rtlCol="0"/>
          <a:lstStyle/>
          <a:p>
            <a:endParaRPr/>
          </a:p>
        </p:txBody>
      </p:sp>
      <p:sp>
        <p:nvSpPr>
          <p:cNvPr id="25" name="object 25"/>
          <p:cNvSpPr/>
          <p:nvPr/>
        </p:nvSpPr>
        <p:spPr>
          <a:xfrm>
            <a:off x="7227445" y="2578383"/>
            <a:ext cx="76200" cy="77470"/>
          </a:xfrm>
          <a:custGeom>
            <a:avLst/>
            <a:gdLst/>
            <a:ahLst/>
            <a:cxnLst/>
            <a:rect l="l" t="t" r="r" b="b"/>
            <a:pathLst>
              <a:path w="76200" h="77469">
                <a:moveTo>
                  <a:pt x="0" y="1410"/>
                </a:moveTo>
                <a:lnTo>
                  <a:pt x="39504" y="76893"/>
                </a:lnTo>
                <a:lnTo>
                  <a:pt x="66764" y="19752"/>
                </a:lnTo>
                <a:lnTo>
                  <a:pt x="38446" y="19752"/>
                </a:lnTo>
                <a:lnTo>
                  <a:pt x="0" y="1410"/>
                </a:lnTo>
                <a:close/>
              </a:path>
              <a:path w="76200" h="77469">
                <a:moveTo>
                  <a:pt x="76187" y="0"/>
                </a:moveTo>
                <a:lnTo>
                  <a:pt x="38446" y="19752"/>
                </a:lnTo>
                <a:lnTo>
                  <a:pt x="66764" y="19752"/>
                </a:lnTo>
                <a:lnTo>
                  <a:pt x="76187" y="0"/>
                </a:lnTo>
                <a:close/>
              </a:path>
            </a:pathLst>
          </a:custGeom>
          <a:solidFill>
            <a:srgbClr val="000000"/>
          </a:solidFill>
        </p:spPr>
        <p:txBody>
          <a:bodyPr wrap="square" lIns="0" tIns="0" rIns="0" bIns="0" rtlCol="0"/>
          <a:lstStyle/>
          <a:p>
            <a:endParaRPr/>
          </a:p>
        </p:txBody>
      </p:sp>
      <p:sp>
        <p:nvSpPr>
          <p:cNvPr id="26" name="object 26"/>
          <p:cNvSpPr txBox="1"/>
          <p:nvPr/>
        </p:nvSpPr>
        <p:spPr>
          <a:xfrm>
            <a:off x="6550590" y="2311344"/>
            <a:ext cx="610235" cy="177800"/>
          </a:xfrm>
          <a:prstGeom prst="rect">
            <a:avLst/>
          </a:prstGeom>
        </p:spPr>
        <p:txBody>
          <a:bodyPr vert="horz" wrap="square" lIns="0" tIns="0" rIns="0" bIns="0" rtlCol="0">
            <a:spAutoFit/>
          </a:bodyPr>
          <a:lstStyle/>
          <a:p>
            <a:pPr marL="12700">
              <a:lnSpc>
                <a:spcPct val="100000"/>
              </a:lnSpc>
            </a:pPr>
            <a:r>
              <a:rPr sz="1200" dirty="0">
                <a:latin typeface="Arial"/>
                <a:cs typeface="Arial"/>
              </a:rPr>
              <a:t>mu</a:t>
            </a:r>
            <a:r>
              <a:rPr sz="1200" spc="-5" dirty="0">
                <a:latin typeface="Arial"/>
                <a:cs typeface="Arial"/>
              </a:rPr>
              <a:t>tation</a:t>
            </a:r>
            <a:endParaRPr sz="1200">
              <a:latin typeface="Arial"/>
              <a:cs typeface="Arial"/>
            </a:endParaRPr>
          </a:p>
        </p:txBody>
      </p:sp>
      <p:sp>
        <p:nvSpPr>
          <p:cNvPr id="27" name="object 27"/>
          <p:cNvSpPr/>
          <p:nvPr/>
        </p:nvSpPr>
        <p:spPr>
          <a:xfrm>
            <a:off x="5981075" y="3950080"/>
            <a:ext cx="2562860" cy="285750"/>
          </a:xfrm>
          <a:custGeom>
            <a:avLst/>
            <a:gdLst/>
            <a:ahLst/>
            <a:cxnLst/>
            <a:rect l="l" t="t" r="r" b="b"/>
            <a:pathLst>
              <a:path w="2562859" h="285750">
                <a:moveTo>
                  <a:pt x="0" y="285750"/>
                </a:moveTo>
                <a:lnTo>
                  <a:pt x="2562820" y="285750"/>
                </a:lnTo>
                <a:lnTo>
                  <a:pt x="2562820" y="0"/>
                </a:lnTo>
                <a:lnTo>
                  <a:pt x="0" y="0"/>
                </a:lnTo>
                <a:lnTo>
                  <a:pt x="0" y="285750"/>
                </a:lnTo>
                <a:close/>
              </a:path>
            </a:pathLst>
          </a:custGeom>
          <a:solidFill>
            <a:srgbClr val="0433FF"/>
          </a:solidFill>
        </p:spPr>
        <p:txBody>
          <a:bodyPr wrap="square" lIns="0" tIns="0" rIns="0" bIns="0" rtlCol="0"/>
          <a:lstStyle/>
          <a:p>
            <a:endParaRPr/>
          </a:p>
        </p:txBody>
      </p:sp>
      <p:sp>
        <p:nvSpPr>
          <p:cNvPr id="28" name="object 28"/>
          <p:cNvSpPr/>
          <p:nvPr/>
        </p:nvSpPr>
        <p:spPr>
          <a:xfrm>
            <a:off x="5981075" y="3950080"/>
            <a:ext cx="2562860" cy="285750"/>
          </a:xfrm>
          <a:custGeom>
            <a:avLst/>
            <a:gdLst/>
            <a:ahLst/>
            <a:cxnLst/>
            <a:rect l="l" t="t" r="r" b="b"/>
            <a:pathLst>
              <a:path w="2562859" h="285750">
                <a:moveTo>
                  <a:pt x="0" y="0"/>
                </a:moveTo>
                <a:lnTo>
                  <a:pt x="2562820" y="0"/>
                </a:lnTo>
                <a:lnTo>
                  <a:pt x="2562820" y="285750"/>
                </a:lnTo>
                <a:lnTo>
                  <a:pt x="0" y="285750"/>
                </a:lnTo>
                <a:lnTo>
                  <a:pt x="0" y="0"/>
                </a:lnTo>
                <a:close/>
              </a:path>
            </a:pathLst>
          </a:custGeom>
          <a:ln w="3175">
            <a:solidFill>
              <a:srgbClr val="000000"/>
            </a:solidFill>
          </a:ln>
        </p:spPr>
        <p:txBody>
          <a:bodyPr wrap="square" lIns="0" tIns="0" rIns="0" bIns="0" rtlCol="0"/>
          <a:lstStyle/>
          <a:p>
            <a:endParaRPr/>
          </a:p>
        </p:txBody>
      </p:sp>
      <p:sp>
        <p:nvSpPr>
          <p:cNvPr id="29" name="object 29"/>
          <p:cNvSpPr/>
          <p:nvPr/>
        </p:nvSpPr>
        <p:spPr>
          <a:xfrm>
            <a:off x="7258020" y="3262495"/>
            <a:ext cx="8255" cy="431800"/>
          </a:xfrm>
          <a:custGeom>
            <a:avLst/>
            <a:gdLst/>
            <a:ahLst/>
            <a:cxnLst/>
            <a:rect l="l" t="t" r="r" b="b"/>
            <a:pathLst>
              <a:path w="8254" h="431800">
                <a:moveTo>
                  <a:pt x="7989" y="431411"/>
                </a:moveTo>
                <a:lnTo>
                  <a:pt x="7871" y="425062"/>
                </a:lnTo>
                <a:lnTo>
                  <a:pt x="0" y="0"/>
                </a:lnTo>
              </a:path>
            </a:pathLst>
          </a:custGeom>
          <a:ln w="12699">
            <a:solidFill>
              <a:srgbClr val="000000"/>
            </a:solidFill>
          </a:ln>
        </p:spPr>
        <p:txBody>
          <a:bodyPr wrap="square" lIns="0" tIns="0" rIns="0" bIns="0" rtlCol="0"/>
          <a:lstStyle/>
          <a:p>
            <a:endParaRPr/>
          </a:p>
        </p:txBody>
      </p:sp>
      <p:sp>
        <p:nvSpPr>
          <p:cNvPr id="30" name="object 30"/>
          <p:cNvSpPr/>
          <p:nvPr/>
        </p:nvSpPr>
        <p:spPr>
          <a:xfrm>
            <a:off x="7227445" y="3667805"/>
            <a:ext cx="76200" cy="77470"/>
          </a:xfrm>
          <a:custGeom>
            <a:avLst/>
            <a:gdLst/>
            <a:ahLst/>
            <a:cxnLst/>
            <a:rect l="l" t="t" r="r" b="b"/>
            <a:pathLst>
              <a:path w="76200" h="77470">
                <a:moveTo>
                  <a:pt x="0" y="1410"/>
                </a:moveTo>
                <a:lnTo>
                  <a:pt x="39504" y="76892"/>
                </a:lnTo>
                <a:lnTo>
                  <a:pt x="66764" y="19752"/>
                </a:lnTo>
                <a:lnTo>
                  <a:pt x="38446" y="19752"/>
                </a:lnTo>
                <a:lnTo>
                  <a:pt x="0" y="1410"/>
                </a:lnTo>
                <a:close/>
              </a:path>
              <a:path w="76200" h="77470">
                <a:moveTo>
                  <a:pt x="76187" y="0"/>
                </a:moveTo>
                <a:lnTo>
                  <a:pt x="38446" y="19752"/>
                </a:lnTo>
                <a:lnTo>
                  <a:pt x="66764" y="19752"/>
                </a:lnTo>
                <a:lnTo>
                  <a:pt x="76187" y="0"/>
                </a:lnTo>
                <a:close/>
              </a:path>
            </a:pathLst>
          </a:custGeom>
          <a:solidFill>
            <a:srgbClr val="000000"/>
          </a:solidFill>
        </p:spPr>
        <p:txBody>
          <a:bodyPr wrap="square" lIns="0" tIns="0" rIns="0" bIns="0" rtlCol="0"/>
          <a:lstStyle/>
          <a:p>
            <a:endParaRPr/>
          </a:p>
        </p:txBody>
      </p:sp>
      <p:sp>
        <p:nvSpPr>
          <p:cNvPr id="31" name="object 31"/>
          <p:cNvSpPr txBox="1"/>
          <p:nvPr/>
        </p:nvSpPr>
        <p:spPr>
          <a:xfrm>
            <a:off x="8345457" y="4424889"/>
            <a:ext cx="161290" cy="228600"/>
          </a:xfrm>
          <a:prstGeom prst="rect">
            <a:avLst/>
          </a:prstGeom>
        </p:spPr>
        <p:txBody>
          <a:bodyPr vert="horz" wrap="square" lIns="0" tIns="0" rIns="0" bIns="0" rtlCol="0">
            <a:spAutoFit/>
          </a:bodyPr>
          <a:lstStyle/>
          <a:p>
            <a:pPr marL="12700">
              <a:lnSpc>
                <a:spcPct val="100000"/>
              </a:lnSpc>
            </a:pPr>
            <a:r>
              <a:rPr sz="1600" spc="-15" dirty="0">
                <a:solidFill>
                  <a:srgbClr val="0042AA"/>
                </a:solidFill>
                <a:latin typeface="Arial"/>
                <a:cs typeface="Arial"/>
              </a:rPr>
              <a:t>P</a:t>
            </a:r>
            <a:endParaRPr sz="1600">
              <a:latin typeface="Arial"/>
              <a:cs typeface="Arial"/>
            </a:endParaRPr>
          </a:p>
        </p:txBody>
      </p:sp>
      <p:sp>
        <p:nvSpPr>
          <p:cNvPr id="32" name="object 32"/>
          <p:cNvSpPr/>
          <p:nvPr/>
        </p:nvSpPr>
        <p:spPr>
          <a:xfrm>
            <a:off x="6127351" y="5005130"/>
            <a:ext cx="2214880" cy="1071880"/>
          </a:xfrm>
          <a:custGeom>
            <a:avLst/>
            <a:gdLst/>
            <a:ahLst/>
            <a:cxnLst/>
            <a:rect l="l" t="t" r="r" b="b"/>
            <a:pathLst>
              <a:path w="2214879" h="1071879">
                <a:moveTo>
                  <a:pt x="2080616" y="0"/>
                </a:moveTo>
                <a:lnTo>
                  <a:pt x="133945" y="0"/>
                </a:lnTo>
                <a:lnTo>
                  <a:pt x="120491" y="667"/>
                </a:lnTo>
                <a:lnTo>
                  <a:pt x="79413" y="11566"/>
                </a:lnTo>
                <a:lnTo>
                  <a:pt x="44663" y="34093"/>
                </a:lnTo>
                <a:lnTo>
                  <a:pt x="18485" y="66003"/>
                </a:lnTo>
                <a:lnTo>
                  <a:pt x="3123" y="105053"/>
                </a:lnTo>
                <a:lnTo>
                  <a:pt x="0" y="133945"/>
                </a:lnTo>
                <a:lnTo>
                  <a:pt x="667" y="951071"/>
                </a:lnTo>
                <a:lnTo>
                  <a:pt x="11566" y="992149"/>
                </a:lnTo>
                <a:lnTo>
                  <a:pt x="34093" y="1026899"/>
                </a:lnTo>
                <a:lnTo>
                  <a:pt x="66003" y="1053077"/>
                </a:lnTo>
                <a:lnTo>
                  <a:pt x="105053" y="1068439"/>
                </a:lnTo>
                <a:lnTo>
                  <a:pt x="133945" y="1071562"/>
                </a:lnTo>
                <a:lnTo>
                  <a:pt x="2094070" y="1070895"/>
                </a:lnTo>
                <a:lnTo>
                  <a:pt x="2135149" y="1059996"/>
                </a:lnTo>
                <a:lnTo>
                  <a:pt x="2169899" y="1037469"/>
                </a:lnTo>
                <a:lnTo>
                  <a:pt x="2196077" y="1005559"/>
                </a:lnTo>
                <a:lnTo>
                  <a:pt x="2211438" y="966509"/>
                </a:lnTo>
                <a:lnTo>
                  <a:pt x="2214562" y="937617"/>
                </a:lnTo>
                <a:lnTo>
                  <a:pt x="2213895" y="120491"/>
                </a:lnTo>
                <a:lnTo>
                  <a:pt x="2202995" y="79413"/>
                </a:lnTo>
                <a:lnTo>
                  <a:pt x="2180468" y="44663"/>
                </a:lnTo>
                <a:lnTo>
                  <a:pt x="2148558" y="18485"/>
                </a:lnTo>
                <a:lnTo>
                  <a:pt x="2109508" y="3123"/>
                </a:lnTo>
                <a:lnTo>
                  <a:pt x="2080616" y="0"/>
                </a:lnTo>
                <a:close/>
              </a:path>
            </a:pathLst>
          </a:custGeom>
          <a:solidFill>
            <a:srgbClr val="00C5FF"/>
          </a:solidFill>
        </p:spPr>
        <p:txBody>
          <a:bodyPr wrap="square" lIns="0" tIns="0" rIns="0" bIns="0" rtlCol="0"/>
          <a:lstStyle/>
          <a:p>
            <a:endParaRPr/>
          </a:p>
        </p:txBody>
      </p:sp>
      <p:sp>
        <p:nvSpPr>
          <p:cNvPr id="33" name="object 33"/>
          <p:cNvSpPr/>
          <p:nvPr/>
        </p:nvSpPr>
        <p:spPr>
          <a:xfrm>
            <a:off x="6127351" y="5005130"/>
            <a:ext cx="2214880" cy="1071880"/>
          </a:xfrm>
          <a:custGeom>
            <a:avLst/>
            <a:gdLst/>
            <a:ahLst/>
            <a:cxnLst/>
            <a:rect l="l" t="t" r="r" b="b"/>
            <a:pathLst>
              <a:path w="2214879" h="1071879">
                <a:moveTo>
                  <a:pt x="133945" y="0"/>
                </a:moveTo>
                <a:lnTo>
                  <a:pt x="2080616" y="0"/>
                </a:lnTo>
                <a:lnTo>
                  <a:pt x="2095293" y="794"/>
                </a:lnTo>
                <a:lnTo>
                  <a:pt x="2136224" y="12052"/>
                </a:lnTo>
                <a:lnTo>
                  <a:pt x="2170763" y="34873"/>
                </a:lnTo>
                <a:lnTo>
                  <a:pt x="2196667" y="67015"/>
                </a:lnTo>
                <a:lnTo>
                  <a:pt x="2211692" y="106234"/>
                </a:lnTo>
                <a:lnTo>
                  <a:pt x="2214562" y="937617"/>
                </a:lnTo>
                <a:lnTo>
                  <a:pt x="2213767" y="952293"/>
                </a:lnTo>
                <a:lnTo>
                  <a:pt x="2202510" y="993224"/>
                </a:lnTo>
                <a:lnTo>
                  <a:pt x="2179688" y="1027763"/>
                </a:lnTo>
                <a:lnTo>
                  <a:pt x="2147546" y="1053667"/>
                </a:lnTo>
                <a:lnTo>
                  <a:pt x="2108328" y="1068692"/>
                </a:lnTo>
                <a:lnTo>
                  <a:pt x="133945" y="1071562"/>
                </a:lnTo>
                <a:lnTo>
                  <a:pt x="119269" y="1070767"/>
                </a:lnTo>
                <a:lnTo>
                  <a:pt x="78337" y="1059510"/>
                </a:lnTo>
                <a:lnTo>
                  <a:pt x="43798" y="1036688"/>
                </a:lnTo>
                <a:lnTo>
                  <a:pt x="17894" y="1004546"/>
                </a:lnTo>
                <a:lnTo>
                  <a:pt x="2869" y="965328"/>
                </a:lnTo>
                <a:lnTo>
                  <a:pt x="0" y="133945"/>
                </a:lnTo>
                <a:lnTo>
                  <a:pt x="794" y="119269"/>
                </a:lnTo>
                <a:lnTo>
                  <a:pt x="12052" y="78337"/>
                </a:lnTo>
                <a:lnTo>
                  <a:pt x="34873" y="43798"/>
                </a:lnTo>
                <a:lnTo>
                  <a:pt x="67016" y="17894"/>
                </a:lnTo>
                <a:lnTo>
                  <a:pt x="106234" y="2869"/>
                </a:lnTo>
                <a:lnTo>
                  <a:pt x="133945" y="0"/>
                </a:lnTo>
                <a:close/>
              </a:path>
            </a:pathLst>
          </a:custGeom>
          <a:ln w="3175">
            <a:solidFill>
              <a:srgbClr val="000000"/>
            </a:solidFill>
          </a:ln>
        </p:spPr>
        <p:txBody>
          <a:bodyPr wrap="square" lIns="0" tIns="0" rIns="0" bIns="0" rtlCol="0"/>
          <a:lstStyle/>
          <a:p>
            <a:endParaRPr/>
          </a:p>
        </p:txBody>
      </p:sp>
      <p:sp>
        <p:nvSpPr>
          <p:cNvPr id="34" name="object 34"/>
          <p:cNvSpPr txBox="1"/>
          <p:nvPr/>
        </p:nvSpPr>
        <p:spPr>
          <a:xfrm>
            <a:off x="6335219" y="5150937"/>
            <a:ext cx="1884045" cy="789305"/>
          </a:xfrm>
          <a:prstGeom prst="rect">
            <a:avLst/>
          </a:prstGeom>
        </p:spPr>
        <p:txBody>
          <a:bodyPr vert="horz" wrap="square" lIns="0" tIns="0" rIns="0" bIns="0" rtlCol="0">
            <a:spAutoFit/>
          </a:bodyPr>
          <a:lstStyle/>
          <a:p>
            <a:pPr marL="12065" marR="5080" indent="-635" algn="ctr">
              <a:lnSpc>
                <a:spcPts val="1540"/>
              </a:lnSpc>
            </a:pPr>
            <a:r>
              <a:rPr sz="1400" spc="-10" dirty="0">
                <a:latin typeface="Arial"/>
                <a:cs typeface="Arial"/>
              </a:rPr>
              <a:t>P</a:t>
            </a:r>
            <a:r>
              <a:rPr sz="1400" spc="-30" dirty="0">
                <a:latin typeface="Arial"/>
                <a:cs typeface="Arial"/>
              </a:rPr>
              <a:t> </a:t>
            </a:r>
            <a:r>
              <a:rPr sz="1400" dirty="0">
                <a:latin typeface="Arial"/>
                <a:cs typeface="Arial"/>
              </a:rPr>
              <a:t>is</a:t>
            </a:r>
            <a:r>
              <a:rPr sz="1400" spc="-5" dirty="0">
                <a:latin typeface="Arial"/>
                <a:cs typeface="Arial"/>
              </a:rPr>
              <a:t> </a:t>
            </a:r>
            <a:r>
              <a:rPr sz="1400" spc="-10" dirty="0">
                <a:latin typeface="Arial"/>
                <a:cs typeface="Arial"/>
              </a:rPr>
              <a:t>ESS</a:t>
            </a:r>
            <a:r>
              <a:rPr sz="1400" spc="-5" dirty="0">
                <a:latin typeface="Arial"/>
                <a:cs typeface="Arial"/>
              </a:rPr>
              <a:t> </a:t>
            </a:r>
            <a:r>
              <a:rPr sz="1400" dirty="0">
                <a:latin typeface="Arial"/>
                <a:cs typeface="Arial"/>
              </a:rPr>
              <a:t>i</a:t>
            </a:r>
            <a:r>
              <a:rPr sz="1400" spc="-5" dirty="0">
                <a:latin typeface="Arial"/>
                <a:cs typeface="Arial"/>
              </a:rPr>
              <a:t>f </a:t>
            </a:r>
            <a:r>
              <a:rPr sz="1400" dirty="0">
                <a:latin typeface="Arial"/>
                <a:cs typeface="Arial"/>
              </a:rPr>
              <a:t>i</a:t>
            </a:r>
            <a:r>
              <a:rPr sz="1400" spc="-5" dirty="0">
                <a:latin typeface="Arial"/>
                <a:cs typeface="Arial"/>
              </a:rPr>
              <a:t>t </a:t>
            </a:r>
            <a:r>
              <a:rPr sz="1400" dirty="0">
                <a:latin typeface="Arial"/>
                <a:cs typeface="Arial"/>
              </a:rPr>
              <a:t>is</a:t>
            </a:r>
            <a:r>
              <a:rPr sz="1400" spc="-5" dirty="0">
                <a:latin typeface="Arial"/>
                <a:cs typeface="Arial"/>
              </a:rPr>
              <a:t> </a:t>
            </a:r>
            <a:r>
              <a:rPr sz="1400" dirty="0">
                <a:latin typeface="Arial"/>
                <a:cs typeface="Arial"/>
              </a:rPr>
              <a:t>able</a:t>
            </a:r>
            <a:r>
              <a:rPr sz="1400" spc="-5" dirty="0">
                <a:latin typeface="Arial"/>
                <a:cs typeface="Arial"/>
              </a:rPr>
              <a:t> t</a:t>
            </a:r>
            <a:r>
              <a:rPr sz="1400" dirty="0">
                <a:latin typeface="Arial"/>
                <a:cs typeface="Arial"/>
              </a:rPr>
              <a:t>o repel</a:t>
            </a:r>
            <a:r>
              <a:rPr sz="1400" spc="-5" dirty="0">
                <a:latin typeface="Arial"/>
                <a:cs typeface="Arial"/>
              </a:rPr>
              <a:t> </a:t>
            </a:r>
            <a:r>
              <a:rPr sz="1400" dirty="0">
                <a:latin typeface="Arial"/>
                <a:cs typeface="Arial"/>
              </a:rPr>
              <a:t>any</a:t>
            </a:r>
            <a:r>
              <a:rPr sz="1400" spc="-5" dirty="0">
                <a:latin typeface="Arial"/>
                <a:cs typeface="Arial"/>
              </a:rPr>
              <a:t> </a:t>
            </a:r>
            <a:r>
              <a:rPr sz="1400" dirty="0">
                <a:latin typeface="Arial"/>
                <a:cs typeface="Arial"/>
              </a:rPr>
              <a:t>mu</a:t>
            </a:r>
            <a:r>
              <a:rPr sz="1400" spc="-5" dirty="0">
                <a:latin typeface="Arial"/>
                <a:cs typeface="Arial"/>
              </a:rPr>
              <a:t>t</a:t>
            </a:r>
            <a:r>
              <a:rPr sz="1400" dirty="0">
                <a:latin typeface="Arial"/>
                <a:cs typeface="Arial"/>
              </a:rPr>
              <a:t>an</a:t>
            </a:r>
            <a:r>
              <a:rPr sz="1400" spc="-5" dirty="0">
                <a:latin typeface="Arial"/>
                <a:cs typeface="Arial"/>
              </a:rPr>
              <a:t>t </a:t>
            </a:r>
            <a:r>
              <a:rPr sz="1400" spc="-15" dirty="0">
                <a:latin typeface="Arial"/>
                <a:cs typeface="Arial"/>
              </a:rPr>
              <a:t>Q</a:t>
            </a:r>
            <a:r>
              <a:rPr sz="1400" spc="-5" dirty="0">
                <a:latin typeface="Arial"/>
                <a:cs typeface="Arial"/>
              </a:rPr>
              <a:t> t</a:t>
            </a:r>
            <a:r>
              <a:rPr sz="1400" dirty="0">
                <a:latin typeface="Arial"/>
                <a:cs typeface="Arial"/>
              </a:rPr>
              <a:t>ha</a:t>
            </a:r>
            <a:r>
              <a:rPr sz="1400" spc="-5" dirty="0">
                <a:latin typeface="Arial"/>
                <a:cs typeface="Arial"/>
              </a:rPr>
              <a:t>t </a:t>
            </a:r>
            <a:r>
              <a:rPr sz="1400" dirty="0">
                <a:latin typeface="Arial"/>
                <a:cs typeface="Arial"/>
              </a:rPr>
              <a:t>comes</a:t>
            </a:r>
            <a:r>
              <a:rPr sz="1400" spc="-5" dirty="0">
                <a:latin typeface="Arial"/>
                <a:cs typeface="Arial"/>
              </a:rPr>
              <a:t> </a:t>
            </a:r>
            <a:r>
              <a:rPr sz="1400" dirty="0">
                <a:latin typeface="Arial"/>
                <a:cs typeface="Arial"/>
              </a:rPr>
              <a:t>in</a:t>
            </a:r>
            <a:r>
              <a:rPr sz="1400" spc="-5" dirty="0">
                <a:latin typeface="Arial"/>
                <a:cs typeface="Arial"/>
              </a:rPr>
              <a:t> </a:t>
            </a:r>
            <a:r>
              <a:rPr sz="1400" dirty="0">
                <a:latin typeface="Arial"/>
                <a:cs typeface="Arial"/>
              </a:rPr>
              <a:t>a</a:t>
            </a:r>
            <a:r>
              <a:rPr sz="1400" spc="-5" dirty="0">
                <a:latin typeface="Arial"/>
                <a:cs typeface="Arial"/>
              </a:rPr>
              <a:t> </a:t>
            </a:r>
            <a:r>
              <a:rPr sz="1400" dirty="0">
                <a:latin typeface="Arial"/>
                <a:cs typeface="Arial"/>
              </a:rPr>
              <a:t>small quantity</a:t>
            </a:r>
            <a:endParaRPr sz="1400">
              <a:latin typeface="Arial"/>
              <a:cs typeface="Arial"/>
            </a:endParaRPr>
          </a:p>
        </p:txBody>
      </p:sp>
      <p:sp>
        <p:nvSpPr>
          <p:cNvPr id="7" name="Rectangle 6">
            <a:extLst>
              <a:ext uri="{FF2B5EF4-FFF2-40B4-BE49-F238E27FC236}">
                <a16:creationId xmlns:a16="http://schemas.microsoft.com/office/drawing/2014/main" id="{2EA7351B-D413-C5B6-0AAC-E9B50E78603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C64950D6-02C2-9697-30BB-70C9C70E8C0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8">
            <a:extLst>
              <a:ext uri="{FF2B5EF4-FFF2-40B4-BE49-F238E27FC236}">
                <a16:creationId xmlns:a16="http://schemas.microsoft.com/office/drawing/2014/main" id="{84716B16-8F52-8A20-ADBF-249715B9CD7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27</a:t>
            </a:fld>
            <a:r>
              <a:rPr lang="en-US" sz="2000" dirty="0">
                <a:solidFill>
                  <a:prstClr val="black"/>
                </a:solidFill>
                <a:latin typeface="Comic Sans MS"/>
                <a:sym typeface="Comic Sans MS"/>
              </a:rPr>
              <a:t>/59</a:t>
            </a:r>
          </a:p>
        </p:txBody>
      </p:sp>
      <p:sp>
        <p:nvSpPr>
          <p:cNvPr id="12" name="Footer Placeholder 9">
            <a:extLst>
              <a:ext uri="{FF2B5EF4-FFF2-40B4-BE49-F238E27FC236}">
                <a16:creationId xmlns:a16="http://schemas.microsoft.com/office/drawing/2014/main" id="{13AF3361-4F97-2766-9B1C-2E8B5E60F4CC}"/>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4" name="Rectangle 13">
            <a:extLst>
              <a:ext uri="{FF2B5EF4-FFF2-40B4-BE49-F238E27FC236}">
                <a16:creationId xmlns:a16="http://schemas.microsoft.com/office/drawing/2014/main" id="{E4A223C2-C97E-FB67-B8ED-2637E3932BF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Compe</a:t>
            </a:r>
            <a:r>
              <a:rPr spc="-15" dirty="0"/>
              <a:t>t</a:t>
            </a:r>
            <a:r>
              <a:rPr dirty="0"/>
              <a:t>i</a:t>
            </a:r>
            <a:r>
              <a:rPr spc="-15" dirty="0"/>
              <a:t>t</a:t>
            </a:r>
            <a:r>
              <a:rPr dirty="0"/>
              <a:t>ion</a:t>
            </a:r>
            <a:r>
              <a:rPr spc="-5" dirty="0"/>
              <a:t> </a:t>
            </a:r>
            <a:r>
              <a:rPr spc="-15" dirty="0"/>
              <a:t>f</a:t>
            </a:r>
            <a:r>
              <a:rPr dirty="0"/>
              <a:t>or</a:t>
            </a:r>
            <a:r>
              <a:rPr spc="-5" dirty="0"/>
              <a:t> </a:t>
            </a:r>
            <a:r>
              <a:rPr spc="-15" dirty="0"/>
              <a:t>f</a:t>
            </a:r>
            <a:r>
              <a:rPr dirty="0"/>
              <a:t>ood</a:t>
            </a:r>
          </a:p>
        </p:txBody>
      </p:sp>
      <p:sp>
        <p:nvSpPr>
          <p:cNvPr id="6" name="object 6"/>
          <p:cNvSpPr txBox="1"/>
          <p:nvPr/>
        </p:nvSpPr>
        <p:spPr>
          <a:xfrm>
            <a:off x="443546" y="1515664"/>
            <a:ext cx="7092950" cy="4048760"/>
          </a:xfrm>
          <a:prstGeom prst="rect">
            <a:avLst/>
          </a:prstGeom>
        </p:spPr>
        <p:txBody>
          <a:bodyPr vert="horz" wrap="square" lIns="0" tIns="0" rIns="0" bIns="0" rtlCol="0">
            <a:spAutoFit/>
          </a:bodyPr>
          <a:lstStyle/>
          <a:p>
            <a:pPr marL="355600" marR="190500" indent="-342900">
              <a:lnSpc>
                <a:spcPts val="2800"/>
              </a:lnSpc>
              <a:buClr>
                <a:srgbClr val="00669D"/>
              </a:buClr>
              <a:buFont typeface="Arial"/>
              <a:buChar char="•"/>
              <a:tabLst>
                <a:tab pos="355600" algn="l"/>
              </a:tabLst>
            </a:pPr>
            <a:r>
              <a:rPr sz="2400" b="1" spc="-30" dirty="0">
                <a:solidFill>
                  <a:srgbClr val="00669D"/>
                </a:solidFill>
                <a:latin typeface="Arial"/>
                <a:cs typeface="Arial"/>
              </a:rPr>
              <a:t>W</a:t>
            </a:r>
            <a:r>
              <a:rPr sz="2400" b="1" spc="-15" dirty="0">
                <a:solidFill>
                  <a:srgbClr val="00669D"/>
                </a:solidFill>
                <a:latin typeface="Arial"/>
                <a:cs typeface="Arial"/>
              </a:rPr>
              <a:t>h</a:t>
            </a:r>
            <a:r>
              <a:rPr sz="2400" b="1" dirty="0">
                <a:solidFill>
                  <a:srgbClr val="00669D"/>
                </a:solidFill>
                <a:latin typeface="Arial"/>
                <a:cs typeface="Arial"/>
              </a:rPr>
              <a:t>e</a:t>
            </a:r>
            <a:r>
              <a:rPr sz="2400" b="1" spc="-15" dirty="0">
                <a:solidFill>
                  <a:srgbClr val="00669D"/>
                </a:solidFill>
                <a:latin typeface="Arial"/>
                <a:cs typeface="Arial"/>
              </a:rPr>
              <a:t>n</a:t>
            </a:r>
            <a:r>
              <a:rPr sz="2400" b="1" spc="-5" dirty="0">
                <a:solidFill>
                  <a:srgbClr val="00669D"/>
                </a:solidFill>
                <a:latin typeface="Arial"/>
                <a:cs typeface="Arial"/>
              </a:rPr>
              <a:t> </a:t>
            </a:r>
            <a:r>
              <a:rPr sz="2400" b="1" spc="-15" dirty="0">
                <a:solidFill>
                  <a:srgbClr val="00669D"/>
                </a:solidFill>
                <a:latin typeface="Arial"/>
                <a:cs typeface="Arial"/>
              </a:rPr>
              <a:t>b</a:t>
            </a:r>
            <a:r>
              <a:rPr sz="2400" b="1" dirty="0">
                <a:solidFill>
                  <a:srgbClr val="00669D"/>
                </a:solidFill>
                <a:latin typeface="Arial"/>
                <a:cs typeface="Arial"/>
              </a:rPr>
              <a:t>ee</a:t>
            </a:r>
            <a:r>
              <a:rPr sz="2400" b="1" spc="-10" dirty="0">
                <a:solidFill>
                  <a:srgbClr val="00669D"/>
                </a:solidFill>
                <a:latin typeface="Arial"/>
                <a:cs typeface="Arial"/>
              </a:rPr>
              <a:t>tl</a:t>
            </a:r>
            <a:r>
              <a:rPr sz="2400" b="1" dirty="0">
                <a:solidFill>
                  <a:srgbClr val="00669D"/>
                </a:solidFill>
                <a:latin typeface="Arial"/>
                <a:cs typeface="Arial"/>
              </a:rPr>
              <a:t>es</a:t>
            </a:r>
            <a:r>
              <a:rPr sz="2400" b="1" spc="-5" dirty="0">
                <a:solidFill>
                  <a:srgbClr val="00669D"/>
                </a:solidFill>
                <a:latin typeface="Arial"/>
                <a:cs typeface="Arial"/>
              </a:rPr>
              <a:t> </a:t>
            </a:r>
            <a:r>
              <a:rPr sz="2400" b="1" spc="-15" dirty="0">
                <a:solidFill>
                  <a:srgbClr val="00669D"/>
                </a:solidFill>
                <a:latin typeface="Arial"/>
                <a:cs typeface="Arial"/>
              </a:rPr>
              <a:t>o</a:t>
            </a:r>
            <a:r>
              <a:rPr sz="2400" b="1" dirty="0">
                <a:solidFill>
                  <a:srgbClr val="00669D"/>
                </a:solidFill>
                <a:latin typeface="Arial"/>
                <a:cs typeface="Arial"/>
              </a:rPr>
              <a:t>f</a:t>
            </a:r>
            <a:r>
              <a:rPr sz="2400" b="1" spc="-5" dirty="0">
                <a:solidFill>
                  <a:srgbClr val="00669D"/>
                </a:solidFill>
                <a:latin typeface="Arial"/>
                <a:cs typeface="Arial"/>
              </a:rPr>
              <a:t> </a:t>
            </a:r>
            <a:r>
              <a:rPr sz="2400" b="1" spc="-15" dirty="0">
                <a:solidFill>
                  <a:srgbClr val="00669D"/>
                </a:solidFill>
                <a:latin typeface="Arial"/>
                <a:cs typeface="Arial"/>
              </a:rPr>
              <a:t>th</a:t>
            </a:r>
            <a:r>
              <a:rPr sz="2400" b="1" dirty="0">
                <a:solidFill>
                  <a:srgbClr val="00669D"/>
                </a:solidFill>
                <a:latin typeface="Arial"/>
                <a:cs typeface="Arial"/>
              </a:rPr>
              <a:t>e</a:t>
            </a:r>
            <a:r>
              <a:rPr sz="2400" b="1" spc="-5" dirty="0">
                <a:solidFill>
                  <a:srgbClr val="00669D"/>
                </a:solidFill>
                <a:latin typeface="Arial"/>
                <a:cs typeface="Arial"/>
              </a:rPr>
              <a:t> </a:t>
            </a:r>
            <a:r>
              <a:rPr sz="2400" b="1" dirty="0">
                <a:solidFill>
                  <a:srgbClr val="00669D"/>
                </a:solidFill>
                <a:latin typeface="Arial"/>
                <a:cs typeface="Arial"/>
              </a:rPr>
              <a:t>same</a:t>
            </a:r>
            <a:r>
              <a:rPr sz="2400" b="1" spc="-5" dirty="0">
                <a:solidFill>
                  <a:srgbClr val="00669D"/>
                </a:solidFill>
                <a:latin typeface="Arial"/>
                <a:cs typeface="Arial"/>
              </a:rPr>
              <a:t> </a:t>
            </a:r>
            <a:r>
              <a:rPr sz="2400" b="1" dirty="0">
                <a:solidFill>
                  <a:srgbClr val="00669D"/>
                </a:solidFill>
                <a:latin typeface="Arial"/>
                <a:cs typeface="Arial"/>
              </a:rPr>
              <a:t>s</a:t>
            </a:r>
            <a:r>
              <a:rPr sz="2400" b="1" spc="-10" dirty="0">
                <a:solidFill>
                  <a:srgbClr val="00669D"/>
                </a:solidFill>
                <a:latin typeface="Arial"/>
                <a:cs typeface="Arial"/>
              </a:rPr>
              <a:t>i</a:t>
            </a:r>
            <a:r>
              <a:rPr sz="2400" b="1" dirty="0">
                <a:solidFill>
                  <a:srgbClr val="00669D"/>
                </a:solidFill>
                <a:latin typeface="Arial"/>
                <a:cs typeface="Arial"/>
              </a:rPr>
              <a:t>ze</a:t>
            </a:r>
            <a:r>
              <a:rPr sz="2400" b="1" spc="-5" dirty="0">
                <a:solidFill>
                  <a:srgbClr val="00669D"/>
                </a:solidFill>
                <a:latin typeface="Arial"/>
                <a:cs typeface="Arial"/>
              </a:rPr>
              <a:t> </a:t>
            </a:r>
            <a:r>
              <a:rPr sz="2400" b="1" dirty="0">
                <a:solidFill>
                  <a:srgbClr val="00669D"/>
                </a:solidFill>
                <a:latin typeface="Arial"/>
                <a:cs typeface="Arial"/>
              </a:rPr>
              <a:t>c</a:t>
            </a:r>
            <a:r>
              <a:rPr sz="2400" b="1" spc="-15" dirty="0">
                <a:solidFill>
                  <a:srgbClr val="00669D"/>
                </a:solidFill>
                <a:latin typeface="Arial"/>
                <a:cs typeface="Arial"/>
              </a:rPr>
              <a:t>o</a:t>
            </a:r>
            <a:r>
              <a:rPr sz="2400" b="1" dirty="0">
                <a:solidFill>
                  <a:srgbClr val="00669D"/>
                </a:solidFill>
                <a:latin typeface="Arial"/>
                <a:cs typeface="Arial"/>
              </a:rPr>
              <a:t>m</a:t>
            </a:r>
            <a:r>
              <a:rPr sz="2400" b="1" spc="-15" dirty="0">
                <a:solidFill>
                  <a:srgbClr val="00669D"/>
                </a:solidFill>
                <a:latin typeface="Arial"/>
                <a:cs typeface="Arial"/>
              </a:rPr>
              <a:t>p</a:t>
            </a:r>
            <a:r>
              <a:rPr sz="2400" b="1" dirty="0">
                <a:solidFill>
                  <a:srgbClr val="00669D"/>
                </a:solidFill>
                <a:latin typeface="Arial"/>
                <a:cs typeface="Arial"/>
              </a:rPr>
              <a:t>ete</a:t>
            </a:r>
            <a:r>
              <a:rPr sz="2400" b="1" spc="-10" dirty="0">
                <a:solidFill>
                  <a:srgbClr val="00669D"/>
                </a:solidFill>
                <a:latin typeface="Arial"/>
                <a:cs typeface="Arial"/>
              </a:rPr>
              <a:t>,</a:t>
            </a:r>
            <a:r>
              <a:rPr sz="2400" b="1" spc="-5" dirty="0">
                <a:solidFill>
                  <a:srgbClr val="00669D"/>
                </a:solidFill>
                <a:latin typeface="Arial"/>
                <a:cs typeface="Arial"/>
              </a:rPr>
              <a:t> </a:t>
            </a:r>
            <a:r>
              <a:rPr sz="2400" b="1" spc="-15" dirty="0">
                <a:solidFill>
                  <a:srgbClr val="00669D"/>
                </a:solidFill>
                <a:latin typeface="Arial"/>
                <a:cs typeface="Arial"/>
              </a:rPr>
              <a:t>th</a:t>
            </a:r>
            <a:r>
              <a:rPr sz="2400" b="1" dirty="0">
                <a:solidFill>
                  <a:srgbClr val="00669D"/>
                </a:solidFill>
                <a:latin typeface="Arial"/>
                <a:cs typeface="Arial"/>
              </a:rPr>
              <a:t>ey </a:t>
            </a:r>
            <a:r>
              <a:rPr sz="2400" b="1" spc="-15" dirty="0">
                <a:solidFill>
                  <a:srgbClr val="00669D"/>
                </a:solidFill>
                <a:latin typeface="Arial"/>
                <a:cs typeface="Arial"/>
              </a:rPr>
              <a:t>g</a:t>
            </a:r>
            <a:r>
              <a:rPr sz="2400" b="1" dirty="0">
                <a:solidFill>
                  <a:srgbClr val="00669D"/>
                </a:solidFill>
                <a:latin typeface="Arial"/>
                <a:cs typeface="Arial"/>
              </a:rPr>
              <a:t>et</a:t>
            </a:r>
            <a:r>
              <a:rPr sz="2400" b="1" spc="-5" dirty="0">
                <a:solidFill>
                  <a:srgbClr val="00669D"/>
                </a:solidFill>
                <a:latin typeface="Arial"/>
                <a:cs typeface="Arial"/>
              </a:rPr>
              <a:t> </a:t>
            </a:r>
            <a:r>
              <a:rPr sz="2400" b="1" dirty="0">
                <a:solidFill>
                  <a:srgbClr val="00669D"/>
                </a:solidFill>
                <a:latin typeface="Arial"/>
                <a:cs typeface="Arial"/>
              </a:rPr>
              <a:t>e</a:t>
            </a:r>
            <a:r>
              <a:rPr sz="2400" b="1" spc="-15" dirty="0">
                <a:solidFill>
                  <a:srgbClr val="00669D"/>
                </a:solidFill>
                <a:latin typeface="Arial"/>
                <a:cs typeface="Arial"/>
              </a:rPr>
              <a:t>qu</a:t>
            </a:r>
            <a:r>
              <a:rPr sz="2400" b="1" dirty="0">
                <a:solidFill>
                  <a:srgbClr val="00669D"/>
                </a:solidFill>
                <a:latin typeface="Arial"/>
                <a:cs typeface="Arial"/>
              </a:rPr>
              <a:t>a</a:t>
            </a:r>
            <a:r>
              <a:rPr sz="2400" b="1" spc="-10" dirty="0">
                <a:solidFill>
                  <a:srgbClr val="00669D"/>
                </a:solidFill>
                <a:latin typeface="Arial"/>
                <a:cs typeface="Arial"/>
              </a:rPr>
              <a:t>l</a:t>
            </a:r>
            <a:r>
              <a:rPr sz="2400" b="1" spc="-5" dirty="0">
                <a:solidFill>
                  <a:srgbClr val="00669D"/>
                </a:solidFill>
                <a:latin typeface="Arial"/>
                <a:cs typeface="Arial"/>
              </a:rPr>
              <a:t> </a:t>
            </a:r>
            <a:r>
              <a:rPr sz="2400" b="1" dirty="0">
                <a:solidFill>
                  <a:srgbClr val="00669D"/>
                </a:solidFill>
                <a:latin typeface="Arial"/>
                <a:cs typeface="Arial"/>
              </a:rPr>
              <a:t>s</a:t>
            </a:r>
            <a:r>
              <a:rPr sz="2400" b="1" spc="-15" dirty="0">
                <a:solidFill>
                  <a:srgbClr val="00669D"/>
                </a:solidFill>
                <a:latin typeface="Arial"/>
                <a:cs typeface="Arial"/>
              </a:rPr>
              <a:t>h</a:t>
            </a:r>
            <a:r>
              <a:rPr sz="2400" b="1" dirty="0">
                <a:solidFill>
                  <a:srgbClr val="00669D"/>
                </a:solidFill>
                <a:latin typeface="Arial"/>
                <a:cs typeface="Arial"/>
              </a:rPr>
              <a:t>ares</a:t>
            </a:r>
            <a:r>
              <a:rPr sz="2400" b="1" spc="-5" dirty="0">
                <a:solidFill>
                  <a:srgbClr val="00669D"/>
                </a:solidFill>
                <a:latin typeface="Arial"/>
                <a:cs typeface="Arial"/>
              </a:rPr>
              <a:t> </a:t>
            </a:r>
            <a:r>
              <a:rPr sz="2400" b="1" spc="-15" dirty="0">
                <a:solidFill>
                  <a:srgbClr val="00669D"/>
                </a:solidFill>
                <a:latin typeface="Arial"/>
                <a:cs typeface="Arial"/>
              </a:rPr>
              <a:t>o</a:t>
            </a:r>
            <a:r>
              <a:rPr sz="2400" b="1" dirty="0">
                <a:solidFill>
                  <a:srgbClr val="00669D"/>
                </a:solidFill>
                <a:latin typeface="Arial"/>
                <a:cs typeface="Arial"/>
              </a:rPr>
              <a:t>f</a:t>
            </a:r>
            <a:r>
              <a:rPr sz="2400" b="1" spc="-5" dirty="0">
                <a:solidFill>
                  <a:srgbClr val="00669D"/>
                </a:solidFill>
                <a:latin typeface="Arial"/>
                <a:cs typeface="Arial"/>
              </a:rPr>
              <a:t> </a:t>
            </a:r>
            <a:r>
              <a:rPr sz="2400" b="1" spc="-15" dirty="0">
                <a:solidFill>
                  <a:srgbClr val="00669D"/>
                </a:solidFill>
                <a:latin typeface="Arial"/>
                <a:cs typeface="Arial"/>
              </a:rPr>
              <a:t>th</a:t>
            </a:r>
            <a:r>
              <a:rPr sz="2400" b="1" dirty="0">
                <a:solidFill>
                  <a:srgbClr val="00669D"/>
                </a:solidFill>
                <a:latin typeface="Arial"/>
                <a:cs typeface="Arial"/>
              </a:rPr>
              <a:t>e</a:t>
            </a:r>
            <a:r>
              <a:rPr sz="2400" b="1" spc="-5" dirty="0">
                <a:solidFill>
                  <a:srgbClr val="00669D"/>
                </a:solidFill>
                <a:latin typeface="Arial"/>
                <a:cs typeface="Arial"/>
              </a:rPr>
              <a:t> </a:t>
            </a:r>
            <a:r>
              <a:rPr sz="2400" b="1" spc="-15" dirty="0">
                <a:solidFill>
                  <a:srgbClr val="00669D"/>
                </a:solidFill>
                <a:latin typeface="Arial"/>
                <a:cs typeface="Arial"/>
              </a:rPr>
              <a:t>food</a:t>
            </a:r>
            <a:endParaRPr sz="2400" dirty="0">
              <a:latin typeface="Arial"/>
              <a:cs typeface="Arial"/>
            </a:endParaRPr>
          </a:p>
          <a:p>
            <a:pPr>
              <a:lnSpc>
                <a:spcPct val="100000"/>
              </a:lnSpc>
              <a:spcBef>
                <a:spcPts val="47"/>
              </a:spcBef>
              <a:buClr>
                <a:srgbClr val="00669D"/>
              </a:buClr>
              <a:buFont typeface="Arial"/>
              <a:buChar char="•"/>
            </a:pPr>
            <a:endParaRPr sz="2950" dirty="0">
              <a:latin typeface="Times New Roman"/>
              <a:cs typeface="Times New Roman"/>
            </a:endParaRPr>
          </a:p>
          <a:p>
            <a:pPr marL="355600" marR="5080" indent="-342900">
              <a:lnSpc>
                <a:spcPts val="2800"/>
              </a:lnSpc>
              <a:buClr>
                <a:srgbClr val="00669D"/>
              </a:buClr>
              <a:buFont typeface="Arial"/>
              <a:buChar char="•"/>
              <a:tabLst>
                <a:tab pos="355600" algn="l"/>
              </a:tabLst>
            </a:pPr>
            <a:r>
              <a:rPr sz="2400" b="1" spc="-30" dirty="0">
                <a:solidFill>
                  <a:srgbClr val="00669D"/>
                </a:solidFill>
                <a:latin typeface="Arial"/>
                <a:cs typeface="Arial"/>
              </a:rPr>
              <a:t>W</a:t>
            </a:r>
            <a:r>
              <a:rPr sz="2400" b="1" spc="-15" dirty="0">
                <a:solidFill>
                  <a:srgbClr val="00669D"/>
                </a:solidFill>
                <a:latin typeface="Arial"/>
                <a:cs typeface="Arial"/>
              </a:rPr>
              <a:t>h</a:t>
            </a:r>
            <a:r>
              <a:rPr sz="2400" b="1" dirty="0">
                <a:solidFill>
                  <a:srgbClr val="00669D"/>
                </a:solidFill>
                <a:latin typeface="Arial"/>
                <a:cs typeface="Arial"/>
              </a:rPr>
              <a:t>e</a:t>
            </a:r>
            <a:r>
              <a:rPr sz="2400" b="1" spc="-15" dirty="0">
                <a:solidFill>
                  <a:srgbClr val="00669D"/>
                </a:solidFill>
                <a:latin typeface="Arial"/>
                <a:cs typeface="Arial"/>
              </a:rPr>
              <a:t>n</a:t>
            </a:r>
            <a:r>
              <a:rPr sz="2400" b="1" spc="-5" dirty="0">
                <a:solidFill>
                  <a:srgbClr val="00669D"/>
                </a:solidFill>
                <a:latin typeface="Arial"/>
                <a:cs typeface="Arial"/>
              </a:rPr>
              <a:t> </a:t>
            </a:r>
            <a:r>
              <a:rPr sz="2400" b="1" dirty="0">
                <a:solidFill>
                  <a:srgbClr val="00669D"/>
                </a:solidFill>
                <a:latin typeface="Arial"/>
                <a:cs typeface="Arial"/>
              </a:rPr>
              <a:t>a</a:t>
            </a:r>
            <a:r>
              <a:rPr sz="2400" b="1" spc="-5" dirty="0">
                <a:solidFill>
                  <a:srgbClr val="00669D"/>
                </a:solidFill>
                <a:latin typeface="Arial"/>
                <a:cs typeface="Arial"/>
              </a:rPr>
              <a:t> </a:t>
            </a:r>
            <a:r>
              <a:rPr sz="2400" b="1" spc="-10" dirty="0">
                <a:solidFill>
                  <a:srgbClr val="00669D"/>
                </a:solidFill>
                <a:latin typeface="Arial"/>
                <a:cs typeface="Arial"/>
              </a:rPr>
              <a:t>l</a:t>
            </a:r>
            <a:r>
              <a:rPr sz="2400" b="1" dirty="0">
                <a:solidFill>
                  <a:srgbClr val="00669D"/>
                </a:solidFill>
                <a:latin typeface="Arial"/>
                <a:cs typeface="Arial"/>
              </a:rPr>
              <a:t>ar</a:t>
            </a:r>
            <a:r>
              <a:rPr sz="2400" b="1" spc="-15" dirty="0">
                <a:solidFill>
                  <a:srgbClr val="00669D"/>
                </a:solidFill>
                <a:latin typeface="Arial"/>
                <a:cs typeface="Arial"/>
              </a:rPr>
              <a:t>g</a:t>
            </a:r>
            <a:r>
              <a:rPr sz="2400" b="1" dirty="0">
                <a:solidFill>
                  <a:srgbClr val="00669D"/>
                </a:solidFill>
                <a:latin typeface="Arial"/>
                <a:cs typeface="Arial"/>
              </a:rPr>
              <a:t>e</a:t>
            </a:r>
            <a:r>
              <a:rPr sz="2400" b="1" spc="-5" dirty="0">
                <a:solidFill>
                  <a:srgbClr val="00669D"/>
                </a:solidFill>
                <a:latin typeface="Arial"/>
                <a:cs typeface="Arial"/>
              </a:rPr>
              <a:t> </a:t>
            </a:r>
            <a:r>
              <a:rPr sz="2400" b="1" spc="-15" dirty="0">
                <a:solidFill>
                  <a:srgbClr val="00669D"/>
                </a:solidFill>
                <a:latin typeface="Arial"/>
                <a:cs typeface="Arial"/>
              </a:rPr>
              <a:t>b</a:t>
            </a:r>
            <a:r>
              <a:rPr sz="2400" b="1" dirty="0">
                <a:solidFill>
                  <a:srgbClr val="00669D"/>
                </a:solidFill>
                <a:latin typeface="Arial"/>
                <a:cs typeface="Arial"/>
              </a:rPr>
              <a:t>ee</a:t>
            </a:r>
            <a:r>
              <a:rPr sz="2400" b="1" spc="-10" dirty="0">
                <a:solidFill>
                  <a:srgbClr val="00669D"/>
                </a:solidFill>
                <a:latin typeface="Arial"/>
                <a:cs typeface="Arial"/>
              </a:rPr>
              <a:t>tl</a:t>
            </a:r>
            <a:r>
              <a:rPr sz="2400" b="1" dirty="0">
                <a:solidFill>
                  <a:srgbClr val="00669D"/>
                </a:solidFill>
                <a:latin typeface="Arial"/>
                <a:cs typeface="Arial"/>
              </a:rPr>
              <a:t>e</a:t>
            </a:r>
            <a:r>
              <a:rPr sz="2400" b="1" spc="-5" dirty="0">
                <a:solidFill>
                  <a:srgbClr val="00669D"/>
                </a:solidFill>
                <a:latin typeface="Arial"/>
                <a:cs typeface="Arial"/>
              </a:rPr>
              <a:t> </a:t>
            </a:r>
            <a:r>
              <a:rPr sz="2400" b="1" dirty="0">
                <a:solidFill>
                  <a:srgbClr val="00669D"/>
                </a:solidFill>
                <a:latin typeface="Arial"/>
                <a:cs typeface="Arial"/>
              </a:rPr>
              <a:t>c</a:t>
            </a:r>
            <a:r>
              <a:rPr sz="2400" b="1" spc="-15" dirty="0">
                <a:solidFill>
                  <a:srgbClr val="00669D"/>
                </a:solidFill>
                <a:latin typeface="Arial"/>
                <a:cs typeface="Arial"/>
              </a:rPr>
              <a:t>o</a:t>
            </a:r>
            <a:r>
              <a:rPr sz="2400" b="1" dirty="0">
                <a:solidFill>
                  <a:srgbClr val="00669D"/>
                </a:solidFill>
                <a:latin typeface="Arial"/>
                <a:cs typeface="Arial"/>
              </a:rPr>
              <a:t>m</a:t>
            </a:r>
            <a:r>
              <a:rPr sz="2400" b="1" spc="-15" dirty="0">
                <a:solidFill>
                  <a:srgbClr val="00669D"/>
                </a:solidFill>
                <a:latin typeface="Arial"/>
                <a:cs typeface="Arial"/>
              </a:rPr>
              <a:t>p</a:t>
            </a:r>
            <a:r>
              <a:rPr sz="2400" b="1" dirty="0">
                <a:solidFill>
                  <a:srgbClr val="00669D"/>
                </a:solidFill>
                <a:latin typeface="Arial"/>
                <a:cs typeface="Arial"/>
              </a:rPr>
              <a:t>etes</a:t>
            </a:r>
            <a:r>
              <a:rPr sz="2400" b="1" spc="-5" dirty="0">
                <a:solidFill>
                  <a:srgbClr val="00669D"/>
                </a:solidFill>
                <a:latin typeface="Arial"/>
                <a:cs typeface="Arial"/>
              </a:rPr>
              <a:t> </a:t>
            </a:r>
            <a:r>
              <a:rPr sz="2400" b="1" spc="-15" dirty="0">
                <a:solidFill>
                  <a:srgbClr val="00669D"/>
                </a:solidFill>
                <a:latin typeface="Arial"/>
                <a:cs typeface="Arial"/>
              </a:rPr>
              <a:t>with</a:t>
            </a:r>
            <a:r>
              <a:rPr sz="2400" b="1" spc="-5" dirty="0">
                <a:solidFill>
                  <a:srgbClr val="00669D"/>
                </a:solidFill>
                <a:latin typeface="Arial"/>
                <a:cs typeface="Arial"/>
              </a:rPr>
              <a:t> </a:t>
            </a:r>
            <a:r>
              <a:rPr sz="2400" b="1" dirty="0">
                <a:solidFill>
                  <a:srgbClr val="00669D"/>
                </a:solidFill>
                <a:latin typeface="Arial"/>
                <a:cs typeface="Arial"/>
              </a:rPr>
              <a:t>a</a:t>
            </a:r>
            <a:r>
              <a:rPr sz="2400" b="1" spc="-5" dirty="0">
                <a:solidFill>
                  <a:srgbClr val="00669D"/>
                </a:solidFill>
                <a:latin typeface="Arial"/>
                <a:cs typeface="Arial"/>
              </a:rPr>
              <a:t> </a:t>
            </a:r>
            <a:r>
              <a:rPr sz="2400" b="1" dirty="0">
                <a:solidFill>
                  <a:srgbClr val="00669D"/>
                </a:solidFill>
                <a:latin typeface="Arial"/>
                <a:cs typeface="Arial"/>
              </a:rPr>
              <a:t>sma</a:t>
            </a:r>
            <a:r>
              <a:rPr sz="2400" b="1" spc="-10" dirty="0">
                <a:solidFill>
                  <a:srgbClr val="00669D"/>
                </a:solidFill>
                <a:latin typeface="Arial"/>
                <a:cs typeface="Arial"/>
              </a:rPr>
              <a:t>ll</a:t>
            </a:r>
            <a:r>
              <a:rPr sz="2400" b="1" spc="-15" dirty="0">
                <a:solidFill>
                  <a:srgbClr val="00669D"/>
                </a:solidFill>
                <a:latin typeface="Arial"/>
                <a:cs typeface="Arial"/>
              </a:rPr>
              <a:t> b</a:t>
            </a:r>
            <a:r>
              <a:rPr sz="2400" b="1" dirty="0">
                <a:solidFill>
                  <a:srgbClr val="00669D"/>
                </a:solidFill>
                <a:latin typeface="Arial"/>
                <a:cs typeface="Arial"/>
              </a:rPr>
              <a:t>ee</a:t>
            </a:r>
            <a:r>
              <a:rPr sz="2400" b="1" spc="-10" dirty="0">
                <a:solidFill>
                  <a:srgbClr val="00669D"/>
                </a:solidFill>
                <a:latin typeface="Arial"/>
                <a:cs typeface="Arial"/>
              </a:rPr>
              <a:t>tl</a:t>
            </a:r>
            <a:r>
              <a:rPr sz="2400" b="1" dirty="0">
                <a:solidFill>
                  <a:srgbClr val="00669D"/>
                </a:solidFill>
                <a:latin typeface="Arial"/>
                <a:cs typeface="Arial"/>
              </a:rPr>
              <a:t>e</a:t>
            </a:r>
            <a:r>
              <a:rPr sz="2400" b="1" spc="-10" dirty="0">
                <a:solidFill>
                  <a:srgbClr val="00669D"/>
                </a:solidFill>
                <a:latin typeface="Arial"/>
                <a:cs typeface="Arial"/>
              </a:rPr>
              <a:t>,</a:t>
            </a:r>
            <a:r>
              <a:rPr sz="2400" b="1" spc="-5" dirty="0">
                <a:solidFill>
                  <a:srgbClr val="00669D"/>
                </a:solidFill>
                <a:latin typeface="Arial"/>
                <a:cs typeface="Arial"/>
              </a:rPr>
              <a:t> </a:t>
            </a:r>
            <a:r>
              <a:rPr sz="2400" b="1" spc="-15" dirty="0">
                <a:solidFill>
                  <a:srgbClr val="00669D"/>
                </a:solidFill>
                <a:latin typeface="Arial"/>
                <a:cs typeface="Arial"/>
              </a:rPr>
              <a:t>th</a:t>
            </a:r>
            <a:r>
              <a:rPr sz="2400" b="1" dirty="0">
                <a:solidFill>
                  <a:srgbClr val="00669D"/>
                </a:solidFill>
                <a:latin typeface="Arial"/>
                <a:cs typeface="Arial"/>
              </a:rPr>
              <a:t>e</a:t>
            </a:r>
            <a:r>
              <a:rPr sz="2400" b="1" spc="-5" dirty="0">
                <a:solidFill>
                  <a:srgbClr val="00669D"/>
                </a:solidFill>
                <a:latin typeface="Arial"/>
                <a:cs typeface="Arial"/>
              </a:rPr>
              <a:t> </a:t>
            </a:r>
            <a:r>
              <a:rPr sz="2400" b="1" spc="-10" dirty="0">
                <a:solidFill>
                  <a:srgbClr val="00669D"/>
                </a:solidFill>
                <a:latin typeface="Arial"/>
                <a:cs typeface="Arial"/>
              </a:rPr>
              <a:t>l</a:t>
            </a:r>
            <a:r>
              <a:rPr sz="2400" b="1" dirty="0">
                <a:solidFill>
                  <a:srgbClr val="00669D"/>
                </a:solidFill>
                <a:latin typeface="Arial"/>
                <a:cs typeface="Arial"/>
              </a:rPr>
              <a:t>ar</a:t>
            </a:r>
            <a:r>
              <a:rPr sz="2400" b="1" spc="-15" dirty="0">
                <a:solidFill>
                  <a:srgbClr val="00669D"/>
                </a:solidFill>
                <a:latin typeface="Arial"/>
                <a:cs typeface="Arial"/>
              </a:rPr>
              <a:t>g</a:t>
            </a:r>
            <a:r>
              <a:rPr sz="2400" b="1" dirty="0">
                <a:solidFill>
                  <a:srgbClr val="00669D"/>
                </a:solidFill>
                <a:latin typeface="Arial"/>
                <a:cs typeface="Arial"/>
              </a:rPr>
              <a:t>e</a:t>
            </a:r>
            <a:r>
              <a:rPr sz="2400" b="1" spc="-5" dirty="0">
                <a:solidFill>
                  <a:srgbClr val="00669D"/>
                </a:solidFill>
                <a:latin typeface="Arial"/>
                <a:cs typeface="Arial"/>
              </a:rPr>
              <a:t> </a:t>
            </a:r>
            <a:r>
              <a:rPr sz="2400" b="1" spc="-15" dirty="0">
                <a:solidFill>
                  <a:srgbClr val="00669D"/>
                </a:solidFill>
                <a:latin typeface="Arial"/>
                <a:cs typeface="Arial"/>
              </a:rPr>
              <a:t>b</a:t>
            </a:r>
            <a:r>
              <a:rPr sz="2400" b="1" dirty="0">
                <a:solidFill>
                  <a:srgbClr val="00669D"/>
                </a:solidFill>
                <a:latin typeface="Arial"/>
                <a:cs typeface="Arial"/>
              </a:rPr>
              <a:t>ee</a:t>
            </a:r>
            <a:r>
              <a:rPr sz="2400" b="1" spc="-10" dirty="0">
                <a:solidFill>
                  <a:srgbClr val="00669D"/>
                </a:solidFill>
                <a:latin typeface="Arial"/>
                <a:cs typeface="Arial"/>
              </a:rPr>
              <a:t>tl</a:t>
            </a:r>
            <a:r>
              <a:rPr sz="2400" b="1" dirty="0">
                <a:solidFill>
                  <a:srgbClr val="00669D"/>
                </a:solidFill>
                <a:latin typeface="Arial"/>
                <a:cs typeface="Arial"/>
              </a:rPr>
              <a:t>e</a:t>
            </a:r>
            <a:r>
              <a:rPr sz="2400" b="1" spc="-5" dirty="0">
                <a:solidFill>
                  <a:srgbClr val="00669D"/>
                </a:solidFill>
                <a:latin typeface="Arial"/>
                <a:cs typeface="Arial"/>
              </a:rPr>
              <a:t> </a:t>
            </a:r>
            <a:r>
              <a:rPr sz="2400" b="1" spc="-15" dirty="0">
                <a:solidFill>
                  <a:srgbClr val="00669D"/>
                </a:solidFill>
                <a:latin typeface="Arial"/>
                <a:cs typeface="Arial"/>
              </a:rPr>
              <a:t>g</a:t>
            </a:r>
            <a:r>
              <a:rPr sz="2400" b="1" dirty="0">
                <a:solidFill>
                  <a:srgbClr val="00669D"/>
                </a:solidFill>
                <a:latin typeface="Arial"/>
                <a:cs typeface="Arial"/>
              </a:rPr>
              <a:t>ets</a:t>
            </a:r>
            <a:r>
              <a:rPr sz="2400" b="1" spc="-5" dirty="0">
                <a:solidFill>
                  <a:srgbClr val="00669D"/>
                </a:solidFill>
                <a:latin typeface="Arial"/>
                <a:cs typeface="Arial"/>
              </a:rPr>
              <a:t> </a:t>
            </a:r>
            <a:r>
              <a:rPr sz="2400" b="1" spc="-15" dirty="0">
                <a:solidFill>
                  <a:srgbClr val="00669D"/>
                </a:solidFill>
                <a:latin typeface="Arial"/>
                <a:cs typeface="Arial"/>
              </a:rPr>
              <a:t>th</a:t>
            </a:r>
            <a:r>
              <a:rPr sz="2400" b="1" dirty="0">
                <a:solidFill>
                  <a:srgbClr val="00669D"/>
                </a:solidFill>
                <a:latin typeface="Arial"/>
                <a:cs typeface="Arial"/>
              </a:rPr>
              <a:t>e</a:t>
            </a:r>
            <a:r>
              <a:rPr sz="2400" b="1" spc="-5" dirty="0">
                <a:solidFill>
                  <a:srgbClr val="00669D"/>
                </a:solidFill>
                <a:latin typeface="Arial"/>
                <a:cs typeface="Arial"/>
              </a:rPr>
              <a:t> </a:t>
            </a:r>
            <a:r>
              <a:rPr sz="2400" b="1" dirty="0">
                <a:solidFill>
                  <a:srgbClr val="00669D"/>
                </a:solidFill>
                <a:latin typeface="Arial"/>
                <a:cs typeface="Arial"/>
              </a:rPr>
              <a:t>ma</a:t>
            </a:r>
            <a:r>
              <a:rPr sz="2400" b="1" spc="-15" dirty="0">
                <a:solidFill>
                  <a:srgbClr val="00669D"/>
                </a:solidFill>
                <a:latin typeface="Arial"/>
                <a:cs typeface="Arial"/>
              </a:rPr>
              <a:t>jo</a:t>
            </a:r>
            <a:r>
              <a:rPr sz="2400" b="1" dirty="0">
                <a:solidFill>
                  <a:srgbClr val="00669D"/>
                </a:solidFill>
                <a:latin typeface="Arial"/>
                <a:cs typeface="Arial"/>
              </a:rPr>
              <a:t>r</a:t>
            </a:r>
            <a:r>
              <a:rPr sz="2400" b="1" spc="-10" dirty="0">
                <a:solidFill>
                  <a:srgbClr val="00669D"/>
                </a:solidFill>
                <a:latin typeface="Arial"/>
                <a:cs typeface="Arial"/>
              </a:rPr>
              <a:t>i</a:t>
            </a:r>
            <a:r>
              <a:rPr sz="2400" b="1" dirty="0">
                <a:solidFill>
                  <a:srgbClr val="00669D"/>
                </a:solidFill>
                <a:latin typeface="Arial"/>
                <a:cs typeface="Arial"/>
              </a:rPr>
              <a:t>ty</a:t>
            </a:r>
            <a:r>
              <a:rPr sz="2400" b="1" spc="-5" dirty="0">
                <a:solidFill>
                  <a:srgbClr val="00669D"/>
                </a:solidFill>
                <a:latin typeface="Arial"/>
                <a:cs typeface="Arial"/>
              </a:rPr>
              <a:t> </a:t>
            </a:r>
            <a:r>
              <a:rPr sz="2400" b="1" spc="-15" dirty="0">
                <a:solidFill>
                  <a:srgbClr val="00669D"/>
                </a:solidFill>
                <a:latin typeface="Arial"/>
                <a:cs typeface="Arial"/>
              </a:rPr>
              <a:t>o</a:t>
            </a:r>
            <a:r>
              <a:rPr sz="2400" b="1" dirty="0">
                <a:solidFill>
                  <a:srgbClr val="00669D"/>
                </a:solidFill>
                <a:latin typeface="Arial"/>
                <a:cs typeface="Arial"/>
              </a:rPr>
              <a:t>f</a:t>
            </a:r>
            <a:r>
              <a:rPr sz="2400" b="1" spc="-5" dirty="0">
                <a:solidFill>
                  <a:srgbClr val="00669D"/>
                </a:solidFill>
                <a:latin typeface="Arial"/>
                <a:cs typeface="Arial"/>
              </a:rPr>
              <a:t> </a:t>
            </a:r>
            <a:r>
              <a:rPr sz="2400" b="1" spc="-15" dirty="0">
                <a:solidFill>
                  <a:srgbClr val="00669D"/>
                </a:solidFill>
                <a:latin typeface="Arial"/>
                <a:cs typeface="Arial"/>
              </a:rPr>
              <a:t>th</a:t>
            </a:r>
            <a:r>
              <a:rPr sz="2400" b="1" dirty="0">
                <a:solidFill>
                  <a:srgbClr val="00669D"/>
                </a:solidFill>
                <a:latin typeface="Arial"/>
                <a:cs typeface="Arial"/>
              </a:rPr>
              <a:t>e </a:t>
            </a:r>
            <a:r>
              <a:rPr sz="2400" b="1" spc="-15" dirty="0">
                <a:solidFill>
                  <a:srgbClr val="00669D"/>
                </a:solidFill>
                <a:latin typeface="Arial"/>
                <a:cs typeface="Arial"/>
              </a:rPr>
              <a:t>food.</a:t>
            </a:r>
            <a:endParaRPr sz="2400" dirty="0">
              <a:latin typeface="Arial"/>
              <a:cs typeface="Arial"/>
            </a:endParaRPr>
          </a:p>
          <a:p>
            <a:pPr>
              <a:lnSpc>
                <a:spcPct val="100000"/>
              </a:lnSpc>
              <a:spcBef>
                <a:spcPts val="47"/>
              </a:spcBef>
              <a:buClr>
                <a:srgbClr val="00669D"/>
              </a:buClr>
              <a:buFont typeface="Arial"/>
              <a:buChar char="•"/>
            </a:pPr>
            <a:endParaRPr sz="2950" dirty="0">
              <a:latin typeface="Times New Roman"/>
              <a:cs typeface="Times New Roman"/>
            </a:endParaRPr>
          </a:p>
          <a:p>
            <a:pPr marL="355600" marR="86995" indent="-342900">
              <a:lnSpc>
                <a:spcPts val="2800"/>
              </a:lnSpc>
              <a:buClr>
                <a:srgbClr val="00669D"/>
              </a:buClr>
              <a:buFont typeface="Arial"/>
              <a:buChar char="•"/>
              <a:tabLst>
                <a:tab pos="355600" algn="l"/>
              </a:tabLst>
            </a:pPr>
            <a:r>
              <a:rPr sz="2400" b="1" spc="-15" dirty="0">
                <a:solidFill>
                  <a:srgbClr val="00669D"/>
                </a:solidFill>
                <a:latin typeface="Arial"/>
                <a:cs typeface="Arial"/>
              </a:rPr>
              <a:t>In</a:t>
            </a:r>
            <a:r>
              <a:rPr sz="2400" b="1" spc="-5" dirty="0">
                <a:solidFill>
                  <a:srgbClr val="00669D"/>
                </a:solidFill>
                <a:latin typeface="Arial"/>
                <a:cs typeface="Arial"/>
              </a:rPr>
              <a:t> </a:t>
            </a:r>
            <a:r>
              <a:rPr sz="2400" b="1" dirty="0">
                <a:solidFill>
                  <a:srgbClr val="00669D"/>
                </a:solidFill>
                <a:latin typeface="Arial"/>
                <a:cs typeface="Arial"/>
              </a:rPr>
              <a:t>a</a:t>
            </a:r>
            <a:r>
              <a:rPr sz="2400" b="1" spc="-10" dirty="0">
                <a:solidFill>
                  <a:srgbClr val="00669D"/>
                </a:solidFill>
                <a:latin typeface="Arial"/>
                <a:cs typeface="Arial"/>
              </a:rPr>
              <a:t>ll</a:t>
            </a:r>
            <a:r>
              <a:rPr sz="2400" b="1" spc="-5" dirty="0">
                <a:solidFill>
                  <a:srgbClr val="00669D"/>
                </a:solidFill>
                <a:latin typeface="Arial"/>
                <a:cs typeface="Arial"/>
              </a:rPr>
              <a:t> </a:t>
            </a:r>
            <a:r>
              <a:rPr sz="2400" b="1" dirty="0">
                <a:solidFill>
                  <a:srgbClr val="00669D"/>
                </a:solidFill>
                <a:latin typeface="Arial"/>
                <a:cs typeface="Arial"/>
              </a:rPr>
              <a:t>cases</a:t>
            </a:r>
            <a:r>
              <a:rPr sz="2400" b="1" spc="-10" dirty="0">
                <a:solidFill>
                  <a:srgbClr val="00669D"/>
                </a:solidFill>
                <a:latin typeface="Arial"/>
                <a:cs typeface="Arial"/>
              </a:rPr>
              <a:t>,</a:t>
            </a:r>
            <a:r>
              <a:rPr sz="2400" b="1" spc="-5" dirty="0">
                <a:solidFill>
                  <a:srgbClr val="00669D"/>
                </a:solidFill>
                <a:latin typeface="Arial"/>
                <a:cs typeface="Arial"/>
              </a:rPr>
              <a:t> </a:t>
            </a:r>
            <a:r>
              <a:rPr sz="2400" b="1" spc="-10" dirty="0">
                <a:solidFill>
                  <a:srgbClr val="00669D"/>
                </a:solidFill>
                <a:latin typeface="Arial"/>
                <a:cs typeface="Arial"/>
              </a:rPr>
              <a:t>l</a:t>
            </a:r>
            <a:r>
              <a:rPr sz="2400" b="1" dirty="0">
                <a:solidFill>
                  <a:srgbClr val="00669D"/>
                </a:solidFill>
                <a:latin typeface="Arial"/>
                <a:cs typeface="Arial"/>
              </a:rPr>
              <a:t>ar</a:t>
            </a:r>
            <a:r>
              <a:rPr sz="2400" b="1" spc="-15" dirty="0">
                <a:solidFill>
                  <a:srgbClr val="00669D"/>
                </a:solidFill>
                <a:latin typeface="Arial"/>
                <a:cs typeface="Arial"/>
              </a:rPr>
              <a:t>g</a:t>
            </a:r>
            <a:r>
              <a:rPr sz="2400" b="1" dirty="0">
                <a:solidFill>
                  <a:srgbClr val="00669D"/>
                </a:solidFill>
                <a:latin typeface="Arial"/>
                <a:cs typeface="Arial"/>
              </a:rPr>
              <a:t>e</a:t>
            </a:r>
            <a:r>
              <a:rPr sz="2400" b="1" spc="-5" dirty="0">
                <a:solidFill>
                  <a:srgbClr val="00669D"/>
                </a:solidFill>
                <a:latin typeface="Arial"/>
                <a:cs typeface="Arial"/>
              </a:rPr>
              <a:t> </a:t>
            </a:r>
            <a:r>
              <a:rPr sz="2400" b="1" spc="-15" dirty="0">
                <a:solidFill>
                  <a:srgbClr val="00669D"/>
                </a:solidFill>
                <a:latin typeface="Arial"/>
                <a:cs typeface="Arial"/>
              </a:rPr>
              <a:t>b</a:t>
            </a:r>
            <a:r>
              <a:rPr sz="2400" b="1" dirty="0">
                <a:solidFill>
                  <a:srgbClr val="00669D"/>
                </a:solidFill>
                <a:latin typeface="Arial"/>
                <a:cs typeface="Arial"/>
              </a:rPr>
              <a:t>ee</a:t>
            </a:r>
            <a:r>
              <a:rPr sz="2400" b="1" spc="-10" dirty="0">
                <a:solidFill>
                  <a:srgbClr val="00669D"/>
                </a:solidFill>
                <a:latin typeface="Arial"/>
                <a:cs typeface="Arial"/>
              </a:rPr>
              <a:t>tl</a:t>
            </a:r>
            <a:r>
              <a:rPr sz="2400" b="1" dirty="0">
                <a:solidFill>
                  <a:srgbClr val="00669D"/>
                </a:solidFill>
                <a:latin typeface="Arial"/>
                <a:cs typeface="Arial"/>
              </a:rPr>
              <a:t>es</a:t>
            </a:r>
            <a:r>
              <a:rPr sz="2400" b="1" spc="-5" dirty="0">
                <a:solidFill>
                  <a:srgbClr val="00669D"/>
                </a:solidFill>
                <a:latin typeface="Arial"/>
                <a:cs typeface="Arial"/>
              </a:rPr>
              <a:t> </a:t>
            </a:r>
            <a:r>
              <a:rPr sz="2400" b="1" dirty="0">
                <a:solidFill>
                  <a:srgbClr val="00669D"/>
                </a:solidFill>
                <a:latin typeface="Arial"/>
                <a:cs typeface="Arial"/>
              </a:rPr>
              <a:t>ex</a:t>
            </a:r>
            <a:r>
              <a:rPr sz="2400" b="1" spc="-15" dirty="0">
                <a:solidFill>
                  <a:srgbClr val="00669D"/>
                </a:solidFill>
                <a:latin typeface="Arial"/>
                <a:cs typeface="Arial"/>
              </a:rPr>
              <a:t>p</a:t>
            </a:r>
            <a:r>
              <a:rPr sz="2400" b="1" dirty="0">
                <a:solidFill>
                  <a:srgbClr val="00669D"/>
                </a:solidFill>
                <a:latin typeface="Arial"/>
                <a:cs typeface="Arial"/>
              </a:rPr>
              <a:t>er</a:t>
            </a:r>
            <a:r>
              <a:rPr sz="2400" b="1" spc="-10" dirty="0">
                <a:solidFill>
                  <a:srgbClr val="00669D"/>
                </a:solidFill>
                <a:latin typeface="Arial"/>
                <a:cs typeface="Arial"/>
              </a:rPr>
              <a:t>i</a:t>
            </a:r>
            <a:r>
              <a:rPr sz="2400" b="1" dirty="0">
                <a:solidFill>
                  <a:srgbClr val="00669D"/>
                </a:solidFill>
                <a:latin typeface="Arial"/>
                <a:cs typeface="Arial"/>
              </a:rPr>
              <a:t>e</a:t>
            </a:r>
            <a:r>
              <a:rPr sz="2400" b="1" spc="-15" dirty="0">
                <a:solidFill>
                  <a:srgbClr val="00669D"/>
                </a:solidFill>
                <a:latin typeface="Arial"/>
                <a:cs typeface="Arial"/>
              </a:rPr>
              <a:t>n</a:t>
            </a:r>
            <a:r>
              <a:rPr sz="2400" b="1" dirty="0">
                <a:solidFill>
                  <a:srgbClr val="00669D"/>
                </a:solidFill>
                <a:latin typeface="Arial"/>
                <a:cs typeface="Arial"/>
              </a:rPr>
              <a:t>ce</a:t>
            </a:r>
            <a:r>
              <a:rPr sz="2400" b="1" spc="-5" dirty="0">
                <a:solidFill>
                  <a:srgbClr val="00669D"/>
                </a:solidFill>
                <a:latin typeface="Arial"/>
                <a:cs typeface="Arial"/>
              </a:rPr>
              <a:t> </a:t>
            </a:r>
            <a:r>
              <a:rPr sz="2400" b="1" spc="-10" dirty="0">
                <a:solidFill>
                  <a:srgbClr val="00669D"/>
                </a:solidFill>
                <a:latin typeface="Arial"/>
                <a:cs typeface="Arial"/>
              </a:rPr>
              <a:t>l</a:t>
            </a:r>
            <a:r>
              <a:rPr sz="2400" b="1" dirty="0">
                <a:solidFill>
                  <a:srgbClr val="00669D"/>
                </a:solidFill>
                <a:latin typeface="Arial"/>
                <a:cs typeface="Arial"/>
              </a:rPr>
              <a:t>ess</a:t>
            </a:r>
            <a:r>
              <a:rPr sz="2400" b="1" spc="-5" dirty="0">
                <a:solidFill>
                  <a:srgbClr val="00669D"/>
                </a:solidFill>
                <a:latin typeface="Arial"/>
                <a:cs typeface="Arial"/>
              </a:rPr>
              <a:t> </a:t>
            </a:r>
            <a:r>
              <a:rPr sz="2400" b="1" spc="-15" dirty="0">
                <a:solidFill>
                  <a:srgbClr val="00669D"/>
                </a:solidFill>
                <a:latin typeface="Arial"/>
                <a:cs typeface="Arial"/>
              </a:rPr>
              <a:t>o</a:t>
            </a:r>
            <a:r>
              <a:rPr sz="2400" b="1" dirty="0">
                <a:solidFill>
                  <a:srgbClr val="00669D"/>
                </a:solidFill>
                <a:latin typeface="Arial"/>
                <a:cs typeface="Arial"/>
              </a:rPr>
              <a:t>f</a:t>
            </a:r>
            <a:r>
              <a:rPr sz="2400" b="1" spc="-5" dirty="0">
                <a:solidFill>
                  <a:srgbClr val="00669D"/>
                </a:solidFill>
                <a:latin typeface="Arial"/>
                <a:cs typeface="Arial"/>
              </a:rPr>
              <a:t> </a:t>
            </a:r>
            <a:r>
              <a:rPr sz="2400" b="1" dirty="0">
                <a:solidFill>
                  <a:srgbClr val="00669D"/>
                </a:solidFill>
                <a:latin typeface="Arial"/>
                <a:cs typeface="Arial"/>
              </a:rPr>
              <a:t>a </a:t>
            </a:r>
            <a:r>
              <a:rPr sz="2400" b="1" spc="-10" dirty="0">
                <a:solidFill>
                  <a:srgbClr val="00669D"/>
                </a:solidFill>
                <a:latin typeface="Arial"/>
                <a:cs typeface="Arial"/>
              </a:rPr>
              <a:t>fitn</a:t>
            </a:r>
            <a:r>
              <a:rPr sz="2400" b="1" dirty="0">
                <a:solidFill>
                  <a:srgbClr val="00669D"/>
                </a:solidFill>
                <a:latin typeface="Arial"/>
                <a:cs typeface="Arial"/>
              </a:rPr>
              <a:t>ess</a:t>
            </a:r>
            <a:r>
              <a:rPr sz="2400" b="1" spc="-5" dirty="0">
                <a:solidFill>
                  <a:srgbClr val="00669D"/>
                </a:solidFill>
                <a:latin typeface="Arial"/>
                <a:cs typeface="Arial"/>
              </a:rPr>
              <a:t> </a:t>
            </a:r>
            <a:r>
              <a:rPr sz="2400" b="1" spc="-15" dirty="0">
                <a:solidFill>
                  <a:srgbClr val="00669D"/>
                </a:solidFill>
                <a:latin typeface="Arial"/>
                <a:cs typeface="Arial"/>
              </a:rPr>
              <a:t>b</a:t>
            </a:r>
            <a:r>
              <a:rPr sz="2400" b="1" dirty="0">
                <a:solidFill>
                  <a:srgbClr val="00669D"/>
                </a:solidFill>
                <a:latin typeface="Arial"/>
                <a:cs typeface="Arial"/>
              </a:rPr>
              <a:t>e</a:t>
            </a:r>
            <a:r>
              <a:rPr sz="2400" b="1" spc="-15" dirty="0">
                <a:solidFill>
                  <a:srgbClr val="00669D"/>
                </a:solidFill>
                <a:latin typeface="Arial"/>
                <a:cs typeface="Arial"/>
              </a:rPr>
              <a:t>n</a:t>
            </a:r>
            <a:r>
              <a:rPr sz="2400" b="1" dirty="0">
                <a:solidFill>
                  <a:srgbClr val="00669D"/>
                </a:solidFill>
                <a:latin typeface="Arial"/>
                <a:cs typeface="Arial"/>
              </a:rPr>
              <a:t>e</a:t>
            </a:r>
            <a:r>
              <a:rPr sz="2400" b="1" spc="-10" dirty="0">
                <a:solidFill>
                  <a:srgbClr val="00669D"/>
                </a:solidFill>
                <a:latin typeface="Arial"/>
                <a:cs typeface="Arial"/>
              </a:rPr>
              <a:t>fi</a:t>
            </a:r>
            <a:r>
              <a:rPr sz="2400" b="1" dirty="0">
                <a:solidFill>
                  <a:srgbClr val="00669D"/>
                </a:solidFill>
                <a:latin typeface="Arial"/>
                <a:cs typeface="Arial"/>
              </a:rPr>
              <a:t>t</a:t>
            </a:r>
            <a:r>
              <a:rPr sz="2400" b="1" spc="-5" dirty="0">
                <a:solidFill>
                  <a:srgbClr val="00669D"/>
                </a:solidFill>
                <a:latin typeface="Arial"/>
                <a:cs typeface="Arial"/>
              </a:rPr>
              <a:t> </a:t>
            </a:r>
            <a:r>
              <a:rPr sz="2400" b="1" dirty="0">
                <a:solidFill>
                  <a:srgbClr val="00669D"/>
                </a:solidFill>
                <a:latin typeface="Arial"/>
                <a:cs typeface="Arial"/>
              </a:rPr>
              <a:t>fr</a:t>
            </a:r>
            <a:r>
              <a:rPr sz="2400" b="1" spc="-15" dirty="0">
                <a:solidFill>
                  <a:srgbClr val="00669D"/>
                </a:solidFill>
                <a:latin typeface="Arial"/>
                <a:cs typeface="Arial"/>
              </a:rPr>
              <a:t>o</a:t>
            </a:r>
            <a:r>
              <a:rPr sz="2400" b="1" dirty="0">
                <a:solidFill>
                  <a:srgbClr val="00669D"/>
                </a:solidFill>
                <a:latin typeface="Arial"/>
                <a:cs typeface="Arial"/>
              </a:rPr>
              <a:t>m</a:t>
            </a:r>
            <a:r>
              <a:rPr sz="2400" b="1" spc="-5" dirty="0">
                <a:solidFill>
                  <a:srgbClr val="00669D"/>
                </a:solidFill>
                <a:latin typeface="Arial"/>
                <a:cs typeface="Arial"/>
              </a:rPr>
              <a:t> </a:t>
            </a:r>
            <a:r>
              <a:rPr sz="2400" b="1" dirty="0">
                <a:solidFill>
                  <a:srgbClr val="00669D"/>
                </a:solidFill>
                <a:latin typeface="Arial"/>
                <a:cs typeface="Arial"/>
              </a:rPr>
              <a:t>a</a:t>
            </a:r>
            <a:r>
              <a:rPr sz="2400" b="1" spc="-5" dirty="0">
                <a:solidFill>
                  <a:srgbClr val="00669D"/>
                </a:solidFill>
                <a:latin typeface="Arial"/>
                <a:cs typeface="Arial"/>
              </a:rPr>
              <a:t> </a:t>
            </a:r>
            <a:r>
              <a:rPr sz="2400" b="1" spc="-15" dirty="0">
                <a:solidFill>
                  <a:srgbClr val="00669D"/>
                </a:solidFill>
                <a:latin typeface="Arial"/>
                <a:cs typeface="Arial"/>
              </a:rPr>
              <a:t>gi</a:t>
            </a:r>
            <a:r>
              <a:rPr sz="2400" b="1" dirty="0">
                <a:solidFill>
                  <a:srgbClr val="00669D"/>
                </a:solidFill>
                <a:latin typeface="Arial"/>
                <a:cs typeface="Arial"/>
              </a:rPr>
              <a:t>ve</a:t>
            </a:r>
            <a:r>
              <a:rPr sz="2400" b="1" spc="-15" dirty="0">
                <a:solidFill>
                  <a:srgbClr val="00669D"/>
                </a:solidFill>
                <a:latin typeface="Arial"/>
                <a:cs typeface="Arial"/>
              </a:rPr>
              <a:t>n</a:t>
            </a:r>
            <a:r>
              <a:rPr sz="2400" b="1" spc="-5" dirty="0">
                <a:solidFill>
                  <a:srgbClr val="00669D"/>
                </a:solidFill>
                <a:latin typeface="Arial"/>
                <a:cs typeface="Arial"/>
              </a:rPr>
              <a:t> </a:t>
            </a:r>
            <a:r>
              <a:rPr sz="2400" b="1" spc="-15" dirty="0">
                <a:solidFill>
                  <a:srgbClr val="00669D"/>
                </a:solidFill>
                <a:latin typeface="Arial"/>
                <a:cs typeface="Arial"/>
              </a:rPr>
              <a:t>qu</a:t>
            </a:r>
            <a:r>
              <a:rPr sz="2400" b="1" dirty="0">
                <a:solidFill>
                  <a:srgbClr val="00669D"/>
                </a:solidFill>
                <a:latin typeface="Arial"/>
                <a:cs typeface="Arial"/>
              </a:rPr>
              <a:t>a</a:t>
            </a:r>
            <a:r>
              <a:rPr sz="2400" b="1" spc="-10" dirty="0">
                <a:solidFill>
                  <a:srgbClr val="00669D"/>
                </a:solidFill>
                <a:latin typeface="Arial"/>
                <a:cs typeface="Arial"/>
              </a:rPr>
              <a:t>nti</a:t>
            </a:r>
            <a:r>
              <a:rPr sz="2400" b="1" dirty="0">
                <a:solidFill>
                  <a:srgbClr val="00669D"/>
                </a:solidFill>
                <a:latin typeface="Arial"/>
                <a:cs typeface="Arial"/>
              </a:rPr>
              <a:t>ty</a:t>
            </a:r>
            <a:r>
              <a:rPr sz="2400" b="1" spc="-5" dirty="0">
                <a:solidFill>
                  <a:srgbClr val="00669D"/>
                </a:solidFill>
                <a:latin typeface="Arial"/>
                <a:cs typeface="Arial"/>
              </a:rPr>
              <a:t> </a:t>
            </a:r>
            <a:r>
              <a:rPr sz="2400" b="1" spc="-15" dirty="0">
                <a:solidFill>
                  <a:srgbClr val="00669D"/>
                </a:solidFill>
                <a:latin typeface="Arial"/>
                <a:cs typeface="Arial"/>
              </a:rPr>
              <a:t>o</a:t>
            </a:r>
            <a:r>
              <a:rPr sz="2400" b="1" dirty="0">
                <a:solidFill>
                  <a:srgbClr val="00669D"/>
                </a:solidFill>
                <a:latin typeface="Arial"/>
                <a:cs typeface="Arial"/>
              </a:rPr>
              <a:t>f</a:t>
            </a:r>
            <a:r>
              <a:rPr sz="2400" b="1" spc="-5" dirty="0">
                <a:solidFill>
                  <a:srgbClr val="00669D"/>
                </a:solidFill>
                <a:latin typeface="Arial"/>
                <a:cs typeface="Arial"/>
              </a:rPr>
              <a:t> </a:t>
            </a:r>
            <a:r>
              <a:rPr sz="2400" b="1" spc="-15" dirty="0">
                <a:solidFill>
                  <a:srgbClr val="00669D"/>
                </a:solidFill>
                <a:latin typeface="Arial"/>
                <a:cs typeface="Arial"/>
              </a:rPr>
              <a:t>food,</a:t>
            </a:r>
            <a:r>
              <a:rPr sz="2400" b="1" spc="-10" dirty="0">
                <a:solidFill>
                  <a:srgbClr val="00669D"/>
                </a:solidFill>
                <a:latin typeface="Arial"/>
                <a:cs typeface="Arial"/>
              </a:rPr>
              <a:t> </a:t>
            </a:r>
            <a:r>
              <a:rPr sz="2400" b="1" dirty="0">
                <a:solidFill>
                  <a:srgbClr val="00669D"/>
                </a:solidFill>
                <a:latin typeface="Arial"/>
                <a:cs typeface="Arial"/>
              </a:rPr>
              <a:t>s</a:t>
            </a:r>
            <a:r>
              <a:rPr sz="2400" b="1" spc="-15" dirty="0">
                <a:solidFill>
                  <a:srgbClr val="00669D"/>
                </a:solidFill>
                <a:latin typeface="Arial"/>
                <a:cs typeface="Arial"/>
              </a:rPr>
              <a:t>in</a:t>
            </a:r>
            <a:r>
              <a:rPr sz="2400" b="1" dirty="0">
                <a:solidFill>
                  <a:srgbClr val="00669D"/>
                </a:solidFill>
                <a:latin typeface="Arial"/>
                <a:cs typeface="Arial"/>
              </a:rPr>
              <a:t>ce</a:t>
            </a:r>
            <a:r>
              <a:rPr sz="2400" b="1" spc="-5" dirty="0">
                <a:solidFill>
                  <a:srgbClr val="00669D"/>
                </a:solidFill>
                <a:latin typeface="Arial"/>
                <a:cs typeface="Arial"/>
              </a:rPr>
              <a:t> </a:t>
            </a:r>
            <a:r>
              <a:rPr sz="2400" b="1" dirty="0">
                <a:solidFill>
                  <a:srgbClr val="00669D"/>
                </a:solidFill>
                <a:latin typeface="Arial"/>
                <a:cs typeface="Arial"/>
              </a:rPr>
              <a:t>s</a:t>
            </a:r>
            <a:r>
              <a:rPr sz="2400" b="1" spc="-15" dirty="0">
                <a:solidFill>
                  <a:srgbClr val="00669D"/>
                </a:solidFill>
                <a:latin typeface="Arial"/>
                <a:cs typeface="Arial"/>
              </a:rPr>
              <a:t>o</a:t>
            </a:r>
            <a:r>
              <a:rPr sz="2400" b="1" dirty="0">
                <a:solidFill>
                  <a:srgbClr val="00669D"/>
                </a:solidFill>
                <a:latin typeface="Arial"/>
                <a:cs typeface="Arial"/>
              </a:rPr>
              <a:t>me</a:t>
            </a:r>
            <a:r>
              <a:rPr sz="2400" b="1" spc="-5" dirty="0">
                <a:solidFill>
                  <a:srgbClr val="00669D"/>
                </a:solidFill>
                <a:latin typeface="Arial"/>
                <a:cs typeface="Arial"/>
              </a:rPr>
              <a:t> </a:t>
            </a:r>
            <a:r>
              <a:rPr sz="2400" b="1" spc="-15" dirty="0">
                <a:solidFill>
                  <a:srgbClr val="00669D"/>
                </a:solidFill>
                <a:latin typeface="Arial"/>
                <a:cs typeface="Arial"/>
              </a:rPr>
              <a:t>o</a:t>
            </a:r>
            <a:r>
              <a:rPr sz="2400" b="1" dirty="0">
                <a:solidFill>
                  <a:srgbClr val="00669D"/>
                </a:solidFill>
                <a:latin typeface="Arial"/>
                <a:cs typeface="Arial"/>
              </a:rPr>
              <a:t>f</a:t>
            </a:r>
            <a:r>
              <a:rPr sz="2400" b="1" spc="-5" dirty="0">
                <a:solidFill>
                  <a:srgbClr val="00669D"/>
                </a:solidFill>
                <a:latin typeface="Arial"/>
                <a:cs typeface="Arial"/>
              </a:rPr>
              <a:t> </a:t>
            </a:r>
            <a:r>
              <a:rPr sz="2400" b="1" spc="-10" dirty="0">
                <a:solidFill>
                  <a:srgbClr val="00669D"/>
                </a:solidFill>
                <a:latin typeface="Arial"/>
                <a:cs typeface="Arial"/>
              </a:rPr>
              <a:t>i</a:t>
            </a:r>
            <a:r>
              <a:rPr sz="2400" b="1" dirty="0">
                <a:solidFill>
                  <a:srgbClr val="00669D"/>
                </a:solidFill>
                <a:latin typeface="Arial"/>
                <a:cs typeface="Arial"/>
              </a:rPr>
              <a:t>t</a:t>
            </a:r>
            <a:r>
              <a:rPr sz="2400" b="1" spc="-5" dirty="0">
                <a:solidFill>
                  <a:srgbClr val="00669D"/>
                </a:solidFill>
                <a:latin typeface="Arial"/>
                <a:cs typeface="Arial"/>
              </a:rPr>
              <a:t> </a:t>
            </a:r>
            <a:r>
              <a:rPr sz="2400" b="1" spc="-10" dirty="0">
                <a:solidFill>
                  <a:srgbClr val="00669D"/>
                </a:solidFill>
                <a:latin typeface="Arial"/>
                <a:cs typeface="Arial"/>
              </a:rPr>
              <a:t>i</a:t>
            </a:r>
            <a:r>
              <a:rPr sz="2400" b="1" dirty="0">
                <a:solidFill>
                  <a:srgbClr val="00669D"/>
                </a:solidFill>
                <a:latin typeface="Arial"/>
                <a:cs typeface="Arial"/>
              </a:rPr>
              <a:t>s</a:t>
            </a:r>
            <a:r>
              <a:rPr sz="2400" b="1" spc="-5" dirty="0">
                <a:solidFill>
                  <a:srgbClr val="00669D"/>
                </a:solidFill>
                <a:latin typeface="Arial"/>
                <a:cs typeface="Arial"/>
              </a:rPr>
              <a:t> </a:t>
            </a:r>
            <a:r>
              <a:rPr sz="2400" b="1" spc="-15" dirty="0">
                <a:solidFill>
                  <a:srgbClr val="00669D"/>
                </a:solidFill>
                <a:latin typeface="Arial"/>
                <a:cs typeface="Arial"/>
              </a:rPr>
              <a:t>di</a:t>
            </a:r>
            <a:r>
              <a:rPr sz="2400" b="1" dirty="0">
                <a:solidFill>
                  <a:srgbClr val="00669D"/>
                </a:solidFill>
                <a:latin typeface="Arial"/>
                <a:cs typeface="Arial"/>
              </a:rPr>
              <a:t>verte</a:t>
            </a:r>
            <a:r>
              <a:rPr sz="2400" b="1" spc="-15" dirty="0">
                <a:solidFill>
                  <a:srgbClr val="00669D"/>
                </a:solidFill>
                <a:latin typeface="Arial"/>
                <a:cs typeface="Arial"/>
              </a:rPr>
              <a:t>d</a:t>
            </a:r>
            <a:r>
              <a:rPr sz="2400" b="1" spc="-5" dirty="0">
                <a:solidFill>
                  <a:srgbClr val="00669D"/>
                </a:solidFill>
                <a:latin typeface="Arial"/>
                <a:cs typeface="Arial"/>
              </a:rPr>
              <a:t> </a:t>
            </a:r>
            <a:r>
              <a:rPr sz="2400" b="1" spc="-15" dirty="0">
                <a:solidFill>
                  <a:srgbClr val="00669D"/>
                </a:solidFill>
                <a:latin typeface="Arial"/>
                <a:cs typeface="Arial"/>
              </a:rPr>
              <a:t>into</a:t>
            </a:r>
            <a:r>
              <a:rPr sz="2400" b="1" spc="-5" dirty="0">
                <a:solidFill>
                  <a:srgbClr val="00669D"/>
                </a:solidFill>
                <a:latin typeface="Arial"/>
                <a:cs typeface="Arial"/>
              </a:rPr>
              <a:t> </a:t>
            </a:r>
            <a:r>
              <a:rPr sz="2400" b="1" dirty="0">
                <a:solidFill>
                  <a:srgbClr val="00669D"/>
                </a:solidFill>
                <a:latin typeface="Arial"/>
                <a:cs typeface="Arial"/>
              </a:rPr>
              <a:t>ma</a:t>
            </a:r>
            <a:r>
              <a:rPr sz="2400" b="1" spc="-15" dirty="0">
                <a:solidFill>
                  <a:srgbClr val="00669D"/>
                </a:solidFill>
                <a:latin typeface="Arial"/>
                <a:cs typeface="Arial"/>
              </a:rPr>
              <a:t>in</a:t>
            </a:r>
            <a:r>
              <a:rPr sz="2400" b="1" dirty="0">
                <a:solidFill>
                  <a:srgbClr val="00669D"/>
                </a:solidFill>
                <a:latin typeface="Arial"/>
                <a:cs typeface="Arial"/>
              </a:rPr>
              <a:t>ta</a:t>
            </a:r>
            <a:r>
              <a:rPr sz="2400" b="1" spc="-15" dirty="0">
                <a:solidFill>
                  <a:srgbClr val="00669D"/>
                </a:solidFill>
                <a:latin typeface="Arial"/>
                <a:cs typeface="Arial"/>
              </a:rPr>
              <a:t>ining</a:t>
            </a:r>
            <a:r>
              <a:rPr sz="2400" b="1" spc="-10" dirty="0">
                <a:solidFill>
                  <a:srgbClr val="00669D"/>
                </a:solidFill>
                <a:latin typeface="Arial"/>
                <a:cs typeface="Arial"/>
              </a:rPr>
              <a:t> th</a:t>
            </a:r>
            <a:r>
              <a:rPr sz="2400" b="1" dirty="0">
                <a:solidFill>
                  <a:srgbClr val="00669D"/>
                </a:solidFill>
                <a:latin typeface="Arial"/>
                <a:cs typeface="Arial"/>
              </a:rPr>
              <a:t>e</a:t>
            </a:r>
            <a:r>
              <a:rPr sz="2400" b="1" spc="-10" dirty="0">
                <a:solidFill>
                  <a:srgbClr val="00669D"/>
                </a:solidFill>
                <a:latin typeface="Arial"/>
                <a:cs typeface="Arial"/>
              </a:rPr>
              <a:t>i</a:t>
            </a:r>
            <a:r>
              <a:rPr sz="2400" b="1" dirty="0">
                <a:solidFill>
                  <a:srgbClr val="00669D"/>
                </a:solidFill>
                <a:latin typeface="Arial"/>
                <a:cs typeface="Arial"/>
              </a:rPr>
              <a:t>r</a:t>
            </a:r>
            <a:r>
              <a:rPr sz="2400" b="1" spc="-5" dirty="0">
                <a:solidFill>
                  <a:srgbClr val="00669D"/>
                </a:solidFill>
                <a:latin typeface="Arial"/>
                <a:cs typeface="Arial"/>
              </a:rPr>
              <a:t> </a:t>
            </a:r>
            <a:r>
              <a:rPr sz="2400" b="1" dirty="0">
                <a:solidFill>
                  <a:srgbClr val="00669D"/>
                </a:solidFill>
                <a:latin typeface="Arial"/>
                <a:cs typeface="Arial"/>
              </a:rPr>
              <a:t>ex</a:t>
            </a:r>
            <a:r>
              <a:rPr sz="2400" b="1" spc="-15" dirty="0">
                <a:solidFill>
                  <a:srgbClr val="00669D"/>
                </a:solidFill>
                <a:latin typeface="Arial"/>
                <a:cs typeface="Arial"/>
              </a:rPr>
              <a:t>p</a:t>
            </a:r>
            <a:r>
              <a:rPr sz="2400" b="1" dirty="0">
                <a:solidFill>
                  <a:srgbClr val="00669D"/>
                </a:solidFill>
                <a:latin typeface="Arial"/>
                <a:cs typeface="Arial"/>
              </a:rPr>
              <a:t>e</a:t>
            </a:r>
            <a:r>
              <a:rPr sz="2400" b="1" spc="-15" dirty="0">
                <a:solidFill>
                  <a:srgbClr val="00669D"/>
                </a:solidFill>
                <a:latin typeface="Arial"/>
                <a:cs typeface="Arial"/>
              </a:rPr>
              <a:t>n</a:t>
            </a:r>
            <a:r>
              <a:rPr sz="2400" b="1" dirty="0">
                <a:solidFill>
                  <a:srgbClr val="00669D"/>
                </a:solidFill>
                <a:latin typeface="Arial"/>
                <a:cs typeface="Arial"/>
              </a:rPr>
              <a:t>s</a:t>
            </a:r>
            <a:r>
              <a:rPr sz="2400" b="1" spc="-10" dirty="0">
                <a:solidFill>
                  <a:srgbClr val="00669D"/>
                </a:solidFill>
                <a:latin typeface="Arial"/>
                <a:cs typeface="Arial"/>
              </a:rPr>
              <a:t>i</a:t>
            </a:r>
            <a:r>
              <a:rPr sz="2400" b="1" dirty="0">
                <a:solidFill>
                  <a:srgbClr val="00669D"/>
                </a:solidFill>
                <a:latin typeface="Arial"/>
                <a:cs typeface="Arial"/>
              </a:rPr>
              <a:t>ve</a:t>
            </a:r>
            <a:r>
              <a:rPr sz="2400" b="1" spc="-5" dirty="0">
                <a:solidFill>
                  <a:srgbClr val="00669D"/>
                </a:solidFill>
                <a:latin typeface="Arial"/>
                <a:cs typeface="Arial"/>
              </a:rPr>
              <a:t> </a:t>
            </a:r>
            <a:r>
              <a:rPr sz="2400" b="1" dirty="0">
                <a:solidFill>
                  <a:srgbClr val="00669D"/>
                </a:solidFill>
                <a:latin typeface="Arial"/>
                <a:cs typeface="Arial"/>
              </a:rPr>
              <a:t>meta</a:t>
            </a:r>
            <a:r>
              <a:rPr sz="2400" b="1" spc="-15" dirty="0">
                <a:solidFill>
                  <a:srgbClr val="00669D"/>
                </a:solidFill>
                <a:latin typeface="Arial"/>
                <a:cs typeface="Arial"/>
              </a:rPr>
              <a:t>boli</a:t>
            </a:r>
            <a:r>
              <a:rPr sz="2400" b="1" dirty="0">
                <a:solidFill>
                  <a:srgbClr val="00669D"/>
                </a:solidFill>
                <a:latin typeface="Arial"/>
                <a:cs typeface="Arial"/>
              </a:rPr>
              <a:t>sm</a:t>
            </a:r>
            <a:endParaRPr sz="2400" dirty="0">
              <a:latin typeface="Arial"/>
              <a:cs typeface="Arial"/>
            </a:endParaRPr>
          </a:p>
        </p:txBody>
      </p:sp>
      <p:sp>
        <p:nvSpPr>
          <p:cNvPr id="3" name="Rectangle 2">
            <a:extLst>
              <a:ext uri="{FF2B5EF4-FFF2-40B4-BE49-F238E27FC236}">
                <a16:creationId xmlns:a16="http://schemas.microsoft.com/office/drawing/2014/main" id="{C4BD491C-BD4D-DAD7-13EB-BE34A776385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FFEDFAA3-E05E-324E-AF27-CAC5F8E322D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4D7C39F0-A20C-8EC1-08C3-25D30251458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29</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6EB0F685-4DDC-7F07-650F-C890FD77810B}"/>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338BE397-3CBB-9BE3-0510-2B4E3A45866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3" name="object 3"/>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4" name="object 4"/>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5" name="object 5"/>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8" name="object 8"/>
          <p:cNvSpPr txBox="1"/>
          <p:nvPr/>
        </p:nvSpPr>
        <p:spPr>
          <a:xfrm>
            <a:off x="461327" y="574571"/>
            <a:ext cx="6349365" cy="1490345"/>
          </a:xfrm>
          <a:prstGeom prst="rect">
            <a:avLst/>
          </a:prstGeom>
        </p:spPr>
        <p:txBody>
          <a:bodyPr vert="horz" wrap="square" lIns="0" tIns="0" rIns="0" bIns="0" rtlCol="0">
            <a:spAutoFit/>
          </a:bodyPr>
          <a:lstStyle/>
          <a:p>
            <a:pPr marL="12700">
              <a:lnSpc>
                <a:spcPct val="100000"/>
              </a:lnSpc>
            </a:pPr>
            <a:r>
              <a:rPr sz="3200" dirty="0">
                <a:latin typeface="Arial"/>
                <a:cs typeface="Arial"/>
              </a:rPr>
              <a:t>Body</a:t>
            </a:r>
            <a:r>
              <a:rPr sz="3200" spc="-5" dirty="0">
                <a:latin typeface="Arial"/>
                <a:cs typeface="Arial"/>
              </a:rPr>
              <a:t> </a:t>
            </a:r>
            <a:r>
              <a:rPr sz="3200" dirty="0">
                <a:latin typeface="Arial"/>
                <a:cs typeface="Arial"/>
              </a:rPr>
              <a:t>Size</a:t>
            </a:r>
            <a:r>
              <a:rPr sz="3200" spc="-5" dirty="0">
                <a:latin typeface="Arial"/>
                <a:cs typeface="Arial"/>
              </a:rPr>
              <a:t> </a:t>
            </a:r>
            <a:r>
              <a:rPr sz="3200" spc="-30" dirty="0">
                <a:latin typeface="Arial"/>
                <a:cs typeface="Arial"/>
              </a:rPr>
              <a:t>G</a:t>
            </a:r>
            <a:r>
              <a:rPr sz="3200" dirty="0">
                <a:latin typeface="Arial"/>
                <a:cs typeface="Arial"/>
              </a:rPr>
              <a:t>ame</a:t>
            </a:r>
            <a:endParaRPr sz="3200">
              <a:latin typeface="Arial"/>
              <a:cs typeface="Arial"/>
            </a:endParaRPr>
          </a:p>
          <a:p>
            <a:pPr>
              <a:lnSpc>
                <a:spcPct val="100000"/>
              </a:lnSpc>
              <a:spcBef>
                <a:spcPts val="23"/>
              </a:spcBef>
            </a:pPr>
            <a:endParaRPr sz="3800">
              <a:latin typeface="Times New Roman"/>
              <a:cs typeface="Times New Roman"/>
            </a:endParaRPr>
          </a:p>
          <a:p>
            <a:pPr marR="5080" algn="r">
              <a:lnSpc>
                <a:spcPct val="100000"/>
              </a:lnSpc>
            </a:pPr>
            <a:r>
              <a:rPr sz="3200" spc="-25" dirty="0">
                <a:latin typeface="Calibri"/>
                <a:cs typeface="Calibri"/>
              </a:rPr>
              <a:t>B</a:t>
            </a:r>
            <a:r>
              <a:rPr sz="3200" spc="-20" dirty="0">
                <a:latin typeface="Calibri"/>
                <a:cs typeface="Calibri"/>
              </a:rPr>
              <a:t>e</a:t>
            </a:r>
            <a:r>
              <a:rPr sz="3200" spc="-40" dirty="0">
                <a:latin typeface="Calibri"/>
                <a:cs typeface="Calibri"/>
              </a:rPr>
              <a:t>e</a:t>
            </a:r>
            <a:r>
              <a:rPr sz="3200" dirty="0">
                <a:latin typeface="Calibri"/>
                <a:cs typeface="Calibri"/>
              </a:rPr>
              <a:t>tl</a:t>
            </a:r>
            <a:r>
              <a:rPr sz="3200" spc="-20" dirty="0">
                <a:latin typeface="Calibri"/>
                <a:cs typeface="Calibri"/>
              </a:rPr>
              <a:t>e</a:t>
            </a:r>
            <a:r>
              <a:rPr sz="3200" dirty="0">
                <a:latin typeface="Calibri"/>
                <a:cs typeface="Calibri"/>
              </a:rPr>
              <a:t> </a:t>
            </a:r>
            <a:r>
              <a:rPr sz="3200" spc="-20" dirty="0">
                <a:latin typeface="Calibri"/>
                <a:cs typeface="Calibri"/>
              </a:rPr>
              <a:t>2</a:t>
            </a:r>
            <a:endParaRPr sz="3200">
              <a:latin typeface="Calibri"/>
              <a:cs typeface="Calibri"/>
            </a:endParaRPr>
          </a:p>
        </p:txBody>
      </p:sp>
      <p:sp>
        <p:nvSpPr>
          <p:cNvPr id="10" name="object 10"/>
          <p:cNvSpPr txBox="1"/>
          <p:nvPr/>
        </p:nvSpPr>
        <p:spPr>
          <a:xfrm>
            <a:off x="255270" y="4114942"/>
            <a:ext cx="1378585" cy="431800"/>
          </a:xfrm>
          <a:prstGeom prst="rect">
            <a:avLst/>
          </a:prstGeom>
        </p:spPr>
        <p:txBody>
          <a:bodyPr vert="horz" wrap="square" lIns="0" tIns="0" rIns="0" bIns="0" rtlCol="0">
            <a:spAutoFit/>
          </a:bodyPr>
          <a:lstStyle/>
          <a:p>
            <a:pPr marL="12700">
              <a:lnSpc>
                <a:spcPct val="100000"/>
              </a:lnSpc>
            </a:pPr>
            <a:r>
              <a:rPr sz="3200" spc="-25" dirty="0">
                <a:latin typeface="Calibri"/>
                <a:cs typeface="Calibri"/>
              </a:rPr>
              <a:t>B</a:t>
            </a:r>
            <a:r>
              <a:rPr sz="3200" spc="-20" dirty="0">
                <a:latin typeface="Calibri"/>
                <a:cs typeface="Calibri"/>
              </a:rPr>
              <a:t>e</a:t>
            </a:r>
            <a:r>
              <a:rPr sz="3200" spc="-40" dirty="0">
                <a:latin typeface="Calibri"/>
                <a:cs typeface="Calibri"/>
              </a:rPr>
              <a:t>e</a:t>
            </a:r>
            <a:r>
              <a:rPr sz="3200" dirty="0">
                <a:latin typeface="Calibri"/>
                <a:cs typeface="Calibri"/>
              </a:rPr>
              <a:t>tl</a:t>
            </a:r>
            <a:r>
              <a:rPr sz="3200" spc="-20" dirty="0">
                <a:latin typeface="Calibri"/>
                <a:cs typeface="Calibri"/>
              </a:rPr>
              <a:t>e</a:t>
            </a:r>
            <a:r>
              <a:rPr sz="3200" dirty="0">
                <a:latin typeface="Calibri"/>
                <a:cs typeface="Calibri"/>
              </a:rPr>
              <a:t> </a:t>
            </a:r>
            <a:r>
              <a:rPr sz="3200" spc="-20" dirty="0">
                <a:latin typeface="Calibri"/>
                <a:cs typeface="Calibri"/>
              </a:rPr>
              <a:t>1</a:t>
            </a:r>
            <a:endParaRPr sz="3200">
              <a:latin typeface="Calibri"/>
              <a:cs typeface="Calibri"/>
            </a:endParaRPr>
          </a:p>
        </p:txBody>
      </p:sp>
      <p:graphicFrame>
        <p:nvGraphicFramePr>
          <p:cNvPr id="9" name="object 9"/>
          <p:cNvGraphicFramePr>
            <a:graphicFrameLocks noGrp="1"/>
          </p:cNvGraphicFramePr>
          <p:nvPr>
            <p:extLst>
              <p:ext uri="{D42A27DB-BD31-4B8C-83A1-F6EECF244321}">
                <p14:modId xmlns:p14="http://schemas.microsoft.com/office/powerpoint/2010/main" val="1163616429"/>
              </p:ext>
            </p:extLst>
          </p:nvPr>
        </p:nvGraphicFramePr>
        <p:xfrm>
          <a:off x="1885950" y="2116493"/>
          <a:ext cx="6400800" cy="3363557"/>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994562">
                <a:tc>
                  <a:txBody>
                    <a:bodyPr/>
                    <a:lstStyle/>
                    <a:p>
                      <a:endParaRPr sz="3200">
                        <a:latin typeface="Calibri"/>
                        <a:cs typeface="Calibri"/>
                      </a:endParaRPr>
                    </a:p>
                  </a:txBody>
                  <a:tcPr marL="0" marR="0" marT="0" marB="0" anchor="ctr">
                    <a:lnR w="12700">
                      <a:solidFill>
                        <a:srgbClr val="F79646"/>
                      </a:solidFill>
                      <a:prstDash val="solid"/>
                    </a:lnR>
                    <a:lnB w="12700">
                      <a:solidFill>
                        <a:srgbClr val="F79646"/>
                      </a:solidFill>
                      <a:prstDash val="solid"/>
                    </a:lnB>
                    <a:solidFill>
                      <a:srgbClr val="E7E7E7"/>
                    </a:solidFill>
                  </a:tcPr>
                </a:tc>
                <a:tc>
                  <a:txBody>
                    <a:bodyPr/>
                    <a:lstStyle/>
                    <a:p>
                      <a:pPr marL="690245">
                        <a:lnSpc>
                          <a:spcPct val="100000"/>
                        </a:lnSpc>
                      </a:pPr>
                      <a:r>
                        <a:rPr sz="3200" dirty="0">
                          <a:latin typeface="Calibri"/>
                          <a:cs typeface="Calibri"/>
                        </a:rPr>
                        <a:t>Small</a:t>
                      </a: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tc>
                  <a:txBody>
                    <a:bodyPr/>
                    <a:lstStyle/>
                    <a:p>
                      <a:pPr marL="575945">
                        <a:lnSpc>
                          <a:spcPct val="100000"/>
                        </a:lnSpc>
                      </a:pPr>
                      <a:r>
                        <a:rPr sz="3200" dirty="0">
                          <a:latin typeface="Calibri"/>
                          <a:cs typeface="Calibri"/>
                        </a:rPr>
                        <a:t>La</a:t>
                      </a:r>
                      <a:r>
                        <a:rPr sz="3200" spc="-45" dirty="0">
                          <a:latin typeface="Calibri"/>
                          <a:cs typeface="Calibri"/>
                        </a:rPr>
                        <a:t>r</a:t>
                      </a:r>
                      <a:r>
                        <a:rPr sz="3200" spc="-30" dirty="0">
                          <a:latin typeface="Calibri"/>
                          <a:cs typeface="Calibri"/>
                        </a:rPr>
                        <a:t>g</a:t>
                      </a:r>
                      <a:r>
                        <a:rPr sz="3200" dirty="0">
                          <a:latin typeface="Calibri"/>
                          <a:cs typeface="Calibri"/>
                        </a:rPr>
                        <a:t>e</a:t>
                      </a:r>
                      <a:endParaRPr sz="3200">
                        <a:latin typeface="Calibri"/>
                        <a:cs typeface="Calibri"/>
                      </a:endParaRP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extLst>
                  <a:ext uri="{0D108BD9-81ED-4DB2-BD59-A6C34878D82A}">
                    <a16:rowId xmlns:a16="http://schemas.microsoft.com/office/drawing/2014/main" val="10000"/>
                  </a:ext>
                </a:extLst>
              </a:tr>
              <a:tr h="1184497">
                <a:tc>
                  <a:txBody>
                    <a:bodyPr/>
                    <a:lstStyle/>
                    <a:p>
                      <a:pPr marL="1106170">
                        <a:lnSpc>
                          <a:spcPct val="100000"/>
                        </a:lnSpc>
                      </a:pPr>
                      <a:r>
                        <a:rPr sz="3200" dirty="0">
                          <a:latin typeface="Calibri"/>
                          <a:cs typeface="Calibri"/>
                        </a:rPr>
                        <a:t>Small</a:t>
                      </a:r>
                      <a:endParaRPr sz="3200">
                        <a:latin typeface="Calibri"/>
                        <a:cs typeface="Calibri"/>
                      </a:endParaRP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tc>
                  <a:txBody>
                    <a:bodyPr/>
                    <a:lstStyle/>
                    <a:p>
                      <a:pPr algn="ctr">
                        <a:lnSpc>
                          <a:spcPct val="100000"/>
                        </a:lnSpc>
                      </a:pPr>
                      <a:r>
                        <a:rPr sz="3200" dirty="0">
                          <a:latin typeface="Calibri"/>
                          <a:cs typeface="Calibri"/>
                        </a:rPr>
                        <a:t>5,</a:t>
                      </a:r>
                      <a:r>
                        <a:rPr sz="3200" spc="-5" dirty="0">
                          <a:latin typeface="Calibri"/>
                          <a:cs typeface="Calibri"/>
                        </a:rPr>
                        <a:t> </a:t>
                      </a:r>
                      <a:r>
                        <a:rPr sz="3200" dirty="0">
                          <a:latin typeface="Calibri"/>
                          <a:cs typeface="Calibri"/>
                        </a:rPr>
                        <a:t>5</a:t>
                      </a:r>
                      <a:endParaRPr sz="3200">
                        <a:latin typeface="Calibri"/>
                        <a:cs typeface="Calibri"/>
                      </a:endParaRP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tc>
                  <a:txBody>
                    <a:bodyPr/>
                    <a:lstStyle/>
                    <a:p>
                      <a:pPr algn="ctr">
                        <a:lnSpc>
                          <a:spcPct val="100000"/>
                        </a:lnSpc>
                      </a:pPr>
                      <a:r>
                        <a:rPr sz="3200" dirty="0">
                          <a:latin typeface="Calibri"/>
                          <a:cs typeface="Calibri"/>
                        </a:rPr>
                        <a:t>1,</a:t>
                      </a:r>
                      <a:r>
                        <a:rPr sz="3200" spc="-5" dirty="0">
                          <a:latin typeface="Calibri"/>
                          <a:cs typeface="Calibri"/>
                        </a:rPr>
                        <a:t> </a:t>
                      </a:r>
                      <a:r>
                        <a:rPr sz="3200" dirty="0">
                          <a:latin typeface="Calibri"/>
                          <a:cs typeface="Calibri"/>
                        </a:rPr>
                        <a:t>8</a:t>
                      </a:r>
                      <a:endParaRPr sz="3200">
                        <a:latin typeface="Calibri"/>
                        <a:cs typeface="Calibri"/>
                      </a:endParaRP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extLst>
                  <a:ext uri="{0D108BD9-81ED-4DB2-BD59-A6C34878D82A}">
                    <a16:rowId xmlns:a16="http://schemas.microsoft.com/office/drawing/2014/main" val="10001"/>
                  </a:ext>
                </a:extLst>
              </a:tr>
              <a:tr h="1184498">
                <a:tc>
                  <a:txBody>
                    <a:bodyPr/>
                    <a:lstStyle/>
                    <a:p>
                      <a:pPr marL="1106805">
                        <a:lnSpc>
                          <a:spcPct val="100000"/>
                        </a:lnSpc>
                      </a:pPr>
                      <a:r>
                        <a:rPr sz="3200" dirty="0">
                          <a:latin typeface="Calibri"/>
                          <a:cs typeface="Calibri"/>
                        </a:rPr>
                        <a:t>La</a:t>
                      </a:r>
                      <a:r>
                        <a:rPr sz="3200" spc="-45" dirty="0">
                          <a:latin typeface="Calibri"/>
                          <a:cs typeface="Calibri"/>
                        </a:rPr>
                        <a:t>r</a:t>
                      </a:r>
                      <a:r>
                        <a:rPr sz="3200" spc="-30" dirty="0">
                          <a:latin typeface="Calibri"/>
                          <a:cs typeface="Calibri"/>
                        </a:rPr>
                        <a:t>g</a:t>
                      </a:r>
                      <a:r>
                        <a:rPr sz="3200" dirty="0">
                          <a:latin typeface="Calibri"/>
                          <a:cs typeface="Calibri"/>
                        </a:rPr>
                        <a:t>e</a:t>
                      </a:r>
                      <a:endParaRPr sz="3200">
                        <a:latin typeface="Calibri"/>
                        <a:cs typeface="Calibri"/>
                      </a:endParaRP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tc>
                  <a:txBody>
                    <a:bodyPr/>
                    <a:lstStyle/>
                    <a:p>
                      <a:pPr algn="ctr">
                        <a:lnSpc>
                          <a:spcPct val="100000"/>
                        </a:lnSpc>
                      </a:pPr>
                      <a:r>
                        <a:rPr sz="3200" dirty="0">
                          <a:latin typeface="Calibri"/>
                          <a:cs typeface="Calibri"/>
                        </a:rPr>
                        <a:t>8,</a:t>
                      </a:r>
                      <a:r>
                        <a:rPr sz="3200" spc="-5" dirty="0">
                          <a:latin typeface="Calibri"/>
                          <a:cs typeface="Calibri"/>
                        </a:rPr>
                        <a:t> </a:t>
                      </a:r>
                      <a:r>
                        <a:rPr sz="3200" dirty="0">
                          <a:latin typeface="Calibri"/>
                          <a:cs typeface="Calibri"/>
                        </a:rPr>
                        <a:t>1</a:t>
                      </a:r>
                      <a:endParaRPr sz="3200">
                        <a:latin typeface="Calibri"/>
                        <a:cs typeface="Calibri"/>
                      </a:endParaRP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tc>
                  <a:txBody>
                    <a:bodyPr/>
                    <a:lstStyle/>
                    <a:p>
                      <a:pPr algn="ctr">
                        <a:lnSpc>
                          <a:spcPct val="100000"/>
                        </a:lnSpc>
                      </a:pPr>
                      <a:r>
                        <a:rPr sz="3200" dirty="0">
                          <a:latin typeface="Calibri"/>
                          <a:cs typeface="Calibri"/>
                        </a:rPr>
                        <a:t>3,</a:t>
                      </a:r>
                      <a:r>
                        <a:rPr sz="3200" spc="-5" dirty="0">
                          <a:latin typeface="Calibri"/>
                          <a:cs typeface="Calibri"/>
                        </a:rPr>
                        <a:t> </a:t>
                      </a:r>
                      <a:r>
                        <a:rPr sz="3200" dirty="0">
                          <a:latin typeface="Calibri"/>
                          <a:cs typeface="Calibri"/>
                        </a:rPr>
                        <a:t>3</a:t>
                      </a:r>
                    </a:p>
                  </a:txBody>
                  <a:tcPr marL="0" marR="0" marT="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solidFill>
                      <a:srgbClr val="E7E7E7"/>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8EE461B5-1715-BCD8-0B8F-78C1857701E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B5B9F960-6292-51E9-F125-4DCFCB921A5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Slide Number Placeholder 8">
            <a:extLst>
              <a:ext uri="{FF2B5EF4-FFF2-40B4-BE49-F238E27FC236}">
                <a16:creationId xmlns:a16="http://schemas.microsoft.com/office/drawing/2014/main" id="{5C2CEA46-0892-C468-CDD5-FAB7BB31A2C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30</a:t>
            </a:fld>
            <a:r>
              <a:rPr lang="en-US" sz="2000" dirty="0">
                <a:solidFill>
                  <a:prstClr val="black"/>
                </a:solidFill>
                <a:latin typeface="Comic Sans MS"/>
                <a:sym typeface="Comic Sans MS"/>
              </a:rPr>
              <a:t>/59</a:t>
            </a:r>
          </a:p>
        </p:txBody>
      </p:sp>
      <p:sp>
        <p:nvSpPr>
          <p:cNvPr id="12" name="Footer Placeholder 9">
            <a:extLst>
              <a:ext uri="{FF2B5EF4-FFF2-40B4-BE49-F238E27FC236}">
                <a16:creationId xmlns:a16="http://schemas.microsoft.com/office/drawing/2014/main" id="{4834F8E9-EA93-A79D-C434-A7CC416CE90F}"/>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3" name="Rectangle 12">
            <a:extLst>
              <a:ext uri="{FF2B5EF4-FFF2-40B4-BE49-F238E27FC236}">
                <a16:creationId xmlns:a16="http://schemas.microsoft.com/office/drawing/2014/main" id="{F87F4100-0366-F5D6-E62C-D1A8ED28F87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492125" y="1416659"/>
            <a:ext cx="7287895" cy="4107815"/>
          </a:xfrm>
          <a:prstGeom prst="rect">
            <a:avLst/>
          </a:prstGeom>
        </p:spPr>
        <p:txBody>
          <a:bodyPr vert="horz" wrap="square" lIns="0" tIns="0" rIns="0" bIns="0" rtlCol="0">
            <a:spAutoFit/>
          </a:bodyPr>
          <a:lstStyle/>
          <a:p>
            <a:pPr marL="355600" indent="-342900">
              <a:lnSpc>
                <a:spcPts val="3390"/>
              </a:lnSpc>
              <a:buClr>
                <a:srgbClr val="00669D"/>
              </a:buClr>
              <a:buFont typeface="Arial"/>
              <a:buChar char="•"/>
              <a:tabLst>
                <a:tab pos="355600" algn="l"/>
              </a:tabLst>
            </a:pPr>
            <a:r>
              <a:rPr sz="2900" b="1" spc="-25" dirty="0">
                <a:solidFill>
                  <a:srgbClr val="00669D"/>
                </a:solidFill>
                <a:latin typeface="Arial"/>
                <a:cs typeface="Arial"/>
              </a:rPr>
              <a:t>F</a:t>
            </a:r>
            <a:r>
              <a:rPr sz="2900" b="1" dirty="0">
                <a:solidFill>
                  <a:srgbClr val="00669D"/>
                </a:solidFill>
                <a:latin typeface="Arial"/>
                <a:cs typeface="Arial"/>
              </a:rPr>
              <a:t>rac</a:t>
            </a:r>
            <a:r>
              <a:rPr sz="2900" b="1" spc="-10" dirty="0">
                <a:solidFill>
                  <a:srgbClr val="00669D"/>
                </a:solidFill>
                <a:latin typeface="Arial"/>
                <a:cs typeface="Arial"/>
              </a:rPr>
              <a:t>ti</a:t>
            </a:r>
            <a:r>
              <a:rPr sz="2900" b="1" spc="-25" dirty="0">
                <a:solidFill>
                  <a:srgbClr val="00669D"/>
                </a:solidFill>
                <a:latin typeface="Arial"/>
                <a:cs typeface="Arial"/>
              </a:rPr>
              <a:t>o</a:t>
            </a:r>
            <a:r>
              <a:rPr sz="2900" b="1" spc="-20" dirty="0">
                <a:solidFill>
                  <a:srgbClr val="00669D"/>
                </a:solidFill>
                <a:latin typeface="Arial"/>
                <a:cs typeface="Arial"/>
              </a:rPr>
              <a:t>n</a:t>
            </a:r>
            <a:r>
              <a:rPr sz="2900" b="1" spc="-5" dirty="0">
                <a:solidFill>
                  <a:srgbClr val="00669D"/>
                </a:solidFill>
                <a:latin typeface="Arial"/>
                <a:cs typeface="Arial"/>
              </a:rPr>
              <a:t> </a:t>
            </a:r>
            <a:r>
              <a:rPr sz="2900" b="1" spc="-25" dirty="0">
                <a:solidFill>
                  <a:srgbClr val="00669D"/>
                </a:solidFill>
                <a:latin typeface="Arial"/>
                <a:cs typeface="Arial"/>
              </a:rPr>
              <a:t>o</a:t>
            </a:r>
            <a:r>
              <a:rPr sz="2900" b="1" dirty="0">
                <a:solidFill>
                  <a:srgbClr val="00669D"/>
                </a:solidFill>
                <a:latin typeface="Arial"/>
                <a:cs typeface="Arial"/>
              </a:rPr>
              <a:t>f</a:t>
            </a:r>
            <a:r>
              <a:rPr sz="2900" b="1" spc="-5" dirty="0">
                <a:solidFill>
                  <a:srgbClr val="00669D"/>
                </a:solidFill>
                <a:latin typeface="Arial"/>
                <a:cs typeface="Arial"/>
              </a:rPr>
              <a:t> </a:t>
            </a:r>
            <a:r>
              <a:rPr sz="2900" b="1" dirty="0">
                <a:solidFill>
                  <a:srgbClr val="00669D"/>
                </a:solidFill>
                <a:latin typeface="Arial"/>
                <a:cs typeface="Arial"/>
              </a:rPr>
              <a:t>sma</a:t>
            </a:r>
            <a:r>
              <a:rPr sz="2900" b="1" spc="-10" dirty="0">
                <a:solidFill>
                  <a:srgbClr val="00669D"/>
                </a:solidFill>
                <a:latin typeface="Arial"/>
                <a:cs typeface="Arial"/>
              </a:rPr>
              <a:t>ll</a:t>
            </a:r>
            <a:r>
              <a:rPr sz="2900" b="1" spc="-5" dirty="0">
                <a:solidFill>
                  <a:srgbClr val="00669D"/>
                </a:solidFill>
                <a:latin typeface="Arial"/>
                <a:cs typeface="Arial"/>
              </a:rPr>
              <a:t> </a:t>
            </a:r>
            <a:r>
              <a:rPr sz="2900" b="1" dirty="0">
                <a:solidFill>
                  <a:srgbClr val="00669D"/>
                </a:solidFill>
                <a:latin typeface="Arial"/>
                <a:cs typeface="Arial"/>
              </a:rPr>
              <a:t>Bee</a:t>
            </a:r>
            <a:r>
              <a:rPr sz="2900" b="1" spc="-10" dirty="0">
                <a:solidFill>
                  <a:srgbClr val="00669D"/>
                </a:solidFill>
                <a:latin typeface="Arial"/>
                <a:cs typeface="Arial"/>
              </a:rPr>
              <a:t>tl</a:t>
            </a:r>
            <a:r>
              <a:rPr sz="2900" b="1" dirty="0">
                <a:solidFill>
                  <a:srgbClr val="00669D"/>
                </a:solidFill>
                <a:latin typeface="Arial"/>
                <a:cs typeface="Arial"/>
              </a:rPr>
              <a:t>es:</a:t>
            </a:r>
            <a:r>
              <a:rPr sz="2900" b="1" spc="-5" dirty="0">
                <a:solidFill>
                  <a:srgbClr val="00669D"/>
                </a:solidFill>
                <a:latin typeface="Arial"/>
                <a:cs typeface="Arial"/>
              </a:rPr>
              <a:t> </a:t>
            </a:r>
            <a:r>
              <a:rPr sz="2900" b="1" dirty="0">
                <a:solidFill>
                  <a:srgbClr val="00669D"/>
                </a:solidFill>
                <a:latin typeface="Arial"/>
                <a:cs typeface="Arial"/>
              </a:rPr>
              <a:t>x</a:t>
            </a:r>
            <a:endParaRPr sz="2900" dirty="0">
              <a:latin typeface="Arial"/>
              <a:cs typeface="Arial"/>
            </a:endParaRPr>
          </a:p>
          <a:p>
            <a:pPr marL="355600" indent="-342900">
              <a:lnSpc>
                <a:spcPts val="3390"/>
              </a:lnSpc>
              <a:buClr>
                <a:srgbClr val="00669D"/>
              </a:buClr>
              <a:buFont typeface="Arial"/>
              <a:buChar char="•"/>
              <a:tabLst>
                <a:tab pos="355600" algn="l"/>
              </a:tabLst>
            </a:pPr>
            <a:r>
              <a:rPr sz="2900" b="1" spc="-25" dirty="0">
                <a:solidFill>
                  <a:srgbClr val="00669D"/>
                </a:solidFill>
                <a:latin typeface="Arial"/>
                <a:cs typeface="Arial"/>
              </a:rPr>
              <a:t>F</a:t>
            </a:r>
            <a:r>
              <a:rPr sz="2900" b="1" dirty="0">
                <a:solidFill>
                  <a:srgbClr val="00669D"/>
                </a:solidFill>
                <a:latin typeface="Arial"/>
                <a:cs typeface="Arial"/>
              </a:rPr>
              <a:t>rac</a:t>
            </a:r>
            <a:r>
              <a:rPr sz="2900" b="1" spc="-10" dirty="0">
                <a:solidFill>
                  <a:srgbClr val="00669D"/>
                </a:solidFill>
                <a:latin typeface="Arial"/>
                <a:cs typeface="Arial"/>
              </a:rPr>
              <a:t>ti</a:t>
            </a:r>
            <a:r>
              <a:rPr sz="2900" b="1" spc="-25" dirty="0">
                <a:solidFill>
                  <a:srgbClr val="00669D"/>
                </a:solidFill>
                <a:latin typeface="Arial"/>
                <a:cs typeface="Arial"/>
              </a:rPr>
              <a:t>o</a:t>
            </a:r>
            <a:r>
              <a:rPr sz="2900" b="1" spc="-20" dirty="0">
                <a:solidFill>
                  <a:srgbClr val="00669D"/>
                </a:solidFill>
                <a:latin typeface="Arial"/>
                <a:cs typeface="Arial"/>
              </a:rPr>
              <a:t>n</a:t>
            </a:r>
            <a:r>
              <a:rPr sz="2900" b="1" spc="-5" dirty="0">
                <a:solidFill>
                  <a:srgbClr val="00669D"/>
                </a:solidFill>
                <a:latin typeface="Arial"/>
                <a:cs typeface="Arial"/>
              </a:rPr>
              <a:t> </a:t>
            </a:r>
            <a:r>
              <a:rPr sz="2900" b="1" spc="-25" dirty="0">
                <a:solidFill>
                  <a:srgbClr val="00669D"/>
                </a:solidFill>
                <a:latin typeface="Arial"/>
                <a:cs typeface="Arial"/>
              </a:rPr>
              <a:t>o</a:t>
            </a:r>
            <a:r>
              <a:rPr sz="2900" b="1" dirty="0">
                <a:solidFill>
                  <a:srgbClr val="00669D"/>
                </a:solidFill>
                <a:latin typeface="Arial"/>
                <a:cs typeface="Arial"/>
              </a:rPr>
              <a:t>f</a:t>
            </a:r>
            <a:r>
              <a:rPr sz="2900" b="1" spc="-5" dirty="0">
                <a:solidFill>
                  <a:srgbClr val="00669D"/>
                </a:solidFill>
                <a:latin typeface="Arial"/>
                <a:cs typeface="Arial"/>
              </a:rPr>
              <a:t> </a:t>
            </a:r>
            <a:r>
              <a:rPr sz="2900" b="1" spc="-10" dirty="0">
                <a:solidFill>
                  <a:srgbClr val="00669D"/>
                </a:solidFill>
                <a:latin typeface="Arial"/>
                <a:cs typeface="Arial"/>
              </a:rPr>
              <a:t>l</a:t>
            </a:r>
            <a:r>
              <a:rPr sz="2900" b="1" dirty="0">
                <a:solidFill>
                  <a:srgbClr val="00669D"/>
                </a:solidFill>
                <a:latin typeface="Arial"/>
                <a:cs typeface="Arial"/>
              </a:rPr>
              <a:t>ar</a:t>
            </a:r>
            <a:r>
              <a:rPr sz="2900" b="1" spc="-25" dirty="0">
                <a:solidFill>
                  <a:srgbClr val="00669D"/>
                </a:solidFill>
                <a:latin typeface="Arial"/>
                <a:cs typeface="Arial"/>
              </a:rPr>
              <a:t>g</a:t>
            </a:r>
            <a:r>
              <a:rPr sz="2900" b="1" dirty="0">
                <a:solidFill>
                  <a:srgbClr val="00669D"/>
                </a:solidFill>
                <a:latin typeface="Arial"/>
                <a:cs typeface="Arial"/>
              </a:rPr>
              <a:t>e</a:t>
            </a:r>
            <a:r>
              <a:rPr sz="2900" b="1" spc="-5" dirty="0">
                <a:solidFill>
                  <a:srgbClr val="00669D"/>
                </a:solidFill>
                <a:latin typeface="Arial"/>
                <a:cs typeface="Arial"/>
              </a:rPr>
              <a:t> </a:t>
            </a:r>
            <a:r>
              <a:rPr sz="2900" b="1" dirty="0">
                <a:solidFill>
                  <a:srgbClr val="00669D"/>
                </a:solidFill>
                <a:latin typeface="Arial"/>
                <a:cs typeface="Arial"/>
              </a:rPr>
              <a:t>Bee</a:t>
            </a:r>
            <a:r>
              <a:rPr sz="2900" b="1" spc="-10" dirty="0">
                <a:solidFill>
                  <a:srgbClr val="00669D"/>
                </a:solidFill>
                <a:latin typeface="Arial"/>
                <a:cs typeface="Arial"/>
              </a:rPr>
              <a:t>tl</a:t>
            </a:r>
            <a:r>
              <a:rPr sz="2900" b="1" dirty="0">
                <a:solidFill>
                  <a:srgbClr val="00669D"/>
                </a:solidFill>
                <a:latin typeface="Arial"/>
                <a:cs typeface="Arial"/>
              </a:rPr>
              <a:t>es:</a:t>
            </a:r>
            <a:r>
              <a:rPr sz="2900" b="1" spc="-5" dirty="0">
                <a:solidFill>
                  <a:srgbClr val="00669D"/>
                </a:solidFill>
                <a:latin typeface="Arial"/>
                <a:cs typeface="Arial"/>
              </a:rPr>
              <a:t> </a:t>
            </a:r>
            <a:r>
              <a:rPr sz="2900" b="1" dirty="0">
                <a:solidFill>
                  <a:srgbClr val="00669D"/>
                </a:solidFill>
                <a:latin typeface="Arial"/>
                <a:cs typeface="Arial"/>
              </a:rPr>
              <a:t>1-x</a:t>
            </a:r>
            <a:endParaRPr sz="2900" dirty="0">
              <a:latin typeface="Arial"/>
              <a:cs typeface="Arial"/>
            </a:endParaRPr>
          </a:p>
          <a:p>
            <a:pPr marL="355600" indent="-342900">
              <a:lnSpc>
                <a:spcPts val="3070"/>
              </a:lnSpc>
              <a:spcBef>
                <a:spcPts val="2475"/>
              </a:spcBef>
              <a:buClr>
                <a:srgbClr val="00669D"/>
              </a:buClr>
              <a:buFont typeface="Arial"/>
              <a:buChar char="•"/>
              <a:tabLst>
                <a:tab pos="355600" algn="l"/>
              </a:tabLst>
            </a:pPr>
            <a:r>
              <a:rPr sz="2900" b="1" spc="-25" dirty="0">
                <a:solidFill>
                  <a:srgbClr val="00669D"/>
                </a:solidFill>
                <a:latin typeface="Arial"/>
                <a:cs typeface="Arial"/>
              </a:rPr>
              <a:t>p</a:t>
            </a:r>
            <a:r>
              <a:rPr sz="2900" b="1" dirty="0">
                <a:solidFill>
                  <a:srgbClr val="00669D"/>
                </a:solidFill>
                <a:latin typeface="Arial"/>
                <a:cs typeface="Arial"/>
              </a:rPr>
              <a:t>ay</a:t>
            </a:r>
            <a:r>
              <a:rPr sz="2900" b="1" spc="-25" dirty="0">
                <a:solidFill>
                  <a:srgbClr val="00669D"/>
                </a:solidFill>
                <a:latin typeface="Arial"/>
                <a:cs typeface="Arial"/>
              </a:rPr>
              <a:t>o</a:t>
            </a:r>
            <a:r>
              <a:rPr sz="2900" b="1" dirty="0">
                <a:solidFill>
                  <a:srgbClr val="00669D"/>
                </a:solidFill>
                <a:latin typeface="Arial"/>
                <a:cs typeface="Arial"/>
              </a:rPr>
              <a:t>ff</a:t>
            </a:r>
            <a:r>
              <a:rPr sz="2900" b="1" spc="-5" dirty="0">
                <a:solidFill>
                  <a:srgbClr val="00669D"/>
                </a:solidFill>
                <a:latin typeface="Arial"/>
                <a:cs typeface="Arial"/>
              </a:rPr>
              <a:t> </a:t>
            </a:r>
            <a:r>
              <a:rPr sz="2900" b="1" spc="-15" dirty="0">
                <a:solidFill>
                  <a:srgbClr val="00669D"/>
                </a:solidFill>
                <a:latin typeface="Arial"/>
                <a:cs typeface="Arial"/>
              </a:rPr>
              <a:t>in</a:t>
            </a:r>
            <a:r>
              <a:rPr sz="2900" b="1" spc="-5" dirty="0">
                <a:solidFill>
                  <a:srgbClr val="00669D"/>
                </a:solidFill>
                <a:latin typeface="Arial"/>
                <a:cs typeface="Arial"/>
              </a:rPr>
              <a:t> </a:t>
            </a:r>
            <a:r>
              <a:rPr sz="2900" b="1" dirty="0">
                <a:solidFill>
                  <a:srgbClr val="00669D"/>
                </a:solidFill>
                <a:latin typeface="Arial"/>
                <a:cs typeface="Arial"/>
              </a:rPr>
              <a:t>a</a:t>
            </a:r>
            <a:r>
              <a:rPr sz="2900" b="1" spc="-5" dirty="0">
                <a:solidFill>
                  <a:srgbClr val="00669D"/>
                </a:solidFill>
                <a:latin typeface="Arial"/>
                <a:cs typeface="Arial"/>
              </a:rPr>
              <a:t> </a:t>
            </a:r>
            <a:r>
              <a:rPr sz="2900" b="1" spc="-25" dirty="0">
                <a:solidFill>
                  <a:srgbClr val="00669D"/>
                </a:solidFill>
                <a:latin typeface="Arial"/>
                <a:cs typeface="Arial"/>
              </a:rPr>
              <a:t>popu</a:t>
            </a:r>
            <a:r>
              <a:rPr sz="2900" b="1" spc="-10" dirty="0">
                <a:solidFill>
                  <a:srgbClr val="00669D"/>
                </a:solidFill>
                <a:latin typeface="Arial"/>
                <a:cs typeface="Arial"/>
              </a:rPr>
              <a:t>l</a:t>
            </a:r>
            <a:r>
              <a:rPr sz="2900" b="1" dirty="0">
                <a:solidFill>
                  <a:srgbClr val="00669D"/>
                </a:solidFill>
                <a:latin typeface="Arial"/>
                <a:cs typeface="Arial"/>
              </a:rPr>
              <a:t>a</a:t>
            </a:r>
            <a:r>
              <a:rPr sz="2900" b="1" spc="-10" dirty="0">
                <a:solidFill>
                  <a:srgbClr val="00669D"/>
                </a:solidFill>
                <a:latin typeface="Arial"/>
                <a:cs typeface="Arial"/>
              </a:rPr>
              <a:t>ti</a:t>
            </a:r>
            <a:r>
              <a:rPr sz="2900" b="1" spc="-25" dirty="0">
                <a:solidFill>
                  <a:srgbClr val="00669D"/>
                </a:solidFill>
                <a:latin typeface="Arial"/>
                <a:cs typeface="Arial"/>
              </a:rPr>
              <a:t>o</a:t>
            </a:r>
            <a:r>
              <a:rPr sz="2900" b="1" spc="-20" dirty="0">
                <a:solidFill>
                  <a:srgbClr val="00669D"/>
                </a:solidFill>
                <a:latin typeface="Arial"/>
                <a:cs typeface="Arial"/>
              </a:rPr>
              <a:t>n</a:t>
            </a:r>
            <a:r>
              <a:rPr sz="2900" b="1" spc="-5" dirty="0">
                <a:solidFill>
                  <a:srgbClr val="00669D"/>
                </a:solidFill>
                <a:latin typeface="Arial"/>
                <a:cs typeface="Arial"/>
              </a:rPr>
              <a:t> </a:t>
            </a:r>
            <a:r>
              <a:rPr sz="2900" b="1" spc="-25" dirty="0">
                <a:solidFill>
                  <a:srgbClr val="00669D"/>
                </a:solidFill>
                <a:latin typeface="Arial"/>
                <a:cs typeface="Arial"/>
              </a:rPr>
              <a:t>wh</a:t>
            </a:r>
            <a:r>
              <a:rPr sz="2900" b="1" dirty="0">
                <a:solidFill>
                  <a:srgbClr val="00669D"/>
                </a:solidFill>
                <a:latin typeface="Arial"/>
                <a:cs typeface="Arial"/>
              </a:rPr>
              <a:t>ere</a:t>
            </a:r>
            <a:endParaRPr sz="2900" dirty="0">
              <a:latin typeface="Arial"/>
              <a:cs typeface="Arial"/>
            </a:endParaRPr>
          </a:p>
          <a:p>
            <a:pPr marL="494665" indent="-139065">
              <a:lnSpc>
                <a:spcPts val="3070"/>
              </a:lnSpc>
            </a:pPr>
            <a:r>
              <a:rPr sz="2900" b="1" spc="-25" dirty="0">
                <a:solidFill>
                  <a:srgbClr val="861001"/>
                </a:solidFill>
                <a:latin typeface="Arial"/>
                <a:cs typeface="Arial"/>
              </a:rPr>
              <a:t>L</a:t>
            </a:r>
            <a:r>
              <a:rPr sz="2900" b="1" dirty="0">
                <a:solidFill>
                  <a:srgbClr val="861001"/>
                </a:solidFill>
                <a:latin typeface="Arial"/>
                <a:cs typeface="Arial"/>
              </a:rPr>
              <a:t>ar</a:t>
            </a:r>
            <a:r>
              <a:rPr sz="2900" b="1" spc="-25" dirty="0">
                <a:solidFill>
                  <a:srgbClr val="861001"/>
                </a:solidFill>
                <a:latin typeface="Arial"/>
                <a:cs typeface="Arial"/>
              </a:rPr>
              <a:t>g</a:t>
            </a:r>
            <a:r>
              <a:rPr sz="2900" b="1" dirty="0">
                <a:solidFill>
                  <a:srgbClr val="861001"/>
                </a:solidFill>
                <a:latin typeface="Arial"/>
                <a:cs typeface="Arial"/>
              </a:rPr>
              <a:t>e</a:t>
            </a:r>
            <a:r>
              <a:rPr sz="2900" b="1" spc="-5" dirty="0">
                <a:solidFill>
                  <a:srgbClr val="861001"/>
                </a:solidFill>
                <a:latin typeface="Arial"/>
                <a:cs typeface="Arial"/>
              </a:rPr>
              <a:t> </a:t>
            </a:r>
            <a:r>
              <a:rPr sz="2900" b="1" spc="-10" dirty="0">
                <a:solidFill>
                  <a:srgbClr val="861001"/>
                </a:solidFill>
                <a:latin typeface="Arial"/>
                <a:cs typeface="Arial"/>
              </a:rPr>
              <a:t>i</a:t>
            </a:r>
            <a:r>
              <a:rPr sz="2900" b="1" dirty="0">
                <a:solidFill>
                  <a:srgbClr val="861001"/>
                </a:solidFill>
                <a:latin typeface="Arial"/>
                <a:cs typeface="Arial"/>
              </a:rPr>
              <a:t>s</a:t>
            </a:r>
            <a:r>
              <a:rPr sz="2900" b="1" spc="-5" dirty="0">
                <a:solidFill>
                  <a:srgbClr val="861001"/>
                </a:solidFill>
                <a:latin typeface="Arial"/>
                <a:cs typeface="Arial"/>
              </a:rPr>
              <a:t> </a:t>
            </a:r>
            <a:r>
              <a:rPr sz="2900" b="1" spc="-10" dirty="0">
                <a:solidFill>
                  <a:srgbClr val="861001"/>
                </a:solidFill>
                <a:latin typeface="Arial"/>
                <a:cs typeface="Arial"/>
              </a:rPr>
              <a:t>t</a:t>
            </a:r>
            <a:r>
              <a:rPr sz="2900" b="1" spc="-25" dirty="0">
                <a:solidFill>
                  <a:srgbClr val="861001"/>
                </a:solidFill>
                <a:latin typeface="Arial"/>
                <a:cs typeface="Arial"/>
              </a:rPr>
              <a:t>h</a:t>
            </a:r>
            <a:r>
              <a:rPr sz="2900" b="1" dirty="0">
                <a:solidFill>
                  <a:srgbClr val="861001"/>
                </a:solidFill>
                <a:latin typeface="Arial"/>
                <a:cs typeface="Arial"/>
              </a:rPr>
              <a:t>e</a:t>
            </a:r>
            <a:r>
              <a:rPr sz="2900" b="1" spc="-5" dirty="0">
                <a:solidFill>
                  <a:srgbClr val="861001"/>
                </a:solidFill>
                <a:latin typeface="Arial"/>
                <a:cs typeface="Arial"/>
              </a:rPr>
              <a:t> </a:t>
            </a:r>
            <a:r>
              <a:rPr sz="2900" b="1" dirty="0">
                <a:solidFill>
                  <a:srgbClr val="861001"/>
                </a:solidFill>
                <a:latin typeface="Arial"/>
                <a:cs typeface="Arial"/>
              </a:rPr>
              <a:t>ma</a:t>
            </a:r>
            <a:r>
              <a:rPr sz="2900" b="1" spc="-10" dirty="0">
                <a:solidFill>
                  <a:srgbClr val="861001"/>
                </a:solidFill>
                <a:latin typeface="Arial"/>
                <a:cs typeface="Arial"/>
              </a:rPr>
              <a:t>j</a:t>
            </a:r>
            <a:r>
              <a:rPr sz="2900" b="1" spc="-25" dirty="0">
                <a:solidFill>
                  <a:srgbClr val="861001"/>
                </a:solidFill>
                <a:latin typeface="Arial"/>
                <a:cs typeface="Arial"/>
              </a:rPr>
              <a:t>o</a:t>
            </a:r>
            <a:r>
              <a:rPr sz="2900" b="1" dirty="0">
                <a:solidFill>
                  <a:srgbClr val="861001"/>
                </a:solidFill>
                <a:latin typeface="Arial"/>
                <a:cs typeface="Arial"/>
              </a:rPr>
              <a:t>r</a:t>
            </a:r>
            <a:r>
              <a:rPr sz="2900" b="1" spc="-10" dirty="0">
                <a:solidFill>
                  <a:srgbClr val="861001"/>
                </a:solidFill>
                <a:latin typeface="Arial"/>
                <a:cs typeface="Arial"/>
              </a:rPr>
              <a:t>i</a:t>
            </a:r>
            <a:r>
              <a:rPr sz="2900" b="1" dirty="0">
                <a:solidFill>
                  <a:srgbClr val="861001"/>
                </a:solidFill>
                <a:latin typeface="Arial"/>
                <a:cs typeface="Arial"/>
              </a:rPr>
              <a:t>ty</a:t>
            </a:r>
            <a:r>
              <a:rPr sz="2900" b="1" spc="-5" dirty="0">
                <a:solidFill>
                  <a:srgbClr val="861001"/>
                </a:solidFill>
                <a:latin typeface="Arial"/>
                <a:cs typeface="Arial"/>
              </a:rPr>
              <a:t> </a:t>
            </a:r>
            <a:r>
              <a:rPr sz="2900" b="1" dirty="0">
                <a:solidFill>
                  <a:srgbClr val="00669D"/>
                </a:solidFill>
                <a:latin typeface="Arial"/>
                <a:cs typeface="Arial"/>
              </a:rPr>
              <a:t>(x</a:t>
            </a:r>
            <a:r>
              <a:rPr sz="2900" b="1" spc="-5" dirty="0">
                <a:solidFill>
                  <a:srgbClr val="00669D"/>
                </a:solidFill>
                <a:latin typeface="Arial"/>
                <a:cs typeface="Arial"/>
              </a:rPr>
              <a:t> </a:t>
            </a:r>
            <a:r>
              <a:rPr sz="2900" b="1" spc="-10" dirty="0">
                <a:solidFill>
                  <a:srgbClr val="00669D"/>
                </a:solidFill>
                <a:latin typeface="Arial"/>
                <a:cs typeface="Arial"/>
              </a:rPr>
              <a:t>i</a:t>
            </a:r>
            <a:r>
              <a:rPr sz="2900" b="1" dirty="0">
                <a:solidFill>
                  <a:srgbClr val="00669D"/>
                </a:solidFill>
                <a:latin typeface="Arial"/>
                <a:cs typeface="Arial"/>
              </a:rPr>
              <a:t>s</a:t>
            </a:r>
            <a:r>
              <a:rPr sz="2900" b="1" spc="-5" dirty="0">
                <a:solidFill>
                  <a:srgbClr val="00669D"/>
                </a:solidFill>
                <a:latin typeface="Arial"/>
                <a:cs typeface="Arial"/>
              </a:rPr>
              <a:t> </a:t>
            </a:r>
            <a:r>
              <a:rPr sz="2900" b="1" dirty="0">
                <a:solidFill>
                  <a:srgbClr val="00669D"/>
                </a:solidFill>
                <a:latin typeface="Arial"/>
                <a:cs typeface="Arial"/>
              </a:rPr>
              <a:t>c</a:t>
            </a:r>
            <a:r>
              <a:rPr sz="2900" b="1" spc="-10" dirty="0">
                <a:solidFill>
                  <a:srgbClr val="00669D"/>
                </a:solidFill>
                <a:latin typeface="Arial"/>
                <a:cs typeface="Arial"/>
              </a:rPr>
              <a:t>l</a:t>
            </a:r>
            <a:r>
              <a:rPr sz="2900" b="1" spc="-25" dirty="0">
                <a:solidFill>
                  <a:srgbClr val="00669D"/>
                </a:solidFill>
                <a:latin typeface="Arial"/>
                <a:cs typeface="Arial"/>
              </a:rPr>
              <a:t>o</a:t>
            </a:r>
            <a:r>
              <a:rPr sz="2900" b="1" dirty="0">
                <a:solidFill>
                  <a:srgbClr val="00669D"/>
                </a:solidFill>
                <a:latin typeface="Arial"/>
                <a:cs typeface="Arial"/>
              </a:rPr>
              <a:t>se</a:t>
            </a:r>
            <a:r>
              <a:rPr sz="2900" b="1" spc="-5" dirty="0">
                <a:solidFill>
                  <a:srgbClr val="00669D"/>
                </a:solidFill>
                <a:latin typeface="Arial"/>
                <a:cs typeface="Arial"/>
              </a:rPr>
              <a:t> </a:t>
            </a:r>
            <a:r>
              <a:rPr sz="2900" b="1" spc="-15" dirty="0">
                <a:solidFill>
                  <a:srgbClr val="00669D"/>
                </a:solidFill>
                <a:latin typeface="Arial"/>
                <a:cs typeface="Arial"/>
              </a:rPr>
              <a:t>to</a:t>
            </a:r>
            <a:r>
              <a:rPr sz="2900" b="1" spc="-5" dirty="0">
                <a:solidFill>
                  <a:srgbClr val="00669D"/>
                </a:solidFill>
                <a:latin typeface="Arial"/>
                <a:cs typeface="Arial"/>
              </a:rPr>
              <a:t> </a:t>
            </a:r>
            <a:r>
              <a:rPr sz="2900" b="1" dirty="0">
                <a:solidFill>
                  <a:srgbClr val="00669D"/>
                </a:solidFill>
                <a:latin typeface="Arial"/>
                <a:cs typeface="Arial"/>
              </a:rPr>
              <a:t>0)</a:t>
            </a:r>
            <a:endParaRPr sz="2900" dirty="0">
              <a:latin typeface="Arial"/>
              <a:cs typeface="Arial"/>
            </a:endParaRPr>
          </a:p>
          <a:p>
            <a:pPr>
              <a:lnSpc>
                <a:spcPct val="100000"/>
              </a:lnSpc>
              <a:spcBef>
                <a:spcPts val="13"/>
              </a:spcBef>
            </a:pPr>
            <a:endParaRPr sz="3400" dirty="0">
              <a:latin typeface="Times New Roman"/>
              <a:cs typeface="Times New Roman"/>
            </a:endParaRPr>
          </a:p>
          <a:p>
            <a:pPr marL="494665" marR="5080">
              <a:lnSpc>
                <a:spcPts val="3200"/>
              </a:lnSpc>
            </a:pPr>
            <a:r>
              <a:rPr sz="2800" b="1" spc="-25" dirty="0">
                <a:solidFill>
                  <a:srgbClr val="00669D"/>
                </a:solidFill>
                <a:latin typeface="Arial"/>
                <a:cs typeface="Arial"/>
              </a:rPr>
              <a:t>L</a:t>
            </a:r>
            <a:r>
              <a:rPr sz="2800" b="1" dirty="0">
                <a:solidFill>
                  <a:srgbClr val="00669D"/>
                </a:solidFill>
                <a:latin typeface="Arial"/>
                <a:cs typeface="Arial"/>
              </a:rPr>
              <a:t>ar</a:t>
            </a:r>
            <a:r>
              <a:rPr sz="2800" b="1" spc="-25" dirty="0">
                <a:solidFill>
                  <a:srgbClr val="00669D"/>
                </a:solidFill>
                <a:latin typeface="Arial"/>
                <a:cs typeface="Arial"/>
              </a:rPr>
              <a:t>g</a:t>
            </a:r>
            <a:r>
              <a:rPr sz="2800" b="1" dirty="0">
                <a:solidFill>
                  <a:srgbClr val="00669D"/>
                </a:solidFill>
                <a:latin typeface="Arial"/>
                <a:cs typeface="Arial"/>
              </a:rPr>
              <a:t>e</a:t>
            </a:r>
            <a:r>
              <a:rPr sz="2800" b="1" spc="-5" dirty="0">
                <a:solidFill>
                  <a:srgbClr val="00669D"/>
                </a:solidFill>
                <a:latin typeface="Arial"/>
                <a:cs typeface="Arial"/>
              </a:rPr>
              <a:t> </a:t>
            </a:r>
            <a:r>
              <a:rPr sz="2800" b="1" dirty="0">
                <a:solidFill>
                  <a:srgbClr val="00669D"/>
                </a:solidFill>
                <a:latin typeface="Arial"/>
                <a:cs typeface="Arial"/>
              </a:rPr>
              <a:t>Bee</a:t>
            </a:r>
            <a:r>
              <a:rPr sz="2800" b="1" spc="-10" dirty="0">
                <a:solidFill>
                  <a:srgbClr val="00669D"/>
                </a:solidFill>
                <a:latin typeface="Arial"/>
                <a:cs typeface="Arial"/>
              </a:rPr>
              <a:t>tl</a:t>
            </a:r>
            <a:r>
              <a:rPr sz="2800" b="1" dirty="0">
                <a:solidFill>
                  <a:srgbClr val="00669D"/>
                </a:solidFill>
                <a:latin typeface="Arial"/>
                <a:cs typeface="Arial"/>
              </a:rPr>
              <a:t>e:</a:t>
            </a:r>
            <a:r>
              <a:rPr sz="2800" b="1" spc="-5" dirty="0">
                <a:solidFill>
                  <a:srgbClr val="00669D"/>
                </a:solidFill>
                <a:latin typeface="Arial"/>
                <a:cs typeface="Arial"/>
              </a:rPr>
              <a:t> </a:t>
            </a:r>
            <a:r>
              <a:rPr sz="2800" b="1" dirty="0">
                <a:solidFill>
                  <a:srgbClr val="00669D"/>
                </a:solidFill>
                <a:latin typeface="Arial"/>
                <a:cs typeface="Arial"/>
              </a:rPr>
              <a:t>8</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3</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3</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5x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3 Sma</a:t>
            </a:r>
            <a:r>
              <a:rPr sz="2800" b="1" spc="-10" dirty="0">
                <a:solidFill>
                  <a:srgbClr val="00669D"/>
                </a:solidFill>
                <a:latin typeface="Arial"/>
                <a:cs typeface="Arial"/>
              </a:rPr>
              <a:t>ll</a:t>
            </a:r>
            <a:r>
              <a:rPr sz="2800" b="1" spc="-5" dirty="0">
                <a:solidFill>
                  <a:srgbClr val="00669D"/>
                </a:solidFill>
                <a:latin typeface="Arial"/>
                <a:cs typeface="Arial"/>
              </a:rPr>
              <a:t> </a:t>
            </a:r>
            <a:r>
              <a:rPr sz="2800" b="1" dirty="0">
                <a:solidFill>
                  <a:srgbClr val="00669D"/>
                </a:solidFill>
                <a:latin typeface="Arial"/>
                <a:cs typeface="Arial"/>
              </a:rPr>
              <a:t>Bee</a:t>
            </a:r>
            <a:r>
              <a:rPr sz="2800" b="1" spc="-10" dirty="0">
                <a:solidFill>
                  <a:srgbClr val="00669D"/>
                </a:solidFill>
                <a:latin typeface="Arial"/>
                <a:cs typeface="Arial"/>
              </a:rPr>
              <a:t>tl</a:t>
            </a:r>
            <a:r>
              <a:rPr sz="2800" b="1" dirty="0">
                <a:solidFill>
                  <a:srgbClr val="00669D"/>
                </a:solidFill>
                <a:latin typeface="Arial"/>
                <a:cs typeface="Arial"/>
              </a:rPr>
              <a:t>e:</a:t>
            </a:r>
            <a:r>
              <a:rPr sz="2800" b="1" spc="-5" dirty="0">
                <a:solidFill>
                  <a:srgbClr val="00669D"/>
                </a:solidFill>
                <a:latin typeface="Arial"/>
                <a:cs typeface="Arial"/>
              </a:rPr>
              <a:t> </a:t>
            </a:r>
            <a:r>
              <a:rPr sz="2800" b="1" dirty="0">
                <a:solidFill>
                  <a:srgbClr val="00669D"/>
                </a:solidFill>
                <a:latin typeface="Arial"/>
                <a:cs typeface="Arial"/>
              </a:rPr>
              <a:t>5</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4x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a:t>
            </a:r>
            <a:endParaRPr sz="2800" dirty="0">
              <a:latin typeface="Arial"/>
              <a:cs typeface="Arial"/>
            </a:endParaRPr>
          </a:p>
          <a:p>
            <a:pPr>
              <a:lnSpc>
                <a:spcPct val="100000"/>
              </a:lnSpc>
              <a:spcBef>
                <a:spcPts val="17"/>
              </a:spcBef>
            </a:pPr>
            <a:endParaRPr sz="3150" dirty="0">
              <a:latin typeface="Times New Roman"/>
              <a:cs typeface="Times New Roman"/>
            </a:endParaRPr>
          </a:p>
          <a:p>
            <a:pPr marL="494665" lvl="1" indent="-342900">
              <a:lnSpc>
                <a:spcPct val="100000"/>
              </a:lnSpc>
              <a:buClr>
                <a:srgbClr val="861001"/>
              </a:buClr>
              <a:buFont typeface="Arial"/>
              <a:buChar char="•"/>
              <a:tabLst>
                <a:tab pos="494665" algn="l"/>
              </a:tabLst>
            </a:pPr>
            <a:r>
              <a:rPr sz="2800" b="1" spc="-25" dirty="0">
                <a:solidFill>
                  <a:srgbClr val="861001"/>
                </a:solidFill>
                <a:latin typeface="Arial"/>
                <a:cs typeface="Arial"/>
              </a:rPr>
              <a:t>L</a:t>
            </a:r>
            <a:r>
              <a:rPr sz="2800" b="1" dirty="0">
                <a:solidFill>
                  <a:srgbClr val="861001"/>
                </a:solidFill>
                <a:latin typeface="Arial"/>
                <a:cs typeface="Arial"/>
              </a:rPr>
              <a:t>ar</a:t>
            </a:r>
            <a:r>
              <a:rPr sz="2800" b="1" spc="-25" dirty="0">
                <a:solidFill>
                  <a:srgbClr val="861001"/>
                </a:solidFill>
                <a:latin typeface="Arial"/>
                <a:cs typeface="Arial"/>
              </a:rPr>
              <a:t>g</a:t>
            </a:r>
            <a:r>
              <a:rPr sz="2800" b="1" dirty="0">
                <a:solidFill>
                  <a:srgbClr val="861001"/>
                </a:solidFill>
                <a:latin typeface="Arial"/>
                <a:cs typeface="Arial"/>
              </a:rPr>
              <a:t>e</a:t>
            </a:r>
            <a:r>
              <a:rPr sz="2800" b="1" spc="-5" dirty="0">
                <a:solidFill>
                  <a:srgbClr val="861001"/>
                </a:solidFill>
                <a:latin typeface="Arial"/>
                <a:cs typeface="Arial"/>
              </a:rPr>
              <a:t> </a:t>
            </a:r>
            <a:r>
              <a:rPr sz="2800" b="1" spc="-10" dirty="0">
                <a:solidFill>
                  <a:srgbClr val="861001"/>
                </a:solidFill>
                <a:latin typeface="Arial"/>
                <a:cs typeface="Arial"/>
              </a:rPr>
              <a:t>i</a:t>
            </a:r>
            <a:r>
              <a:rPr sz="2800" b="1" dirty="0">
                <a:solidFill>
                  <a:srgbClr val="861001"/>
                </a:solidFill>
                <a:latin typeface="Arial"/>
                <a:cs typeface="Arial"/>
              </a:rPr>
              <a:t>s</a:t>
            </a:r>
            <a:r>
              <a:rPr sz="2800" b="1" spc="-5" dirty="0">
                <a:solidFill>
                  <a:srgbClr val="861001"/>
                </a:solidFill>
                <a:latin typeface="Arial"/>
                <a:cs typeface="Arial"/>
              </a:rPr>
              <a:t> </a:t>
            </a:r>
            <a:r>
              <a:rPr sz="2800" b="1" dirty="0">
                <a:solidFill>
                  <a:srgbClr val="861001"/>
                </a:solidFill>
                <a:latin typeface="Arial"/>
                <a:cs typeface="Arial"/>
              </a:rPr>
              <a:t>ev</a:t>
            </a:r>
            <a:r>
              <a:rPr sz="2800" b="1" spc="-25" dirty="0">
                <a:solidFill>
                  <a:srgbClr val="861001"/>
                </a:solidFill>
                <a:latin typeface="Arial"/>
                <a:cs typeface="Arial"/>
              </a:rPr>
              <a:t>o</a:t>
            </a:r>
            <a:r>
              <a:rPr sz="2800" b="1" spc="-10" dirty="0">
                <a:solidFill>
                  <a:srgbClr val="861001"/>
                </a:solidFill>
                <a:latin typeface="Arial"/>
                <a:cs typeface="Arial"/>
              </a:rPr>
              <a:t>l</a:t>
            </a:r>
            <a:r>
              <a:rPr sz="2800" b="1" spc="-25" dirty="0">
                <a:solidFill>
                  <a:srgbClr val="861001"/>
                </a:solidFill>
                <a:latin typeface="Arial"/>
                <a:cs typeface="Arial"/>
              </a:rPr>
              <a:t>u</a:t>
            </a:r>
            <a:r>
              <a:rPr sz="2800" b="1" spc="-10" dirty="0">
                <a:solidFill>
                  <a:srgbClr val="861001"/>
                </a:solidFill>
                <a:latin typeface="Arial"/>
                <a:cs typeface="Arial"/>
              </a:rPr>
              <a:t>ti</a:t>
            </a:r>
            <a:r>
              <a:rPr sz="2800" b="1" spc="-25" dirty="0">
                <a:solidFill>
                  <a:srgbClr val="861001"/>
                </a:solidFill>
                <a:latin typeface="Arial"/>
                <a:cs typeface="Arial"/>
              </a:rPr>
              <a:t>on</a:t>
            </a:r>
            <a:r>
              <a:rPr sz="2800" b="1" dirty="0">
                <a:solidFill>
                  <a:srgbClr val="861001"/>
                </a:solidFill>
                <a:latin typeface="Arial"/>
                <a:cs typeface="Arial"/>
              </a:rPr>
              <a:t>ary</a:t>
            </a:r>
            <a:r>
              <a:rPr sz="2800" b="1" spc="-5" dirty="0">
                <a:solidFill>
                  <a:srgbClr val="861001"/>
                </a:solidFill>
                <a:latin typeface="Arial"/>
                <a:cs typeface="Arial"/>
              </a:rPr>
              <a:t> </a:t>
            </a:r>
            <a:r>
              <a:rPr sz="2800" b="1" dirty="0">
                <a:solidFill>
                  <a:srgbClr val="861001"/>
                </a:solidFill>
                <a:latin typeface="Arial"/>
                <a:cs typeface="Arial"/>
              </a:rPr>
              <a:t>sta</a:t>
            </a:r>
            <a:r>
              <a:rPr sz="2800" b="1" spc="-25" dirty="0">
                <a:solidFill>
                  <a:srgbClr val="861001"/>
                </a:solidFill>
                <a:latin typeface="Arial"/>
                <a:cs typeface="Arial"/>
              </a:rPr>
              <a:t>b</a:t>
            </a:r>
            <a:r>
              <a:rPr sz="2800" b="1" spc="-10" dirty="0">
                <a:solidFill>
                  <a:srgbClr val="861001"/>
                </a:solidFill>
                <a:latin typeface="Arial"/>
                <a:cs typeface="Arial"/>
              </a:rPr>
              <a:t>l</a:t>
            </a:r>
            <a:r>
              <a:rPr sz="2800" b="1" dirty="0">
                <a:solidFill>
                  <a:srgbClr val="861001"/>
                </a:solidFill>
                <a:latin typeface="Arial"/>
                <a:cs typeface="Arial"/>
              </a:rPr>
              <a:t>e</a:t>
            </a:r>
            <a:endParaRPr sz="2800" dirty="0">
              <a:latin typeface="Arial"/>
              <a:cs typeface="Arial"/>
            </a:endParaRPr>
          </a:p>
        </p:txBody>
      </p:sp>
      <p:sp>
        <p:nvSpPr>
          <p:cNvPr id="6" name="object 6"/>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Body</a:t>
            </a:r>
            <a:r>
              <a:rPr spc="-5" dirty="0"/>
              <a:t> </a:t>
            </a:r>
            <a:r>
              <a:rPr dirty="0"/>
              <a:t>Size</a:t>
            </a:r>
            <a:r>
              <a:rPr spc="-5" dirty="0"/>
              <a:t> </a:t>
            </a:r>
            <a:r>
              <a:rPr spc="-30" dirty="0"/>
              <a:t>G</a:t>
            </a:r>
            <a:r>
              <a:rPr dirty="0"/>
              <a:t>ame</a:t>
            </a:r>
            <a:r>
              <a:rPr spc="-10" dirty="0"/>
              <a:t>:</a:t>
            </a:r>
            <a:r>
              <a:rPr spc="-5" dirty="0"/>
              <a:t> </a:t>
            </a:r>
            <a:r>
              <a:rPr spc="-15" dirty="0"/>
              <a:t>I</a:t>
            </a:r>
            <a:r>
              <a:rPr dirty="0"/>
              <a:t>nvasion</a:t>
            </a:r>
            <a:r>
              <a:rPr spc="-5" dirty="0"/>
              <a:t> </a:t>
            </a:r>
            <a:r>
              <a:rPr dirty="0"/>
              <a:t>o</a:t>
            </a:r>
            <a:r>
              <a:rPr spc="-10" dirty="0"/>
              <a:t>f</a:t>
            </a:r>
            <a:r>
              <a:rPr spc="-5" dirty="0"/>
              <a:t> </a:t>
            </a:r>
            <a:r>
              <a:rPr dirty="0"/>
              <a:t>a</a:t>
            </a:r>
            <a:r>
              <a:rPr spc="-5" dirty="0"/>
              <a:t> </a:t>
            </a:r>
            <a:r>
              <a:rPr dirty="0"/>
              <a:t>small</a:t>
            </a:r>
            <a:r>
              <a:rPr spc="-5" dirty="0"/>
              <a:t> </a:t>
            </a:r>
            <a:r>
              <a:rPr dirty="0"/>
              <a:t>mu</a:t>
            </a:r>
            <a:r>
              <a:rPr spc="-15" dirty="0"/>
              <a:t>t</a:t>
            </a:r>
            <a:r>
              <a:rPr dirty="0"/>
              <a:t>an</a:t>
            </a:r>
            <a:r>
              <a:rPr spc="-10" dirty="0"/>
              <a:t>t</a:t>
            </a:r>
          </a:p>
        </p:txBody>
      </p:sp>
      <p:sp>
        <p:nvSpPr>
          <p:cNvPr id="3" name="Rectangle 2">
            <a:extLst>
              <a:ext uri="{FF2B5EF4-FFF2-40B4-BE49-F238E27FC236}">
                <a16:creationId xmlns:a16="http://schemas.microsoft.com/office/drawing/2014/main" id="{0A5DD814-5C87-BD73-24C8-1C01D75131B7}"/>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CE8210A8-2303-2BE5-284E-1EFAD114537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FDE1CEFC-B052-3ED8-C743-09F7DE4C4B74}"/>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31</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E3CDCA1A-874F-83AB-2C25-4EF6D333DC98}"/>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0423A99C-79E6-28EE-277D-193FEAFF31A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492125" y="1416659"/>
            <a:ext cx="5485765" cy="812800"/>
          </a:xfrm>
          <a:prstGeom prst="rect">
            <a:avLst/>
          </a:prstGeom>
        </p:spPr>
        <p:txBody>
          <a:bodyPr vert="horz" wrap="square" lIns="0" tIns="0" rIns="0" bIns="0" rtlCol="0">
            <a:spAutoFit/>
          </a:bodyPr>
          <a:lstStyle/>
          <a:p>
            <a:pPr marL="355600" indent="-342900">
              <a:lnSpc>
                <a:spcPts val="3390"/>
              </a:lnSpc>
              <a:buClr>
                <a:srgbClr val="00669D"/>
              </a:buClr>
              <a:buFont typeface="Arial"/>
              <a:buChar char="•"/>
              <a:tabLst>
                <a:tab pos="355600" algn="l"/>
              </a:tabLst>
            </a:pPr>
            <a:r>
              <a:rPr sz="2900" b="1" spc="-25" dirty="0">
                <a:solidFill>
                  <a:srgbClr val="00669D"/>
                </a:solidFill>
                <a:latin typeface="Arial"/>
                <a:cs typeface="Arial"/>
              </a:rPr>
              <a:t>F</a:t>
            </a:r>
            <a:r>
              <a:rPr sz="2900" b="1" dirty="0">
                <a:solidFill>
                  <a:srgbClr val="00669D"/>
                </a:solidFill>
                <a:latin typeface="Arial"/>
                <a:cs typeface="Arial"/>
              </a:rPr>
              <a:t>rac</a:t>
            </a:r>
            <a:r>
              <a:rPr sz="2900" b="1" spc="-10" dirty="0">
                <a:solidFill>
                  <a:srgbClr val="00669D"/>
                </a:solidFill>
                <a:latin typeface="Arial"/>
                <a:cs typeface="Arial"/>
              </a:rPr>
              <a:t>ti</a:t>
            </a:r>
            <a:r>
              <a:rPr sz="2900" b="1" spc="-25" dirty="0">
                <a:solidFill>
                  <a:srgbClr val="00669D"/>
                </a:solidFill>
                <a:latin typeface="Arial"/>
                <a:cs typeface="Arial"/>
              </a:rPr>
              <a:t>o</a:t>
            </a:r>
            <a:r>
              <a:rPr sz="2900" b="1" spc="-20" dirty="0">
                <a:solidFill>
                  <a:srgbClr val="00669D"/>
                </a:solidFill>
                <a:latin typeface="Arial"/>
                <a:cs typeface="Arial"/>
              </a:rPr>
              <a:t>n</a:t>
            </a:r>
            <a:r>
              <a:rPr sz="2900" b="1" spc="-5" dirty="0">
                <a:solidFill>
                  <a:srgbClr val="00669D"/>
                </a:solidFill>
                <a:latin typeface="Arial"/>
                <a:cs typeface="Arial"/>
              </a:rPr>
              <a:t> </a:t>
            </a:r>
            <a:r>
              <a:rPr sz="2900" b="1" spc="-25" dirty="0">
                <a:solidFill>
                  <a:srgbClr val="00669D"/>
                </a:solidFill>
                <a:latin typeface="Arial"/>
                <a:cs typeface="Arial"/>
              </a:rPr>
              <a:t>o</a:t>
            </a:r>
            <a:r>
              <a:rPr sz="2900" b="1" dirty="0">
                <a:solidFill>
                  <a:srgbClr val="00669D"/>
                </a:solidFill>
                <a:latin typeface="Arial"/>
                <a:cs typeface="Arial"/>
              </a:rPr>
              <a:t>f</a:t>
            </a:r>
            <a:r>
              <a:rPr sz="2900" b="1" spc="-5" dirty="0">
                <a:solidFill>
                  <a:srgbClr val="00669D"/>
                </a:solidFill>
                <a:latin typeface="Arial"/>
                <a:cs typeface="Arial"/>
              </a:rPr>
              <a:t> </a:t>
            </a:r>
            <a:r>
              <a:rPr sz="2900" b="1" spc="-10" dirty="0">
                <a:solidFill>
                  <a:srgbClr val="00669D"/>
                </a:solidFill>
                <a:latin typeface="Arial"/>
                <a:cs typeface="Arial"/>
              </a:rPr>
              <a:t>l</a:t>
            </a:r>
            <a:r>
              <a:rPr sz="2900" b="1" dirty="0">
                <a:solidFill>
                  <a:srgbClr val="00669D"/>
                </a:solidFill>
                <a:latin typeface="Arial"/>
                <a:cs typeface="Arial"/>
              </a:rPr>
              <a:t>ar</a:t>
            </a:r>
            <a:r>
              <a:rPr sz="2900" b="1" spc="-25" dirty="0">
                <a:solidFill>
                  <a:srgbClr val="00669D"/>
                </a:solidFill>
                <a:latin typeface="Arial"/>
                <a:cs typeface="Arial"/>
              </a:rPr>
              <a:t>g</a:t>
            </a:r>
            <a:r>
              <a:rPr sz="2900" b="1" dirty="0">
                <a:solidFill>
                  <a:srgbClr val="00669D"/>
                </a:solidFill>
                <a:latin typeface="Arial"/>
                <a:cs typeface="Arial"/>
              </a:rPr>
              <a:t>e</a:t>
            </a:r>
            <a:r>
              <a:rPr sz="2900" b="1" spc="-5" dirty="0">
                <a:solidFill>
                  <a:srgbClr val="00669D"/>
                </a:solidFill>
                <a:latin typeface="Arial"/>
                <a:cs typeface="Arial"/>
              </a:rPr>
              <a:t> </a:t>
            </a:r>
            <a:r>
              <a:rPr sz="2900" b="1" dirty="0">
                <a:solidFill>
                  <a:srgbClr val="00669D"/>
                </a:solidFill>
                <a:latin typeface="Arial"/>
                <a:cs typeface="Arial"/>
              </a:rPr>
              <a:t>Bee</a:t>
            </a:r>
            <a:r>
              <a:rPr sz="2900" b="1" spc="-10" dirty="0">
                <a:solidFill>
                  <a:srgbClr val="00669D"/>
                </a:solidFill>
                <a:latin typeface="Arial"/>
                <a:cs typeface="Arial"/>
              </a:rPr>
              <a:t>tl</a:t>
            </a:r>
            <a:r>
              <a:rPr sz="2900" b="1" dirty="0">
                <a:solidFill>
                  <a:srgbClr val="00669D"/>
                </a:solidFill>
                <a:latin typeface="Arial"/>
                <a:cs typeface="Arial"/>
              </a:rPr>
              <a:t>es:</a:t>
            </a:r>
            <a:r>
              <a:rPr sz="2900" b="1" spc="-5" dirty="0">
                <a:solidFill>
                  <a:srgbClr val="00669D"/>
                </a:solidFill>
                <a:latin typeface="Arial"/>
                <a:cs typeface="Arial"/>
              </a:rPr>
              <a:t> </a:t>
            </a:r>
            <a:r>
              <a:rPr sz="2900" b="1" dirty="0">
                <a:solidFill>
                  <a:srgbClr val="00669D"/>
                </a:solidFill>
                <a:latin typeface="Arial"/>
                <a:cs typeface="Arial"/>
              </a:rPr>
              <a:t>x</a:t>
            </a:r>
            <a:endParaRPr sz="2900" dirty="0">
              <a:latin typeface="Arial"/>
              <a:cs typeface="Arial"/>
            </a:endParaRPr>
          </a:p>
          <a:p>
            <a:pPr marL="355600" indent="-342900">
              <a:lnSpc>
                <a:spcPts val="3390"/>
              </a:lnSpc>
              <a:buClr>
                <a:srgbClr val="00669D"/>
              </a:buClr>
              <a:buFont typeface="Arial"/>
              <a:buChar char="•"/>
              <a:tabLst>
                <a:tab pos="355600" algn="l"/>
              </a:tabLst>
            </a:pPr>
            <a:r>
              <a:rPr sz="2900" b="1" spc="-25" dirty="0">
                <a:solidFill>
                  <a:srgbClr val="00669D"/>
                </a:solidFill>
                <a:latin typeface="Arial"/>
                <a:cs typeface="Arial"/>
              </a:rPr>
              <a:t>F</a:t>
            </a:r>
            <a:r>
              <a:rPr sz="2900" b="1" dirty="0">
                <a:solidFill>
                  <a:srgbClr val="00669D"/>
                </a:solidFill>
                <a:latin typeface="Arial"/>
                <a:cs typeface="Arial"/>
              </a:rPr>
              <a:t>rac</a:t>
            </a:r>
            <a:r>
              <a:rPr sz="2900" b="1" spc="-10" dirty="0">
                <a:solidFill>
                  <a:srgbClr val="00669D"/>
                </a:solidFill>
                <a:latin typeface="Arial"/>
                <a:cs typeface="Arial"/>
              </a:rPr>
              <a:t>ti</a:t>
            </a:r>
            <a:r>
              <a:rPr sz="2900" b="1" spc="-25" dirty="0">
                <a:solidFill>
                  <a:srgbClr val="00669D"/>
                </a:solidFill>
                <a:latin typeface="Arial"/>
                <a:cs typeface="Arial"/>
              </a:rPr>
              <a:t>o</a:t>
            </a:r>
            <a:r>
              <a:rPr sz="2900" b="1" spc="-20" dirty="0">
                <a:solidFill>
                  <a:srgbClr val="00669D"/>
                </a:solidFill>
                <a:latin typeface="Arial"/>
                <a:cs typeface="Arial"/>
              </a:rPr>
              <a:t>n</a:t>
            </a:r>
            <a:r>
              <a:rPr sz="2900" b="1" spc="-5" dirty="0">
                <a:solidFill>
                  <a:srgbClr val="00669D"/>
                </a:solidFill>
                <a:latin typeface="Arial"/>
                <a:cs typeface="Arial"/>
              </a:rPr>
              <a:t> </a:t>
            </a:r>
            <a:r>
              <a:rPr sz="2900" b="1" spc="-25" dirty="0">
                <a:solidFill>
                  <a:srgbClr val="00669D"/>
                </a:solidFill>
                <a:latin typeface="Arial"/>
                <a:cs typeface="Arial"/>
              </a:rPr>
              <a:t>o</a:t>
            </a:r>
            <a:r>
              <a:rPr sz="2900" b="1" dirty="0">
                <a:solidFill>
                  <a:srgbClr val="00669D"/>
                </a:solidFill>
                <a:latin typeface="Arial"/>
                <a:cs typeface="Arial"/>
              </a:rPr>
              <a:t>f</a:t>
            </a:r>
            <a:r>
              <a:rPr sz="2900" b="1" spc="-5" dirty="0">
                <a:solidFill>
                  <a:srgbClr val="00669D"/>
                </a:solidFill>
                <a:latin typeface="Arial"/>
                <a:cs typeface="Arial"/>
              </a:rPr>
              <a:t> </a:t>
            </a:r>
            <a:r>
              <a:rPr sz="2900" b="1" dirty="0">
                <a:solidFill>
                  <a:srgbClr val="00669D"/>
                </a:solidFill>
                <a:latin typeface="Arial"/>
                <a:cs typeface="Arial"/>
              </a:rPr>
              <a:t>sma</a:t>
            </a:r>
            <a:r>
              <a:rPr sz="2900" b="1" spc="-10" dirty="0">
                <a:solidFill>
                  <a:srgbClr val="00669D"/>
                </a:solidFill>
                <a:latin typeface="Arial"/>
                <a:cs typeface="Arial"/>
              </a:rPr>
              <a:t>ll</a:t>
            </a:r>
            <a:r>
              <a:rPr sz="2900" b="1" spc="-5" dirty="0">
                <a:solidFill>
                  <a:srgbClr val="00669D"/>
                </a:solidFill>
                <a:latin typeface="Arial"/>
                <a:cs typeface="Arial"/>
              </a:rPr>
              <a:t> </a:t>
            </a:r>
            <a:r>
              <a:rPr sz="2900" b="1" dirty="0">
                <a:solidFill>
                  <a:srgbClr val="00669D"/>
                </a:solidFill>
                <a:latin typeface="Arial"/>
                <a:cs typeface="Arial"/>
              </a:rPr>
              <a:t>Bee</a:t>
            </a:r>
            <a:r>
              <a:rPr sz="2900" b="1" spc="-10" dirty="0">
                <a:solidFill>
                  <a:srgbClr val="00669D"/>
                </a:solidFill>
                <a:latin typeface="Arial"/>
                <a:cs typeface="Arial"/>
              </a:rPr>
              <a:t>tl</a:t>
            </a:r>
            <a:r>
              <a:rPr sz="2900" b="1" dirty="0">
                <a:solidFill>
                  <a:srgbClr val="00669D"/>
                </a:solidFill>
                <a:latin typeface="Arial"/>
                <a:cs typeface="Arial"/>
              </a:rPr>
              <a:t>es:</a:t>
            </a:r>
            <a:r>
              <a:rPr sz="2900" b="1" spc="-5" dirty="0">
                <a:solidFill>
                  <a:srgbClr val="00669D"/>
                </a:solidFill>
                <a:latin typeface="Arial"/>
                <a:cs typeface="Arial"/>
              </a:rPr>
              <a:t> </a:t>
            </a:r>
            <a:r>
              <a:rPr sz="2900" b="1" dirty="0">
                <a:solidFill>
                  <a:srgbClr val="00669D"/>
                </a:solidFill>
                <a:latin typeface="Arial"/>
                <a:cs typeface="Arial"/>
              </a:rPr>
              <a:t>1-x</a:t>
            </a:r>
            <a:endParaRPr sz="2900" dirty="0">
              <a:latin typeface="Arial"/>
              <a:cs typeface="Arial"/>
            </a:endParaRPr>
          </a:p>
        </p:txBody>
      </p:sp>
      <p:sp>
        <p:nvSpPr>
          <p:cNvPr id="6" name="object 6"/>
          <p:cNvSpPr txBox="1"/>
          <p:nvPr/>
        </p:nvSpPr>
        <p:spPr>
          <a:xfrm>
            <a:off x="6893092" y="1550442"/>
            <a:ext cx="1030605" cy="228600"/>
          </a:xfrm>
          <a:prstGeom prst="rect">
            <a:avLst/>
          </a:prstGeom>
        </p:spPr>
        <p:txBody>
          <a:bodyPr vert="horz" wrap="square" lIns="0" tIns="0" rIns="0" bIns="0" rtlCol="0">
            <a:spAutoFit/>
          </a:bodyPr>
          <a:lstStyle/>
          <a:p>
            <a:pPr marL="12700">
              <a:lnSpc>
                <a:spcPct val="100000"/>
              </a:lnSpc>
            </a:pPr>
            <a:r>
              <a:rPr sz="1600" b="1" dirty="0">
                <a:solidFill>
                  <a:srgbClr val="00669D"/>
                </a:solidFill>
                <a:latin typeface="Arial"/>
                <a:cs typeface="Arial"/>
              </a:rPr>
              <a:t>(</a:t>
            </a:r>
            <a:r>
              <a:rPr sz="1600" b="1" i="1" spc="-10" dirty="0">
                <a:solidFill>
                  <a:srgbClr val="00669D"/>
                </a:solidFill>
                <a:latin typeface="Arial"/>
                <a:cs typeface="Arial"/>
              </a:rPr>
              <a:t>swappe</a:t>
            </a:r>
            <a:r>
              <a:rPr sz="1600" b="1" i="1" spc="-15" dirty="0">
                <a:solidFill>
                  <a:srgbClr val="00669D"/>
                </a:solidFill>
                <a:latin typeface="Arial"/>
                <a:cs typeface="Arial"/>
              </a:rPr>
              <a:t>d</a:t>
            </a:r>
            <a:r>
              <a:rPr sz="1600" b="1" dirty="0">
                <a:solidFill>
                  <a:srgbClr val="00669D"/>
                </a:solidFill>
                <a:latin typeface="Arial"/>
                <a:cs typeface="Arial"/>
              </a:rPr>
              <a:t>)</a:t>
            </a:r>
            <a:endParaRPr sz="1600">
              <a:latin typeface="Arial"/>
              <a:cs typeface="Arial"/>
            </a:endParaRPr>
          </a:p>
        </p:txBody>
      </p:sp>
      <p:sp>
        <p:nvSpPr>
          <p:cNvPr id="7" name="object 7"/>
          <p:cNvSpPr txBox="1"/>
          <p:nvPr/>
        </p:nvSpPr>
        <p:spPr>
          <a:xfrm>
            <a:off x="492125" y="2592289"/>
            <a:ext cx="7198359" cy="2980303"/>
          </a:xfrm>
          <a:prstGeom prst="rect">
            <a:avLst/>
          </a:prstGeom>
        </p:spPr>
        <p:txBody>
          <a:bodyPr vert="horz" wrap="square" lIns="0" tIns="0" rIns="0" bIns="0" rtlCol="0">
            <a:spAutoFit/>
          </a:bodyPr>
          <a:lstStyle/>
          <a:p>
            <a:pPr marL="355600" indent="-342900">
              <a:lnSpc>
                <a:spcPts val="3070"/>
              </a:lnSpc>
              <a:buClr>
                <a:srgbClr val="00669D"/>
              </a:buClr>
              <a:buFont typeface="Arial"/>
              <a:buChar char="•"/>
              <a:tabLst>
                <a:tab pos="355600" algn="l"/>
              </a:tabLst>
            </a:pPr>
            <a:r>
              <a:rPr sz="2900" b="1" spc="-25" dirty="0">
                <a:solidFill>
                  <a:srgbClr val="00669D"/>
                </a:solidFill>
                <a:latin typeface="Arial"/>
                <a:cs typeface="Arial"/>
              </a:rPr>
              <a:t>p</a:t>
            </a:r>
            <a:r>
              <a:rPr sz="2900" b="1" dirty="0">
                <a:solidFill>
                  <a:srgbClr val="00669D"/>
                </a:solidFill>
                <a:latin typeface="Arial"/>
                <a:cs typeface="Arial"/>
              </a:rPr>
              <a:t>ay</a:t>
            </a:r>
            <a:r>
              <a:rPr sz="2900" b="1" spc="-25" dirty="0">
                <a:solidFill>
                  <a:srgbClr val="00669D"/>
                </a:solidFill>
                <a:latin typeface="Arial"/>
                <a:cs typeface="Arial"/>
              </a:rPr>
              <a:t>o</a:t>
            </a:r>
            <a:r>
              <a:rPr sz="2900" b="1" dirty="0">
                <a:solidFill>
                  <a:srgbClr val="00669D"/>
                </a:solidFill>
                <a:latin typeface="Arial"/>
                <a:cs typeface="Arial"/>
              </a:rPr>
              <a:t>ff</a:t>
            </a:r>
            <a:r>
              <a:rPr sz="2900" b="1" spc="-5" dirty="0">
                <a:solidFill>
                  <a:srgbClr val="00669D"/>
                </a:solidFill>
                <a:latin typeface="Arial"/>
                <a:cs typeface="Arial"/>
              </a:rPr>
              <a:t> </a:t>
            </a:r>
            <a:r>
              <a:rPr sz="2900" b="1" spc="-15" dirty="0">
                <a:solidFill>
                  <a:srgbClr val="00669D"/>
                </a:solidFill>
                <a:latin typeface="Arial"/>
                <a:cs typeface="Arial"/>
              </a:rPr>
              <a:t>in</a:t>
            </a:r>
            <a:r>
              <a:rPr sz="2900" b="1" spc="-5" dirty="0">
                <a:solidFill>
                  <a:srgbClr val="00669D"/>
                </a:solidFill>
                <a:latin typeface="Arial"/>
                <a:cs typeface="Arial"/>
              </a:rPr>
              <a:t> </a:t>
            </a:r>
            <a:r>
              <a:rPr sz="2900" b="1" dirty="0">
                <a:solidFill>
                  <a:srgbClr val="00669D"/>
                </a:solidFill>
                <a:latin typeface="Arial"/>
                <a:cs typeface="Arial"/>
              </a:rPr>
              <a:t>a</a:t>
            </a:r>
            <a:r>
              <a:rPr sz="2900" b="1" spc="-5" dirty="0">
                <a:solidFill>
                  <a:srgbClr val="00669D"/>
                </a:solidFill>
                <a:latin typeface="Arial"/>
                <a:cs typeface="Arial"/>
              </a:rPr>
              <a:t> </a:t>
            </a:r>
            <a:r>
              <a:rPr sz="2900" b="1" spc="-25" dirty="0">
                <a:solidFill>
                  <a:srgbClr val="00669D"/>
                </a:solidFill>
                <a:latin typeface="Arial"/>
                <a:cs typeface="Arial"/>
              </a:rPr>
              <a:t>popu</a:t>
            </a:r>
            <a:r>
              <a:rPr sz="2900" b="1" spc="-10" dirty="0">
                <a:solidFill>
                  <a:srgbClr val="00669D"/>
                </a:solidFill>
                <a:latin typeface="Arial"/>
                <a:cs typeface="Arial"/>
              </a:rPr>
              <a:t>l</a:t>
            </a:r>
            <a:r>
              <a:rPr sz="2900" b="1" dirty="0">
                <a:solidFill>
                  <a:srgbClr val="00669D"/>
                </a:solidFill>
                <a:latin typeface="Arial"/>
                <a:cs typeface="Arial"/>
              </a:rPr>
              <a:t>a</a:t>
            </a:r>
            <a:r>
              <a:rPr sz="2900" b="1" spc="-10" dirty="0">
                <a:solidFill>
                  <a:srgbClr val="00669D"/>
                </a:solidFill>
                <a:latin typeface="Arial"/>
                <a:cs typeface="Arial"/>
              </a:rPr>
              <a:t>ti</a:t>
            </a:r>
            <a:r>
              <a:rPr sz="2900" b="1" spc="-25" dirty="0">
                <a:solidFill>
                  <a:srgbClr val="00669D"/>
                </a:solidFill>
                <a:latin typeface="Arial"/>
                <a:cs typeface="Arial"/>
              </a:rPr>
              <a:t>o</a:t>
            </a:r>
            <a:r>
              <a:rPr sz="2900" b="1" spc="-20" dirty="0">
                <a:solidFill>
                  <a:srgbClr val="00669D"/>
                </a:solidFill>
                <a:latin typeface="Arial"/>
                <a:cs typeface="Arial"/>
              </a:rPr>
              <a:t>n</a:t>
            </a:r>
            <a:r>
              <a:rPr sz="2900" b="1" spc="-5" dirty="0">
                <a:solidFill>
                  <a:srgbClr val="00669D"/>
                </a:solidFill>
                <a:latin typeface="Arial"/>
                <a:cs typeface="Arial"/>
              </a:rPr>
              <a:t> </a:t>
            </a:r>
            <a:r>
              <a:rPr sz="2900" b="1" spc="-25" dirty="0">
                <a:solidFill>
                  <a:srgbClr val="00669D"/>
                </a:solidFill>
                <a:latin typeface="Arial"/>
                <a:cs typeface="Arial"/>
              </a:rPr>
              <a:t>wh</a:t>
            </a:r>
            <a:r>
              <a:rPr sz="2900" b="1" dirty="0">
                <a:solidFill>
                  <a:srgbClr val="00669D"/>
                </a:solidFill>
                <a:latin typeface="Arial"/>
                <a:cs typeface="Arial"/>
              </a:rPr>
              <a:t>ere</a:t>
            </a:r>
            <a:endParaRPr sz="2900" dirty="0">
              <a:latin typeface="Arial"/>
              <a:cs typeface="Arial"/>
            </a:endParaRPr>
          </a:p>
          <a:p>
            <a:pPr marL="494665" indent="-139065">
              <a:lnSpc>
                <a:spcPts val="3070"/>
              </a:lnSpc>
            </a:pPr>
            <a:r>
              <a:rPr sz="2900" b="1" dirty="0">
                <a:solidFill>
                  <a:srgbClr val="861001"/>
                </a:solidFill>
                <a:latin typeface="Arial"/>
                <a:cs typeface="Arial"/>
              </a:rPr>
              <a:t>Sma</a:t>
            </a:r>
            <a:r>
              <a:rPr sz="2900" b="1" spc="-10" dirty="0">
                <a:solidFill>
                  <a:srgbClr val="861001"/>
                </a:solidFill>
                <a:latin typeface="Arial"/>
                <a:cs typeface="Arial"/>
              </a:rPr>
              <a:t>ll</a:t>
            </a:r>
            <a:r>
              <a:rPr sz="2900" b="1" spc="-5" dirty="0">
                <a:solidFill>
                  <a:srgbClr val="861001"/>
                </a:solidFill>
                <a:latin typeface="Arial"/>
                <a:cs typeface="Arial"/>
              </a:rPr>
              <a:t> </a:t>
            </a:r>
            <a:r>
              <a:rPr sz="2900" b="1" spc="-10" dirty="0">
                <a:solidFill>
                  <a:srgbClr val="861001"/>
                </a:solidFill>
                <a:latin typeface="Arial"/>
                <a:cs typeface="Arial"/>
              </a:rPr>
              <a:t>i</a:t>
            </a:r>
            <a:r>
              <a:rPr sz="2900" b="1" dirty="0">
                <a:solidFill>
                  <a:srgbClr val="861001"/>
                </a:solidFill>
                <a:latin typeface="Arial"/>
                <a:cs typeface="Arial"/>
              </a:rPr>
              <a:t>s</a:t>
            </a:r>
            <a:r>
              <a:rPr sz="2900" b="1" spc="-5" dirty="0">
                <a:solidFill>
                  <a:srgbClr val="861001"/>
                </a:solidFill>
                <a:latin typeface="Arial"/>
                <a:cs typeface="Arial"/>
              </a:rPr>
              <a:t> </a:t>
            </a:r>
            <a:r>
              <a:rPr sz="2900" b="1" spc="-10" dirty="0">
                <a:solidFill>
                  <a:srgbClr val="861001"/>
                </a:solidFill>
                <a:latin typeface="Arial"/>
                <a:cs typeface="Arial"/>
              </a:rPr>
              <a:t>t</a:t>
            </a:r>
            <a:r>
              <a:rPr sz="2900" b="1" spc="-25" dirty="0">
                <a:solidFill>
                  <a:srgbClr val="861001"/>
                </a:solidFill>
                <a:latin typeface="Arial"/>
                <a:cs typeface="Arial"/>
              </a:rPr>
              <a:t>h</a:t>
            </a:r>
            <a:r>
              <a:rPr sz="2900" b="1" dirty="0">
                <a:solidFill>
                  <a:srgbClr val="861001"/>
                </a:solidFill>
                <a:latin typeface="Arial"/>
                <a:cs typeface="Arial"/>
              </a:rPr>
              <a:t>e</a:t>
            </a:r>
            <a:r>
              <a:rPr sz="2900" b="1" spc="-5" dirty="0">
                <a:solidFill>
                  <a:srgbClr val="861001"/>
                </a:solidFill>
                <a:latin typeface="Arial"/>
                <a:cs typeface="Arial"/>
              </a:rPr>
              <a:t> </a:t>
            </a:r>
            <a:r>
              <a:rPr sz="2900" b="1" dirty="0">
                <a:solidFill>
                  <a:srgbClr val="861001"/>
                </a:solidFill>
                <a:latin typeface="Arial"/>
                <a:cs typeface="Arial"/>
              </a:rPr>
              <a:t>ma</a:t>
            </a:r>
            <a:r>
              <a:rPr sz="2900" b="1" spc="-10" dirty="0">
                <a:solidFill>
                  <a:srgbClr val="861001"/>
                </a:solidFill>
                <a:latin typeface="Arial"/>
                <a:cs typeface="Arial"/>
              </a:rPr>
              <a:t>j</a:t>
            </a:r>
            <a:r>
              <a:rPr sz="2900" b="1" spc="-25" dirty="0">
                <a:solidFill>
                  <a:srgbClr val="861001"/>
                </a:solidFill>
                <a:latin typeface="Arial"/>
                <a:cs typeface="Arial"/>
              </a:rPr>
              <a:t>o</a:t>
            </a:r>
            <a:r>
              <a:rPr sz="2900" b="1" dirty="0">
                <a:solidFill>
                  <a:srgbClr val="861001"/>
                </a:solidFill>
                <a:latin typeface="Arial"/>
                <a:cs typeface="Arial"/>
              </a:rPr>
              <a:t>r</a:t>
            </a:r>
            <a:r>
              <a:rPr sz="2900" b="1" spc="-10" dirty="0">
                <a:solidFill>
                  <a:srgbClr val="861001"/>
                </a:solidFill>
                <a:latin typeface="Arial"/>
                <a:cs typeface="Arial"/>
              </a:rPr>
              <a:t>i</a:t>
            </a:r>
            <a:r>
              <a:rPr sz="2900" b="1" dirty="0">
                <a:solidFill>
                  <a:srgbClr val="861001"/>
                </a:solidFill>
                <a:latin typeface="Arial"/>
                <a:cs typeface="Arial"/>
              </a:rPr>
              <a:t>ty</a:t>
            </a:r>
            <a:r>
              <a:rPr sz="2900" b="1" spc="-5" dirty="0">
                <a:solidFill>
                  <a:srgbClr val="861001"/>
                </a:solidFill>
                <a:latin typeface="Arial"/>
                <a:cs typeface="Arial"/>
              </a:rPr>
              <a:t> </a:t>
            </a:r>
            <a:r>
              <a:rPr sz="2900" b="1" dirty="0">
                <a:solidFill>
                  <a:srgbClr val="00669D"/>
                </a:solidFill>
                <a:latin typeface="Arial"/>
                <a:cs typeface="Arial"/>
              </a:rPr>
              <a:t>(x</a:t>
            </a:r>
            <a:r>
              <a:rPr sz="2900" b="1" spc="-5" dirty="0">
                <a:solidFill>
                  <a:srgbClr val="00669D"/>
                </a:solidFill>
                <a:latin typeface="Arial"/>
                <a:cs typeface="Arial"/>
              </a:rPr>
              <a:t> </a:t>
            </a:r>
            <a:r>
              <a:rPr sz="2900" b="1" spc="-10" dirty="0">
                <a:solidFill>
                  <a:srgbClr val="00669D"/>
                </a:solidFill>
                <a:latin typeface="Arial"/>
                <a:cs typeface="Arial"/>
              </a:rPr>
              <a:t>i</a:t>
            </a:r>
            <a:r>
              <a:rPr sz="2900" b="1" dirty="0">
                <a:solidFill>
                  <a:srgbClr val="00669D"/>
                </a:solidFill>
                <a:latin typeface="Arial"/>
                <a:cs typeface="Arial"/>
              </a:rPr>
              <a:t>s</a:t>
            </a:r>
            <a:r>
              <a:rPr sz="2900" b="1" spc="-5" dirty="0">
                <a:solidFill>
                  <a:srgbClr val="00669D"/>
                </a:solidFill>
                <a:latin typeface="Arial"/>
                <a:cs typeface="Arial"/>
              </a:rPr>
              <a:t> </a:t>
            </a:r>
            <a:r>
              <a:rPr sz="2900" b="1" dirty="0">
                <a:solidFill>
                  <a:srgbClr val="00669D"/>
                </a:solidFill>
                <a:latin typeface="Arial"/>
                <a:cs typeface="Arial"/>
              </a:rPr>
              <a:t>c</a:t>
            </a:r>
            <a:r>
              <a:rPr sz="2900" b="1" spc="-10" dirty="0">
                <a:solidFill>
                  <a:srgbClr val="00669D"/>
                </a:solidFill>
                <a:latin typeface="Arial"/>
                <a:cs typeface="Arial"/>
              </a:rPr>
              <a:t>l</a:t>
            </a:r>
            <a:r>
              <a:rPr sz="2900" b="1" spc="-25" dirty="0">
                <a:solidFill>
                  <a:srgbClr val="00669D"/>
                </a:solidFill>
                <a:latin typeface="Arial"/>
                <a:cs typeface="Arial"/>
              </a:rPr>
              <a:t>o</a:t>
            </a:r>
            <a:r>
              <a:rPr sz="2900" b="1" dirty="0">
                <a:solidFill>
                  <a:srgbClr val="00669D"/>
                </a:solidFill>
                <a:latin typeface="Arial"/>
                <a:cs typeface="Arial"/>
              </a:rPr>
              <a:t>se</a:t>
            </a:r>
            <a:r>
              <a:rPr sz="2900" b="1" spc="-5" dirty="0">
                <a:solidFill>
                  <a:srgbClr val="00669D"/>
                </a:solidFill>
                <a:latin typeface="Arial"/>
                <a:cs typeface="Arial"/>
              </a:rPr>
              <a:t> </a:t>
            </a:r>
            <a:r>
              <a:rPr sz="2900" b="1" spc="-15" dirty="0">
                <a:solidFill>
                  <a:srgbClr val="00669D"/>
                </a:solidFill>
                <a:latin typeface="Arial"/>
                <a:cs typeface="Arial"/>
              </a:rPr>
              <a:t>to</a:t>
            </a:r>
            <a:r>
              <a:rPr sz="2900" b="1" spc="-5" dirty="0">
                <a:solidFill>
                  <a:srgbClr val="00669D"/>
                </a:solidFill>
                <a:latin typeface="Arial"/>
                <a:cs typeface="Arial"/>
              </a:rPr>
              <a:t> </a:t>
            </a:r>
            <a:r>
              <a:rPr sz="2900" b="1" dirty="0">
                <a:solidFill>
                  <a:srgbClr val="00669D"/>
                </a:solidFill>
                <a:latin typeface="Arial"/>
                <a:cs typeface="Arial"/>
              </a:rPr>
              <a:t>0)</a:t>
            </a:r>
            <a:endParaRPr sz="2900" dirty="0">
              <a:latin typeface="Arial"/>
              <a:cs typeface="Arial"/>
            </a:endParaRPr>
          </a:p>
          <a:p>
            <a:pPr>
              <a:lnSpc>
                <a:spcPct val="100000"/>
              </a:lnSpc>
              <a:spcBef>
                <a:spcPts val="13"/>
              </a:spcBef>
            </a:pPr>
            <a:endParaRPr sz="3400" dirty="0">
              <a:latin typeface="Times New Roman"/>
              <a:cs typeface="Times New Roman"/>
            </a:endParaRPr>
          </a:p>
          <a:p>
            <a:pPr marL="494665" marR="5080">
              <a:lnSpc>
                <a:spcPts val="3200"/>
              </a:lnSpc>
            </a:pPr>
            <a:r>
              <a:rPr lang="en-US" sz="2800" b="1" spc="-25" dirty="0">
                <a:solidFill>
                  <a:srgbClr val="00669D"/>
                </a:solidFill>
                <a:latin typeface="Arial"/>
                <a:cs typeface="Arial"/>
              </a:rPr>
              <a:t>L</a:t>
            </a:r>
            <a:r>
              <a:rPr lang="en-US" sz="2800" b="1" dirty="0">
                <a:solidFill>
                  <a:srgbClr val="00669D"/>
                </a:solidFill>
                <a:latin typeface="Arial"/>
                <a:cs typeface="Arial"/>
              </a:rPr>
              <a:t>ar</a:t>
            </a:r>
            <a:r>
              <a:rPr lang="en-US" sz="2800" b="1" spc="-25" dirty="0">
                <a:solidFill>
                  <a:srgbClr val="00669D"/>
                </a:solidFill>
                <a:latin typeface="Arial"/>
                <a:cs typeface="Arial"/>
              </a:rPr>
              <a:t>g</a:t>
            </a:r>
            <a:r>
              <a:rPr lang="en-US" sz="2800" b="1" dirty="0">
                <a:solidFill>
                  <a:srgbClr val="00669D"/>
                </a:solidFill>
                <a:latin typeface="Arial"/>
                <a:cs typeface="Arial"/>
              </a:rPr>
              <a:t>e</a:t>
            </a:r>
            <a:r>
              <a:rPr lang="en-US" sz="2800" b="1" spc="-5" dirty="0">
                <a:solidFill>
                  <a:srgbClr val="00669D"/>
                </a:solidFill>
                <a:latin typeface="Arial"/>
                <a:cs typeface="Arial"/>
              </a:rPr>
              <a:t> </a:t>
            </a:r>
            <a:r>
              <a:rPr lang="en-US" sz="2800" b="1" dirty="0">
                <a:solidFill>
                  <a:srgbClr val="00669D"/>
                </a:solidFill>
                <a:latin typeface="Arial"/>
                <a:cs typeface="Arial"/>
              </a:rPr>
              <a:t>Bee</a:t>
            </a:r>
            <a:r>
              <a:rPr lang="en-US" sz="2800" b="1" spc="-10" dirty="0">
                <a:solidFill>
                  <a:srgbClr val="00669D"/>
                </a:solidFill>
                <a:latin typeface="Arial"/>
                <a:cs typeface="Arial"/>
              </a:rPr>
              <a:t>tl</a:t>
            </a:r>
            <a:r>
              <a:rPr lang="en-US" sz="2800" b="1" dirty="0">
                <a:solidFill>
                  <a:srgbClr val="00669D"/>
                </a:solidFill>
                <a:latin typeface="Arial"/>
                <a:cs typeface="Arial"/>
              </a:rPr>
              <a:t>e:</a:t>
            </a:r>
            <a:r>
              <a:rPr lang="en-US" sz="2800" b="1" spc="-5" dirty="0">
                <a:solidFill>
                  <a:srgbClr val="00669D"/>
                </a:solidFill>
                <a:latin typeface="Arial"/>
                <a:cs typeface="Arial"/>
              </a:rPr>
              <a:t> </a:t>
            </a:r>
            <a:r>
              <a:rPr lang="en-US" sz="2800" b="1" dirty="0">
                <a:solidFill>
                  <a:srgbClr val="00669D"/>
                </a:solidFill>
                <a:latin typeface="Arial"/>
                <a:cs typeface="Arial"/>
              </a:rPr>
              <a:t>8</a:t>
            </a:r>
            <a:r>
              <a:rPr lang="en-US" sz="2800" b="1" spc="-5" dirty="0">
                <a:solidFill>
                  <a:srgbClr val="00669D"/>
                </a:solidFill>
                <a:latin typeface="Arial"/>
                <a:cs typeface="Arial"/>
              </a:rPr>
              <a:t> </a:t>
            </a:r>
            <a:r>
              <a:rPr lang="en-US" sz="2800" b="1" dirty="0">
                <a:solidFill>
                  <a:srgbClr val="00669D"/>
                </a:solidFill>
                <a:latin typeface="Arial"/>
                <a:cs typeface="Arial"/>
              </a:rPr>
              <a:t>*</a:t>
            </a:r>
            <a:r>
              <a:rPr lang="en-US" sz="2800" b="1" spc="-5" dirty="0">
                <a:solidFill>
                  <a:srgbClr val="00669D"/>
                </a:solidFill>
                <a:latin typeface="Arial"/>
                <a:cs typeface="Arial"/>
              </a:rPr>
              <a:t> </a:t>
            </a:r>
            <a:r>
              <a:rPr lang="en-US" sz="2800" b="1" dirty="0">
                <a:solidFill>
                  <a:srgbClr val="00669D"/>
                </a:solidFill>
                <a:latin typeface="Arial"/>
                <a:cs typeface="Arial"/>
              </a:rPr>
              <a:t>(1-x)</a:t>
            </a:r>
            <a:r>
              <a:rPr lang="en-US" sz="2800" b="1" spc="-5" dirty="0">
                <a:solidFill>
                  <a:srgbClr val="00669D"/>
                </a:solidFill>
                <a:latin typeface="Arial"/>
                <a:cs typeface="Arial"/>
              </a:rPr>
              <a:t> </a:t>
            </a:r>
            <a:r>
              <a:rPr lang="en-US" sz="2800" b="1" spc="-20" dirty="0">
                <a:solidFill>
                  <a:srgbClr val="00669D"/>
                </a:solidFill>
                <a:latin typeface="Arial"/>
                <a:cs typeface="Arial"/>
              </a:rPr>
              <a:t>+</a:t>
            </a:r>
            <a:r>
              <a:rPr lang="en-US" sz="2800" b="1" spc="-5" dirty="0">
                <a:solidFill>
                  <a:srgbClr val="00669D"/>
                </a:solidFill>
                <a:latin typeface="Arial"/>
                <a:cs typeface="Arial"/>
              </a:rPr>
              <a:t> </a:t>
            </a:r>
            <a:r>
              <a:rPr lang="en-US" sz="2800" b="1" dirty="0">
                <a:solidFill>
                  <a:srgbClr val="00669D"/>
                </a:solidFill>
                <a:latin typeface="Arial"/>
                <a:cs typeface="Arial"/>
              </a:rPr>
              <a:t>3</a:t>
            </a:r>
            <a:r>
              <a:rPr lang="en-US" sz="2800" b="1" spc="-5" dirty="0">
                <a:solidFill>
                  <a:srgbClr val="00669D"/>
                </a:solidFill>
                <a:latin typeface="Arial"/>
                <a:cs typeface="Arial"/>
              </a:rPr>
              <a:t> </a:t>
            </a:r>
            <a:r>
              <a:rPr lang="en-US" sz="2800" b="1" dirty="0">
                <a:solidFill>
                  <a:srgbClr val="00669D"/>
                </a:solidFill>
                <a:latin typeface="Arial"/>
                <a:cs typeface="Arial"/>
              </a:rPr>
              <a:t>*</a:t>
            </a:r>
            <a:r>
              <a:rPr lang="en-US" sz="2800" b="1" spc="-5" dirty="0">
                <a:solidFill>
                  <a:srgbClr val="00669D"/>
                </a:solidFill>
                <a:latin typeface="Arial"/>
                <a:cs typeface="Arial"/>
              </a:rPr>
              <a:t> </a:t>
            </a:r>
            <a:r>
              <a:rPr lang="en-US" sz="2800" b="1" dirty="0">
                <a:solidFill>
                  <a:srgbClr val="00669D"/>
                </a:solidFill>
                <a:latin typeface="Arial"/>
                <a:cs typeface="Arial"/>
              </a:rPr>
              <a:t>x</a:t>
            </a:r>
            <a:r>
              <a:rPr lang="en-US" sz="2800" b="1" spc="-5" dirty="0">
                <a:solidFill>
                  <a:srgbClr val="00669D"/>
                </a:solidFill>
                <a:latin typeface="Arial"/>
                <a:cs typeface="Arial"/>
              </a:rPr>
              <a:t> </a:t>
            </a:r>
            <a:r>
              <a:rPr lang="en-US" sz="2800" b="1" spc="-20" dirty="0">
                <a:solidFill>
                  <a:srgbClr val="00669D"/>
                </a:solidFill>
                <a:latin typeface="Arial"/>
                <a:cs typeface="Arial"/>
              </a:rPr>
              <a:t>=</a:t>
            </a:r>
            <a:r>
              <a:rPr lang="en-US" sz="2800" b="1" spc="-5" dirty="0">
                <a:solidFill>
                  <a:srgbClr val="00669D"/>
                </a:solidFill>
                <a:latin typeface="Arial"/>
                <a:cs typeface="Arial"/>
              </a:rPr>
              <a:t> </a:t>
            </a:r>
            <a:r>
              <a:rPr lang="en-US" sz="2800" b="1" dirty="0">
                <a:solidFill>
                  <a:srgbClr val="00669D"/>
                </a:solidFill>
                <a:latin typeface="Arial"/>
                <a:cs typeface="Arial"/>
              </a:rPr>
              <a:t>8</a:t>
            </a:r>
            <a:r>
              <a:rPr lang="en-US" sz="2800" b="1" spc="-5" dirty="0">
                <a:solidFill>
                  <a:srgbClr val="00669D"/>
                </a:solidFill>
                <a:latin typeface="Arial"/>
                <a:cs typeface="Arial"/>
              </a:rPr>
              <a:t> </a:t>
            </a:r>
            <a:r>
              <a:rPr lang="en-US" sz="2800" b="1" dirty="0">
                <a:solidFill>
                  <a:srgbClr val="00669D"/>
                </a:solidFill>
                <a:latin typeface="Arial"/>
                <a:cs typeface="Arial"/>
              </a:rPr>
              <a:t>-</a:t>
            </a:r>
            <a:r>
              <a:rPr lang="en-US" sz="2800" b="1" spc="-5" dirty="0">
                <a:solidFill>
                  <a:srgbClr val="00669D"/>
                </a:solidFill>
                <a:latin typeface="Arial"/>
                <a:cs typeface="Arial"/>
              </a:rPr>
              <a:t> </a:t>
            </a:r>
            <a:r>
              <a:rPr lang="en-US" sz="2800" b="1" dirty="0">
                <a:solidFill>
                  <a:srgbClr val="00669D"/>
                </a:solidFill>
                <a:latin typeface="Arial"/>
                <a:cs typeface="Arial"/>
              </a:rPr>
              <a:t>5x</a:t>
            </a:r>
            <a:r>
              <a:rPr lang="en-US" sz="2800" b="1" spc="-5" dirty="0">
                <a:solidFill>
                  <a:srgbClr val="00669D"/>
                </a:solidFill>
                <a:latin typeface="Arial"/>
                <a:cs typeface="Arial"/>
              </a:rPr>
              <a:t> </a:t>
            </a:r>
            <a:r>
              <a:rPr lang="en-US" sz="2800" b="1" spc="-20" dirty="0">
                <a:solidFill>
                  <a:srgbClr val="00669D"/>
                </a:solidFill>
                <a:latin typeface="Arial"/>
                <a:cs typeface="Arial"/>
              </a:rPr>
              <a:t>~</a:t>
            </a:r>
            <a:r>
              <a:rPr lang="en-US" sz="2800" b="1" spc="-5" dirty="0">
                <a:solidFill>
                  <a:srgbClr val="00669D"/>
                </a:solidFill>
                <a:latin typeface="Arial"/>
                <a:cs typeface="Arial"/>
              </a:rPr>
              <a:t> </a:t>
            </a:r>
            <a:r>
              <a:rPr lang="en-US" sz="2800" b="1" dirty="0">
                <a:solidFill>
                  <a:srgbClr val="00669D"/>
                </a:solidFill>
                <a:latin typeface="Arial"/>
                <a:cs typeface="Arial"/>
              </a:rPr>
              <a:t>8</a:t>
            </a:r>
          </a:p>
          <a:p>
            <a:pPr marL="494665" marR="5080">
              <a:lnSpc>
                <a:spcPts val="3200"/>
              </a:lnSpc>
            </a:pPr>
            <a:r>
              <a:rPr sz="2800" b="1" dirty="0">
                <a:solidFill>
                  <a:srgbClr val="00669D"/>
                </a:solidFill>
                <a:latin typeface="Arial"/>
                <a:cs typeface="Arial"/>
              </a:rPr>
              <a:t>Sma</a:t>
            </a:r>
            <a:r>
              <a:rPr sz="2800" b="1" spc="-10" dirty="0">
                <a:solidFill>
                  <a:srgbClr val="00669D"/>
                </a:solidFill>
                <a:latin typeface="Arial"/>
                <a:cs typeface="Arial"/>
              </a:rPr>
              <a:t>ll</a:t>
            </a:r>
            <a:r>
              <a:rPr sz="2800" b="1" spc="-5" dirty="0">
                <a:solidFill>
                  <a:srgbClr val="00669D"/>
                </a:solidFill>
                <a:latin typeface="Arial"/>
                <a:cs typeface="Arial"/>
              </a:rPr>
              <a:t> </a:t>
            </a:r>
            <a:r>
              <a:rPr sz="2800" b="1" dirty="0">
                <a:solidFill>
                  <a:srgbClr val="00669D"/>
                </a:solidFill>
                <a:latin typeface="Arial"/>
                <a:cs typeface="Arial"/>
              </a:rPr>
              <a:t>Bee</a:t>
            </a:r>
            <a:r>
              <a:rPr sz="2800" b="1" spc="-10" dirty="0">
                <a:solidFill>
                  <a:srgbClr val="00669D"/>
                </a:solidFill>
                <a:latin typeface="Arial"/>
                <a:cs typeface="Arial"/>
              </a:rPr>
              <a:t>tl</a:t>
            </a:r>
            <a:r>
              <a:rPr sz="2800" b="1" dirty="0">
                <a:solidFill>
                  <a:srgbClr val="00669D"/>
                </a:solidFill>
                <a:latin typeface="Arial"/>
                <a:cs typeface="Arial"/>
              </a:rPr>
              <a:t>e:</a:t>
            </a:r>
            <a:r>
              <a:rPr sz="2800" b="1" spc="-5" dirty="0">
                <a:solidFill>
                  <a:srgbClr val="00669D"/>
                </a:solidFill>
                <a:latin typeface="Arial"/>
                <a:cs typeface="Arial"/>
              </a:rPr>
              <a:t> </a:t>
            </a:r>
            <a:r>
              <a:rPr sz="2800" b="1" dirty="0">
                <a:solidFill>
                  <a:srgbClr val="00669D"/>
                </a:solidFill>
                <a:latin typeface="Arial"/>
                <a:cs typeface="Arial"/>
              </a:rPr>
              <a:t>5</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1</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5</a:t>
            </a:r>
            <a:r>
              <a:rPr sz="2800" b="1" spc="-5" dirty="0">
                <a:solidFill>
                  <a:srgbClr val="00669D"/>
                </a:solidFill>
                <a:latin typeface="Arial"/>
                <a:cs typeface="Arial"/>
              </a:rPr>
              <a:t> </a:t>
            </a:r>
            <a:r>
              <a:rPr sz="2800" b="1"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4x</a:t>
            </a:r>
            <a:r>
              <a:rPr sz="2800" b="1" spc="-5" dirty="0">
                <a:solidFill>
                  <a:srgbClr val="00669D"/>
                </a:solidFill>
                <a:latin typeface="Arial"/>
                <a:cs typeface="Arial"/>
              </a:rPr>
              <a:t> </a:t>
            </a:r>
            <a:r>
              <a:rPr sz="2800" b="1" spc="-2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4</a:t>
            </a:r>
            <a:endParaRPr lang="en-US" sz="2800" b="1" dirty="0">
              <a:solidFill>
                <a:srgbClr val="00669D"/>
              </a:solidFill>
              <a:latin typeface="Arial"/>
              <a:cs typeface="Arial"/>
            </a:endParaRPr>
          </a:p>
          <a:p>
            <a:pPr marL="494665" marR="5080">
              <a:lnSpc>
                <a:spcPts val="3200"/>
              </a:lnSpc>
            </a:pPr>
            <a:endParaRPr sz="3650" dirty="0">
              <a:latin typeface="Times New Roman"/>
              <a:cs typeface="Times New Roman"/>
            </a:endParaRPr>
          </a:p>
          <a:p>
            <a:pPr marL="494665" lvl="1" indent="-342900">
              <a:lnSpc>
                <a:spcPct val="100000"/>
              </a:lnSpc>
              <a:buClr>
                <a:srgbClr val="861001"/>
              </a:buClr>
              <a:buFont typeface="Arial"/>
              <a:buChar char="•"/>
              <a:tabLst>
                <a:tab pos="494665" algn="l"/>
              </a:tabLst>
            </a:pPr>
            <a:r>
              <a:rPr sz="2800" b="1" dirty="0">
                <a:solidFill>
                  <a:srgbClr val="861001"/>
                </a:solidFill>
                <a:latin typeface="Arial"/>
                <a:cs typeface="Arial"/>
              </a:rPr>
              <a:t>Sma</a:t>
            </a:r>
            <a:r>
              <a:rPr sz="2800" b="1" spc="-10" dirty="0">
                <a:solidFill>
                  <a:srgbClr val="861001"/>
                </a:solidFill>
                <a:latin typeface="Arial"/>
                <a:cs typeface="Arial"/>
              </a:rPr>
              <a:t>ll</a:t>
            </a:r>
            <a:r>
              <a:rPr sz="2800" b="1" spc="-5" dirty="0">
                <a:solidFill>
                  <a:srgbClr val="861001"/>
                </a:solidFill>
                <a:latin typeface="Arial"/>
                <a:cs typeface="Arial"/>
              </a:rPr>
              <a:t> </a:t>
            </a:r>
            <a:r>
              <a:rPr sz="2800" b="1" spc="-10" dirty="0">
                <a:solidFill>
                  <a:srgbClr val="861001"/>
                </a:solidFill>
                <a:latin typeface="Arial"/>
                <a:cs typeface="Arial"/>
              </a:rPr>
              <a:t>i</a:t>
            </a:r>
            <a:r>
              <a:rPr sz="2800" b="1" dirty="0">
                <a:solidFill>
                  <a:srgbClr val="861001"/>
                </a:solidFill>
                <a:latin typeface="Arial"/>
                <a:cs typeface="Arial"/>
              </a:rPr>
              <a:t>s</a:t>
            </a:r>
            <a:r>
              <a:rPr sz="2800" b="1" spc="-5" dirty="0">
                <a:solidFill>
                  <a:srgbClr val="861001"/>
                </a:solidFill>
                <a:latin typeface="Arial"/>
                <a:cs typeface="Arial"/>
              </a:rPr>
              <a:t> </a:t>
            </a:r>
            <a:r>
              <a:rPr sz="2800" b="1" i="1" spc="-25" dirty="0">
                <a:solidFill>
                  <a:srgbClr val="861001"/>
                </a:solidFill>
                <a:latin typeface="Arial"/>
                <a:cs typeface="Arial"/>
              </a:rPr>
              <a:t>no</a:t>
            </a:r>
            <a:r>
              <a:rPr sz="2800" b="1" i="1" spc="-10" dirty="0">
                <a:solidFill>
                  <a:srgbClr val="861001"/>
                </a:solidFill>
                <a:latin typeface="Arial"/>
                <a:cs typeface="Arial"/>
              </a:rPr>
              <a:t>t</a:t>
            </a:r>
            <a:r>
              <a:rPr sz="2800" b="1" i="1" spc="-5" dirty="0">
                <a:solidFill>
                  <a:srgbClr val="861001"/>
                </a:solidFill>
                <a:latin typeface="Arial"/>
                <a:cs typeface="Arial"/>
              </a:rPr>
              <a:t> </a:t>
            </a:r>
            <a:r>
              <a:rPr sz="2800" b="1" dirty="0">
                <a:solidFill>
                  <a:srgbClr val="861001"/>
                </a:solidFill>
                <a:latin typeface="Arial"/>
                <a:cs typeface="Arial"/>
              </a:rPr>
              <a:t>ev</a:t>
            </a:r>
            <a:r>
              <a:rPr sz="2800" b="1" spc="-25" dirty="0">
                <a:solidFill>
                  <a:srgbClr val="861001"/>
                </a:solidFill>
                <a:latin typeface="Arial"/>
                <a:cs typeface="Arial"/>
              </a:rPr>
              <a:t>o</a:t>
            </a:r>
            <a:r>
              <a:rPr sz="2800" b="1" spc="-10" dirty="0">
                <a:solidFill>
                  <a:srgbClr val="861001"/>
                </a:solidFill>
                <a:latin typeface="Arial"/>
                <a:cs typeface="Arial"/>
              </a:rPr>
              <a:t>l</a:t>
            </a:r>
            <a:r>
              <a:rPr sz="2800" b="1" spc="-25" dirty="0">
                <a:solidFill>
                  <a:srgbClr val="861001"/>
                </a:solidFill>
                <a:latin typeface="Arial"/>
                <a:cs typeface="Arial"/>
              </a:rPr>
              <a:t>u</a:t>
            </a:r>
            <a:r>
              <a:rPr sz="2800" b="1" spc="-10" dirty="0">
                <a:solidFill>
                  <a:srgbClr val="861001"/>
                </a:solidFill>
                <a:latin typeface="Arial"/>
                <a:cs typeface="Arial"/>
              </a:rPr>
              <a:t>ti</a:t>
            </a:r>
            <a:r>
              <a:rPr sz="2800" b="1" spc="-25" dirty="0">
                <a:solidFill>
                  <a:srgbClr val="861001"/>
                </a:solidFill>
                <a:latin typeface="Arial"/>
                <a:cs typeface="Arial"/>
              </a:rPr>
              <a:t>on</a:t>
            </a:r>
            <a:r>
              <a:rPr sz="2800" b="1" dirty="0">
                <a:solidFill>
                  <a:srgbClr val="861001"/>
                </a:solidFill>
                <a:latin typeface="Arial"/>
                <a:cs typeface="Arial"/>
              </a:rPr>
              <a:t>ary</a:t>
            </a:r>
            <a:r>
              <a:rPr sz="2800" b="1" spc="-5" dirty="0">
                <a:solidFill>
                  <a:srgbClr val="861001"/>
                </a:solidFill>
                <a:latin typeface="Arial"/>
                <a:cs typeface="Arial"/>
              </a:rPr>
              <a:t> </a:t>
            </a:r>
            <a:r>
              <a:rPr sz="2800" b="1" dirty="0">
                <a:solidFill>
                  <a:srgbClr val="861001"/>
                </a:solidFill>
                <a:latin typeface="Arial"/>
                <a:cs typeface="Arial"/>
              </a:rPr>
              <a:t>sta</a:t>
            </a:r>
            <a:r>
              <a:rPr sz="2800" b="1" spc="-25" dirty="0">
                <a:solidFill>
                  <a:srgbClr val="861001"/>
                </a:solidFill>
                <a:latin typeface="Arial"/>
                <a:cs typeface="Arial"/>
              </a:rPr>
              <a:t>b</a:t>
            </a:r>
            <a:r>
              <a:rPr sz="2800" b="1" spc="-10" dirty="0">
                <a:solidFill>
                  <a:srgbClr val="861001"/>
                </a:solidFill>
                <a:latin typeface="Arial"/>
                <a:cs typeface="Arial"/>
              </a:rPr>
              <a:t>l</a:t>
            </a:r>
            <a:r>
              <a:rPr sz="2800" b="1" dirty="0">
                <a:solidFill>
                  <a:srgbClr val="861001"/>
                </a:solidFill>
                <a:latin typeface="Arial"/>
                <a:cs typeface="Arial"/>
              </a:rPr>
              <a:t>e</a:t>
            </a:r>
            <a:endParaRPr sz="2800" dirty="0">
              <a:latin typeface="Arial"/>
              <a:cs typeface="Arial"/>
            </a:endParaRPr>
          </a:p>
        </p:txBody>
      </p:sp>
      <p:sp>
        <p:nvSpPr>
          <p:cNvPr id="8" name="object 8"/>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Body</a:t>
            </a:r>
            <a:r>
              <a:rPr spc="-5" dirty="0"/>
              <a:t> </a:t>
            </a:r>
            <a:r>
              <a:rPr dirty="0"/>
              <a:t>Size</a:t>
            </a:r>
            <a:r>
              <a:rPr spc="-5" dirty="0"/>
              <a:t> </a:t>
            </a:r>
            <a:r>
              <a:rPr spc="-30" dirty="0"/>
              <a:t>G</a:t>
            </a:r>
            <a:r>
              <a:rPr dirty="0"/>
              <a:t>ame</a:t>
            </a:r>
            <a:r>
              <a:rPr spc="-10" dirty="0"/>
              <a:t>:</a:t>
            </a:r>
            <a:r>
              <a:rPr spc="-5" dirty="0"/>
              <a:t> </a:t>
            </a:r>
            <a:r>
              <a:rPr spc="-15" dirty="0"/>
              <a:t>I</a:t>
            </a:r>
            <a:r>
              <a:rPr dirty="0"/>
              <a:t>nvasion</a:t>
            </a:r>
            <a:r>
              <a:rPr spc="-5" dirty="0"/>
              <a:t> </a:t>
            </a:r>
            <a:r>
              <a:rPr dirty="0"/>
              <a:t>o</a:t>
            </a:r>
            <a:r>
              <a:rPr spc="-10" dirty="0"/>
              <a:t>f</a:t>
            </a:r>
            <a:r>
              <a:rPr spc="-5" dirty="0"/>
              <a:t> </a:t>
            </a:r>
            <a:r>
              <a:rPr dirty="0"/>
              <a:t>a</a:t>
            </a:r>
            <a:r>
              <a:rPr spc="-5" dirty="0"/>
              <a:t> </a:t>
            </a:r>
            <a:r>
              <a:rPr dirty="0"/>
              <a:t>large</a:t>
            </a:r>
            <a:r>
              <a:rPr spc="-5" dirty="0"/>
              <a:t> </a:t>
            </a:r>
            <a:r>
              <a:rPr dirty="0"/>
              <a:t>mu</a:t>
            </a:r>
            <a:r>
              <a:rPr spc="-15" dirty="0"/>
              <a:t>t</a:t>
            </a:r>
            <a:r>
              <a:rPr dirty="0"/>
              <a:t>an</a:t>
            </a:r>
            <a:r>
              <a:rPr spc="-10" dirty="0"/>
              <a:t>t</a:t>
            </a:r>
          </a:p>
        </p:txBody>
      </p:sp>
      <p:sp>
        <p:nvSpPr>
          <p:cNvPr id="3" name="Rectangle 2">
            <a:extLst>
              <a:ext uri="{FF2B5EF4-FFF2-40B4-BE49-F238E27FC236}">
                <a16:creationId xmlns:a16="http://schemas.microsoft.com/office/drawing/2014/main" id="{D2A3B2AE-7465-E106-B532-173B4AC790B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A51518DB-0724-A3FE-1242-807C71C7EB3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40681F51-A391-32E5-650F-738C484FA761}"/>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32</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AFD9BCB7-E3A4-A0F2-61A3-D212EF6F53B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F8F7275A-5219-940C-22A6-197CADE9B9C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dirty="0"/>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p:nvPr/>
        </p:nvSpPr>
        <p:spPr>
          <a:xfrm>
            <a:off x="5354736" y="3276600"/>
            <a:ext cx="161290" cy="228600"/>
          </a:xfrm>
          <a:prstGeom prst="rect">
            <a:avLst/>
          </a:prstGeom>
        </p:spPr>
        <p:txBody>
          <a:bodyPr vert="horz" wrap="square" lIns="0" tIns="0" rIns="0" bIns="0" rtlCol="0">
            <a:spAutoFit/>
          </a:bodyPr>
          <a:lstStyle/>
          <a:p>
            <a:pPr marL="12700">
              <a:lnSpc>
                <a:spcPct val="100000"/>
              </a:lnSpc>
            </a:pPr>
            <a:r>
              <a:rPr sz="1600" spc="-15" dirty="0">
                <a:solidFill>
                  <a:srgbClr val="0042AA"/>
                </a:solidFill>
                <a:latin typeface="Arial"/>
                <a:cs typeface="Arial"/>
              </a:rPr>
              <a:t>P</a:t>
            </a:r>
            <a:endParaRPr sz="1600">
              <a:latin typeface="Arial"/>
              <a:cs typeface="Arial"/>
            </a:endParaRPr>
          </a:p>
        </p:txBody>
      </p:sp>
      <p:sp>
        <p:nvSpPr>
          <p:cNvPr id="7" name="object 7"/>
          <p:cNvSpPr/>
          <p:nvPr/>
        </p:nvSpPr>
        <p:spPr>
          <a:xfrm>
            <a:off x="2990353" y="2828579"/>
            <a:ext cx="116205" cy="285750"/>
          </a:xfrm>
          <a:custGeom>
            <a:avLst/>
            <a:gdLst/>
            <a:ahLst/>
            <a:cxnLst/>
            <a:rect l="l" t="t" r="r" b="b"/>
            <a:pathLst>
              <a:path w="116205" h="285750">
                <a:moveTo>
                  <a:pt x="0" y="285750"/>
                </a:moveTo>
                <a:lnTo>
                  <a:pt x="116085" y="285750"/>
                </a:lnTo>
                <a:lnTo>
                  <a:pt x="116085" y="0"/>
                </a:lnTo>
                <a:lnTo>
                  <a:pt x="0" y="0"/>
                </a:lnTo>
                <a:lnTo>
                  <a:pt x="0" y="285750"/>
                </a:lnTo>
                <a:close/>
              </a:path>
            </a:pathLst>
          </a:custGeom>
          <a:solidFill>
            <a:srgbClr val="FF2600"/>
          </a:solidFill>
        </p:spPr>
        <p:txBody>
          <a:bodyPr wrap="square" lIns="0" tIns="0" rIns="0" bIns="0" rtlCol="0"/>
          <a:lstStyle/>
          <a:p>
            <a:endParaRPr/>
          </a:p>
        </p:txBody>
      </p:sp>
      <p:sp>
        <p:nvSpPr>
          <p:cNvPr id="8" name="object 8"/>
          <p:cNvSpPr/>
          <p:nvPr/>
        </p:nvSpPr>
        <p:spPr>
          <a:xfrm>
            <a:off x="2990353" y="2828579"/>
            <a:ext cx="116205" cy="285750"/>
          </a:xfrm>
          <a:custGeom>
            <a:avLst/>
            <a:gdLst/>
            <a:ahLst/>
            <a:cxnLst/>
            <a:rect l="l" t="t" r="r" b="b"/>
            <a:pathLst>
              <a:path w="116205" h="285750">
                <a:moveTo>
                  <a:pt x="0" y="0"/>
                </a:moveTo>
                <a:lnTo>
                  <a:pt x="116085" y="0"/>
                </a:lnTo>
                <a:lnTo>
                  <a:pt x="116085" y="285750"/>
                </a:lnTo>
                <a:lnTo>
                  <a:pt x="0" y="285750"/>
                </a:lnTo>
                <a:lnTo>
                  <a:pt x="0" y="0"/>
                </a:lnTo>
                <a:close/>
              </a:path>
            </a:pathLst>
          </a:custGeom>
          <a:ln w="3175">
            <a:solidFill>
              <a:srgbClr val="000000"/>
            </a:solidFill>
          </a:ln>
        </p:spPr>
        <p:txBody>
          <a:bodyPr wrap="square" lIns="0" tIns="0" rIns="0" bIns="0" rtlCol="0"/>
          <a:lstStyle/>
          <a:p>
            <a:endParaRPr/>
          </a:p>
        </p:txBody>
      </p:sp>
      <p:sp>
        <p:nvSpPr>
          <p:cNvPr id="9" name="object 9"/>
          <p:cNvSpPr txBox="1"/>
          <p:nvPr/>
        </p:nvSpPr>
        <p:spPr>
          <a:xfrm>
            <a:off x="2988369" y="3276600"/>
            <a:ext cx="183515" cy="228600"/>
          </a:xfrm>
          <a:prstGeom prst="rect">
            <a:avLst/>
          </a:prstGeom>
        </p:spPr>
        <p:txBody>
          <a:bodyPr vert="horz" wrap="square" lIns="0" tIns="0" rIns="0" bIns="0" rtlCol="0">
            <a:spAutoFit/>
          </a:bodyPr>
          <a:lstStyle/>
          <a:p>
            <a:pPr marL="12700">
              <a:lnSpc>
                <a:spcPct val="100000"/>
              </a:lnSpc>
            </a:pPr>
            <a:r>
              <a:rPr sz="1600" spc="-15" dirty="0">
                <a:solidFill>
                  <a:srgbClr val="FF2600"/>
                </a:solidFill>
                <a:latin typeface="Arial"/>
                <a:cs typeface="Arial"/>
              </a:rPr>
              <a:t>Q</a:t>
            </a:r>
            <a:endParaRPr sz="1600">
              <a:latin typeface="Arial"/>
              <a:cs typeface="Arial"/>
            </a:endParaRPr>
          </a:p>
        </p:txBody>
      </p:sp>
      <p:sp>
        <p:nvSpPr>
          <p:cNvPr id="10" name="object 10"/>
          <p:cNvSpPr/>
          <p:nvPr/>
        </p:nvSpPr>
        <p:spPr>
          <a:xfrm>
            <a:off x="3106440" y="2828579"/>
            <a:ext cx="2447290" cy="285750"/>
          </a:xfrm>
          <a:custGeom>
            <a:avLst/>
            <a:gdLst/>
            <a:ahLst/>
            <a:cxnLst/>
            <a:rect l="l" t="t" r="r" b="b"/>
            <a:pathLst>
              <a:path w="2447290" h="285750">
                <a:moveTo>
                  <a:pt x="0" y="285750"/>
                </a:moveTo>
                <a:lnTo>
                  <a:pt x="2446733" y="285750"/>
                </a:lnTo>
                <a:lnTo>
                  <a:pt x="2446733" y="0"/>
                </a:lnTo>
                <a:lnTo>
                  <a:pt x="0" y="0"/>
                </a:lnTo>
                <a:lnTo>
                  <a:pt x="0" y="285750"/>
                </a:lnTo>
                <a:close/>
              </a:path>
            </a:pathLst>
          </a:custGeom>
          <a:solidFill>
            <a:srgbClr val="0433FF"/>
          </a:solidFill>
        </p:spPr>
        <p:txBody>
          <a:bodyPr wrap="square" lIns="0" tIns="0" rIns="0" bIns="0" rtlCol="0"/>
          <a:lstStyle/>
          <a:p>
            <a:endParaRPr/>
          </a:p>
        </p:txBody>
      </p:sp>
      <p:sp>
        <p:nvSpPr>
          <p:cNvPr id="11" name="object 11"/>
          <p:cNvSpPr/>
          <p:nvPr/>
        </p:nvSpPr>
        <p:spPr>
          <a:xfrm>
            <a:off x="3106440" y="2828579"/>
            <a:ext cx="2447290" cy="285750"/>
          </a:xfrm>
          <a:custGeom>
            <a:avLst/>
            <a:gdLst/>
            <a:ahLst/>
            <a:cxnLst/>
            <a:rect l="l" t="t" r="r" b="b"/>
            <a:pathLst>
              <a:path w="2447290" h="285750">
                <a:moveTo>
                  <a:pt x="0" y="0"/>
                </a:moveTo>
                <a:lnTo>
                  <a:pt x="2446733" y="0"/>
                </a:lnTo>
                <a:lnTo>
                  <a:pt x="2446733" y="285750"/>
                </a:lnTo>
                <a:lnTo>
                  <a:pt x="0" y="285750"/>
                </a:lnTo>
                <a:lnTo>
                  <a:pt x="0" y="0"/>
                </a:lnTo>
                <a:close/>
              </a:path>
            </a:pathLst>
          </a:custGeom>
          <a:ln w="3175">
            <a:solidFill>
              <a:srgbClr val="000000"/>
            </a:solidFill>
          </a:ln>
        </p:spPr>
        <p:txBody>
          <a:bodyPr wrap="square" lIns="0" tIns="0" rIns="0" bIns="0" rtlCol="0"/>
          <a:lstStyle/>
          <a:p>
            <a:endParaRPr/>
          </a:p>
        </p:txBody>
      </p:sp>
      <p:sp>
        <p:nvSpPr>
          <p:cNvPr id="12" name="object 12"/>
          <p:cNvSpPr txBox="1"/>
          <p:nvPr/>
        </p:nvSpPr>
        <p:spPr>
          <a:xfrm>
            <a:off x="2178606" y="1219200"/>
            <a:ext cx="2658745" cy="407034"/>
          </a:xfrm>
          <a:prstGeom prst="rect">
            <a:avLst/>
          </a:prstGeom>
        </p:spPr>
        <p:txBody>
          <a:bodyPr vert="horz" wrap="square" lIns="0" tIns="0" rIns="0" bIns="0" rtlCol="0">
            <a:spAutoFit/>
          </a:bodyPr>
          <a:lstStyle/>
          <a:p>
            <a:pPr marL="12700">
              <a:lnSpc>
                <a:spcPct val="100000"/>
              </a:lnSpc>
            </a:pPr>
            <a:r>
              <a:rPr sz="2800" spc="-110" dirty="0">
                <a:latin typeface="Lucida Sans Unicode"/>
                <a:cs typeface="Lucida Sans Unicode"/>
              </a:rPr>
              <a:t>Π</a:t>
            </a:r>
            <a:r>
              <a:rPr sz="2800" spc="-110" dirty="0">
                <a:latin typeface="Century"/>
                <a:cs typeface="Century"/>
              </a:rPr>
              <a:t>(</a:t>
            </a:r>
            <a:r>
              <a:rPr sz="2800" i="1" spc="-110" dirty="0">
                <a:latin typeface="Times New Roman"/>
                <a:cs typeface="Times New Roman"/>
              </a:rPr>
              <a:t>P</a:t>
            </a:r>
            <a:r>
              <a:rPr sz="2800" spc="-90" dirty="0">
                <a:latin typeface="Century"/>
                <a:cs typeface="Century"/>
              </a:rPr>
              <a:t>,</a:t>
            </a:r>
            <a:r>
              <a:rPr sz="2800" spc="-315" dirty="0">
                <a:latin typeface="Century"/>
                <a:cs typeface="Century"/>
              </a:rPr>
              <a:t> </a:t>
            </a:r>
            <a:r>
              <a:rPr sz="2800" i="1" dirty="0">
                <a:latin typeface="Times New Roman"/>
                <a:cs typeface="Times New Roman"/>
              </a:rPr>
              <a:t>P</a:t>
            </a:r>
            <a:r>
              <a:rPr sz="2800" dirty="0">
                <a:latin typeface="Century"/>
                <a:cs typeface="Century"/>
              </a:rPr>
              <a:t>)</a:t>
            </a:r>
            <a:r>
              <a:rPr sz="2800" spc="-5" dirty="0">
                <a:latin typeface="Century"/>
                <a:cs typeface="Century"/>
              </a:rPr>
              <a:t> </a:t>
            </a:r>
            <a:r>
              <a:rPr sz="2800" spc="220" dirty="0">
                <a:latin typeface="Century"/>
                <a:cs typeface="Century"/>
              </a:rPr>
              <a:t>&gt;</a:t>
            </a:r>
            <a:r>
              <a:rPr sz="2800" spc="-5" dirty="0">
                <a:latin typeface="Century"/>
                <a:cs typeface="Century"/>
              </a:rPr>
              <a:t> </a:t>
            </a:r>
            <a:r>
              <a:rPr sz="2800" spc="-110" dirty="0">
                <a:latin typeface="Lucida Sans Unicode"/>
                <a:cs typeface="Lucida Sans Unicode"/>
              </a:rPr>
              <a:t>Π</a:t>
            </a:r>
            <a:r>
              <a:rPr sz="2800" dirty="0">
                <a:latin typeface="Century"/>
                <a:cs typeface="Century"/>
              </a:rPr>
              <a:t>(</a:t>
            </a:r>
            <a:r>
              <a:rPr sz="2800" i="1" dirty="0">
                <a:latin typeface="Times New Roman"/>
                <a:cs typeface="Times New Roman"/>
              </a:rPr>
              <a:t>Q</a:t>
            </a:r>
            <a:r>
              <a:rPr sz="2800" spc="-90" dirty="0">
                <a:latin typeface="Century"/>
                <a:cs typeface="Century"/>
              </a:rPr>
              <a:t>,</a:t>
            </a:r>
            <a:r>
              <a:rPr sz="2800" spc="-315" dirty="0">
                <a:latin typeface="Century"/>
                <a:cs typeface="Century"/>
              </a:rPr>
              <a:t> </a:t>
            </a:r>
            <a:r>
              <a:rPr sz="2800" i="1" dirty="0">
                <a:latin typeface="Times New Roman"/>
                <a:cs typeface="Times New Roman"/>
              </a:rPr>
              <a:t>P</a:t>
            </a:r>
            <a:r>
              <a:rPr sz="2800" dirty="0">
                <a:latin typeface="Century"/>
                <a:cs typeface="Century"/>
              </a:rPr>
              <a:t>)</a:t>
            </a:r>
          </a:p>
        </p:txBody>
      </p:sp>
      <p:sp>
        <p:nvSpPr>
          <p:cNvPr id="13" name="object 13"/>
          <p:cNvSpPr txBox="1"/>
          <p:nvPr/>
        </p:nvSpPr>
        <p:spPr>
          <a:xfrm>
            <a:off x="5048970" y="1219200"/>
            <a:ext cx="1258570" cy="407034"/>
          </a:xfrm>
          <a:prstGeom prst="rect">
            <a:avLst/>
          </a:prstGeom>
        </p:spPr>
        <p:txBody>
          <a:bodyPr vert="horz" wrap="square" lIns="0" tIns="0" rIns="0" bIns="0" rtlCol="0">
            <a:spAutoFit/>
          </a:bodyPr>
          <a:lstStyle/>
          <a:p>
            <a:pPr marL="12700">
              <a:lnSpc>
                <a:spcPct val="100000"/>
              </a:lnSpc>
            </a:pPr>
            <a:r>
              <a:rPr sz="2800" spc="-919" dirty="0">
                <a:latin typeface="Lucida Sans Unicode"/>
                <a:cs typeface="Lucida Sans Unicode"/>
              </a:rPr>
              <a:t>∀</a:t>
            </a:r>
            <a:r>
              <a:rPr sz="2800" spc="45" dirty="0">
                <a:latin typeface="Lucida Sans Unicode"/>
                <a:cs typeface="Lucida Sans Unicode"/>
              </a:rPr>
              <a:t> </a:t>
            </a:r>
            <a:r>
              <a:rPr sz="2800" i="1" dirty="0">
                <a:latin typeface="Times New Roman"/>
                <a:cs typeface="Times New Roman"/>
              </a:rPr>
              <a:t>Q</a:t>
            </a:r>
            <a:r>
              <a:rPr sz="2800" i="1" spc="75" dirty="0">
                <a:latin typeface="Times New Roman"/>
                <a:cs typeface="Times New Roman"/>
              </a:rPr>
              <a:t> </a:t>
            </a:r>
            <a:r>
              <a:rPr sz="2800" spc="-315" dirty="0">
                <a:latin typeface="Lucida Sans Unicode"/>
                <a:cs typeface="Lucida Sans Unicode"/>
              </a:rPr>
              <a:t>≠</a:t>
            </a:r>
            <a:r>
              <a:rPr sz="2800" spc="-110" dirty="0">
                <a:latin typeface="Lucida Sans Unicode"/>
                <a:cs typeface="Lucida Sans Unicode"/>
              </a:rPr>
              <a:t> </a:t>
            </a:r>
            <a:r>
              <a:rPr sz="2800" i="1" dirty="0">
                <a:latin typeface="Times New Roman"/>
                <a:cs typeface="Times New Roman"/>
              </a:rPr>
              <a:t>P</a:t>
            </a:r>
            <a:endParaRPr sz="2800" dirty="0">
              <a:latin typeface="Times New Roman"/>
              <a:cs typeface="Times New Roman"/>
            </a:endParaRPr>
          </a:p>
        </p:txBody>
      </p:sp>
      <p:sp>
        <p:nvSpPr>
          <p:cNvPr id="14" name="object 14"/>
          <p:cNvSpPr txBox="1"/>
          <p:nvPr/>
        </p:nvSpPr>
        <p:spPr>
          <a:xfrm>
            <a:off x="218273" y="3504333"/>
            <a:ext cx="8477250" cy="1257300"/>
          </a:xfrm>
          <a:prstGeom prst="rect">
            <a:avLst/>
          </a:prstGeom>
        </p:spPr>
        <p:txBody>
          <a:bodyPr vert="horz" wrap="square" lIns="0" tIns="0" rIns="0" bIns="0" rtlCol="0">
            <a:spAutoFit/>
          </a:bodyPr>
          <a:lstStyle/>
          <a:p>
            <a:pPr algn="ctr">
              <a:lnSpc>
                <a:spcPts val="2570"/>
              </a:lnSpc>
            </a:pPr>
            <a:r>
              <a:rPr sz="2200" dirty="0">
                <a:latin typeface="Gill Sans MT"/>
                <a:cs typeface="Gill Sans MT"/>
              </a:rPr>
              <a:t>Q</a:t>
            </a:r>
            <a:r>
              <a:rPr sz="2200" spc="-5" dirty="0">
                <a:latin typeface="Gill Sans MT"/>
                <a:cs typeface="Gill Sans MT"/>
              </a:rPr>
              <a:t> </a:t>
            </a:r>
            <a:r>
              <a:rPr sz="2200" spc="-45" dirty="0">
                <a:latin typeface="Gill Sans MT"/>
                <a:cs typeface="Gill Sans MT"/>
              </a:rPr>
              <a:t>m</a:t>
            </a:r>
            <a:r>
              <a:rPr sz="2200" spc="-10" dirty="0">
                <a:latin typeface="Gill Sans MT"/>
                <a:cs typeface="Gill Sans MT"/>
              </a:rPr>
              <a:t>us</a:t>
            </a:r>
            <a:r>
              <a:rPr sz="2200" dirty="0">
                <a:latin typeface="Gill Sans MT"/>
                <a:cs typeface="Gill Sans MT"/>
              </a:rPr>
              <a:t>t</a:t>
            </a:r>
            <a:r>
              <a:rPr sz="2200" spc="-5" dirty="0">
                <a:latin typeface="Gill Sans MT"/>
                <a:cs typeface="Gill Sans MT"/>
              </a:rPr>
              <a:t> </a:t>
            </a:r>
            <a:r>
              <a:rPr sz="2200" dirty="0">
                <a:latin typeface="Gill Sans MT"/>
                <a:cs typeface="Gill Sans MT"/>
              </a:rPr>
              <a:t>be</a:t>
            </a:r>
            <a:r>
              <a:rPr sz="2200" spc="-5" dirty="0">
                <a:latin typeface="Gill Sans MT"/>
                <a:cs typeface="Gill Sans MT"/>
              </a:rPr>
              <a:t> </a:t>
            </a:r>
            <a:r>
              <a:rPr sz="2200" spc="-45" dirty="0">
                <a:latin typeface="Gill Sans MT"/>
                <a:cs typeface="Gill Sans MT"/>
              </a:rPr>
              <a:t>w</a:t>
            </a:r>
            <a:r>
              <a:rPr sz="2200" spc="-10" dirty="0">
                <a:latin typeface="Gill Sans MT"/>
                <a:cs typeface="Gill Sans MT"/>
              </a:rPr>
              <a:t>ors</a:t>
            </a:r>
            <a:r>
              <a:rPr sz="2200" dirty="0">
                <a:latin typeface="Gill Sans MT"/>
                <a:cs typeface="Gill Sans MT"/>
              </a:rPr>
              <a:t>e</a:t>
            </a:r>
            <a:r>
              <a:rPr sz="2200" spc="-5" dirty="0">
                <a:latin typeface="Gill Sans MT"/>
                <a:cs typeface="Gill Sans MT"/>
              </a:rPr>
              <a:t> </a:t>
            </a:r>
            <a:r>
              <a:rPr sz="2200" spc="-15" dirty="0">
                <a:latin typeface="Gill Sans MT"/>
                <a:cs typeface="Gill Sans MT"/>
              </a:rPr>
              <a:t>o</a:t>
            </a:r>
            <a:r>
              <a:rPr sz="2200" dirty="0">
                <a:latin typeface="Gill Sans MT"/>
                <a:cs typeface="Gill Sans MT"/>
              </a:rPr>
              <a:t>ff</a:t>
            </a:r>
            <a:r>
              <a:rPr sz="2200" spc="-5" dirty="0">
                <a:latin typeface="Gill Sans MT"/>
                <a:cs typeface="Gill Sans MT"/>
              </a:rPr>
              <a:t> </a:t>
            </a:r>
            <a:r>
              <a:rPr sz="2200" spc="-25" dirty="0">
                <a:latin typeface="Gill Sans MT"/>
                <a:cs typeface="Gill Sans MT"/>
              </a:rPr>
              <a:t>f</a:t>
            </a:r>
            <a:r>
              <a:rPr sz="2200" spc="-15" dirty="0">
                <a:latin typeface="Gill Sans MT"/>
                <a:cs typeface="Gill Sans MT"/>
              </a:rPr>
              <a:t>or</a:t>
            </a:r>
            <a:r>
              <a:rPr sz="2200" spc="-5" dirty="0">
                <a:latin typeface="Gill Sans MT"/>
                <a:cs typeface="Gill Sans MT"/>
              </a:rPr>
              <a:t> </a:t>
            </a:r>
            <a:r>
              <a:rPr sz="2200" spc="-15" dirty="0">
                <a:latin typeface="Gill Sans MT"/>
                <a:cs typeface="Gill Sans MT"/>
              </a:rPr>
              <a:t>P</a:t>
            </a:r>
            <a:r>
              <a:rPr sz="2200" spc="-5" dirty="0">
                <a:latin typeface="Gill Sans MT"/>
                <a:cs typeface="Gill Sans MT"/>
              </a:rPr>
              <a:t> </a:t>
            </a:r>
            <a:r>
              <a:rPr sz="2200" spc="-10" dirty="0">
                <a:latin typeface="Gill Sans MT"/>
                <a:cs typeface="Gill Sans MT"/>
              </a:rPr>
              <a:t>to</a:t>
            </a:r>
            <a:r>
              <a:rPr sz="2200" spc="-5" dirty="0">
                <a:latin typeface="Gill Sans MT"/>
                <a:cs typeface="Gill Sans MT"/>
              </a:rPr>
              <a:t> </a:t>
            </a:r>
            <a:r>
              <a:rPr sz="2200" dirty="0">
                <a:latin typeface="Gill Sans MT"/>
                <a:cs typeface="Gill Sans MT"/>
              </a:rPr>
              <a:t>be</a:t>
            </a:r>
            <a:r>
              <a:rPr sz="2200" spc="-5" dirty="0">
                <a:latin typeface="Gill Sans MT"/>
                <a:cs typeface="Gill Sans MT"/>
              </a:rPr>
              <a:t> </a:t>
            </a:r>
            <a:r>
              <a:rPr sz="2200" dirty="0">
                <a:latin typeface="Gill Sans MT"/>
                <a:cs typeface="Gill Sans MT"/>
              </a:rPr>
              <a:t>ESS!</a:t>
            </a:r>
          </a:p>
          <a:p>
            <a:pPr algn="ctr">
              <a:lnSpc>
                <a:spcPts val="2570"/>
              </a:lnSpc>
              <a:tabLst>
                <a:tab pos="3147695" algn="l"/>
              </a:tabLst>
            </a:pPr>
            <a:r>
              <a:rPr sz="2200" dirty="0">
                <a:latin typeface="Gill Sans MT"/>
                <a:cs typeface="Gill Sans MT"/>
              </a:rPr>
              <a:t>With</a:t>
            </a:r>
            <a:r>
              <a:rPr sz="2200" spc="-5" dirty="0">
                <a:latin typeface="Gill Sans MT"/>
                <a:cs typeface="Gill Sans MT"/>
              </a:rPr>
              <a:t> </a:t>
            </a:r>
            <a:r>
              <a:rPr sz="2200" spc="-15" dirty="0">
                <a:latin typeface="Gill Sans MT"/>
                <a:cs typeface="Gill Sans MT"/>
              </a:rPr>
              <a:t>sma</a:t>
            </a:r>
            <a:r>
              <a:rPr sz="2200" dirty="0">
                <a:latin typeface="Gill Sans MT"/>
                <a:cs typeface="Gill Sans MT"/>
              </a:rPr>
              <a:t>ll</a:t>
            </a:r>
            <a:r>
              <a:rPr sz="2200" spc="-5" dirty="0">
                <a:latin typeface="Gill Sans MT"/>
                <a:cs typeface="Gill Sans MT"/>
              </a:rPr>
              <a:t> </a:t>
            </a:r>
            <a:r>
              <a:rPr sz="2200" spc="-45" dirty="0">
                <a:latin typeface="Gill Sans MT"/>
                <a:cs typeface="Gill Sans MT"/>
              </a:rPr>
              <a:t>m</a:t>
            </a:r>
            <a:r>
              <a:rPr sz="2200" spc="-10" dirty="0">
                <a:latin typeface="Gill Sans MT"/>
                <a:cs typeface="Gill Sans MT"/>
              </a:rPr>
              <a:t>uta</a:t>
            </a:r>
            <a:r>
              <a:rPr sz="2200" dirty="0">
                <a:latin typeface="Gill Sans MT"/>
                <a:cs typeface="Gill Sans MT"/>
              </a:rPr>
              <a:t>ti</a:t>
            </a:r>
            <a:r>
              <a:rPr sz="2200" spc="-15" dirty="0">
                <a:latin typeface="Gill Sans MT"/>
                <a:cs typeface="Gill Sans MT"/>
              </a:rPr>
              <a:t>o</a:t>
            </a:r>
            <a:r>
              <a:rPr sz="2200" dirty="0">
                <a:latin typeface="Gill Sans MT"/>
                <a:cs typeface="Gill Sans MT"/>
              </a:rPr>
              <a:t>n</a:t>
            </a:r>
            <a:r>
              <a:rPr sz="2200" spc="-5" dirty="0">
                <a:latin typeface="Gill Sans MT"/>
                <a:cs typeface="Gill Sans MT"/>
              </a:rPr>
              <a:t> </a:t>
            </a:r>
            <a:r>
              <a:rPr sz="2200" spc="-10" dirty="0">
                <a:latin typeface="Gill Sans MT"/>
                <a:cs typeface="Gill Sans MT"/>
              </a:rPr>
              <a:t>rates</a:t>
            </a:r>
            <a:r>
              <a:rPr sz="2200" dirty="0">
                <a:latin typeface="Gill Sans MT"/>
                <a:cs typeface="Gill Sans MT"/>
              </a:rPr>
              <a:t>,	the</a:t>
            </a:r>
            <a:r>
              <a:rPr sz="2200" spc="-5" dirty="0">
                <a:latin typeface="Gill Sans MT"/>
                <a:cs typeface="Gill Sans MT"/>
              </a:rPr>
              <a:t> </a:t>
            </a:r>
            <a:r>
              <a:rPr sz="2200" spc="-15" dirty="0">
                <a:latin typeface="Gill Sans MT"/>
                <a:cs typeface="Gill Sans MT"/>
              </a:rPr>
              <a:t>co</a:t>
            </a:r>
            <a:r>
              <a:rPr sz="2200" dirty="0">
                <a:latin typeface="Gill Sans MT"/>
                <a:cs typeface="Gill Sans MT"/>
              </a:rPr>
              <a:t>mpet</a:t>
            </a:r>
            <a:r>
              <a:rPr sz="2200" spc="-5" dirty="0">
                <a:latin typeface="Gill Sans MT"/>
                <a:cs typeface="Gill Sans MT"/>
              </a:rPr>
              <a:t>i</a:t>
            </a:r>
            <a:r>
              <a:rPr sz="2200" dirty="0">
                <a:latin typeface="Gill Sans MT"/>
                <a:cs typeface="Gill Sans MT"/>
              </a:rPr>
              <a:t>ti</a:t>
            </a:r>
            <a:r>
              <a:rPr sz="2200" spc="-15" dirty="0">
                <a:latin typeface="Gill Sans MT"/>
                <a:cs typeface="Gill Sans MT"/>
              </a:rPr>
              <a:t>o</a:t>
            </a:r>
            <a:r>
              <a:rPr sz="2200" dirty="0">
                <a:latin typeface="Gill Sans MT"/>
                <a:cs typeface="Gill Sans MT"/>
              </a:rPr>
              <a:t>n</a:t>
            </a:r>
            <a:r>
              <a:rPr sz="2200" spc="-5" dirty="0">
                <a:latin typeface="Gill Sans MT"/>
                <a:cs typeface="Gill Sans MT"/>
              </a:rPr>
              <a:t> </a:t>
            </a:r>
            <a:r>
              <a:rPr sz="2200" dirty="0">
                <a:latin typeface="Gill Sans MT"/>
                <a:cs typeface="Gill Sans MT"/>
              </a:rPr>
              <a:t>i</a:t>
            </a:r>
            <a:r>
              <a:rPr sz="2200" spc="-10" dirty="0">
                <a:latin typeface="Gill Sans MT"/>
                <a:cs typeface="Gill Sans MT"/>
              </a:rPr>
              <a:t>s</a:t>
            </a:r>
            <a:r>
              <a:rPr sz="2200" spc="-5" dirty="0">
                <a:latin typeface="Gill Sans MT"/>
                <a:cs typeface="Gill Sans MT"/>
              </a:rPr>
              <a:t> </a:t>
            </a:r>
            <a:r>
              <a:rPr sz="2200" dirty="0">
                <a:latin typeface="Gill Sans MT"/>
                <a:cs typeface="Gill Sans MT"/>
              </a:rPr>
              <a:t>in</a:t>
            </a:r>
            <a:r>
              <a:rPr sz="2200" spc="-5" dirty="0">
                <a:latin typeface="Gill Sans MT"/>
                <a:cs typeface="Gill Sans MT"/>
              </a:rPr>
              <a:t> </a:t>
            </a:r>
            <a:r>
              <a:rPr sz="2200" spc="-10" dirty="0">
                <a:latin typeface="Gill Sans MT"/>
                <a:cs typeface="Gill Sans MT"/>
              </a:rPr>
              <a:t>a</a:t>
            </a:r>
            <a:r>
              <a:rPr sz="2200" spc="-225" dirty="0">
                <a:latin typeface="Gill Sans MT"/>
                <a:cs typeface="Gill Sans MT"/>
              </a:rPr>
              <a:t> </a:t>
            </a:r>
            <a:r>
              <a:rPr sz="2200" spc="-15" dirty="0">
                <a:latin typeface="Gill Sans MT"/>
                <a:cs typeface="Gill Sans MT"/>
              </a:rPr>
              <a:t>“mos</a:t>
            </a:r>
            <a:r>
              <a:rPr sz="2200" dirty="0">
                <a:latin typeface="Gill Sans MT"/>
                <a:cs typeface="Gill Sans MT"/>
              </a:rPr>
              <a:t>t</a:t>
            </a:r>
            <a:r>
              <a:rPr sz="2200" spc="-25" dirty="0">
                <a:latin typeface="Gill Sans MT"/>
                <a:cs typeface="Gill Sans MT"/>
              </a:rPr>
              <a:t>l</a:t>
            </a:r>
            <a:r>
              <a:rPr sz="2200" spc="-10" dirty="0">
                <a:latin typeface="Gill Sans MT"/>
                <a:cs typeface="Gill Sans MT"/>
              </a:rPr>
              <a:t>y</a:t>
            </a:r>
            <a:r>
              <a:rPr sz="2200" spc="-5" dirty="0">
                <a:latin typeface="Gill Sans MT"/>
                <a:cs typeface="Gill Sans MT"/>
              </a:rPr>
              <a:t> </a:t>
            </a:r>
            <a:r>
              <a:rPr sz="2200" spc="-15" dirty="0">
                <a:latin typeface="Gill Sans MT"/>
                <a:cs typeface="Gill Sans MT"/>
              </a:rPr>
              <a:t>P”</a:t>
            </a:r>
            <a:r>
              <a:rPr sz="2200" spc="-5" dirty="0">
                <a:latin typeface="Gill Sans MT"/>
                <a:cs typeface="Gill Sans MT"/>
              </a:rPr>
              <a:t> </a:t>
            </a:r>
            <a:r>
              <a:rPr sz="2200" dirty="0">
                <a:latin typeface="Gill Sans MT"/>
                <a:cs typeface="Gill Sans MT"/>
              </a:rPr>
              <a:t>e</a:t>
            </a:r>
            <a:r>
              <a:rPr sz="2200" spc="-35" dirty="0">
                <a:latin typeface="Gill Sans MT"/>
                <a:cs typeface="Gill Sans MT"/>
              </a:rPr>
              <a:t>n</a:t>
            </a:r>
            <a:r>
              <a:rPr sz="2200" dirty="0">
                <a:latin typeface="Gill Sans MT"/>
                <a:cs typeface="Gill Sans MT"/>
              </a:rPr>
              <a:t>vi</a:t>
            </a:r>
            <a:r>
              <a:rPr sz="2200" spc="-65" dirty="0">
                <a:latin typeface="Gill Sans MT"/>
                <a:cs typeface="Gill Sans MT"/>
              </a:rPr>
              <a:t>r</a:t>
            </a:r>
            <a:r>
              <a:rPr sz="2200" spc="-15" dirty="0">
                <a:latin typeface="Gill Sans MT"/>
                <a:cs typeface="Gill Sans MT"/>
              </a:rPr>
              <a:t>o</a:t>
            </a:r>
            <a:r>
              <a:rPr sz="2200" dirty="0">
                <a:latin typeface="Gill Sans MT"/>
                <a:cs typeface="Gill Sans MT"/>
              </a:rPr>
              <a:t>nment</a:t>
            </a:r>
          </a:p>
          <a:p>
            <a:pPr>
              <a:lnSpc>
                <a:spcPct val="100000"/>
              </a:lnSpc>
              <a:spcBef>
                <a:spcPts val="2"/>
              </a:spcBef>
            </a:pPr>
            <a:endParaRPr sz="2050" dirty="0">
              <a:latin typeface="Times New Roman"/>
              <a:cs typeface="Times New Roman"/>
            </a:endParaRPr>
          </a:p>
          <a:p>
            <a:pPr algn="ctr">
              <a:lnSpc>
                <a:spcPct val="100000"/>
              </a:lnSpc>
            </a:pPr>
            <a:r>
              <a:rPr sz="2200" dirty="0">
                <a:latin typeface="Gill Sans MT"/>
                <a:cs typeface="Gill Sans MT"/>
              </a:rPr>
              <a:t>Si</a:t>
            </a:r>
            <a:r>
              <a:rPr sz="2200" spc="-15" dirty="0">
                <a:latin typeface="Gill Sans MT"/>
                <a:cs typeface="Gill Sans MT"/>
              </a:rPr>
              <a:t>nce</a:t>
            </a:r>
            <a:r>
              <a:rPr sz="2200" spc="-5" dirty="0">
                <a:latin typeface="Gill Sans MT"/>
                <a:cs typeface="Gill Sans MT"/>
              </a:rPr>
              <a:t> </a:t>
            </a:r>
            <a:r>
              <a:rPr sz="2200" spc="-15" dirty="0">
                <a:latin typeface="Gill Sans MT"/>
                <a:cs typeface="Gill Sans MT"/>
              </a:rPr>
              <a:t>expected</a:t>
            </a:r>
            <a:r>
              <a:rPr sz="2200" spc="-5" dirty="0">
                <a:latin typeface="Gill Sans MT"/>
                <a:cs typeface="Gill Sans MT"/>
              </a:rPr>
              <a:t> </a:t>
            </a:r>
            <a:r>
              <a:rPr sz="2200" spc="-15" dirty="0">
                <a:latin typeface="Gill Sans MT"/>
                <a:cs typeface="Gill Sans MT"/>
              </a:rPr>
              <a:t>p</a:t>
            </a:r>
            <a:r>
              <a:rPr sz="2200" spc="-100" dirty="0">
                <a:latin typeface="Gill Sans MT"/>
                <a:cs typeface="Gill Sans MT"/>
              </a:rPr>
              <a:t>a</a:t>
            </a:r>
            <a:r>
              <a:rPr sz="2200" spc="-55" dirty="0">
                <a:latin typeface="Gill Sans MT"/>
                <a:cs typeface="Gill Sans MT"/>
              </a:rPr>
              <a:t>y</a:t>
            </a:r>
            <a:r>
              <a:rPr sz="2200" spc="-10" dirty="0">
                <a:latin typeface="Gill Sans MT"/>
                <a:cs typeface="Gill Sans MT"/>
              </a:rPr>
              <a:t>offs</a:t>
            </a:r>
            <a:r>
              <a:rPr sz="2200" spc="-5" dirty="0">
                <a:latin typeface="Gill Sans MT"/>
                <a:cs typeface="Gill Sans MT"/>
              </a:rPr>
              <a:t> </a:t>
            </a:r>
            <a:r>
              <a:rPr sz="2200" spc="-10" dirty="0">
                <a:latin typeface="Gill Sans MT"/>
                <a:cs typeface="Gill Sans MT"/>
              </a:rPr>
              <a:t>ca</a:t>
            </a:r>
            <a:r>
              <a:rPr sz="2200" dirty="0">
                <a:latin typeface="Gill Sans MT"/>
                <a:cs typeface="Gill Sans MT"/>
              </a:rPr>
              <a:t>n</a:t>
            </a:r>
            <a:r>
              <a:rPr sz="2200" spc="-5" dirty="0">
                <a:latin typeface="Gill Sans MT"/>
                <a:cs typeface="Gill Sans MT"/>
              </a:rPr>
              <a:t> </a:t>
            </a:r>
            <a:r>
              <a:rPr sz="2200" dirty="0">
                <a:latin typeface="Gill Sans MT"/>
                <a:cs typeface="Gill Sans MT"/>
              </a:rPr>
              <a:t>be</a:t>
            </a:r>
            <a:r>
              <a:rPr sz="2200" spc="-5" dirty="0">
                <a:latin typeface="Gill Sans MT"/>
                <a:cs typeface="Gill Sans MT"/>
              </a:rPr>
              <a:t> </a:t>
            </a:r>
            <a:r>
              <a:rPr sz="2200" dirty="0">
                <a:latin typeface="Gill Sans MT"/>
                <a:cs typeface="Gill Sans MT"/>
              </a:rPr>
              <a:t>li</a:t>
            </a:r>
            <a:r>
              <a:rPr sz="2200" spc="-15" dirty="0">
                <a:latin typeface="Gill Sans MT"/>
                <a:cs typeface="Gill Sans MT"/>
              </a:rPr>
              <a:t>nea</a:t>
            </a:r>
            <a:r>
              <a:rPr sz="2200" dirty="0">
                <a:latin typeface="Gill Sans MT"/>
                <a:cs typeface="Gill Sans MT"/>
              </a:rPr>
              <a:t>r</a:t>
            </a:r>
            <a:r>
              <a:rPr sz="2200" spc="-25" dirty="0">
                <a:latin typeface="Gill Sans MT"/>
                <a:cs typeface="Gill Sans MT"/>
              </a:rPr>
              <a:t>l</a:t>
            </a:r>
            <a:r>
              <a:rPr sz="2200" spc="-10" dirty="0">
                <a:latin typeface="Gill Sans MT"/>
                <a:cs typeface="Gill Sans MT"/>
              </a:rPr>
              <a:t>y</a:t>
            </a:r>
            <a:r>
              <a:rPr sz="2200" spc="-5" dirty="0">
                <a:latin typeface="Gill Sans MT"/>
                <a:cs typeface="Gill Sans MT"/>
              </a:rPr>
              <a:t> </a:t>
            </a:r>
            <a:r>
              <a:rPr sz="2200" dirty="0">
                <a:latin typeface="Gill Sans MT"/>
                <a:cs typeface="Gill Sans MT"/>
              </a:rPr>
              <a:t>i</a:t>
            </a:r>
            <a:r>
              <a:rPr sz="2200" spc="-15" dirty="0">
                <a:latin typeface="Gill Sans MT"/>
                <a:cs typeface="Gill Sans MT"/>
              </a:rPr>
              <a:t>nterpo</a:t>
            </a:r>
            <a:r>
              <a:rPr sz="2200" dirty="0">
                <a:latin typeface="Gill Sans MT"/>
                <a:cs typeface="Gill Sans MT"/>
              </a:rPr>
              <a:t>l</a:t>
            </a:r>
            <a:r>
              <a:rPr sz="2200" spc="-10" dirty="0">
                <a:latin typeface="Gill Sans MT"/>
                <a:cs typeface="Gill Sans MT"/>
              </a:rPr>
              <a:t>ated</a:t>
            </a:r>
            <a:r>
              <a:rPr sz="2200" dirty="0">
                <a:latin typeface="Gill Sans MT"/>
                <a:cs typeface="Gill Sans MT"/>
              </a:rPr>
              <a:t>:</a:t>
            </a:r>
          </a:p>
        </p:txBody>
      </p:sp>
      <mc:AlternateContent xmlns:mc="http://schemas.openxmlformats.org/markup-compatibility/2006" xmlns:a14="http://schemas.microsoft.com/office/drawing/2010/main">
        <mc:Choice Requires="a14">
          <p:sp>
            <p:nvSpPr>
              <p:cNvPr id="15" name="object 15"/>
              <p:cNvSpPr txBox="1"/>
              <p:nvPr/>
            </p:nvSpPr>
            <p:spPr>
              <a:xfrm>
                <a:off x="166623" y="5276160"/>
                <a:ext cx="8732981" cy="819840"/>
              </a:xfrm>
              <a:prstGeom prst="rect">
                <a:avLst/>
              </a:prstGeom>
            </p:spPr>
            <p:txBody>
              <a:bodyPr vert="horz" wrap="square" lIns="0" tIns="0" rIns="0" bIns="0" rtlCol="0">
                <a:spAutoFit/>
              </a:bodyPr>
              <a:lstStyle/>
              <a:p>
                <a:pPr marL="12700">
                  <a:lnSpc>
                    <a:spcPct val="100000"/>
                  </a:lnSpc>
                </a:pPr>
                <a14:m>
                  <m:oMathPara xmlns:m="http://schemas.openxmlformats.org/officeDocument/2006/math">
                    <m:oMathParaPr>
                      <m:jc m:val="centerGroup"/>
                    </m:oMathParaPr>
                    <m:oMath xmlns:m="http://schemas.openxmlformats.org/officeDocument/2006/math">
                      <m:nary>
                        <m:naryPr>
                          <m:chr m:val="∏"/>
                          <m:subHide m:val="on"/>
                          <m:supHide m:val="on"/>
                          <m:ctrlPr>
                            <a:rPr lang="en-US" sz="2200" i="1" smtClean="0">
                              <a:latin typeface="Cambria Math" panose="02040503050406030204" pitchFamily="18" charset="0"/>
                              <a:cs typeface="Tahoma"/>
                            </a:rPr>
                          </m:ctrlPr>
                        </m:naryPr>
                        <m:sub/>
                        <m:sup/>
                        <m:e>
                          <m:d>
                            <m:dPr>
                              <m:ctrlPr>
                                <a:rPr lang="en-US" sz="2200" b="0" i="1" smtClean="0">
                                  <a:latin typeface="Cambria Math" panose="02040503050406030204" pitchFamily="18" charset="0"/>
                                  <a:cs typeface="Tahoma"/>
                                </a:rPr>
                              </m:ctrlPr>
                            </m:dPr>
                            <m:e>
                              <m:r>
                                <a:rPr lang="en-US" sz="2200" b="0" i="1" smtClean="0">
                                  <a:latin typeface="Cambria Math" panose="02040503050406030204" pitchFamily="18" charset="0"/>
                                  <a:cs typeface="Tahoma"/>
                                </a:rPr>
                                <m:t>𝑃</m:t>
                              </m:r>
                              <m:r>
                                <a:rPr lang="en-US" sz="2200" b="0" i="1" smtClean="0">
                                  <a:latin typeface="Cambria Math" panose="02040503050406030204" pitchFamily="18" charset="0"/>
                                  <a:cs typeface="Tahoma"/>
                                </a:rPr>
                                <m:t>, </m:t>
                              </m:r>
                              <m:r>
                                <a:rPr lang="en-US" sz="2200" b="0" i="1" smtClean="0">
                                  <a:latin typeface="Cambria Math" panose="02040503050406030204" pitchFamily="18" charset="0"/>
                                  <a:cs typeface="Tahoma"/>
                                </a:rPr>
                                <m:t>𝜖</m:t>
                              </m:r>
                              <m:r>
                                <a:rPr lang="en-US" sz="2200" b="0" i="1" smtClean="0">
                                  <a:latin typeface="Cambria Math" panose="02040503050406030204" pitchFamily="18" charset="0"/>
                                  <a:cs typeface="Tahoma"/>
                                </a:rPr>
                                <m:t>𝑄</m:t>
                              </m:r>
                              <m:r>
                                <a:rPr lang="en-US" sz="2200" b="0" i="1" smtClean="0">
                                  <a:latin typeface="Cambria Math" panose="02040503050406030204" pitchFamily="18" charset="0"/>
                                  <a:cs typeface="Tahoma"/>
                                </a:rPr>
                                <m:t>+</m:t>
                              </m:r>
                              <m:d>
                                <m:dPr>
                                  <m:ctrlPr>
                                    <a:rPr lang="en-US" sz="2200" b="0" i="1" smtClean="0">
                                      <a:latin typeface="Cambria Math" panose="02040503050406030204" pitchFamily="18" charset="0"/>
                                      <a:cs typeface="Tahoma"/>
                                    </a:rPr>
                                  </m:ctrlPr>
                                </m:dPr>
                                <m:e>
                                  <m:r>
                                    <a:rPr lang="en-US" sz="2200" b="0" i="1" smtClean="0">
                                      <a:latin typeface="Cambria Math" panose="02040503050406030204" pitchFamily="18" charset="0"/>
                                      <a:cs typeface="Tahoma"/>
                                    </a:rPr>
                                    <m:t>1</m:t>
                                  </m:r>
                                  <m:r>
                                    <a:rPr lang="en-US" sz="2200" b="0" i="1" smtClean="0">
                                      <a:latin typeface="Cambria Math" panose="02040503050406030204" pitchFamily="18" charset="0"/>
                                      <a:cs typeface="Tahoma"/>
                                    </a:rPr>
                                    <m:t>−</m:t>
                                  </m:r>
                                  <m:r>
                                    <a:rPr lang="en-US" sz="2200" b="0" i="1" smtClean="0">
                                      <a:latin typeface="Cambria Math" panose="02040503050406030204" pitchFamily="18" charset="0"/>
                                      <a:cs typeface="Tahoma"/>
                                    </a:rPr>
                                    <m:t>𝜖</m:t>
                                  </m:r>
                                </m:e>
                              </m:d>
                              <m:r>
                                <a:rPr lang="en-US" sz="2200" b="0" i="1" smtClean="0">
                                  <a:latin typeface="Cambria Math" panose="02040503050406030204" pitchFamily="18" charset="0"/>
                                  <a:cs typeface="Tahoma"/>
                                </a:rPr>
                                <m:t>𝑃</m:t>
                              </m:r>
                            </m:e>
                          </m:d>
                          <m:r>
                            <a:rPr lang="en-US" sz="2200" b="0" i="1" smtClean="0">
                              <a:latin typeface="Cambria Math" panose="02040503050406030204" pitchFamily="18" charset="0"/>
                              <a:cs typeface="Tahoma"/>
                            </a:rPr>
                            <m:t>&gt;</m:t>
                          </m:r>
                          <m:nary>
                            <m:naryPr>
                              <m:chr m:val="∏"/>
                              <m:subHide m:val="on"/>
                              <m:supHide m:val="on"/>
                              <m:ctrlPr>
                                <a:rPr lang="en-US" sz="2200" b="0" i="1" smtClean="0">
                                  <a:latin typeface="Cambria Math" panose="02040503050406030204" pitchFamily="18" charset="0"/>
                                  <a:cs typeface="Tahoma"/>
                                </a:rPr>
                              </m:ctrlPr>
                            </m:naryPr>
                            <m:sub/>
                            <m:sup/>
                            <m:e>
                              <m:d>
                                <m:dPr>
                                  <m:ctrlPr>
                                    <a:rPr lang="en-US" sz="2200" b="0" i="1" smtClean="0">
                                      <a:latin typeface="Cambria Math" panose="02040503050406030204" pitchFamily="18" charset="0"/>
                                      <a:cs typeface="Tahoma"/>
                                    </a:rPr>
                                  </m:ctrlPr>
                                </m:dPr>
                                <m:e>
                                  <m:r>
                                    <a:rPr lang="en-US" sz="2200" b="0" i="1" smtClean="0">
                                      <a:latin typeface="Cambria Math" panose="02040503050406030204" pitchFamily="18" charset="0"/>
                                      <a:cs typeface="Tahoma"/>
                                    </a:rPr>
                                    <m:t>𝑄</m:t>
                                  </m:r>
                                  <m:r>
                                    <a:rPr lang="en-US" sz="2200" b="0" i="1" smtClean="0">
                                      <a:latin typeface="Cambria Math" panose="02040503050406030204" pitchFamily="18" charset="0"/>
                                      <a:cs typeface="Tahoma"/>
                                    </a:rPr>
                                    <m:t>,</m:t>
                                  </m:r>
                                  <m:r>
                                    <a:rPr lang="en-US" sz="2200" b="0" i="1" smtClean="0">
                                      <a:latin typeface="Cambria Math" panose="02040503050406030204" pitchFamily="18" charset="0"/>
                                      <a:cs typeface="Tahoma"/>
                                    </a:rPr>
                                    <m:t>𝜖</m:t>
                                  </m:r>
                                  <m:r>
                                    <a:rPr lang="en-US" sz="2200" b="0" i="1" smtClean="0">
                                      <a:latin typeface="Cambria Math" panose="02040503050406030204" pitchFamily="18" charset="0"/>
                                      <a:cs typeface="Tahoma"/>
                                    </a:rPr>
                                    <m:t>𝑄</m:t>
                                  </m:r>
                                  <m:r>
                                    <a:rPr lang="en-US" sz="2200" b="0" i="1" smtClean="0">
                                      <a:latin typeface="Cambria Math" panose="02040503050406030204" pitchFamily="18" charset="0"/>
                                      <a:cs typeface="Tahoma"/>
                                    </a:rPr>
                                    <m:t>+</m:t>
                                  </m:r>
                                  <m:d>
                                    <m:dPr>
                                      <m:ctrlPr>
                                        <a:rPr lang="en-US" sz="2200" b="0" i="1" smtClean="0">
                                          <a:latin typeface="Cambria Math" panose="02040503050406030204" pitchFamily="18" charset="0"/>
                                          <a:cs typeface="Tahoma"/>
                                        </a:rPr>
                                      </m:ctrlPr>
                                    </m:dPr>
                                    <m:e>
                                      <m:r>
                                        <a:rPr lang="en-US" sz="2200" b="0" i="1" smtClean="0">
                                          <a:latin typeface="Cambria Math" panose="02040503050406030204" pitchFamily="18" charset="0"/>
                                          <a:cs typeface="Tahoma"/>
                                        </a:rPr>
                                        <m:t>1</m:t>
                                      </m:r>
                                      <m:r>
                                        <a:rPr lang="en-US" sz="2200" b="0" i="1" smtClean="0">
                                          <a:latin typeface="Cambria Math" panose="02040503050406030204" pitchFamily="18" charset="0"/>
                                          <a:cs typeface="Tahoma"/>
                                        </a:rPr>
                                        <m:t>−</m:t>
                                      </m:r>
                                      <m:r>
                                        <a:rPr lang="en-US" sz="2200" b="0" i="1" smtClean="0">
                                          <a:latin typeface="Cambria Math" panose="02040503050406030204" pitchFamily="18" charset="0"/>
                                          <a:cs typeface="Tahoma"/>
                                        </a:rPr>
                                        <m:t>𝜖</m:t>
                                      </m:r>
                                    </m:e>
                                  </m:d>
                                  <m:r>
                                    <a:rPr lang="en-US" sz="2200" b="0" i="1" smtClean="0">
                                      <a:latin typeface="Cambria Math" panose="02040503050406030204" pitchFamily="18" charset="0"/>
                                      <a:cs typeface="Tahoma"/>
                                    </a:rPr>
                                    <m:t>𝑃</m:t>
                                  </m:r>
                                </m:e>
                              </m:d>
                            </m:e>
                          </m:nary>
                          <m:r>
                            <a:rPr lang="en-US" sz="2200" b="0" i="1" smtClean="0">
                              <a:latin typeface="Cambria Math" panose="02040503050406030204" pitchFamily="18" charset="0"/>
                              <a:cs typeface="Tahoma"/>
                            </a:rPr>
                            <m:t>      ∀</m:t>
                          </m:r>
                          <m:r>
                            <a:rPr lang="en-US" sz="2200" b="0" i="1" smtClean="0">
                              <a:latin typeface="Cambria Math" panose="02040503050406030204" pitchFamily="18" charset="0"/>
                              <a:cs typeface="Tahoma"/>
                            </a:rPr>
                            <m:t>𝑄</m:t>
                          </m:r>
                          <m:r>
                            <a:rPr lang="en-US" sz="2200" b="0" i="1" smtClean="0">
                              <a:latin typeface="Cambria Math" panose="02040503050406030204" pitchFamily="18" charset="0"/>
                              <a:cs typeface="Tahoma"/>
                            </a:rPr>
                            <m:t>≠</m:t>
                          </m:r>
                          <m:r>
                            <a:rPr lang="en-US" sz="2200" b="0" i="1" smtClean="0">
                              <a:latin typeface="Cambria Math" panose="02040503050406030204" pitchFamily="18" charset="0"/>
                              <a:cs typeface="Tahoma"/>
                            </a:rPr>
                            <m:t>𝑃</m:t>
                          </m:r>
                          <m:r>
                            <a:rPr lang="en-US" sz="2200" b="0" i="1" smtClean="0">
                              <a:latin typeface="Cambria Math" panose="02040503050406030204" pitchFamily="18" charset="0"/>
                              <a:cs typeface="Tahoma"/>
                            </a:rPr>
                            <m:t>, </m:t>
                          </m:r>
                          <m:r>
                            <m:rPr>
                              <m:sty m:val="p"/>
                            </m:rPr>
                            <a:rPr lang="en-US" sz="2200" b="0" i="0" smtClean="0">
                              <a:latin typeface="Cambria Math" panose="02040503050406030204" pitchFamily="18" charset="0"/>
                              <a:cs typeface="Tahoma"/>
                            </a:rPr>
                            <m:t>small</m:t>
                          </m:r>
                          <m:r>
                            <a:rPr lang="en-US" sz="2200" b="0" i="1" smtClean="0">
                              <a:latin typeface="Cambria Math" panose="02040503050406030204" pitchFamily="18" charset="0"/>
                              <a:cs typeface="Tahoma"/>
                            </a:rPr>
                            <m:t> </m:t>
                          </m:r>
                          <m:r>
                            <a:rPr lang="en-US" sz="2200" b="0" i="1" smtClean="0">
                              <a:latin typeface="Cambria Math" panose="02040503050406030204" pitchFamily="18" charset="0"/>
                              <a:cs typeface="Tahoma"/>
                            </a:rPr>
                            <m:t>𝜖</m:t>
                          </m:r>
                        </m:e>
                      </m:nary>
                    </m:oMath>
                  </m:oMathPara>
                </a14:m>
                <a:endParaRPr sz="2200" dirty="0">
                  <a:latin typeface="Tahoma"/>
                  <a:cs typeface="Tahoma"/>
                </a:endParaRPr>
              </a:p>
            </p:txBody>
          </p:sp>
        </mc:Choice>
        <mc:Fallback xmlns="">
          <p:sp>
            <p:nvSpPr>
              <p:cNvPr id="15" name="object 15"/>
              <p:cNvSpPr txBox="1">
                <a:spLocks noRot="1" noChangeAspect="1" noMove="1" noResize="1" noEditPoints="1" noAdjustHandles="1" noChangeArrowheads="1" noChangeShapeType="1" noTextEdit="1"/>
              </p:cNvSpPr>
              <p:nvPr/>
            </p:nvSpPr>
            <p:spPr>
              <a:xfrm>
                <a:off x="166623" y="5276160"/>
                <a:ext cx="8732981" cy="819840"/>
              </a:xfrm>
              <a:prstGeom prst="rect">
                <a:avLst/>
              </a:prstGeom>
              <a:blipFill>
                <a:blip r:embed="rId3"/>
                <a:stretch>
                  <a:fillRect/>
                </a:stretch>
              </a:blipFill>
            </p:spPr>
            <p:txBody>
              <a:bodyPr/>
              <a:lstStyle/>
              <a:p>
                <a:r>
                  <a:rPr lang="en-US">
                    <a:noFill/>
                  </a:rPr>
                  <a:t> </a:t>
                </a:r>
              </a:p>
            </p:txBody>
          </p:sp>
        </mc:Fallback>
      </mc:AlternateContent>
      <p:sp>
        <p:nvSpPr>
          <p:cNvPr id="17" name="object 17"/>
          <p:cNvSpPr txBox="1"/>
          <p:nvPr/>
        </p:nvSpPr>
        <p:spPr>
          <a:xfrm>
            <a:off x="288558" y="312371"/>
            <a:ext cx="5064760" cy="381000"/>
          </a:xfrm>
          <a:prstGeom prst="rect">
            <a:avLst/>
          </a:prstGeom>
        </p:spPr>
        <p:txBody>
          <a:bodyPr vert="horz" wrap="square" lIns="0" tIns="0" rIns="0" bIns="0" rtlCol="0">
            <a:spAutoFit/>
          </a:bodyPr>
          <a:lstStyle/>
          <a:p>
            <a:pPr marL="12700">
              <a:lnSpc>
                <a:spcPct val="100000"/>
              </a:lnSpc>
            </a:pPr>
            <a:r>
              <a:rPr sz="2800" b="1" dirty="0">
                <a:latin typeface="Arial"/>
                <a:cs typeface="Arial"/>
              </a:rPr>
              <a:t>Ev</a:t>
            </a:r>
            <a:r>
              <a:rPr sz="2800" b="1" spc="-25" dirty="0">
                <a:latin typeface="Arial"/>
                <a:cs typeface="Arial"/>
              </a:rPr>
              <a:t>o</a:t>
            </a:r>
            <a:r>
              <a:rPr sz="2800" b="1" spc="-10" dirty="0">
                <a:latin typeface="Arial"/>
                <a:cs typeface="Arial"/>
              </a:rPr>
              <a:t>l</a:t>
            </a:r>
            <a:r>
              <a:rPr sz="2800" b="1" spc="-25" dirty="0">
                <a:latin typeface="Arial"/>
                <a:cs typeface="Arial"/>
              </a:rPr>
              <a:t>u</a:t>
            </a:r>
            <a:r>
              <a:rPr sz="2800" b="1" spc="-10" dirty="0">
                <a:latin typeface="Arial"/>
                <a:cs typeface="Arial"/>
              </a:rPr>
              <a:t>ti</a:t>
            </a:r>
            <a:r>
              <a:rPr sz="2800" b="1" spc="-25" dirty="0">
                <a:latin typeface="Arial"/>
                <a:cs typeface="Arial"/>
              </a:rPr>
              <a:t>on</a:t>
            </a:r>
            <a:r>
              <a:rPr sz="2800" b="1" dirty="0">
                <a:latin typeface="Arial"/>
                <a:cs typeface="Arial"/>
              </a:rPr>
              <a:t>ar</a:t>
            </a:r>
            <a:r>
              <a:rPr sz="2800" b="1" spc="-10" dirty="0">
                <a:latin typeface="Arial"/>
                <a:cs typeface="Arial"/>
              </a:rPr>
              <a:t>il</a:t>
            </a:r>
            <a:r>
              <a:rPr sz="2800" b="1" dirty="0">
                <a:latin typeface="Arial"/>
                <a:cs typeface="Arial"/>
              </a:rPr>
              <a:t>y</a:t>
            </a:r>
            <a:r>
              <a:rPr sz="2800" b="1" spc="-5" dirty="0">
                <a:latin typeface="Arial"/>
                <a:cs typeface="Arial"/>
              </a:rPr>
              <a:t> </a:t>
            </a:r>
            <a:r>
              <a:rPr sz="2800" b="1" dirty="0">
                <a:latin typeface="Arial"/>
                <a:cs typeface="Arial"/>
              </a:rPr>
              <a:t>Sta</a:t>
            </a:r>
            <a:r>
              <a:rPr sz="2800" b="1" spc="-25" dirty="0">
                <a:latin typeface="Arial"/>
                <a:cs typeface="Arial"/>
              </a:rPr>
              <a:t>b</a:t>
            </a:r>
            <a:r>
              <a:rPr sz="2800" b="1" spc="-10" dirty="0">
                <a:latin typeface="Arial"/>
                <a:cs typeface="Arial"/>
              </a:rPr>
              <a:t>l</a:t>
            </a:r>
            <a:r>
              <a:rPr sz="2800" b="1" dirty="0">
                <a:latin typeface="Arial"/>
                <a:cs typeface="Arial"/>
              </a:rPr>
              <a:t>e</a:t>
            </a:r>
            <a:r>
              <a:rPr sz="2800" b="1" spc="-5" dirty="0">
                <a:latin typeface="Arial"/>
                <a:cs typeface="Arial"/>
              </a:rPr>
              <a:t> </a:t>
            </a:r>
            <a:r>
              <a:rPr sz="2800" b="1" dirty="0">
                <a:latin typeface="Arial"/>
                <a:cs typeface="Arial"/>
              </a:rPr>
              <a:t>Strate</a:t>
            </a:r>
            <a:r>
              <a:rPr sz="2800" b="1" spc="-25" dirty="0">
                <a:latin typeface="Arial"/>
                <a:cs typeface="Arial"/>
              </a:rPr>
              <a:t>g</a:t>
            </a:r>
            <a:r>
              <a:rPr sz="2800" b="1" dirty="0">
                <a:latin typeface="Arial"/>
                <a:cs typeface="Arial"/>
              </a:rPr>
              <a:t>y</a:t>
            </a:r>
            <a:endParaRPr sz="2800" dirty="0">
              <a:latin typeface="Arial"/>
              <a:cs typeface="Arial"/>
            </a:endParaRPr>
          </a:p>
        </p:txBody>
      </p:sp>
      <p:sp>
        <p:nvSpPr>
          <p:cNvPr id="16" name="Rectangle 15">
            <a:extLst>
              <a:ext uri="{FF2B5EF4-FFF2-40B4-BE49-F238E27FC236}">
                <a16:creationId xmlns:a16="http://schemas.microsoft.com/office/drawing/2014/main" id="{3B4F0565-6CCE-911C-6C10-5405520EDD58}"/>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CCA67CF-2BEB-26FB-66E7-4AF0EF568BC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Slide Number Placeholder 8">
            <a:extLst>
              <a:ext uri="{FF2B5EF4-FFF2-40B4-BE49-F238E27FC236}">
                <a16:creationId xmlns:a16="http://schemas.microsoft.com/office/drawing/2014/main" id="{E381AE29-C2C0-6841-F92B-04D00515B134}"/>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33</a:t>
            </a:fld>
            <a:r>
              <a:rPr lang="en-US" sz="2000" dirty="0">
                <a:solidFill>
                  <a:prstClr val="black"/>
                </a:solidFill>
                <a:latin typeface="Comic Sans MS"/>
                <a:sym typeface="Comic Sans MS"/>
              </a:rPr>
              <a:t>/59</a:t>
            </a:r>
          </a:p>
        </p:txBody>
      </p:sp>
      <p:sp>
        <p:nvSpPr>
          <p:cNvPr id="20" name="Footer Placeholder 9">
            <a:extLst>
              <a:ext uri="{FF2B5EF4-FFF2-40B4-BE49-F238E27FC236}">
                <a16:creationId xmlns:a16="http://schemas.microsoft.com/office/drawing/2014/main" id="{4377C71C-A520-31FE-7F5E-AC8CA54DA415}"/>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21" name="Rectangle 20">
            <a:extLst>
              <a:ext uri="{FF2B5EF4-FFF2-40B4-BE49-F238E27FC236}">
                <a16:creationId xmlns:a16="http://schemas.microsoft.com/office/drawing/2014/main" id="{93596362-1EB4-C43E-B0D9-F7F002353B4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22" name="TextBox 21">
            <a:extLst>
              <a:ext uri="{FF2B5EF4-FFF2-40B4-BE49-F238E27FC236}">
                <a16:creationId xmlns:a16="http://schemas.microsoft.com/office/drawing/2014/main" id="{A3141B15-8889-483D-6FC1-97508C6B25A9}"/>
              </a:ext>
            </a:extLst>
          </p:cNvPr>
          <p:cNvSpPr txBox="1"/>
          <p:nvPr/>
        </p:nvSpPr>
        <p:spPr>
          <a:xfrm>
            <a:off x="6096911" y="1752600"/>
            <a:ext cx="1689052" cy="369332"/>
          </a:xfrm>
          <a:prstGeom prst="rect">
            <a:avLst/>
          </a:prstGeom>
          <a:noFill/>
        </p:spPr>
        <p:txBody>
          <a:bodyPr wrap="none" rtlCol="0">
            <a:spAutoFit/>
          </a:bodyPr>
          <a:lstStyle/>
          <a:p>
            <a:r>
              <a:rPr lang="en-US" dirty="0"/>
              <a:t>Mutant strategy</a:t>
            </a:r>
          </a:p>
        </p:txBody>
      </p:sp>
      <p:cxnSp>
        <p:nvCxnSpPr>
          <p:cNvPr id="24" name="Straight Arrow Connector 23">
            <a:extLst>
              <a:ext uri="{FF2B5EF4-FFF2-40B4-BE49-F238E27FC236}">
                <a16:creationId xmlns:a16="http://schemas.microsoft.com/office/drawing/2014/main" id="{13053FB2-124A-F2B9-C598-11A5F7866848}"/>
              </a:ext>
            </a:extLst>
          </p:cNvPr>
          <p:cNvCxnSpPr>
            <a:cxnSpLocks/>
            <a:stCxn id="22" idx="1"/>
            <a:endCxn id="13" idx="2"/>
          </p:cNvCxnSpPr>
          <p:nvPr/>
        </p:nvCxnSpPr>
        <p:spPr>
          <a:xfrm flipH="1" flipV="1">
            <a:off x="5678255" y="1626234"/>
            <a:ext cx="418656" cy="311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251B530-F3EB-B2E9-460F-D8311DB173DD}"/>
              </a:ext>
            </a:extLst>
          </p:cNvPr>
          <p:cNvSpPr txBox="1"/>
          <p:nvPr/>
        </p:nvSpPr>
        <p:spPr>
          <a:xfrm>
            <a:off x="707086" y="6093340"/>
            <a:ext cx="5779808" cy="369332"/>
          </a:xfrm>
          <a:prstGeom prst="rect">
            <a:avLst/>
          </a:prstGeom>
          <a:noFill/>
        </p:spPr>
        <p:txBody>
          <a:bodyPr wrap="square">
            <a:spAutoFit/>
          </a:bodyPr>
          <a:lstStyle/>
          <a:p>
            <a:r>
              <a:rPr lang="en-US" b="0" i="0" dirty="0">
                <a:effectLst/>
                <a:latin typeface="Söhne"/>
              </a:rPr>
              <a:t>Π typically represents the expected payoff (or fitness)</a:t>
            </a:r>
            <a:endParaRPr lang="en-US" dirty="0"/>
          </a:p>
        </p:txBody>
      </p:sp>
      <p:sp>
        <p:nvSpPr>
          <p:cNvPr id="29" name="TextBox 28">
            <a:extLst>
              <a:ext uri="{FF2B5EF4-FFF2-40B4-BE49-F238E27FC236}">
                <a16:creationId xmlns:a16="http://schemas.microsoft.com/office/drawing/2014/main" id="{23C6AEEF-C8FE-F2B7-CB45-29674AC8FC69}"/>
              </a:ext>
            </a:extLst>
          </p:cNvPr>
          <p:cNvSpPr txBox="1"/>
          <p:nvPr/>
        </p:nvSpPr>
        <p:spPr>
          <a:xfrm>
            <a:off x="288558" y="2096869"/>
            <a:ext cx="8406965" cy="646331"/>
          </a:xfrm>
          <a:prstGeom prst="rect">
            <a:avLst/>
          </a:prstGeom>
          <a:noFill/>
        </p:spPr>
        <p:txBody>
          <a:bodyPr wrap="square">
            <a:spAutoFit/>
          </a:bodyPr>
          <a:lstStyle/>
          <a:p>
            <a:r>
              <a:rPr lang="en-US" b="0" i="0" dirty="0">
                <a:solidFill>
                  <a:schemeClr val="tx2">
                    <a:lumMod val="60000"/>
                    <a:lumOff val="40000"/>
                  </a:schemeClr>
                </a:solidFill>
                <a:effectLst/>
                <a:latin typeface="Söhne"/>
              </a:rPr>
              <a:t>Π(P, P) represents the expected payoff when playing strategy P within a population that predominantly plays strategy P.</a:t>
            </a:r>
            <a:endParaRPr lang="en-US" dirty="0">
              <a:solidFill>
                <a:schemeClr val="tx2">
                  <a:lumMod val="60000"/>
                  <a:lumOff val="4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18292" y="2511560"/>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p:nvPr/>
        </p:nvSpPr>
        <p:spPr>
          <a:xfrm>
            <a:off x="2654597" y="4728844"/>
            <a:ext cx="1579245" cy="0"/>
          </a:xfrm>
          <a:custGeom>
            <a:avLst/>
            <a:gdLst/>
            <a:ahLst/>
            <a:cxnLst/>
            <a:rect l="l" t="t" r="r" b="b"/>
            <a:pathLst>
              <a:path w="1579245">
                <a:moveTo>
                  <a:pt x="0" y="0"/>
                </a:moveTo>
                <a:lnTo>
                  <a:pt x="1579032" y="0"/>
                </a:lnTo>
              </a:path>
            </a:pathLst>
          </a:custGeom>
          <a:ln w="8516">
            <a:solidFill>
              <a:srgbClr val="001E57"/>
            </a:solidFill>
          </a:ln>
        </p:spPr>
        <p:txBody>
          <a:bodyPr wrap="square" lIns="0" tIns="0" rIns="0" bIns="0" rtlCol="0"/>
          <a:lstStyle/>
          <a:p>
            <a:endParaRPr/>
          </a:p>
        </p:txBody>
      </p:sp>
      <p:sp>
        <p:nvSpPr>
          <p:cNvPr id="7" name="object 7"/>
          <p:cNvSpPr/>
          <p:nvPr/>
        </p:nvSpPr>
        <p:spPr>
          <a:xfrm>
            <a:off x="4190122" y="4671910"/>
            <a:ext cx="122555" cy="121920"/>
          </a:xfrm>
          <a:custGeom>
            <a:avLst/>
            <a:gdLst/>
            <a:ahLst/>
            <a:cxnLst/>
            <a:rect l="l" t="t" r="r" b="b"/>
            <a:pathLst>
              <a:path w="122554" h="121920">
                <a:moveTo>
                  <a:pt x="657" y="0"/>
                </a:moveTo>
                <a:lnTo>
                  <a:pt x="30808" y="61123"/>
                </a:lnTo>
                <a:lnTo>
                  <a:pt x="0" y="121918"/>
                </a:lnTo>
                <a:lnTo>
                  <a:pt x="122247" y="61616"/>
                </a:lnTo>
                <a:lnTo>
                  <a:pt x="657" y="0"/>
                </a:lnTo>
                <a:close/>
              </a:path>
            </a:pathLst>
          </a:custGeom>
          <a:solidFill>
            <a:srgbClr val="001E57"/>
          </a:solidFill>
        </p:spPr>
        <p:txBody>
          <a:bodyPr wrap="square" lIns="0" tIns="0" rIns="0" bIns="0" rtlCol="0"/>
          <a:lstStyle/>
          <a:p>
            <a:endParaRPr/>
          </a:p>
        </p:txBody>
      </p:sp>
      <p:grpSp>
        <p:nvGrpSpPr>
          <p:cNvPr id="24" name="Group 23">
            <a:extLst>
              <a:ext uri="{FF2B5EF4-FFF2-40B4-BE49-F238E27FC236}">
                <a16:creationId xmlns:a16="http://schemas.microsoft.com/office/drawing/2014/main" id="{97B01C21-9F45-94D1-265E-860D6449FE87}"/>
              </a:ext>
            </a:extLst>
          </p:cNvPr>
          <p:cNvGrpSpPr/>
          <p:nvPr/>
        </p:nvGrpSpPr>
        <p:grpSpPr>
          <a:xfrm>
            <a:off x="237827" y="5331460"/>
            <a:ext cx="8251190" cy="535940"/>
            <a:chOff x="237827" y="5331460"/>
            <a:chExt cx="8251190" cy="535940"/>
          </a:xfrm>
        </p:grpSpPr>
        <p:sp>
          <p:nvSpPr>
            <p:cNvPr id="10" name="object 10"/>
            <p:cNvSpPr/>
            <p:nvPr/>
          </p:nvSpPr>
          <p:spPr>
            <a:xfrm>
              <a:off x="237827" y="5331460"/>
              <a:ext cx="8251190" cy="535940"/>
            </a:xfrm>
            <a:custGeom>
              <a:avLst/>
              <a:gdLst/>
              <a:ahLst/>
              <a:cxnLst/>
              <a:rect l="l" t="t" r="r" b="b"/>
              <a:pathLst>
                <a:path w="8251190" h="535939">
                  <a:moveTo>
                    <a:pt x="8117086" y="0"/>
                  </a:moveTo>
                  <a:lnTo>
                    <a:pt x="133945" y="0"/>
                  </a:lnTo>
                  <a:lnTo>
                    <a:pt x="120491" y="667"/>
                  </a:lnTo>
                  <a:lnTo>
                    <a:pt x="79413" y="11566"/>
                  </a:lnTo>
                  <a:lnTo>
                    <a:pt x="44663" y="34093"/>
                  </a:lnTo>
                  <a:lnTo>
                    <a:pt x="18485" y="66003"/>
                  </a:lnTo>
                  <a:lnTo>
                    <a:pt x="3123" y="105053"/>
                  </a:lnTo>
                  <a:lnTo>
                    <a:pt x="0" y="133945"/>
                  </a:lnTo>
                  <a:lnTo>
                    <a:pt x="667" y="415289"/>
                  </a:lnTo>
                  <a:lnTo>
                    <a:pt x="11566" y="456368"/>
                  </a:lnTo>
                  <a:lnTo>
                    <a:pt x="34093" y="491118"/>
                  </a:lnTo>
                  <a:lnTo>
                    <a:pt x="66003" y="517296"/>
                  </a:lnTo>
                  <a:lnTo>
                    <a:pt x="105053" y="532657"/>
                  </a:lnTo>
                  <a:lnTo>
                    <a:pt x="133945" y="535781"/>
                  </a:lnTo>
                  <a:lnTo>
                    <a:pt x="8130539" y="535114"/>
                  </a:lnTo>
                  <a:lnTo>
                    <a:pt x="8171618" y="524214"/>
                  </a:lnTo>
                  <a:lnTo>
                    <a:pt x="8206368" y="501687"/>
                  </a:lnTo>
                  <a:lnTo>
                    <a:pt x="8232546" y="469777"/>
                  </a:lnTo>
                  <a:lnTo>
                    <a:pt x="8247907" y="430727"/>
                  </a:lnTo>
                  <a:lnTo>
                    <a:pt x="8251031" y="401836"/>
                  </a:lnTo>
                  <a:lnTo>
                    <a:pt x="8250364" y="120491"/>
                  </a:lnTo>
                  <a:lnTo>
                    <a:pt x="8239465" y="79413"/>
                  </a:lnTo>
                  <a:lnTo>
                    <a:pt x="8216938" y="44663"/>
                  </a:lnTo>
                  <a:lnTo>
                    <a:pt x="8185027" y="18485"/>
                  </a:lnTo>
                  <a:lnTo>
                    <a:pt x="8145977" y="3123"/>
                  </a:lnTo>
                  <a:lnTo>
                    <a:pt x="8117086" y="0"/>
                  </a:lnTo>
                  <a:close/>
                </a:path>
              </a:pathLst>
            </a:custGeom>
            <a:solidFill>
              <a:srgbClr val="B9E0EC"/>
            </a:solidFill>
            <a:ln>
              <a:solidFill>
                <a:schemeClr val="bg1">
                  <a:lumMod val="65000"/>
                </a:schemeClr>
              </a:solidFill>
            </a:ln>
          </p:spPr>
          <p:txBody>
            <a:bodyPr wrap="square" lIns="0" tIns="0" rIns="0" bIns="0" rtlCol="0"/>
            <a:lstStyle/>
            <a:p>
              <a:endParaRPr/>
            </a:p>
          </p:txBody>
        </p:sp>
        <p:sp>
          <p:nvSpPr>
            <p:cNvPr id="13" name="object 13"/>
            <p:cNvSpPr/>
            <p:nvPr/>
          </p:nvSpPr>
          <p:spPr>
            <a:xfrm>
              <a:off x="388223" y="5430043"/>
              <a:ext cx="8054577" cy="339704"/>
            </a:xfrm>
            <a:prstGeom prst="rect">
              <a:avLst/>
            </a:prstGeom>
            <a:blipFill>
              <a:blip r:embed="rId3" cstate="print"/>
              <a:stretch>
                <a:fillRect/>
              </a:stretch>
            </a:blipFill>
          </p:spPr>
          <p:txBody>
            <a:bodyPr wrap="square" lIns="0" tIns="0" rIns="0" bIns="0" rtlCol="0"/>
            <a:lstStyle/>
            <a:p>
              <a:endParaRPr/>
            </a:p>
          </p:txBody>
        </p:sp>
      </p:grpSp>
      <mc:AlternateContent xmlns:mc="http://schemas.openxmlformats.org/markup-compatibility/2006" xmlns:a14="http://schemas.microsoft.com/office/drawing/2010/main">
        <mc:Choice Requires="a14">
          <p:sp>
            <p:nvSpPr>
              <p:cNvPr id="14" name="object 14"/>
              <p:cNvSpPr txBox="1">
                <a:spLocks noGrp="1"/>
              </p:cNvSpPr>
              <p:nvPr>
                <p:ph type="body" idx="1"/>
              </p:nvPr>
            </p:nvSpPr>
            <p:spPr>
              <a:xfrm>
                <a:off x="329584" y="1662087"/>
                <a:ext cx="8484830" cy="2222660"/>
              </a:xfrm>
              <a:prstGeom prst="rect">
                <a:avLst/>
              </a:prstGeom>
            </p:spPr>
            <p:txBody>
              <a:bodyPr vert="horz" wrap="square" lIns="0" tIns="0" rIns="0" bIns="0" rtlCol="0">
                <a:spAutoFit/>
              </a:bodyPr>
              <a:lstStyle/>
              <a:p>
                <a:pPr marL="121920">
                  <a:lnSpc>
                    <a:spcPct val="100000"/>
                  </a:lnSpc>
                  <a:spcAft>
                    <a:spcPts val="2400"/>
                  </a:spcAft>
                </a:pPr>
                <a:r>
                  <a:rPr sz="2800" spc="-15" dirty="0">
                    <a:latin typeface="Gill Sans MT"/>
                    <a:cs typeface="Gill Sans MT"/>
                  </a:rPr>
                  <a:t>P</a:t>
                </a:r>
                <a:r>
                  <a:rPr sz="2800" spc="-5" dirty="0">
                    <a:latin typeface="Gill Sans MT"/>
                    <a:cs typeface="Gill Sans MT"/>
                  </a:rPr>
                  <a:t> i</a:t>
                </a:r>
                <a:r>
                  <a:rPr sz="2800" dirty="0">
                    <a:latin typeface="Gill Sans MT"/>
                    <a:cs typeface="Gill Sans MT"/>
                  </a:rPr>
                  <a:t>s </a:t>
                </a:r>
                <a:r>
                  <a:rPr sz="2800" dirty="0">
                    <a:solidFill>
                      <a:srgbClr val="FF2841"/>
                    </a:solidFill>
                    <a:latin typeface="Gill Sans MT"/>
                    <a:cs typeface="Gill Sans MT"/>
                  </a:rPr>
                  <a:t>ESS</a:t>
                </a:r>
                <a:r>
                  <a:rPr sz="2800" spc="-5" dirty="0">
                    <a:solidFill>
                      <a:srgbClr val="FF2841"/>
                    </a:solidFill>
                    <a:latin typeface="Gill Sans MT"/>
                    <a:cs typeface="Gill Sans MT"/>
                  </a:rPr>
                  <a:t> </a:t>
                </a:r>
                <a:r>
                  <a:rPr sz="2800" spc="-5" dirty="0">
                    <a:latin typeface="Gill Sans MT"/>
                    <a:cs typeface="Gill Sans MT"/>
                  </a:rPr>
                  <a:t>i</a:t>
                </a:r>
                <a:r>
                  <a:rPr sz="2800" dirty="0">
                    <a:latin typeface="Gill Sans MT"/>
                    <a:cs typeface="Gill Sans MT"/>
                  </a:rPr>
                  <a:t>f</a:t>
                </a:r>
                <a:r>
                  <a:rPr sz="2800" spc="-5" dirty="0">
                    <a:latin typeface="Gill Sans MT"/>
                    <a:cs typeface="Gill Sans MT"/>
                  </a:rPr>
                  <a:t> ..</a:t>
                </a:r>
                <a:r>
                  <a:rPr sz="2800" dirty="0">
                    <a:latin typeface="Gill Sans MT"/>
                    <a:cs typeface="Gill Sans MT"/>
                  </a:rPr>
                  <a:t>.</a:t>
                </a:r>
                <a:endParaRPr lang="en-US" sz="2800" dirty="0">
                  <a:latin typeface="Gill Sans MT"/>
                  <a:cs typeface="Gill Sans MT"/>
                </a:endParaRPr>
              </a:p>
              <a:p>
                <a:pPr marL="121920">
                  <a:spcBef>
                    <a:spcPts val="2400"/>
                  </a:spcBef>
                </a:pPr>
                <a14:m>
                  <m:oMathPara xmlns:m="http://schemas.openxmlformats.org/officeDocument/2006/math">
                    <m:oMathParaPr>
                      <m:jc m:val="centerGroup"/>
                    </m:oMathParaPr>
                    <m:oMath xmlns:m="http://schemas.openxmlformats.org/officeDocument/2006/math">
                      <m:nary>
                        <m:naryPr>
                          <m:chr m:val="∏"/>
                          <m:subHide m:val="on"/>
                          <m:supHide m:val="on"/>
                          <m:ctrlPr>
                            <a:rPr lang="ar-YE" sz="2000" i="1" smtClean="0">
                              <a:latin typeface="Cambria Math" panose="02040503050406030204" pitchFamily="18" charset="0"/>
                            </a:rPr>
                          </m:ctrlPr>
                        </m:naryPr>
                        <m:sub/>
                        <m:sup/>
                        <m:e>
                          <m:d>
                            <m:dPr>
                              <m:ctrlPr>
                                <a:rPr lang="ar-YE" sz="2000" b="0" i="1" smtClean="0">
                                  <a:latin typeface="Cambria Math" panose="02040503050406030204" pitchFamily="18" charset="0"/>
                                </a:rPr>
                              </m:ctrlPr>
                            </m:dPr>
                            <m:e>
                              <m:r>
                                <a:rPr lang="ar-YE" sz="2000" b="0" i="1" smtClean="0">
                                  <a:latin typeface="Cambria Math" panose="02040503050406030204" pitchFamily="18" charset="0"/>
                                </a:rPr>
                                <m:t>𝑃</m:t>
                              </m:r>
                              <m:r>
                                <a:rPr lang="ar-YE" sz="2000" b="0" i="1" smtClean="0">
                                  <a:latin typeface="Cambria Math" panose="02040503050406030204" pitchFamily="18" charset="0"/>
                                </a:rPr>
                                <m:t>, </m:t>
                              </m:r>
                              <m:r>
                                <a:rPr lang="ar-YE" sz="2000" b="0" i="1" smtClean="0">
                                  <a:latin typeface="Cambria Math" panose="02040503050406030204" pitchFamily="18" charset="0"/>
                                </a:rPr>
                                <m:t>𝜖</m:t>
                              </m:r>
                              <m:r>
                                <a:rPr lang="ar-YE" sz="2000" b="0" i="1" smtClean="0">
                                  <a:latin typeface="Cambria Math" panose="02040503050406030204" pitchFamily="18" charset="0"/>
                                </a:rPr>
                                <m:t>𝑄</m:t>
                              </m:r>
                              <m:r>
                                <a:rPr lang="ar-YE" sz="2000" b="0" i="1" smtClean="0">
                                  <a:latin typeface="Cambria Math" panose="02040503050406030204" pitchFamily="18" charset="0"/>
                                </a:rPr>
                                <m:t>+</m:t>
                              </m:r>
                              <m:d>
                                <m:dPr>
                                  <m:ctrlPr>
                                    <a:rPr lang="ar-YE" sz="2000" b="0" i="1" smtClean="0">
                                      <a:latin typeface="Cambria Math" panose="02040503050406030204" pitchFamily="18" charset="0"/>
                                    </a:rPr>
                                  </m:ctrlPr>
                                </m:dPr>
                                <m:e>
                                  <m:r>
                                    <a:rPr lang="ar-YE" sz="2000" b="0" i="1" smtClean="0">
                                      <a:latin typeface="Cambria Math" panose="02040503050406030204" pitchFamily="18" charset="0"/>
                                    </a:rPr>
                                    <m:t>1</m:t>
                                  </m:r>
                                  <m:r>
                                    <a:rPr lang="ar-YE" sz="2000" b="0" i="1" smtClean="0">
                                      <a:latin typeface="Cambria Math" panose="02040503050406030204" pitchFamily="18" charset="0"/>
                                    </a:rPr>
                                    <m:t>−</m:t>
                                  </m:r>
                                  <m:r>
                                    <a:rPr lang="ar-YE" sz="2000" b="0" i="1" smtClean="0">
                                      <a:latin typeface="Cambria Math" panose="02040503050406030204" pitchFamily="18" charset="0"/>
                                    </a:rPr>
                                    <m:t>𝜖</m:t>
                                  </m:r>
                                </m:e>
                              </m:d>
                              <m:r>
                                <a:rPr lang="ar-YE" sz="2000" b="0" i="1" smtClean="0">
                                  <a:latin typeface="Cambria Math" panose="02040503050406030204" pitchFamily="18" charset="0"/>
                                </a:rPr>
                                <m:t>𝑃</m:t>
                              </m:r>
                            </m:e>
                          </m:d>
                          <m:r>
                            <a:rPr lang="ar-YE" sz="2000" b="0" i="1" smtClean="0">
                              <a:latin typeface="Cambria Math" panose="02040503050406030204" pitchFamily="18" charset="0"/>
                            </a:rPr>
                            <m:t>&gt;</m:t>
                          </m:r>
                          <m:nary>
                            <m:naryPr>
                              <m:chr m:val="∏"/>
                              <m:subHide m:val="on"/>
                              <m:supHide m:val="on"/>
                              <m:ctrlPr>
                                <a:rPr lang="ar-YE" sz="2000" b="0" i="1" smtClean="0">
                                  <a:latin typeface="Cambria Math" panose="02040503050406030204" pitchFamily="18" charset="0"/>
                                </a:rPr>
                              </m:ctrlPr>
                            </m:naryPr>
                            <m:sub/>
                            <m:sup/>
                            <m:e>
                              <m:d>
                                <m:dPr>
                                  <m:ctrlPr>
                                    <a:rPr lang="ar-YE" sz="2000" b="0" i="1" smtClean="0">
                                      <a:latin typeface="Cambria Math" panose="02040503050406030204" pitchFamily="18" charset="0"/>
                                    </a:rPr>
                                  </m:ctrlPr>
                                </m:dPr>
                                <m:e>
                                  <m:r>
                                    <a:rPr lang="ar-YE" sz="2000" b="0" i="1" smtClean="0">
                                      <a:latin typeface="Cambria Math" panose="02040503050406030204" pitchFamily="18" charset="0"/>
                                    </a:rPr>
                                    <m:t>𝑄</m:t>
                                  </m:r>
                                  <m:r>
                                    <a:rPr lang="ar-YE" sz="2000" b="0" i="1" smtClean="0">
                                      <a:latin typeface="Cambria Math" panose="02040503050406030204" pitchFamily="18" charset="0"/>
                                    </a:rPr>
                                    <m:t>,</m:t>
                                  </m:r>
                                  <m:r>
                                    <a:rPr lang="ar-YE" sz="2000" b="0" i="1" smtClean="0">
                                      <a:latin typeface="Cambria Math" panose="02040503050406030204" pitchFamily="18" charset="0"/>
                                    </a:rPr>
                                    <m:t>𝜖</m:t>
                                  </m:r>
                                  <m:r>
                                    <a:rPr lang="ar-YE" sz="2000" b="0" i="1" smtClean="0">
                                      <a:latin typeface="Cambria Math" panose="02040503050406030204" pitchFamily="18" charset="0"/>
                                    </a:rPr>
                                    <m:t>𝑄</m:t>
                                  </m:r>
                                  <m:r>
                                    <a:rPr lang="ar-YE" sz="2000" b="0" i="1" smtClean="0">
                                      <a:latin typeface="Cambria Math" panose="02040503050406030204" pitchFamily="18" charset="0"/>
                                    </a:rPr>
                                    <m:t>+</m:t>
                                  </m:r>
                                  <m:d>
                                    <m:dPr>
                                      <m:ctrlPr>
                                        <a:rPr lang="ar-YE" sz="2000" b="0" i="1" smtClean="0">
                                          <a:latin typeface="Cambria Math" panose="02040503050406030204" pitchFamily="18" charset="0"/>
                                        </a:rPr>
                                      </m:ctrlPr>
                                    </m:dPr>
                                    <m:e>
                                      <m:r>
                                        <a:rPr lang="ar-YE" sz="2000" b="0" i="1" smtClean="0">
                                          <a:latin typeface="Cambria Math" panose="02040503050406030204" pitchFamily="18" charset="0"/>
                                        </a:rPr>
                                        <m:t>1</m:t>
                                      </m:r>
                                      <m:r>
                                        <a:rPr lang="ar-YE" sz="2000" b="0" i="1" smtClean="0">
                                          <a:latin typeface="Cambria Math" panose="02040503050406030204" pitchFamily="18" charset="0"/>
                                        </a:rPr>
                                        <m:t>−</m:t>
                                      </m:r>
                                      <m:r>
                                        <a:rPr lang="ar-YE" sz="2000" b="0" i="1" smtClean="0">
                                          <a:latin typeface="Cambria Math" panose="02040503050406030204" pitchFamily="18" charset="0"/>
                                        </a:rPr>
                                        <m:t>𝜖</m:t>
                                      </m:r>
                                    </m:e>
                                  </m:d>
                                  <m:r>
                                    <a:rPr lang="ar-YE" sz="2000" b="0" i="1" smtClean="0">
                                      <a:latin typeface="Cambria Math" panose="02040503050406030204" pitchFamily="18" charset="0"/>
                                    </a:rPr>
                                    <m:t>𝑃</m:t>
                                  </m:r>
                                </m:e>
                              </m:d>
                            </m:e>
                          </m:nary>
                          <m:r>
                            <a:rPr lang="ar-YE" sz="2000" b="0" i="1" smtClean="0">
                              <a:latin typeface="Cambria Math" panose="02040503050406030204" pitchFamily="18" charset="0"/>
                            </a:rPr>
                            <m:t>      ∀</m:t>
                          </m:r>
                          <m:r>
                            <a:rPr lang="ar-YE" sz="2000" b="0" i="1" smtClean="0">
                              <a:latin typeface="Cambria Math" panose="02040503050406030204" pitchFamily="18" charset="0"/>
                            </a:rPr>
                            <m:t>𝑄</m:t>
                          </m:r>
                          <m:r>
                            <a:rPr lang="ar-YE" sz="2000" b="0" i="1" smtClean="0">
                              <a:latin typeface="Cambria Math" panose="02040503050406030204" pitchFamily="18" charset="0"/>
                            </a:rPr>
                            <m:t>≠</m:t>
                          </m:r>
                          <m:r>
                            <a:rPr lang="ar-YE" sz="2000" b="0" i="1" smtClean="0">
                              <a:latin typeface="Cambria Math" panose="02040503050406030204" pitchFamily="18" charset="0"/>
                            </a:rPr>
                            <m:t>𝑃</m:t>
                          </m:r>
                          <m:r>
                            <a:rPr lang="ar-YE" sz="2000" b="0" i="1" smtClean="0">
                              <a:latin typeface="Cambria Math" panose="02040503050406030204" pitchFamily="18" charset="0"/>
                            </a:rPr>
                            <m:t>, </m:t>
                          </m:r>
                          <m:r>
                            <m:rPr>
                              <m:sty m:val="p"/>
                            </m:rPr>
                            <a:rPr lang="ar-YE" sz="2000" b="0" i="0" smtClean="0">
                              <a:latin typeface="Cambria Math" panose="02040503050406030204" pitchFamily="18" charset="0"/>
                            </a:rPr>
                            <m:t>small</m:t>
                          </m:r>
                          <m:r>
                            <a:rPr lang="ar-YE" sz="2000" b="0" i="1" smtClean="0">
                              <a:latin typeface="Cambria Math" panose="02040503050406030204" pitchFamily="18" charset="0"/>
                            </a:rPr>
                            <m:t> </m:t>
                          </m:r>
                          <m:r>
                            <a:rPr lang="ar-YE" sz="2000" b="0" i="1" smtClean="0">
                              <a:latin typeface="Cambria Math" panose="02040503050406030204" pitchFamily="18" charset="0"/>
                            </a:rPr>
                            <m:t>𝜖</m:t>
                          </m:r>
                        </m:e>
                      </m:nary>
                    </m:oMath>
                  </m:oMathPara>
                </a14:m>
                <a:endParaRPr lang="ar-YE" sz="2000" dirty="0"/>
              </a:p>
              <a:p>
                <a:pPr marL="12700">
                  <a:lnSpc>
                    <a:spcPct val="100000"/>
                  </a:lnSpc>
                  <a:spcBef>
                    <a:spcPts val="2400"/>
                  </a:spcBef>
                </a:pPr>
                <a:r>
                  <a:rPr sz="2800" spc="-15" dirty="0">
                    <a:latin typeface="Gill Sans MT"/>
                    <a:cs typeface="Gill Sans MT"/>
                  </a:rPr>
                  <a:t>or</a:t>
                </a:r>
                <a:r>
                  <a:rPr sz="2800" spc="-5" dirty="0">
                    <a:latin typeface="Gill Sans MT"/>
                    <a:cs typeface="Gill Sans MT"/>
                  </a:rPr>
                  <a:t> </a:t>
                </a:r>
                <a:r>
                  <a:rPr sz="2800" dirty="0">
                    <a:latin typeface="Gill Sans MT"/>
                    <a:cs typeface="Gill Sans MT"/>
                  </a:rPr>
                  <a:t>equi</a:t>
                </a:r>
                <a:r>
                  <a:rPr sz="2800" spc="-15" dirty="0">
                    <a:latin typeface="Gill Sans MT"/>
                    <a:cs typeface="Gill Sans MT"/>
                  </a:rPr>
                  <a:t>va</a:t>
                </a:r>
                <a:r>
                  <a:rPr sz="2800" spc="-5" dirty="0">
                    <a:latin typeface="Gill Sans MT"/>
                    <a:cs typeface="Gill Sans MT"/>
                  </a:rPr>
                  <a:t>l</a:t>
                </a:r>
                <a:r>
                  <a:rPr sz="2800" dirty="0">
                    <a:latin typeface="Gill Sans MT"/>
                    <a:cs typeface="Gill Sans MT"/>
                  </a:rPr>
                  <a:t>ent</a:t>
                </a:r>
                <a:r>
                  <a:rPr sz="2800" spc="-30" dirty="0">
                    <a:latin typeface="Gill Sans MT"/>
                    <a:cs typeface="Gill Sans MT"/>
                  </a:rPr>
                  <a:t>l</a:t>
                </a:r>
                <a:r>
                  <a:rPr sz="2800" spc="-240" dirty="0">
                    <a:latin typeface="Gill Sans MT"/>
                    <a:cs typeface="Gill Sans MT"/>
                  </a:rPr>
                  <a:t>y</a:t>
                </a:r>
                <a:r>
                  <a:rPr sz="2800" spc="-5" dirty="0">
                    <a:latin typeface="Gill Sans MT"/>
                    <a:cs typeface="Gill Sans MT"/>
                  </a:rPr>
                  <a:t>..</a:t>
                </a:r>
                <a:r>
                  <a:rPr sz="2800" dirty="0">
                    <a:latin typeface="Gill Sans MT"/>
                    <a:cs typeface="Gill Sans MT"/>
                  </a:rPr>
                  <a:t>.</a:t>
                </a:r>
              </a:p>
            </p:txBody>
          </p:sp>
        </mc:Choice>
        <mc:Fallback xmlns="">
          <p:sp>
            <p:nvSpPr>
              <p:cNvPr id="14" name="object 14"/>
              <p:cNvSpPr txBox="1">
                <a:spLocks noGrp="1" noRot="1" noChangeAspect="1" noMove="1" noResize="1" noEditPoints="1" noAdjustHandles="1" noChangeArrowheads="1" noChangeShapeType="1" noTextEdit="1"/>
              </p:cNvSpPr>
              <p:nvPr>
                <p:ph type="body" idx="1"/>
              </p:nvPr>
            </p:nvSpPr>
            <p:spPr>
              <a:xfrm>
                <a:off x="329584" y="1662087"/>
                <a:ext cx="8484830" cy="2222660"/>
              </a:xfrm>
              <a:prstGeom prst="rect">
                <a:avLst/>
              </a:prstGeom>
              <a:blipFill>
                <a:blip r:embed="rId4"/>
                <a:stretch>
                  <a:fillRect l="-2371" t="-4945" b="-8791"/>
                </a:stretch>
              </a:blipFill>
            </p:spPr>
            <p:txBody>
              <a:bodyPr/>
              <a:lstStyle/>
              <a:p>
                <a:r>
                  <a:rPr lang="en-US">
                    <a:noFill/>
                  </a:rPr>
                  <a:t> </a:t>
                </a:r>
              </a:p>
            </p:txBody>
          </p:sp>
        </mc:Fallback>
      </mc:AlternateContent>
      <p:sp>
        <p:nvSpPr>
          <p:cNvPr id="17" name="object 17"/>
          <p:cNvSpPr txBox="1"/>
          <p:nvPr/>
        </p:nvSpPr>
        <p:spPr>
          <a:xfrm>
            <a:off x="338812" y="318660"/>
            <a:ext cx="6860540" cy="381000"/>
          </a:xfrm>
          <a:prstGeom prst="rect">
            <a:avLst/>
          </a:prstGeom>
        </p:spPr>
        <p:txBody>
          <a:bodyPr vert="horz" wrap="square" lIns="0" tIns="0" rIns="0" bIns="0" rtlCol="0">
            <a:spAutoFit/>
          </a:bodyPr>
          <a:lstStyle/>
          <a:p>
            <a:pPr marL="12700">
              <a:lnSpc>
                <a:spcPct val="100000"/>
              </a:lnSpc>
            </a:pPr>
            <a:r>
              <a:rPr sz="2800" b="1" spc="-30" dirty="0">
                <a:latin typeface="Arial"/>
                <a:cs typeface="Arial"/>
              </a:rPr>
              <a:t>Wh</a:t>
            </a:r>
            <a:r>
              <a:rPr sz="2800" b="1" dirty="0">
                <a:latin typeface="Arial"/>
                <a:cs typeface="Arial"/>
              </a:rPr>
              <a:t>at</a:t>
            </a:r>
            <a:r>
              <a:rPr sz="2800" b="1" spc="-5" dirty="0">
                <a:latin typeface="Arial"/>
                <a:cs typeface="Arial"/>
              </a:rPr>
              <a:t> </a:t>
            </a:r>
            <a:r>
              <a:rPr sz="2800" b="1" spc="-25" dirty="0">
                <a:latin typeface="Arial"/>
                <a:cs typeface="Arial"/>
              </a:rPr>
              <a:t>h</a:t>
            </a:r>
            <a:r>
              <a:rPr sz="2800" b="1" dirty="0">
                <a:latin typeface="Arial"/>
                <a:cs typeface="Arial"/>
              </a:rPr>
              <a:t>a</a:t>
            </a:r>
            <a:r>
              <a:rPr sz="2800" b="1" spc="-25" dirty="0">
                <a:latin typeface="Arial"/>
                <a:cs typeface="Arial"/>
              </a:rPr>
              <a:t>pp</a:t>
            </a:r>
            <a:r>
              <a:rPr sz="2800" b="1" dirty="0">
                <a:latin typeface="Arial"/>
                <a:cs typeface="Arial"/>
              </a:rPr>
              <a:t>e</a:t>
            </a:r>
            <a:r>
              <a:rPr sz="2800" b="1" spc="-25" dirty="0">
                <a:latin typeface="Arial"/>
                <a:cs typeface="Arial"/>
              </a:rPr>
              <a:t>n</a:t>
            </a:r>
            <a:r>
              <a:rPr sz="2800" b="1" dirty="0">
                <a:latin typeface="Arial"/>
                <a:cs typeface="Arial"/>
              </a:rPr>
              <a:t>s</a:t>
            </a:r>
            <a:r>
              <a:rPr sz="2800" b="1" spc="-5" dirty="0">
                <a:latin typeface="Arial"/>
                <a:cs typeface="Arial"/>
              </a:rPr>
              <a:t> </a:t>
            </a:r>
            <a:r>
              <a:rPr sz="2800" b="1" spc="-15" dirty="0">
                <a:latin typeface="Arial"/>
                <a:cs typeface="Arial"/>
              </a:rPr>
              <a:t>in</a:t>
            </a:r>
            <a:r>
              <a:rPr sz="2800" b="1" spc="-5" dirty="0">
                <a:latin typeface="Arial"/>
                <a:cs typeface="Arial"/>
              </a:rPr>
              <a:t> </a:t>
            </a:r>
            <a:r>
              <a:rPr sz="2800" b="1" dirty="0">
                <a:latin typeface="Arial"/>
                <a:cs typeface="Arial"/>
              </a:rPr>
              <a:t>Nas</a:t>
            </a:r>
            <a:r>
              <a:rPr sz="2800" b="1" spc="-20" dirty="0">
                <a:latin typeface="Arial"/>
                <a:cs typeface="Arial"/>
              </a:rPr>
              <a:t>h</a:t>
            </a:r>
            <a:r>
              <a:rPr sz="2800" b="1" spc="-5" dirty="0">
                <a:latin typeface="Arial"/>
                <a:cs typeface="Arial"/>
              </a:rPr>
              <a:t> </a:t>
            </a:r>
            <a:r>
              <a:rPr sz="2800" b="1" spc="-25" dirty="0">
                <a:latin typeface="Arial"/>
                <a:cs typeface="Arial"/>
              </a:rPr>
              <a:t>n</a:t>
            </a:r>
            <a:r>
              <a:rPr sz="2800" b="1" dirty="0">
                <a:latin typeface="Arial"/>
                <a:cs typeface="Arial"/>
              </a:rPr>
              <a:t>e</a:t>
            </a:r>
            <a:r>
              <a:rPr sz="2800" b="1" spc="-10" dirty="0">
                <a:latin typeface="Arial"/>
                <a:cs typeface="Arial"/>
              </a:rPr>
              <a:t>i</a:t>
            </a:r>
            <a:r>
              <a:rPr sz="2800" b="1" spc="-25" dirty="0">
                <a:latin typeface="Arial"/>
                <a:cs typeface="Arial"/>
              </a:rPr>
              <a:t>ghbou</a:t>
            </a:r>
            <a:r>
              <a:rPr sz="2800" b="1" dirty="0">
                <a:latin typeface="Arial"/>
                <a:cs typeface="Arial"/>
              </a:rPr>
              <a:t>r</a:t>
            </a:r>
            <a:r>
              <a:rPr sz="2800" b="1" spc="-25" dirty="0">
                <a:latin typeface="Arial"/>
                <a:cs typeface="Arial"/>
              </a:rPr>
              <a:t>hoo</a:t>
            </a:r>
            <a:r>
              <a:rPr sz="2800" b="1" spc="-20" dirty="0">
                <a:latin typeface="Arial"/>
                <a:cs typeface="Arial"/>
              </a:rPr>
              <a:t>d</a:t>
            </a:r>
            <a:r>
              <a:rPr sz="2800" b="1" spc="-5" dirty="0">
                <a:latin typeface="Arial"/>
                <a:cs typeface="Arial"/>
              </a:rPr>
              <a:t> </a:t>
            </a:r>
            <a:r>
              <a:rPr sz="2800" b="1" spc="-20" dirty="0">
                <a:latin typeface="Arial"/>
                <a:cs typeface="Arial"/>
              </a:rPr>
              <a:t>?</a:t>
            </a:r>
            <a:endParaRPr sz="2800" dirty="0">
              <a:latin typeface="Arial"/>
              <a:cs typeface="Arial"/>
            </a:endParaRPr>
          </a:p>
        </p:txBody>
      </p:sp>
      <p:grpSp>
        <p:nvGrpSpPr>
          <p:cNvPr id="23" name="Group 22">
            <a:extLst>
              <a:ext uri="{FF2B5EF4-FFF2-40B4-BE49-F238E27FC236}">
                <a16:creationId xmlns:a16="http://schemas.microsoft.com/office/drawing/2014/main" id="{6F450083-F0DE-A11C-C5B6-98BEEAEC1F98}"/>
              </a:ext>
            </a:extLst>
          </p:cNvPr>
          <p:cNvGrpSpPr/>
          <p:nvPr/>
        </p:nvGrpSpPr>
        <p:grpSpPr>
          <a:xfrm>
            <a:off x="240605" y="4501356"/>
            <a:ext cx="8251190" cy="535940"/>
            <a:chOff x="240605" y="4501356"/>
            <a:chExt cx="8251190" cy="535940"/>
          </a:xfrm>
        </p:grpSpPr>
        <p:sp>
          <p:nvSpPr>
            <p:cNvPr id="8" name="object 8"/>
            <p:cNvSpPr/>
            <p:nvPr/>
          </p:nvSpPr>
          <p:spPr>
            <a:xfrm>
              <a:off x="240605" y="4501356"/>
              <a:ext cx="8251190" cy="535940"/>
            </a:xfrm>
            <a:custGeom>
              <a:avLst/>
              <a:gdLst/>
              <a:ahLst/>
              <a:cxnLst/>
              <a:rect l="l" t="t" r="r" b="b"/>
              <a:pathLst>
                <a:path w="8251190" h="535939">
                  <a:moveTo>
                    <a:pt x="8117085" y="0"/>
                  </a:moveTo>
                  <a:lnTo>
                    <a:pt x="133945" y="0"/>
                  </a:lnTo>
                  <a:lnTo>
                    <a:pt x="120492" y="667"/>
                  </a:lnTo>
                  <a:lnTo>
                    <a:pt x="79413" y="11566"/>
                  </a:lnTo>
                  <a:lnTo>
                    <a:pt x="44663" y="34093"/>
                  </a:lnTo>
                  <a:lnTo>
                    <a:pt x="18485" y="66003"/>
                  </a:lnTo>
                  <a:lnTo>
                    <a:pt x="3123" y="105052"/>
                  </a:lnTo>
                  <a:lnTo>
                    <a:pt x="0" y="133944"/>
                  </a:lnTo>
                  <a:lnTo>
                    <a:pt x="667" y="415289"/>
                  </a:lnTo>
                  <a:lnTo>
                    <a:pt x="11566" y="456367"/>
                  </a:lnTo>
                  <a:lnTo>
                    <a:pt x="34093" y="491118"/>
                  </a:lnTo>
                  <a:lnTo>
                    <a:pt x="66003" y="517295"/>
                  </a:lnTo>
                  <a:lnTo>
                    <a:pt x="105053" y="532657"/>
                  </a:lnTo>
                  <a:lnTo>
                    <a:pt x="133945" y="535781"/>
                  </a:lnTo>
                  <a:lnTo>
                    <a:pt x="8130539" y="535113"/>
                  </a:lnTo>
                  <a:lnTo>
                    <a:pt x="8171617" y="524214"/>
                  </a:lnTo>
                  <a:lnTo>
                    <a:pt x="8206368" y="501687"/>
                  </a:lnTo>
                  <a:lnTo>
                    <a:pt x="8232545" y="469777"/>
                  </a:lnTo>
                  <a:lnTo>
                    <a:pt x="8247907" y="430727"/>
                  </a:lnTo>
                  <a:lnTo>
                    <a:pt x="8251031" y="401835"/>
                  </a:lnTo>
                  <a:lnTo>
                    <a:pt x="8250363" y="120491"/>
                  </a:lnTo>
                  <a:lnTo>
                    <a:pt x="8239464" y="79413"/>
                  </a:lnTo>
                  <a:lnTo>
                    <a:pt x="8216937" y="44663"/>
                  </a:lnTo>
                  <a:lnTo>
                    <a:pt x="8185027" y="18485"/>
                  </a:lnTo>
                  <a:lnTo>
                    <a:pt x="8145977" y="3123"/>
                  </a:lnTo>
                  <a:lnTo>
                    <a:pt x="8117085" y="0"/>
                  </a:lnTo>
                  <a:close/>
                </a:path>
              </a:pathLst>
            </a:custGeom>
            <a:solidFill>
              <a:srgbClr val="B9E0EC"/>
            </a:solidFill>
            <a:ln>
              <a:solidFill>
                <a:schemeClr val="bg1">
                  <a:lumMod val="65000"/>
                </a:schemeClr>
              </a:solidFill>
            </a:ln>
          </p:spPr>
          <p:txBody>
            <a:bodyPr wrap="square" lIns="0" tIns="0" rIns="0" bIns="0" rtlCol="0"/>
            <a:lstStyle/>
            <a:p>
              <a:endParaRPr/>
            </a:p>
          </p:txBody>
        </p:sp>
        <p:sp>
          <p:nvSpPr>
            <p:cNvPr id="12" name="object 12"/>
            <p:cNvSpPr/>
            <p:nvPr/>
          </p:nvSpPr>
          <p:spPr>
            <a:xfrm>
              <a:off x="4617209" y="4572793"/>
              <a:ext cx="3768328" cy="350113"/>
            </a:xfrm>
            <a:prstGeom prst="rect">
              <a:avLst/>
            </a:prstGeom>
            <a:blipFill>
              <a:blip r:embed="rId5" cstate="print"/>
              <a:stretch>
                <a:fillRect/>
              </a:stretch>
            </a:blipFill>
          </p:spPr>
          <p:txBody>
            <a:bodyPr wrap="square" lIns="0" tIns="0" rIns="0" bIns="0" rtlCol="0"/>
            <a:lstStyle/>
            <a:p>
              <a:endParaRPr/>
            </a:p>
          </p:txBody>
        </p:sp>
        <p:sp>
          <p:nvSpPr>
            <p:cNvPr id="16" name="object 16"/>
            <p:cNvSpPr txBox="1"/>
            <p:nvPr/>
          </p:nvSpPr>
          <p:spPr>
            <a:xfrm>
              <a:off x="925570" y="4592188"/>
              <a:ext cx="1561465" cy="228600"/>
            </a:xfrm>
            <a:prstGeom prst="rect">
              <a:avLst/>
            </a:prstGeom>
          </p:spPr>
          <p:txBody>
            <a:bodyPr vert="horz" wrap="square" lIns="0" tIns="0" rIns="0" bIns="0" rtlCol="0">
              <a:spAutoFit/>
            </a:bodyPr>
            <a:lstStyle/>
            <a:p>
              <a:pPr marL="12700">
                <a:lnSpc>
                  <a:spcPct val="100000"/>
                </a:lnSpc>
              </a:pPr>
              <a:r>
                <a:rPr sz="1600" dirty="0">
                  <a:solidFill>
                    <a:srgbClr val="001E57"/>
                  </a:solidFill>
                  <a:latin typeface="Arial"/>
                  <a:cs typeface="Arial"/>
                </a:rPr>
                <a:t>Nash</a:t>
              </a:r>
              <a:r>
                <a:rPr sz="1600" spc="-5" dirty="0">
                  <a:solidFill>
                    <a:srgbClr val="001E57"/>
                  </a:solidFill>
                  <a:latin typeface="Arial"/>
                  <a:cs typeface="Arial"/>
                </a:rPr>
                <a:t> </a:t>
              </a:r>
              <a:r>
                <a:rPr sz="1600" dirty="0">
                  <a:solidFill>
                    <a:srgbClr val="001E57"/>
                  </a:solidFill>
                  <a:latin typeface="Arial"/>
                  <a:cs typeface="Arial"/>
                </a:rPr>
                <a:t>Equilibrium</a:t>
              </a:r>
              <a:endParaRPr sz="1600">
                <a:latin typeface="Arial"/>
                <a:cs typeface="Arial"/>
              </a:endParaRPr>
            </a:p>
          </p:txBody>
        </p:sp>
        <p:cxnSp>
          <p:nvCxnSpPr>
            <p:cNvPr id="21" name="Straight Arrow Connector 20">
              <a:extLst>
                <a:ext uri="{FF2B5EF4-FFF2-40B4-BE49-F238E27FC236}">
                  <a16:creationId xmlns:a16="http://schemas.microsoft.com/office/drawing/2014/main" id="{6804069C-3444-5293-6973-0BC0D5459480}"/>
                </a:ext>
              </a:extLst>
            </p:cNvPr>
            <p:cNvCxnSpPr/>
            <p:nvPr/>
          </p:nvCxnSpPr>
          <p:spPr>
            <a:xfrm>
              <a:off x="2654597" y="4728844"/>
              <a:ext cx="153552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AF111F43-136A-EA37-6948-C464F94AE368}"/>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EED8A5DE-05FF-0DEC-C696-C396031561F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Slide Number Placeholder 8">
            <a:extLst>
              <a:ext uri="{FF2B5EF4-FFF2-40B4-BE49-F238E27FC236}">
                <a16:creationId xmlns:a16="http://schemas.microsoft.com/office/drawing/2014/main" id="{4A85CB57-37A3-C4B8-A76F-F16EABF3B23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34</a:t>
            </a:fld>
            <a:r>
              <a:rPr lang="en-US" sz="2000" dirty="0">
                <a:solidFill>
                  <a:prstClr val="black"/>
                </a:solidFill>
                <a:latin typeface="Comic Sans MS"/>
                <a:sym typeface="Comic Sans MS"/>
              </a:rPr>
              <a:t>/59</a:t>
            </a:r>
          </a:p>
        </p:txBody>
      </p:sp>
      <p:sp>
        <p:nvSpPr>
          <p:cNvPr id="18" name="Footer Placeholder 9">
            <a:extLst>
              <a:ext uri="{FF2B5EF4-FFF2-40B4-BE49-F238E27FC236}">
                <a16:creationId xmlns:a16="http://schemas.microsoft.com/office/drawing/2014/main" id="{13E8EB47-039A-DD2B-4DD4-EFDBFAB72A5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9" name="Rectangle 18">
            <a:extLst>
              <a:ext uri="{FF2B5EF4-FFF2-40B4-BE49-F238E27FC236}">
                <a16:creationId xmlns:a16="http://schemas.microsoft.com/office/drawing/2014/main" id="{0A0263FA-D4CD-2116-9729-EA122154ED6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20" name="TextBox 19">
            <a:extLst>
              <a:ext uri="{FF2B5EF4-FFF2-40B4-BE49-F238E27FC236}">
                <a16:creationId xmlns:a16="http://schemas.microsoft.com/office/drawing/2014/main" id="{CC47AF5E-592D-67D8-AFDD-4FE71C3512ED}"/>
              </a:ext>
            </a:extLst>
          </p:cNvPr>
          <p:cNvSpPr txBox="1"/>
          <p:nvPr/>
        </p:nvSpPr>
        <p:spPr>
          <a:xfrm>
            <a:off x="6529101" y="3930787"/>
            <a:ext cx="1689052" cy="369332"/>
          </a:xfrm>
          <a:prstGeom prst="rect">
            <a:avLst/>
          </a:prstGeom>
          <a:noFill/>
        </p:spPr>
        <p:txBody>
          <a:bodyPr wrap="square" rtlCol="0">
            <a:spAutoFit/>
          </a:bodyPr>
          <a:lstStyle/>
          <a:p>
            <a:r>
              <a:rPr lang="en-US" dirty="0"/>
              <a:t>Non strict</a:t>
            </a:r>
          </a:p>
        </p:txBody>
      </p:sp>
      <p:cxnSp>
        <p:nvCxnSpPr>
          <p:cNvPr id="22" name="Straight Arrow Connector 21">
            <a:extLst>
              <a:ext uri="{FF2B5EF4-FFF2-40B4-BE49-F238E27FC236}">
                <a16:creationId xmlns:a16="http://schemas.microsoft.com/office/drawing/2014/main" id="{36B58F48-A7BC-C903-294C-A5BBC8A8C794}"/>
              </a:ext>
            </a:extLst>
          </p:cNvPr>
          <p:cNvCxnSpPr>
            <a:cxnSpLocks/>
            <a:stCxn id="20" idx="1"/>
          </p:cNvCxnSpPr>
          <p:nvPr/>
        </p:nvCxnSpPr>
        <p:spPr>
          <a:xfrm flipH="1">
            <a:off x="6035039" y="4115453"/>
            <a:ext cx="494062" cy="476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z="5700" dirty="0">
                <a:latin typeface="Gill Sans MT"/>
                <a:cs typeface="Gill Sans MT"/>
              </a:rPr>
              <a:t>ESS</a:t>
            </a:r>
            <a:r>
              <a:rPr sz="5700" spc="-5" dirty="0">
                <a:latin typeface="Gill Sans MT"/>
                <a:cs typeface="Gill Sans MT"/>
              </a:rPr>
              <a:t> i</a:t>
            </a:r>
            <a:r>
              <a:rPr sz="5700" spc="-25" dirty="0">
                <a:latin typeface="Gill Sans MT"/>
                <a:cs typeface="Gill Sans MT"/>
              </a:rPr>
              <a:t>s</a:t>
            </a:r>
            <a:r>
              <a:rPr sz="5700" spc="-5" dirty="0">
                <a:latin typeface="Gill Sans MT"/>
                <a:cs typeface="Gill Sans MT"/>
              </a:rPr>
              <a:t> </a:t>
            </a:r>
            <a:r>
              <a:rPr sz="5700" spc="-25" dirty="0">
                <a:latin typeface="Gill Sans MT"/>
                <a:cs typeface="Gill Sans MT"/>
              </a:rPr>
              <a:t>a</a:t>
            </a:r>
            <a:r>
              <a:rPr sz="5700" spc="-5" dirty="0">
                <a:latin typeface="Gill Sans MT"/>
                <a:cs typeface="Gill Sans MT"/>
              </a:rPr>
              <a:t> </a:t>
            </a:r>
            <a:r>
              <a:rPr sz="5700" spc="-140" dirty="0">
                <a:latin typeface="Gill Sans MT"/>
                <a:cs typeface="Gill Sans MT"/>
              </a:rPr>
              <a:t>r</a:t>
            </a:r>
            <a:r>
              <a:rPr sz="5700" dirty="0">
                <a:latin typeface="Gill Sans MT"/>
                <a:cs typeface="Gill Sans MT"/>
              </a:rPr>
              <a:t>e</a:t>
            </a:r>
            <a:r>
              <a:rPr sz="5700" spc="80" dirty="0">
                <a:latin typeface="Gill Sans MT"/>
                <a:cs typeface="Gill Sans MT"/>
              </a:rPr>
              <a:t>fi</a:t>
            </a:r>
            <a:r>
              <a:rPr sz="5700" dirty="0">
                <a:latin typeface="Gill Sans MT"/>
                <a:cs typeface="Gill Sans MT"/>
              </a:rPr>
              <a:t>nement</a:t>
            </a:r>
            <a:r>
              <a:rPr sz="5700" spc="-5" dirty="0">
                <a:latin typeface="Gill Sans MT"/>
                <a:cs typeface="Gill Sans MT"/>
              </a:rPr>
              <a:t> </a:t>
            </a:r>
            <a:r>
              <a:rPr sz="5700" spc="-35" dirty="0">
                <a:latin typeface="Gill Sans MT"/>
                <a:cs typeface="Gill Sans MT"/>
              </a:rPr>
              <a:t>o</a:t>
            </a:r>
            <a:r>
              <a:rPr sz="5700" dirty="0">
                <a:latin typeface="Gill Sans MT"/>
                <a:cs typeface="Gill Sans MT"/>
              </a:rPr>
              <a:t>f</a:t>
            </a:r>
            <a:r>
              <a:rPr sz="5700" spc="-5" dirty="0">
                <a:latin typeface="Gill Sans MT"/>
                <a:cs typeface="Gill Sans MT"/>
              </a:rPr>
              <a:t> </a:t>
            </a:r>
            <a:r>
              <a:rPr sz="5700" spc="-35" dirty="0">
                <a:latin typeface="Gill Sans MT"/>
                <a:cs typeface="Gill Sans MT"/>
              </a:rPr>
              <a:t>Nas</a:t>
            </a:r>
            <a:r>
              <a:rPr sz="5700" dirty="0">
                <a:latin typeface="Gill Sans MT"/>
                <a:cs typeface="Gill Sans MT"/>
              </a:rPr>
              <a:t>h</a:t>
            </a:r>
            <a:endParaRPr sz="5700">
              <a:latin typeface="Gill Sans MT"/>
              <a:cs typeface="Gill Sans MT"/>
            </a:endParaRPr>
          </a:p>
        </p:txBody>
      </p:sp>
      <p:sp>
        <p:nvSpPr>
          <p:cNvPr id="6" name="object 6"/>
          <p:cNvSpPr/>
          <p:nvPr/>
        </p:nvSpPr>
        <p:spPr>
          <a:xfrm>
            <a:off x="1921172" y="2176780"/>
            <a:ext cx="5153025" cy="3340100"/>
          </a:xfrm>
          <a:custGeom>
            <a:avLst/>
            <a:gdLst/>
            <a:ahLst/>
            <a:cxnLst/>
            <a:rect l="l" t="t" r="r" b="b"/>
            <a:pathLst>
              <a:path w="5153025" h="3340100">
                <a:moveTo>
                  <a:pt x="2576214" y="0"/>
                </a:moveTo>
                <a:lnTo>
                  <a:pt x="2378577" y="4890"/>
                </a:lnTo>
                <a:lnTo>
                  <a:pt x="2181877" y="19563"/>
                </a:lnTo>
                <a:lnTo>
                  <a:pt x="1987053" y="44017"/>
                </a:lnTo>
                <a:lnTo>
                  <a:pt x="1795042" y="78254"/>
                </a:lnTo>
                <a:lnTo>
                  <a:pt x="1606782" y="122271"/>
                </a:lnTo>
                <a:lnTo>
                  <a:pt x="1423210" y="176071"/>
                </a:lnTo>
                <a:lnTo>
                  <a:pt x="1245263" y="239653"/>
                </a:lnTo>
                <a:lnTo>
                  <a:pt x="1073880" y="313016"/>
                </a:lnTo>
                <a:lnTo>
                  <a:pt x="909999" y="396161"/>
                </a:lnTo>
                <a:lnTo>
                  <a:pt x="754556" y="489087"/>
                </a:lnTo>
                <a:lnTo>
                  <a:pt x="611190" y="589842"/>
                </a:lnTo>
                <a:lnTo>
                  <a:pt x="482915" y="696067"/>
                </a:lnTo>
                <a:lnTo>
                  <a:pt x="369732" y="807154"/>
                </a:lnTo>
                <a:lnTo>
                  <a:pt x="271640" y="922496"/>
                </a:lnTo>
                <a:lnTo>
                  <a:pt x="188639" y="1041484"/>
                </a:lnTo>
                <a:lnTo>
                  <a:pt x="120728" y="1163510"/>
                </a:lnTo>
                <a:lnTo>
                  <a:pt x="67910" y="1287968"/>
                </a:lnTo>
                <a:lnTo>
                  <a:pt x="30182" y="1414249"/>
                </a:lnTo>
                <a:lnTo>
                  <a:pt x="7545" y="1541746"/>
                </a:lnTo>
                <a:lnTo>
                  <a:pt x="0" y="1669850"/>
                </a:lnTo>
                <a:lnTo>
                  <a:pt x="7545" y="1797955"/>
                </a:lnTo>
                <a:lnTo>
                  <a:pt x="30182" y="1925451"/>
                </a:lnTo>
                <a:lnTo>
                  <a:pt x="67910" y="2051732"/>
                </a:lnTo>
                <a:lnTo>
                  <a:pt x="120728" y="2176190"/>
                </a:lnTo>
                <a:lnTo>
                  <a:pt x="188639" y="2298217"/>
                </a:lnTo>
                <a:lnTo>
                  <a:pt x="271640" y="2417205"/>
                </a:lnTo>
                <a:lnTo>
                  <a:pt x="369732" y="2532547"/>
                </a:lnTo>
                <a:lnTo>
                  <a:pt x="482915" y="2643634"/>
                </a:lnTo>
                <a:lnTo>
                  <a:pt x="611190" y="2749859"/>
                </a:lnTo>
                <a:lnTo>
                  <a:pt x="754556" y="2850614"/>
                </a:lnTo>
                <a:lnTo>
                  <a:pt x="909999" y="2943541"/>
                </a:lnTo>
                <a:lnTo>
                  <a:pt x="1073880" y="3026686"/>
                </a:lnTo>
                <a:lnTo>
                  <a:pt x="1245263" y="3100049"/>
                </a:lnTo>
                <a:lnTo>
                  <a:pt x="1423210" y="3163631"/>
                </a:lnTo>
                <a:lnTo>
                  <a:pt x="1606782" y="3217430"/>
                </a:lnTo>
                <a:lnTo>
                  <a:pt x="1795042" y="3261448"/>
                </a:lnTo>
                <a:lnTo>
                  <a:pt x="1987053" y="3295684"/>
                </a:lnTo>
                <a:lnTo>
                  <a:pt x="2181877" y="3320139"/>
                </a:lnTo>
                <a:lnTo>
                  <a:pt x="2378577" y="3334811"/>
                </a:lnTo>
                <a:lnTo>
                  <a:pt x="2576214" y="3339702"/>
                </a:lnTo>
                <a:lnTo>
                  <a:pt x="2773850" y="3334811"/>
                </a:lnTo>
                <a:lnTo>
                  <a:pt x="2970550" y="3320139"/>
                </a:lnTo>
                <a:lnTo>
                  <a:pt x="3165374" y="3295684"/>
                </a:lnTo>
                <a:lnTo>
                  <a:pt x="3357385" y="3261448"/>
                </a:lnTo>
                <a:lnTo>
                  <a:pt x="3545646" y="3217430"/>
                </a:lnTo>
                <a:lnTo>
                  <a:pt x="3729218" y="3163631"/>
                </a:lnTo>
                <a:lnTo>
                  <a:pt x="3907165" y="3100049"/>
                </a:lnTo>
                <a:lnTo>
                  <a:pt x="4078548" y="3026686"/>
                </a:lnTo>
                <a:lnTo>
                  <a:pt x="4242430" y="2943541"/>
                </a:lnTo>
                <a:lnTo>
                  <a:pt x="4397873" y="2850614"/>
                </a:lnTo>
                <a:lnTo>
                  <a:pt x="4541239" y="2749859"/>
                </a:lnTo>
                <a:lnTo>
                  <a:pt x="4669514" y="2643634"/>
                </a:lnTo>
                <a:lnTo>
                  <a:pt x="4782697" y="2532547"/>
                </a:lnTo>
                <a:lnTo>
                  <a:pt x="4880789" y="2417205"/>
                </a:lnTo>
                <a:lnTo>
                  <a:pt x="4963790" y="2298217"/>
                </a:lnTo>
                <a:lnTo>
                  <a:pt x="5031701" y="2176190"/>
                </a:lnTo>
                <a:lnTo>
                  <a:pt x="5084519" y="2051732"/>
                </a:lnTo>
                <a:lnTo>
                  <a:pt x="5122247" y="1925451"/>
                </a:lnTo>
                <a:lnTo>
                  <a:pt x="5144884" y="1797955"/>
                </a:lnTo>
                <a:lnTo>
                  <a:pt x="5152430" y="1669850"/>
                </a:lnTo>
                <a:lnTo>
                  <a:pt x="5144884" y="1541746"/>
                </a:lnTo>
                <a:lnTo>
                  <a:pt x="5122247" y="1414249"/>
                </a:lnTo>
                <a:lnTo>
                  <a:pt x="5084519" y="1287968"/>
                </a:lnTo>
                <a:lnTo>
                  <a:pt x="5031701" y="1163510"/>
                </a:lnTo>
                <a:lnTo>
                  <a:pt x="4963790" y="1041484"/>
                </a:lnTo>
                <a:lnTo>
                  <a:pt x="4880789" y="922496"/>
                </a:lnTo>
                <a:lnTo>
                  <a:pt x="4782697" y="807154"/>
                </a:lnTo>
                <a:lnTo>
                  <a:pt x="4669514" y="696067"/>
                </a:lnTo>
                <a:lnTo>
                  <a:pt x="4541239" y="589842"/>
                </a:lnTo>
                <a:lnTo>
                  <a:pt x="4397873" y="489087"/>
                </a:lnTo>
                <a:lnTo>
                  <a:pt x="4242430" y="396161"/>
                </a:lnTo>
                <a:lnTo>
                  <a:pt x="4078548" y="313016"/>
                </a:lnTo>
                <a:lnTo>
                  <a:pt x="3907165" y="239653"/>
                </a:lnTo>
                <a:lnTo>
                  <a:pt x="3729218" y="176071"/>
                </a:lnTo>
                <a:lnTo>
                  <a:pt x="3545646" y="122271"/>
                </a:lnTo>
                <a:lnTo>
                  <a:pt x="3357385" y="78254"/>
                </a:lnTo>
                <a:lnTo>
                  <a:pt x="3165374" y="44017"/>
                </a:lnTo>
                <a:lnTo>
                  <a:pt x="2970550" y="19563"/>
                </a:lnTo>
                <a:lnTo>
                  <a:pt x="2773850" y="4890"/>
                </a:lnTo>
                <a:lnTo>
                  <a:pt x="2576214" y="0"/>
                </a:lnTo>
                <a:close/>
              </a:path>
            </a:pathLst>
          </a:custGeom>
          <a:solidFill>
            <a:srgbClr val="B9E0EC"/>
          </a:solidFill>
          <a:ln>
            <a:solidFill>
              <a:schemeClr val="bg1">
                <a:lumMod val="65000"/>
              </a:schemeClr>
            </a:solidFill>
          </a:ln>
        </p:spPr>
        <p:txBody>
          <a:bodyPr wrap="square" lIns="0" tIns="0" rIns="0" bIns="0" rtlCol="0"/>
          <a:lstStyle/>
          <a:p>
            <a:endParaRPr/>
          </a:p>
        </p:txBody>
      </p:sp>
      <p:sp>
        <p:nvSpPr>
          <p:cNvPr id="8" name="object 8"/>
          <p:cNvSpPr txBox="1"/>
          <p:nvPr/>
        </p:nvSpPr>
        <p:spPr>
          <a:xfrm>
            <a:off x="1981059" y="3770290"/>
            <a:ext cx="253365" cy="203200"/>
          </a:xfrm>
          <a:prstGeom prst="rect">
            <a:avLst/>
          </a:prstGeom>
        </p:spPr>
        <p:txBody>
          <a:bodyPr vert="horz" wrap="square" lIns="0" tIns="0" rIns="0" bIns="0" rtlCol="0">
            <a:spAutoFit/>
          </a:bodyPr>
          <a:lstStyle/>
          <a:p>
            <a:pPr marL="12700">
              <a:lnSpc>
                <a:spcPct val="100000"/>
              </a:lnSpc>
            </a:pPr>
            <a:r>
              <a:rPr sz="1400" spc="-10" dirty="0">
                <a:latin typeface="Gill Sans MT"/>
                <a:cs typeface="Gill Sans MT"/>
              </a:rPr>
              <a:t>NE</a:t>
            </a:r>
            <a:endParaRPr sz="1400">
              <a:latin typeface="Gill Sans MT"/>
              <a:cs typeface="Gill Sans MT"/>
            </a:endParaRPr>
          </a:p>
        </p:txBody>
      </p:sp>
      <p:sp>
        <p:nvSpPr>
          <p:cNvPr id="9" name="object 9"/>
          <p:cNvSpPr/>
          <p:nvPr/>
        </p:nvSpPr>
        <p:spPr>
          <a:xfrm>
            <a:off x="3662462" y="3289101"/>
            <a:ext cx="1428750" cy="1036319"/>
          </a:xfrm>
          <a:custGeom>
            <a:avLst/>
            <a:gdLst/>
            <a:ahLst/>
            <a:cxnLst/>
            <a:rect l="l" t="t" r="r" b="b"/>
            <a:pathLst>
              <a:path w="1428750" h="1036320">
                <a:moveTo>
                  <a:pt x="714374" y="0"/>
                </a:moveTo>
                <a:lnTo>
                  <a:pt x="659570" y="1516"/>
                </a:lnTo>
                <a:lnTo>
                  <a:pt x="605026" y="6067"/>
                </a:lnTo>
                <a:lnTo>
                  <a:pt x="551002" y="13652"/>
                </a:lnTo>
                <a:lnTo>
                  <a:pt x="497758" y="24271"/>
                </a:lnTo>
                <a:lnTo>
                  <a:pt x="445554" y="37923"/>
                </a:lnTo>
                <a:lnTo>
                  <a:pt x="394650" y="54610"/>
                </a:lnTo>
                <a:lnTo>
                  <a:pt x="345306" y="74330"/>
                </a:lnTo>
                <a:lnTo>
                  <a:pt x="297783" y="97084"/>
                </a:lnTo>
                <a:lnTo>
                  <a:pt x="252339" y="122873"/>
                </a:lnTo>
                <a:lnTo>
                  <a:pt x="209235" y="151695"/>
                </a:lnTo>
                <a:lnTo>
                  <a:pt x="169480" y="182945"/>
                </a:lnTo>
                <a:lnTo>
                  <a:pt x="133910" y="215892"/>
                </a:lnTo>
                <a:lnTo>
                  <a:pt x="102525" y="250347"/>
                </a:lnTo>
                <a:lnTo>
                  <a:pt x="75324" y="286121"/>
                </a:lnTo>
                <a:lnTo>
                  <a:pt x="52308" y="323027"/>
                </a:lnTo>
                <a:lnTo>
                  <a:pt x="33477" y="360874"/>
                </a:lnTo>
                <a:lnTo>
                  <a:pt x="18831" y="399476"/>
                </a:lnTo>
                <a:lnTo>
                  <a:pt x="8369" y="438644"/>
                </a:lnTo>
                <a:lnTo>
                  <a:pt x="2092" y="478188"/>
                </a:lnTo>
                <a:lnTo>
                  <a:pt x="0" y="517921"/>
                </a:lnTo>
                <a:lnTo>
                  <a:pt x="2092" y="557654"/>
                </a:lnTo>
                <a:lnTo>
                  <a:pt x="8369" y="597199"/>
                </a:lnTo>
                <a:lnTo>
                  <a:pt x="18831" y="636366"/>
                </a:lnTo>
                <a:lnTo>
                  <a:pt x="33477" y="674968"/>
                </a:lnTo>
                <a:lnTo>
                  <a:pt x="52308" y="712816"/>
                </a:lnTo>
                <a:lnTo>
                  <a:pt x="75324" y="749721"/>
                </a:lnTo>
                <a:lnTo>
                  <a:pt x="102525" y="785495"/>
                </a:lnTo>
                <a:lnTo>
                  <a:pt x="133910" y="819950"/>
                </a:lnTo>
                <a:lnTo>
                  <a:pt x="169480" y="852897"/>
                </a:lnTo>
                <a:lnTo>
                  <a:pt x="209235" y="884147"/>
                </a:lnTo>
                <a:lnTo>
                  <a:pt x="252339" y="912969"/>
                </a:lnTo>
                <a:lnTo>
                  <a:pt x="297783" y="938757"/>
                </a:lnTo>
                <a:lnTo>
                  <a:pt x="345306" y="961512"/>
                </a:lnTo>
                <a:lnTo>
                  <a:pt x="394650" y="981232"/>
                </a:lnTo>
                <a:lnTo>
                  <a:pt x="445554" y="997919"/>
                </a:lnTo>
                <a:lnTo>
                  <a:pt x="497758" y="1011572"/>
                </a:lnTo>
                <a:lnTo>
                  <a:pt x="551002" y="1022190"/>
                </a:lnTo>
                <a:lnTo>
                  <a:pt x="605026" y="1029775"/>
                </a:lnTo>
                <a:lnTo>
                  <a:pt x="659570" y="1034326"/>
                </a:lnTo>
                <a:lnTo>
                  <a:pt x="714374" y="1035843"/>
                </a:lnTo>
                <a:lnTo>
                  <a:pt x="769178" y="1034326"/>
                </a:lnTo>
                <a:lnTo>
                  <a:pt x="823722" y="1029775"/>
                </a:lnTo>
                <a:lnTo>
                  <a:pt x="877746" y="1022190"/>
                </a:lnTo>
                <a:lnTo>
                  <a:pt x="930990" y="1011572"/>
                </a:lnTo>
                <a:lnTo>
                  <a:pt x="983194" y="997919"/>
                </a:lnTo>
                <a:lnTo>
                  <a:pt x="1034098" y="981232"/>
                </a:lnTo>
                <a:lnTo>
                  <a:pt x="1083441" y="961512"/>
                </a:lnTo>
                <a:lnTo>
                  <a:pt x="1130965" y="938757"/>
                </a:lnTo>
                <a:lnTo>
                  <a:pt x="1176409" y="912969"/>
                </a:lnTo>
                <a:lnTo>
                  <a:pt x="1219513" y="884147"/>
                </a:lnTo>
                <a:lnTo>
                  <a:pt x="1259268" y="852897"/>
                </a:lnTo>
                <a:lnTo>
                  <a:pt x="1294838" y="819950"/>
                </a:lnTo>
                <a:lnTo>
                  <a:pt x="1326223" y="785495"/>
                </a:lnTo>
                <a:lnTo>
                  <a:pt x="1353424" y="749721"/>
                </a:lnTo>
                <a:lnTo>
                  <a:pt x="1376440" y="712816"/>
                </a:lnTo>
                <a:lnTo>
                  <a:pt x="1395271" y="674968"/>
                </a:lnTo>
                <a:lnTo>
                  <a:pt x="1409918" y="636366"/>
                </a:lnTo>
                <a:lnTo>
                  <a:pt x="1420380" y="597199"/>
                </a:lnTo>
                <a:lnTo>
                  <a:pt x="1426657" y="557654"/>
                </a:lnTo>
                <a:lnTo>
                  <a:pt x="1428749" y="517921"/>
                </a:lnTo>
                <a:lnTo>
                  <a:pt x="1426657" y="478188"/>
                </a:lnTo>
                <a:lnTo>
                  <a:pt x="1420380" y="438644"/>
                </a:lnTo>
                <a:lnTo>
                  <a:pt x="1409918" y="399476"/>
                </a:lnTo>
                <a:lnTo>
                  <a:pt x="1395271" y="360874"/>
                </a:lnTo>
                <a:lnTo>
                  <a:pt x="1376440" y="323027"/>
                </a:lnTo>
                <a:lnTo>
                  <a:pt x="1353424" y="286121"/>
                </a:lnTo>
                <a:lnTo>
                  <a:pt x="1326223" y="250347"/>
                </a:lnTo>
                <a:lnTo>
                  <a:pt x="1294838" y="215892"/>
                </a:lnTo>
                <a:lnTo>
                  <a:pt x="1259268" y="182945"/>
                </a:lnTo>
                <a:lnTo>
                  <a:pt x="1219513" y="151695"/>
                </a:lnTo>
                <a:lnTo>
                  <a:pt x="1176409" y="122873"/>
                </a:lnTo>
                <a:lnTo>
                  <a:pt x="1130965" y="97084"/>
                </a:lnTo>
                <a:lnTo>
                  <a:pt x="1083441" y="74330"/>
                </a:lnTo>
                <a:lnTo>
                  <a:pt x="1034098" y="54610"/>
                </a:lnTo>
                <a:lnTo>
                  <a:pt x="983194" y="37923"/>
                </a:lnTo>
                <a:lnTo>
                  <a:pt x="930990" y="24271"/>
                </a:lnTo>
                <a:lnTo>
                  <a:pt x="877746" y="13652"/>
                </a:lnTo>
                <a:lnTo>
                  <a:pt x="823722" y="6067"/>
                </a:lnTo>
                <a:lnTo>
                  <a:pt x="769178" y="1516"/>
                </a:lnTo>
                <a:lnTo>
                  <a:pt x="714374" y="0"/>
                </a:lnTo>
                <a:close/>
              </a:path>
            </a:pathLst>
          </a:custGeom>
          <a:solidFill>
            <a:srgbClr val="00C5FF"/>
          </a:solidFill>
        </p:spPr>
        <p:txBody>
          <a:bodyPr wrap="square" lIns="0" tIns="0" rIns="0" bIns="0" rtlCol="0"/>
          <a:lstStyle/>
          <a:p>
            <a:endParaRPr/>
          </a:p>
        </p:txBody>
      </p:sp>
      <p:sp>
        <p:nvSpPr>
          <p:cNvPr id="10" name="object 10"/>
          <p:cNvSpPr/>
          <p:nvPr/>
        </p:nvSpPr>
        <p:spPr>
          <a:xfrm>
            <a:off x="3662461" y="3289101"/>
            <a:ext cx="1428750" cy="1036319"/>
          </a:xfrm>
          <a:custGeom>
            <a:avLst/>
            <a:gdLst/>
            <a:ahLst/>
            <a:cxnLst/>
            <a:rect l="l" t="t" r="r" b="b"/>
            <a:pathLst>
              <a:path w="1428750" h="1036320">
                <a:moveTo>
                  <a:pt x="1219513" y="151695"/>
                </a:moveTo>
                <a:lnTo>
                  <a:pt x="1259268" y="182946"/>
                </a:lnTo>
                <a:lnTo>
                  <a:pt x="1294839" y="215892"/>
                </a:lnTo>
                <a:lnTo>
                  <a:pt x="1326224" y="250347"/>
                </a:lnTo>
                <a:lnTo>
                  <a:pt x="1353425" y="286122"/>
                </a:lnTo>
                <a:lnTo>
                  <a:pt x="1376441" y="323027"/>
                </a:lnTo>
                <a:lnTo>
                  <a:pt x="1395272" y="360875"/>
                </a:lnTo>
                <a:lnTo>
                  <a:pt x="1409919" y="399477"/>
                </a:lnTo>
                <a:lnTo>
                  <a:pt x="1420380" y="438644"/>
                </a:lnTo>
                <a:lnTo>
                  <a:pt x="1426658" y="478188"/>
                </a:lnTo>
                <a:lnTo>
                  <a:pt x="1428750" y="517921"/>
                </a:lnTo>
                <a:lnTo>
                  <a:pt x="1426658" y="557654"/>
                </a:lnTo>
                <a:lnTo>
                  <a:pt x="1420380" y="597199"/>
                </a:lnTo>
                <a:lnTo>
                  <a:pt x="1409919" y="636366"/>
                </a:lnTo>
                <a:lnTo>
                  <a:pt x="1395272" y="674968"/>
                </a:lnTo>
                <a:lnTo>
                  <a:pt x="1376441" y="712816"/>
                </a:lnTo>
                <a:lnTo>
                  <a:pt x="1353425" y="749721"/>
                </a:lnTo>
                <a:lnTo>
                  <a:pt x="1326224" y="785496"/>
                </a:lnTo>
                <a:lnTo>
                  <a:pt x="1294839" y="819950"/>
                </a:lnTo>
                <a:lnTo>
                  <a:pt x="1259268" y="852897"/>
                </a:lnTo>
                <a:lnTo>
                  <a:pt x="1219513" y="884147"/>
                </a:lnTo>
                <a:lnTo>
                  <a:pt x="1176410" y="912970"/>
                </a:lnTo>
                <a:lnTo>
                  <a:pt x="1130966" y="938758"/>
                </a:lnTo>
                <a:lnTo>
                  <a:pt x="1083442" y="961512"/>
                </a:lnTo>
                <a:lnTo>
                  <a:pt x="1034098" y="981233"/>
                </a:lnTo>
                <a:lnTo>
                  <a:pt x="983194" y="997919"/>
                </a:lnTo>
                <a:lnTo>
                  <a:pt x="930990" y="1011572"/>
                </a:lnTo>
                <a:lnTo>
                  <a:pt x="877746" y="1022191"/>
                </a:lnTo>
                <a:lnTo>
                  <a:pt x="823722" y="1029775"/>
                </a:lnTo>
                <a:lnTo>
                  <a:pt x="769178" y="1034326"/>
                </a:lnTo>
                <a:lnTo>
                  <a:pt x="714374" y="1035843"/>
                </a:lnTo>
                <a:lnTo>
                  <a:pt x="659570" y="1034326"/>
                </a:lnTo>
                <a:lnTo>
                  <a:pt x="605026" y="1029775"/>
                </a:lnTo>
                <a:lnTo>
                  <a:pt x="551002" y="1022191"/>
                </a:lnTo>
                <a:lnTo>
                  <a:pt x="497758" y="1011572"/>
                </a:lnTo>
                <a:lnTo>
                  <a:pt x="445554" y="997919"/>
                </a:lnTo>
                <a:lnTo>
                  <a:pt x="394650" y="981233"/>
                </a:lnTo>
                <a:lnTo>
                  <a:pt x="345307" y="961512"/>
                </a:lnTo>
                <a:lnTo>
                  <a:pt x="297783" y="938758"/>
                </a:lnTo>
                <a:lnTo>
                  <a:pt x="252339" y="912970"/>
                </a:lnTo>
                <a:lnTo>
                  <a:pt x="209235" y="884147"/>
                </a:lnTo>
                <a:lnTo>
                  <a:pt x="169480" y="852897"/>
                </a:lnTo>
                <a:lnTo>
                  <a:pt x="133910" y="819950"/>
                </a:lnTo>
                <a:lnTo>
                  <a:pt x="102525" y="785496"/>
                </a:lnTo>
                <a:lnTo>
                  <a:pt x="75324" y="749721"/>
                </a:lnTo>
                <a:lnTo>
                  <a:pt x="52308" y="712816"/>
                </a:lnTo>
                <a:lnTo>
                  <a:pt x="33477" y="674968"/>
                </a:lnTo>
                <a:lnTo>
                  <a:pt x="18831" y="636366"/>
                </a:lnTo>
                <a:lnTo>
                  <a:pt x="8369" y="597199"/>
                </a:lnTo>
                <a:lnTo>
                  <a:pt x="2092" y="557654"/>
                </a:lnTo>
                <a:lnTo>
                  <a:pt x="0" y="517921"/>
                </a:lnTo>
                <a:lnTo>
                  <a:pt x="2092" y="478188"/>
                </a:lnTo>
                <a:lnTo>
                  <a:pt x="8369" y="438644"/>
                </a:lnTo>
                <a:lnTo>
                  <a:pt x="18831" y="399477"/>
                </a:lnTo>
                <a:lnTo>
                  <a:pt x="33477" y="360875"/>
                </a:lnTo>
                <a:lnTo>
                  <a:pt x="52308" y="323027"/>
                </a:lnTo>
                <a:lnTo>
                  <a:pt x="75324" y="286122"/>
                </a:lnTo>
                <a:lnTo>
                  <a:pt x="102525" y="250347"/>
                </a:lnTo>
                <a:lnTo>
                  <a:pt x="133910" y="215892"/>
                </a:lnTo>
                <a:lnTo>
                  <a:pt x="169480" y="182946"/>
                </a:lnTo>
                <a:lnTo>
                  <a:pt x="209235" y="151695"/>
                </a:lnTo>
                <a:lnTo>
                  <a:pt x="252339" y="122873"/>
                </a:lnTo>
                <a:lnTo>
                  <a:pt x="297783" y="97085"/>
                </a:lnTo>
                <a:lnTo>
                  <a:pt x="345307" y="74330"/>
                </a:lnTo>
                <a:lnTo>
                  <a:pt x="394650" y="54610"/>
                </a:lnTo>
                <a:lnTo>
                  <a:pt x="445554" y="37923"/>
                </a:lnTo>
                <a:lnTo>
                  <a:pt x="497758" y="24271"/>
                </a:lnTo>
                <a:lnTo>
                  <a:pt x="551002" y="13652"/>
                </a:lnTo>
                <a:lnTo>
                  <a:pt x="605026" y="6067"/>
                </a:lnTo>
                <a:lnTo>
                  <a:pt x="659570" y="1516"/>
                </a:lnTo>
                <a:lnTo>
                  <a:pt x="714374" y="0"/>
                </a:lnTo>
                <a:lnTo>
                  <a:pt x="769178" y="1516"/>
                </a:lnTo>
                <a:lnTo>
                  <a:pt x="823722" y="6067"/>
                </a:lnTo>
                <a:lnTo>
                  <a:pt x="877746" y="13652"/>
                </a:lnTo>
                <a:lnTo>
                  <a:pt x="930990" y="24271"/>
                </a:lnTo>
                <a:lnTo>
                  <a:pt x="983194" y="37923"/>
                </a:lnTo>
                <a:lnTo>
                  <a:pt x="1034098" y="54610"/>
                </a:lnTo>
                <a:lnTo>
                  <a:pt x="1083442" y="74330"/>
                </a:lnTo>
                <a:lnTo>
                  <a:pt x="1130966" y="97085"/>
                </a:lnTo>
                <a:lnTo>
                  <a:pt x="1176410" y="122873"/>
                </a:lnTo>
                <a:lnTo>
                  <a:pt x="1219513" y="151695"/>
                </a:lnTo>
              </a:path>
            </a:pathLst>
          </a:custGeom>
          <a:ln w="3175">
            <a:solidFill>
              <a:srgbClr val="000000"/>
            </a:solidFill>
          </a:ln>
        </p:spPr>
        <p:txBody>
          <a:bodyPr wrap="square" lIns="0" tIns="0" rIns="0" bIns="0" rtlCol="0"/>
          <a:lstStyle/>
          <a:p>
            <a:endParaRPr/>
          </a:p>
        </p:txBody>
      </p:sp>
      <p:sp>
        <p:nvSpPr>
          <p:cNvPr id="11" name="object 11"/>
          <p:cNvSpPr txBox="1"/>
          <p:nvPr/>
        </p:nvSpPr>
        <p:spPr>
          <a:xfrm>
            <a:off x="4238252" y="3720305"/>
            <a:ext cx="277495" cy="203200"/>
          </a:xfrm>
          <a:prstGeom prst="rect">
            <a:avLst/>
          </a:prstGeom>
        </p:spPr>
        <p:txBody>
          <a:bodyPr vert="horz" wrap="square" lIns="0" tIns="0" rIns="0" bIns="0" rtlCol="0">
            <a:spAutoFit/>
          </a:bodyPr>
          <a:lstStyle/>
          <a:p>
            <a:pPr marL="12700">
              <a:lnSpc>
                <a:spcPct val="100000"/>
              </a:lnSpc>
            </a:pPr>
            <a:r>
              <a:rPr sz="1400" dirty="0">
                <a:latin typeface="Gill Sans MT"/>
                <a:cs typeface="Gill Sans MT"/>
              </a:rPr>
              <a:t>ESS</a:t>
            </a:r>
            <a:endParaRPr sz="1400">
              <a:latin typeface="Gill Sans MT"/>
              <a:cs typeface="Gill Sans MT"/>
            </a:endParaRPr>
          </a:p>
        </p:txBody>
      </p:sp>
      <p:sp>
        <p:nvSpPr>
          <p:cNvPr id="3" name="Rectangle 2">
            <a:extLst>
              <a:ext uri="{FF2B5EF4-FFF2-40B4-BE49-F238E27FC236}">
                <a16:creationId xmlns:a16="http://schemas.microsoft.com/office/drawing/2014/main" id="{F97CE4E2-3B5E-20F3-08A6-BAA47522EE75}"/>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872C1435-D000-B31F-6E1C-C9013464DF1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965E95C1-A0C1-A083-EDD0-BD2C6E5CE6A6}"/>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35</a:t>
            </a:fld>
            <a:r>
              <a:rPr lang="en-US" sz="2000" dirty="0">
                <a:solidFill>
                  <a:prstClr val="black"/>
                </a:solidFill>
                <a:latin typeface="Comic Sans MS"/>
                <a:sym typeface="Comic Sans MS"/>
              </a:rPr>
              <a:t>/59</a:t>
            </a:r>
          </a:p>
        </p:txBody>
      </p:sp>
      <p:sp>
        <p:nvSpPr>
          <p:cNvPr id="12" name="Footer Placeholder 9">
            <a:extLst>
              <a:ext uri="{FF2B5EF4-FFF2-40B4-BE49-F238E27FC236}">
                <a16:creationId xmlns:a16="http://schemas.microsoft.com/office/drawing/2014/main" id="{CB213A59-4906-62C2-138B-37877550DCA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3" name="Rectangle 12">
            <a:extLst>
              <a:ext uri="{FF2B5EF4-FFF2-40B4-BE49-F238E27FC236}">
                <a16:creationId xmlns:a16="http://schemas.microsoft.com/office/drawing/2014/main" id="{4819DECE-D78B-B0BF-689D-B33D93472D8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p:nvPr/>
        </p:nvSpPr>
        <p:spPr>
          <a:xfrm>
            <a:off x="2027039" y="1737360"/>
            <a:ext cx="5153025" cy="3340100"/>
          </a:xfrm>
          <a:custGeom>
            <a:avLst/>
            <a:gdLst/>
            <a:ahLst/>
            <a:cxnLst/>
            <a:rect l="l" t="t" r="r" b="b"/>
            <a:pathLst>
              <a:path w="5153025" h="3340100">
                <a:moveTo>
                  <a:pt x="2576214" y="0"/>
                </a:moveTo>
                <a:lnTo>
                  <a:pt x="2378577" y="4890"/>
                </a:lnTo>
                <a:lnTo>
                  <a:pt x="2181877" y="19563"/>
                </a:lnTo>
                <a:lnTo>
                  <a:pt x="1987053" y="44017"/>
                </a:lnTo>
                <a:lnTo>
                  <a:pt x="1795042" y="78254"/>
                </a:lnTo>
                <a:lnTo>
                  <a:pt x="1606782" y="122271"/>
                </a:lnTo>
                <a:lnTo>
                  <a:pt x="1423209" y="176071"/>
                </a:lnTo>
                <a:lnTo>
                  <a:pt x="1245263" y="239653"/>
                </a:lnTo>
                <a:lnTo>
                  <a:pt x="1073880" y="313016"/>
                </a:lnTo>
                <a:lnTo>
                  <a:pt x="909998" y="396161"/>
                </a:lnTo>
                <a:lnTo>
                  <a:pt x="754555" y="489087"/>
                </a:lnTo>
                <a:lnTo>
                  <a:pt x="611189" y="589843"/>
                </a:lnTo>
                <a:lnTo>
                  <a:pt x="482915" y="696068"/>
                </a:lnTo>
                <a:lnTo>
                  <a:pt x="369732" y="807155"/>
                </a:lnTo>
                <a:lnTo>
                  <a:pt x="271639" y="922496"/>
                </a:lnTo>
                <a:lnTo>
                  <a:pt x="188638" y="1041484"/>
                </a:lnTo>
                <a:lnTo>
                  <a:pt x="120728" y="1163511"/>
                </a:lnTo>
                <a:lnTo>
                  <a:pt x="67909" y="1287969"/>
                </a:lnTo>
                <a:lnTo>
                  <a:pt x="30182" y="1414250"/>
                </a:lnTo>
                <a:lnTo>
                  <a:pt x="7545" y="1541747"/>
                </a:lnTo>
                <a:lnTo>
                  <a:pt x="0" y="1669851"/>
                </a:lnTo>
                <a:lnTo>
                  <a:pt x="7545" y="1797956"/>
                </a:lnTo>
                <a:lnTo>
                  <a:pt x="30182" y="1925453"/>
                </a:lnTo>
                <a:lnTo>
                  <a:pt x="67909" y="2051734"/>
                </a:lnTo>
                <a:lnTo>
                  <a:pt x="120728" y="2176192"/>
                </a:lnTo>
                <a:lnTo>
                  <a:pt x="188638" y="2298218"/>
                </a:lnTo>
                <a:lnTo>
                  <a:pt x="271639" y="2417206"/>
                </a:lnTo>
                <a:lnTo>
                  <a:pt x="369732" y="2532548"/>
                </a:lnTo>
                <a:lnTo>
                  <a:pt x="482915" y="2643635"/>
                </a:lnTo>
                <a:lnTo>
                  <a:pt x="611189" y="2749860"/>
                </a:lnTo>
                <a:lnTo>
                  <a:pt x="754555" y="2850615"/>
                </a:lnTo>
                <a:lnTo>
                  <a:pt x="909998" y="2943542"/>
                </a:lnTo>
                <a:lnTo>
                  <a:pt x="1073880" y="3026687"/>
                </a:lnTo>
                <a:lnTo>
                  <a:pt x="1245263" y="3100050"/>
                </a:lnTo>
                <a:lnTo>
                  <a:pt x="1423209" y="3163632"/>
                </a:lnTo>
                <a:lnTo>
                  <a:pt x="1606782" y="3217431"/>
                </a:lnTo>
                <a:lnTo>
                  <a:pt x="1795042" y="3261449"/>
                </a:lnTo>
                <a:lnTo>
                  <a:pt x="1987053" y="3295685"/>
                </a:lnTo>
                <a:lnTo>
                  <a:pt x="2181877" y="3320140"/>
                </a:lnTo>
                <a:lnTo>
                  <a:pt x="2378577" y="3334812"/>
                </a:lnTo>
                <a:lnTo>
                  <a:pt x="2576214" y="3339703"/>
                </a:lnTo>
                <a:lnTo>
                  <a:pt x="2773850" y="3334812"/>
                </a:lnTo>
                <a:lnTo>
                  <a:pt x="2970550" y="3320140"/>
                </a:lnTo>
                <a:lnTo>
                  <a:pt x="3165374" y="3295685"/>
                </a:lnTo>
                <a:lnTo>
                  <a:pt x="3357385" y="3261449"/>
                </a:lnTo>
                <a:lnTo>
                  <a:pt x="3545645" y="3217431"/>
                </a:lnTo>
                <a:lnTo>
                  <a:pt x="3729218" y="3163632"/>
                </a:lnTo>
                <a:lnTo>
                  <a:pt x="3907164" y="3100050"/>
                </a:lnTo>
                <a:lnTo>
                  <a:pt x="4078547" y="3026687"/>
                </a:lnTo>
                <a:lnTo>
                  <a:pt x="4242429" y="2943542"/>
                </a:lnTo>
                <a:lnTo>
                  <a:pt x="4397872" y="2850615"/>
                </a:lnTo>
                <a:lnTo>
                  <a:pt x="4541238" y="2749860"/>
                </a:lnTo>
                <a:lnTo>
                  <a:pt x="4669513" y="2643635"/>
                </a:lnTo>
                <a:lnTo>
                  <a:pt x="4782696" y="2532548"/>
                </a:lnTo>
                <a:lnTo>
                  <a:pt x="4880788" y="2417206"/>
                </a:lnTo>
                <a:lnTo>
                  <a:pt x="4963789" y="2298218"/>
                </a:lnTo>
                <a:lnTo>
                  <a:pt x="5031700" y="2176192"/>
                </a:lnTo>
                <a:lnTo>
                  <a:pt x="5084518" y="2051734"/>
                </a:lnTo>
                <a:lnTo>
                  <a:pt x="5122246" y="1925453"/>
                </a:lnTo>
                <a:lnTo>
                  <a:pt x="5144883" y="1797956"/>
                </a:lnTo>
                <a:lnTo>
                  <a:pt x="5152429" y="1669851"/>
                </a:lnTo>
                <a:lnTo>
                  <a:pt x="5144883" y="1541747"/>
                </a:lnTo>
                <a:lnTo>
                  <a:pt x="5122246" y="1414250"/>
                </a:lnTo>
                <a:lnTo>
                  <a:pt x="5084518" y="1287969"/>
                </a:lnTo>
                <a:lnTo>
                  <a:pt x="5031700" y="1163511"/>
                </a:lnTo>
                <a:lnTo>
                  <a:pt x="4963789" y="1041484"/>
                </a:lnTo>
                <a:lnTo>
                  <a:pt x="4880788" y="922496"/>
                </a:lnTo>
                <a:lnTo>
                  <a:pt x="4782696" y="807155"/>
                </a:lnTo>
                <a:lnTo>
                  <a:pt x="4669513" y="696068"/>
                </a:lnTo>
                <a:lnTo>
                  <a:pt x="4541238" y="589843"/>
                </a:lnTo>
                <a:lnTo>
                  <a:pt x="4397872" y="489087"/>
                </a:lnTo>
                <a:lnTo>
                  <a:pt x="4242429" y="396161"/>
                </a:lnTo>
                <a:lnTo>
                  <a:pt x="4078547" y="313016"/>
                </a:lnTo>
                <a:lnTo>
                  <a:pt x="3907164" y="239653"/>
                </a:lnTo>
                <a:lnTo>
                  <a:pt x="3729218" y="176071"/>
                </a:lnTo>
                <a:lnTo>
                  <a:pt x="3545645" y="122271"/>
                </a:lnTo>
                <a:lnTo>
                  <a:pt x="3357385" y="78254"/>
                </a:lnTo>
                <a:lnTo>
                  <a:pt x="3165374" y="44017"/>
                </a:lnTo>
                <a:lnTo>
                  <a:pt x="2970550" y="19563"/>
                </a:lnTo>
                <a:lnTo>
                  <a:pt x="2773850" y="4890"/>
                </a:lnTo>
                <a:lnTo>
                  <a:pt x="2576214" y="0"/>
                </a:lnTo>
                <a:close/>
              </a:path>
            </a:pathLst>
          </a:custGeom>
          <a:solidFill>
            <a:srgbClr val="B9E0EC"/>
          </a:solidFill>
          <a:ln>
            <a:solidFill>
              <a:schemeClr val="bg1">
                <a:lumMod val="65000"/>
              </a:schemeClr>
            </a:solidFill>
          </a:ln>
        </p:spPr>
        <p:txBody>
          <a:bodyPr wrap="square" lIns="0" tIns="0" rIns="0" bIns="0" rtlCol="0"/>
          <a:lstStyle/>
          <a:p>
            <a:endParaRPr/>
          </a:p>
        </p:txBody>
      </p:sp>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73990">
              <a:lnSpc>
                <a:spcPct val="100000"/>
              </a:lnSpc>
            </a:pPr>
            <a:r>
              <a:rPr sz="5800" dirty="0">
                <a:latin typeface="Gill Sans MT"/>
                <a:cs typeface="Gill Sans MT"/>
              </a:rPr>
              <a:t>Str</a:t>
            </a:r>
            <a:r>
              <a:rPr sz="5800" spc="-5" dirty="0">
                <a:latin typeface="Gill Sans MT"/>
                <a:cs typeface="Gill Sans MT"/>
              </a:rPr>
              <a:t>i</a:t>
            </a:r>
            <a:r>
              <a:rPr sz="5800" spc="-25" dirty="0">
                <a:latin typeface="Gill Sans MT"/>
                <a:cs typeface="Gill Sans MT"/>
              </a:rPr>
              <a:t>ct</a:t>
            </a:r>
            <a:r>
              <a:rPr sz="5800" spc="-5" dirty="0">
                <a:latin typeface="Gill Sans MT"/>
                <a:cs typeface="Gill Sans MT"/>
              </a:rPr>
              <a:t> </a:t>
            </a:r>
            <a:r>
              <a:rPr sz="5800" spc="-35" dirty="0">
                <a:latin typeface="Gill Sans MT"/>
                <a:cs typeface="Gill Sans MT"/>
              </a:rPr>
              <a:t>Nas</a:t>
            </a:r>
            <a:r>
              <a:rPr sz="5800" dirty="0">
                <a:latin typeface="Gill Sans MT"/>
                <a:cs typeface="Gill Sans MT"/>
              </a:rPr>
              <a:t>h</a:t>
            </a:r>
            <a:r>
              <a:rPr sz="5800" spc="-5" dirty="0">
                <a:latin typeface="Gill Sans MT"/>
                <a:cs typeface="Gill Sans MT"/>
              </a:rPr>
              <a:t> i</a:t>
            </a:r>
            <a:r>
              <a:rPr sz="5800" dirty="0">
                <a:latin typeface="Gill Sans MT"/>
                <a:cs typeface="Gill Sans MT"/>
              </a:rPr>
              <a:t>mp</a:t>
            </a:r>
            <a:r>
              <a:rPr sz="5800" spc="-5" dirty="0">
                <a:latin typeface="Gill Sans MT"/>
                <a:cs typeface="Gill Sans MT"/>
              </a:rPr>
              <a:t>li</a:t>
            </a:r>
            <a:r>
              <a:rPr sz="5800" spc="-25" dirty="0">
                <a:latin typeface="Gill Sans MT"/>
                <a:cs typeface="Gill Sans MT"/>
              </a:rPr>
              <a:t>es</a:t>
            </a:r>
            <a:r>
              <a:rPr sz="5800" spc="-5" dirty="0">
                <a:latin typeface="Gill Sans MT"/>
                <a:cs typeface="Gill Sans MT"/>
              </a:rPr>
              <a:t> </a:t>
            </a:r>
            <a:r>
              <a:rPr sz="5800" spc="-25" dirty="0">
                <a:latin typeface="Gill Sans MT"/>
                <a:cs typeface="Gill Sans MT"/>
              </a:rPr>
              <a:t>a</a:t>
            </a:r>
            <a:r>
              <a:rPr sz="5800" dirty="0">
                <a:latin typeface="Gill Sans MT"/>
                <a:cs typeface="Gill Sans MT"/>
              </a:rPr>
              <a:t>n</a:t>
            </a:r>
            <a:r>
              <a:rPr sz="5800" spc="-5" dirty="0">
                <a:latin typeface="Gill Sans MT"/>
                <a:cs typeface="Gill Sans MT"/>
              </a:rPr>
              <a:t> </a:t>
            </a:r>
            <a:r>
              <a:rPr sz="5800" dirty="0">
                <a:latin typeface="Gill Sans MT"/>
                <a:cs typeface="Gill Sans MT"/>
              </a:rPr>
              <a:t>ESS</a:t>
            </a:r>
            <a:endParaRPr sz="5800">
              <a:latin typeface="Gill Sans MT"/>
              <a:cs typeface="Gill Sans MT"/>
            </a:endParaRPr>
          </a:p>
        </p:txBody>
      </p:sp>
      <p:sp>
        <p:nvSpPr>
          <p:cNvPr id="6" name="object 6"/>
          <p:cNvSpPr/>
          <p:nvPr/>
        </p:nvSpPr>
        <p:spPr>
          <a:xfrm>
            <a:off x="3455788" y="2411016"/>
            <a:ext cx="2304415" cy="1670050"/>
          </a:xfrm>
          <a:custGeom>
            <a:avLst/>
            <a:gdLst/>
            <a:ahLst/>
            <a:cxnLst/>
            <a:rect l="l" t="t" r="r" b="b"/>
            <a:pathLst>
              <a:path w="2304415" h="1670050">
                <a:moveTo>
                  <a:pt x="1151929" y="0"/>
                </a:moveTo>
                <a:lnTo>
                  <a:pt x="1063558" y="2445"/>
                </a:lnTo>
                <a:lnTo>
                  <a:pt x="975606" y="9781"/>
                </a:lnTo>
                <a:lnTo>
                  <a:pt x="888492" y="22008"/>
                </a:lnTo>
                <a:lnTo>
                  <a:pt x="802636" y="39127"/>
                </a:lnTo>
                <a:lnTo>
                  <a:pt x="718457" y="61135"/>
                </a:lnTo>
                <a:lnTo>
                  <a:pt x="636375" y="88035"/>
                </a:lnTo>
                <a:lnTo>
                  <a:pt x="556808" y="119826"/>
                </a:lnTo>
                <a:lnTo>
                  <a:pt x="480175" y="156508"/>
                </a:lnTo>
                <a:lnTo>
                  <a:pt x="406897" y="198080"/>
                </a:lnTo>
                <a:lnTo>
                  <a:pt x="337392" y="244543"/>
                </a:lnTo>
                <a:lnTo>
                  <a:pt x="273288" y="294921"/>
                </a:lnTo>
                <a:lnTo>
                  <a:pt x="215931" y="348033"/>
                </a:lnTo>
                <a:lnTo>
                  <a:pt x="165322" y="403577"/>
                </a:lnTo>
                <a:lnTo>
                  <a:pt x="121461" y="461248"/>
                </a:lnTo>
                <a:lnTo>
                  <a:pt x="84348" y="520742"/>
                </a:lnTo>
                <a:lnTo>
                  <a:pt x="53982" y="581755"/>
                </a:lnTo>
                <a:lnTo>
                  <a:pt x="30365" y="643984"/>
                </a:lnTo>
                <a:lnTo>
                  <a:pt x="13495" y="707125"/>
                </a:lnTo>
                <a:lnTo>
                  <a:pt x="3373" y="770873"/>
                </a:lnTo>
                <a:lnTo>
                  <a:pt x="0" y="834925"/>
                </a:lnTo>
                <a:lnTo>
                  <a:pt x="3373" y="898977"/>
                </a:lnTo>
                <a:lnTo>
                  <a:pt x="13495" y="962726"/>
                </a:lnTo>
                <a:lnTo>
                  <a:pt x="30365" y="1025866"/>
                </a:lnTo>
                <a:lnTo>
                  <a:pt x="53982" y="1088095"/>
                </a:lnTo>
                <a:lnTo>
                  <a:pt x="84348" y="1149109"/>
                </a:lnTo>
                <a:lnTo>
                  <a:pt x="121461" y="1208603"/>
                </a:lnTo>
                <a:lnTo>
                  <a:pt x="165322" y="1266273"/>
                </a:lnTo>
                <a:lnTo>
                  <a:pt x="215931" y="1321817"/>
                </a:lnTo>
                <a:lnTo>
                  <a:pt x="273288" y="1374929"/>
                </a:lnTo>
                <a:lnTo>
                  <a:pt x="337392" y="1425307"/>
                </a:lnTo>
                <a:lnTo>
                  <a:pt x="406897" y="1471770"/>
                </a:lnTo>
                <a:lnTo>
                  <a:pt x="480175" y="1513343"/>
                </a:lnTo>
                <a:lnTo>
                  <a:pt x="556808" y="1550024"/>
                </a:lnTo>
                <a:lnTo>
                  <a:pt x="636375" y="1581815"/>
                </a:lnTo>
                <a:lnTo>
                  <a:pt x="718457" y="1608715"/>
                </a:lnTo>
                <a:lnTo>
                  <a:pt x="802636" y="1630724"/>
                </a:lnTo>
                <a:lnTo>
                  <a:pt x="888492" y="1647842"/>
                </a:lnTo>
                <a:lnTo>
                  <a:pt x="975606" y="1660069"/>
                </a:lnTo>
                <a:lnTo>
                  <a:pt x="1063558" y="1667405"/>
                </a:lnTo>
                <a:lnTo>
                  <a:pt x="1151929" y="1669851"/>
                </a:lnTo>
                <a:lnTo>
                  <a:pt x="1240301" y="1667405"/>
                </a:lnTo>
                <a:lnTo>
                  <a:pt x="1328253" y="1660069"/>
                </a:lnTo>
                <a:lnTo>
                  <a:pt x="1415367" y="1647842"/>
                </a:lnTo>
                <a:lnTo>
                  <a:pt x="1501222" y="1630724"/>
                </a:lnTo>
                <a:lnTo>
                  <a:pt x="1585401" y="1608715"/>
                </a:lnTo>
                <a:lnTo>
                  <a:pt x="1667484" y="1581815"/>
                </a:lnTo>
                <a:lnTo>
                  <a:pt x="1747051" y="1550024"/>
                </a:lnTo>
                <a:lnTo>
                  <a:pt x="1823683" y="1513343"/>
                </a:lnTo>
                <a:lnTo>
                  <a:pt x="1896961" y="1471770"/>
                </a:lnTo>
                <a:lnTo>
                  <a:pt x="1966466" y="1425307"/>
                </a:lnTo>
                <a:lnTo>
                  <a:pt x="2030570" y="1374929"/>
                </a:lnTo>
                <a:lnTo>
                  <a:pt x="2087927" y="1321817"/>
                </a:lnTo>
                <a:lnTo>
                  <a:pt x="2138536" y="1266273"/>
                </a:lnTo>
                <a:lnTo>
                  <a:pt x="2182397" y="1208603"/>
                </a:lnTo>
                <a:lnTo>
                  <a:pt x="2219511" y="1149109"/>
                </a:lnTo>
                <a:lnTo>
                  <a:pt x="2249876" y="1088095"/>
                </a:lnTo>
                <a:lnTo>
                  <a:pt x="2273494" y="1025866"/>
                </a:lnTo>
                <a:lnTo>
                  <a:pt x="2290363" y="962726"/>
                </a:lnTo>
                <a:lnTo>
                  <a:pt x="2300485" y="898977"/>
                </a:lnTo>
                <a:lnTo>
                  <a:pt x="2303859" y="834925"/>
                </a:lnTo>
                <a:lnTo>
                  <a:pt x="2300485" y="770873"/>
                </a:lnTo>
                <a:lnTo>
                  <a:pt x="2290363" y="707125"/>
                </a:lnTo>
                <a:lnTo>
                  <a:pt x="2273494" y="643984"/>
                </a:lnTo>
                <a:lnTo>
                  <a:pt x="2249876" y="581755"/>
                </a:lnTo>
                <a:lnTo>
                  <a:pt x="2219511" y="520742"/>
                </a:lnTo>
                <a:lnTo>
                  <a:pt x="2182397" y="461248"/>
                </a:lnTo>
                <a:lnTo>
                  <a:pt x="2138536" y="403577"/>
                </a:lnTo>
                <a:lnTo>
                  <a:pt x="2087927" y="348033"/>
                </a:lnTo>
                <a:lnTo>
                  <a:pt x="2030570" y="294921"/>
                </a:lnTo>
                <a:lnTo>
                  <a:pt x="1966466" y="244543"/>
                </a:lnTo>
                <a:lnTo>
                  <a:pt x="1896961" y="198080"/>
                </a:lnTo>
                <a:lnTo>
                  <a:pt x="1823683" y="156508"/>
                </a:lnTo>
                <a:lnTo>
                  <a:pt x="1747051" y="119826"/>
                </a:lnTo>
                <a:lnTo>
                  <a:pt x="1667484" y="88035"/>
                </a:lnTo>
                <a:lnTo>
                  <a:pt x="1585401" y="61135"/>
                </a:lnTo>
                <a:lnTo>
                  <a:pt x="1501222" y="39127"/>
                </a:lnTo>
                <a:lnTo>
                  <a:pt x="1415367" y="22008"/>
                </a:lnTo>
                <a:lnTo>
                  <a:pt x="1328253" y="9781"/>
                </a:lnTo>
                <a:lnTo>
                  <a:pt x="1240301" y="2445"/>
                </a:lnTo>
                <a:lnTo>
                  <a:pt x="1151929" y="0"/>
                </a:lnTo>
                <a:close/>
              </a:path>
            </a:pathLst>
          </a:custGeom>
          <a:solidFill>
            <a:srgbClr val="6FD5F4"/>
          </a:solidFill>
        </p:spPr>
        <p:txBody>
          <a:bodyPr wrap="square" lIns="0" tIns="0" rIns="0" bIns="0" rtlCol="0"/>
          <a:lstStyle/>
          <a:p>
            <a:endParaRPr/>
          </a:p>
        </p:txBody>
      </p:sp>
      <p:sp>
        <p:nvSpPr>
          <p:cNvPr id="7" name="object 7"/>
          <p:cNvSpPr/>
          <p:nvPr/>
        </p:nvSpPr>
        <p:spPr>
          <a:xfrm>
            <a:off x="3455789" y="2411016"/>
            <a:ext cx="2304415" cy="1670050"/>
          </a:xfrm>
          <a:custGeom>
            <a:avLst/>
            <a:gdLst/>
            <a:ahLst/>
            <a:cxnLst/>
            <a:rect l="l" t="t" r="r" b="b"/>
            <a:pathLst>
              <a:path w="2304415" h="1670050">
                <a:moveTo>
                  <a:pt x="1966466" y="244544"/>
                </a:moveTo>
                <a:lnTo>
                  <a:pt x="2030571" y="294921"/>
                </a:lnTo>
                <a:lnTo>
                  <a:pt x="2087928" y="348034"/>
                </a:lnTo>
                <a:lnTo>
                  <a:pt x="2138536" y="403577"/>
                </a:lnTo>
                <a:lnTo>
                  <a:pt x="2182398" y="461248"/>
                </a:lnTo>
                <a:lnTo>
                  <a:pt x="2219511" y="520742"/>
                </a:lnTo>
                <a:lnTo>
                  <a:pt x="2249876" y="581755"/>
                </a:lnTo>
                <a:lnTo>
                  <a:pt x="2273494" y="643984"/>
                </a:lnTo>
                <a:lnTo>
                  <a:pt x="2290363" y="707125"/>
                </a:lnTo>
                <a:lnTo>
                  <a:pt x="2300485" y="770873"/>
                </a:lnTo>
                <a:lnTo>
                  <a:pt x="2303859" y="834925"/>
                </a:lnTo>
                <a:lnTo>
                  <a:pt x="2300485" y="898977"/>
                </a:lnTo>
                <a:lnTo>
                  <a:pt x="2290363" y="962726"/>
                </a:lnTo>
                <a:lnTo>
                  <a:pt x="2273494" y="1025866"/>
                </a:lnTo>
                <a:lnTo>
                  <a:pt x="2249876" y="1088095"/>
                </a:lnTo>
                <a:lnTo>
                  <a:pt x="2219511" y="1149108"/>
                </a:lnTo>
                <a:lnTo>
                  <a:pt x="2182398" y="1208602"/>
                </a:lnTo>
                <a:lnTo>
                  <a:pt x="2138536" y="1266273"/>
                </a:lnTo>
                <a:lnTo>
                  <a:pt x="2087928" y="1321817"/>
                </a:lnTo>
                <a:lnTo>
                  <a:pt x="2030571" y="1374929"/>
                </a:lnTo>
                <a:lnTo>
                  <a:pt x="1966466" y="1425307"/>
                </a:lnTo>
                <a:lnTo>
                  <a:pt x="1896961" y="1471770"/>
                </a:lnTo>
                <a:lnTo>
                  <a:pt x="1823683" y="1513343"/>
                </a:lnTo>
                <a:lnTo>
                  <a:pt x="1747051" y="1550024"/>
                </a:lnTo>
                <a:lnTo>
                  <a:pt x="1667484" y="1581815"/>
                </a:lnTo>
                <a:lnTo>
                  <a:pt x="1585401" y="1608715"/>
                </a:lnTo>
                <a:lnTo>
                  <a:pt x="1501222" y="1630724"/>
                </a:lnTo>
                <a:lnTo>
                  <a:pt x="1415366" y="1647842"/>
                </a:lnTo>
                <a:lnTo>
                  <a:pt x="1328252" y="1660070"/>
                </a:lnTo>
                <a:lnTo>
                  <a:pt x="1240300" y="1667406"/>
                </a:lnTo>
                <a:lnTo>
                  <a:pt x="1151929" y="1669851"/>
                </a:lnTo>
                <a:lnTo>
                  <a:pt x="1063557" y="1667406"/>
                </a:lnTo>
                <a:lnTo>
                  <a:pt x="975605" y="1660070"/>
                </a:lnTo>
                <a:lnTo>
                  <a:pt x="888491" y="1647842"/>
                </a:lnTo>
                <a:lnTo>
                  <a:pt x="802636" y="1630724"/>
                </a:lnTo>
                <a:lnTo>
                  <a:pt x="718457" y="1608715"/>
                </a:lnTo>
                <a:lnTo>
                  <a:pt x="636374" y="1581815"/>
                </a:lnTo>
                <a:lnTo>
                  <a:pt x="556807" y="1550024"/>
                </a:lnTo>
                <a:lnTo>
                  <a:pt x="480175" y="1513343"/>
                </a:lnTo>
                <a:lnTo>
                  <a:pt x="406897" y="1471770"/>
                </a:lnTo>
                <a:lnTo>
                  <a:pt x="337392" y="1425307"/>
                </a:lnTo>
                <a:lnTo>
                  <a:pt x="273287" y="1374929"/>
                </a:lnTo>
                <a:lnTo>
                  <a:pt x="215931" y="1321817"/>
                </a:lnTo>
                <a:lnTo>
                  <a:pt x="165322" y="1266273"/>
                </a:lnTo>
                <a:lnTo>
                  <a:pt x="121461" y="1208602"/>
                </a:lnTo>
                <a:lnTo>
                  <a:pt x="84348" y="1149108"/>
                </a:lnTo>
                <a:lnTo>
                  <a:pt x="53982" y="1088095"/>
                </a:lnTo>
                <a:lnTo>
                  <a:pt x="30365" y="1025866"/>
                </a:lnTo>
                <a:lnTo>
                  <a:pt x="13495" y="962726"/>
                </a:lnTo>
                <a:lnTo>
                  <a:pt x="3373" y="898977"/>
                </a:lnTo>
                <a:lnTo>
                  <a:pt x="0" y="834925"/>
                </a:lnTo>
                <a:lnTo>
                  <a:pt x="3373" y="770873"/>
                </a:lnTo>
                <a:lnTo>
                  <a:pt x="13495" y="707125"/>
                </a:lnTo>
                <a:lnTo>
                  <a:pt x="30365" y="643984"/>
                </a:lnTo>
                <a:lnTo>
                  <a:pt x="53982" y="581755"/>
                </a:lnTo>
                <a:lnTo>
                  <a:pt x="84348" y="520742"/>
                </a:lnTo>
                <a:lnTo>
                  <a:pt x="121461" y="461248"/>
                </a:lnTo>
                <a:lnTo>
                  <a:pt x="165322" y="403577"/>
                </a:lnTo>
                <a:lnTo>
                  <a:pt x="215931" y="348034"/>
                </a:lnTo>
                <a:lnTo>
                  <a:pt x="273287" y="294921"/>
                </a:lnTo>
                <a:lnTo>
                  <a:pt x="337392" y="244544"/>
                </a:lnTo>
                <a:lnTo>
                  <a:pt x="406897" y="198080"/>
                </a:lnTo>
                <a:lnTo>
                  <a:pt x="480175" y="156508"/>
                </a:lnTo>
                <a:lnTo>
                  <a:pt x="556807" y="119826"/>
                </a:lnTo>
                <a:lnTo>
                  <a:pt x="636374" y="88035"/>
                </a:lnTo>
                <a:lnTo>
                  <a:pt x="718457" y="61136"/>
                </a:lnTo>
                <a:lnTo>
                  <a:pt x="802636" y="39127"/>
                </a:lnTo>
                <a:lnTo>
                  <a:pt x="888491" y="22008"/>
                </a:lnTo>
                <a:lnTo>
                  <a:pt x="975605" y="9781"/>
                </a:lnTo>
                <a:lnTo>
                  <a:pt x="1063557" y="2445"/>
                </a:lnTo>
                <a:lnTo>
                  <a:pt x="1151929" y="0"/>
                </a:lnTo>
                <a:lnTo>
                  <a:pt x="1240300" y="2445"/>
                </a:lnTo>
                <a:lnTo>
                  <a:pt x="1328252" y="9781"/>
                </a:lnTo>
                <a:lnTo>
                  <a:pt x="1415366" y="22008"/>
                </a:lnTo>
                <a:lnTo>
                  <a:pt x="1501222" y="39127"/>
                </a:lnTo>
                <a:lnTo>
                  <a:pt x="1585401" y="61136"/>
                </a:lnTo>
                <a:lnTo>
                  <a:pt x="1667484" y="88035"/>
                </a:lnTo>
                <a:lnTo>
                  <a:pt x="1747051" y="119826"/>
                </a:lnTo>
                <a:lnTo>
                  <a:pt x="1823683" y="156508"/>
                </a:lnTo>
                <a:lnTo>
                  <a:pt x="1896961" y="198080"/>
                </a:lnTo>
                <a:lnTo>
                  <a:pt x="1966466" y="244544"/>
                </a:lnTo>
              </a:path>
            </a:pathLst>
          </a:custGeom>
          <a:ln w="3175">
            <a:solidFill>
              <a:schemeClr val="bg1">
                <a:lumMod val="65000"/>
              </a:schemeClr>
            </a:solidFill>
          </a:ln>
        </p:spPr>
        <p:txBody>
          <a:bodyPr wrap="square" lIns="0" tIns="0" rIns="0" bIns="0" rtlCol="0"/>
          <a:lstStyle/>
          <a:p>
            <a:endParaRPr/>
          </a:p>
        </p:txBody>
      </p:sp>
      <p:sp>
        <p:nvSpPr>
          <p:cNvPr id="8" name="object 8"/>
          <p:cNvSpPr txBox="1"/>
          <p:nvPr/>
        </p:nvSpPr>
        <p:spPr>
          <a:xfrm>
            <a:off x="4469134" y="3439205"/>
            <a:ext cx="277495" cy="203200"/>
          </a:xfrm>
          <a:prstGeom prst="rect">
            <a:avLst/>
          </a:prstGeom>
        </p:spPr>
        <p:txBody>
          <a:bodyPr vert="horz" wrap="square" lIns="0" tIns="0" rIns="0" bIns="0" rtlCol="0">
            <a:spAutoFit/>
          </a:bodyPr>
          <a:lstStyle/>
          <a:p>
            <a:pPr marL="12700">
              <a:lnSpc>
                <a:spcPct val="100000"/>
              </a:lnSpc>
            </a:pPr>
            <a:r>
              <a:rPr sz="1400" dirty="0">
                <a:latin typeface="Gill Sans MT"/>
                <a:cs typeface="Gill Sans MT"/>
              </a:rPr>
              <a:t>ESS</a:t>
            </a:r>
            <a:endParaRPr sz="1400">
              <a:latin typeface="Gill Sans MT"/>
              <a:cs typeface="Gill Sans MT"/>
            </a:endParaRPr>
          </a:p>
        </p:txBody>
      </p:sp>
      <p:sp>
        <p:nvSpPr>
          <p:cNvPr id="11" name="object 11"/>
          <p:cNvSpPr txBox="1"/>
          <p:nvPr/>
        </p:nvSpPr>
        <p:spPr>
          <a:xfrm>
            <a:off x="2086926" y="3311899"/>
            <a:ext cx="253365" cy="203200"/>
          </a:xfrm>
          <a:prstGeom prst="rect">
            <a:avLst/>
          </a:prstGeom>
        </p:spPr>
        <p:txBody>
          <a:bodyPr vert="horz" wrap="square" lIns="0" tIns="0" rIns="0" bIns="0" rtlCol="0">
            <a:spAutoFit/>
          </a:bodyPr>
          <a:lstStyle/>
          <a:p>
            <a:pPr marL="12700">
              <a:lnSpc>
                <a:spcPct val="100000"/>
              </a:lnSpc>
            </a:pPr>
            <a:r>
              <a:rPr sz="1400" spc="-10" dirty="0">
                <a:latin typeface="Gill Sans MT"/>
                <a:cs typeface="Gill Sans MT"/>
              </a:rPr>
              <a:t>NE</a:t>
            </a:r>
            <a:endParaRPr sz="1400">
              <a:latin typeface="Gill Sans MT"/>
              <a:cs typeface="Gill Sans MT"/>
            </a:endParaRPr>
          </a:p>
        </p:txBody>
      </p:sp>
      <p:sp>
        <p:nvSpPr>
          <p:cNvPr id="12" name="object 12"/>
          <p:cNvSpPr/>
          <p:nvPr/>
        </p:nvSpPr>
        <p:spPr>
          <a:xfrm>
            <a:off x="4080866" y="2589609"/>
            <a:ext cx="991235" cy="661035"/>
          </a:xfrm>
          <a:custGeom>
            <a:avLst/>
            <a:gdLst/>
            <a:ahLst/>
            <a:cxnLst/>
            <a:rect l="l" t="t" r="r" b="b"/>
            <a:pathLst>
              <a:path w="991235" h="661035">
                <a:moveTo>
                  <a:pt x="495597" y="0"/>
                </a:moveTo>
                <a:lnTo>
                  <a:pt x="419737" y="3870"/>
                </a:lnTo>
                <a:lnTo>
                  <a:pt x="345320" y="15483"/>
                </a:lnTo>
                <a:lnTo>
                  <a:pt x="273789" y="34837"/>
                </a:lnTo>
                <a:lnTo>
                  <a:pt x="206587" y="61934"/>
                </a:lnTo>
                <a:lnTo>
                  <a:pt x="145157" y="96772"/>
                </a:lnTo>
                <a:lnTo>
                  <a:pt x="92900" y="137725"/>
                </a:lnTo>
                <a:lnTo>
                  <a:pt x="52256" y="182526"/>
                </a:lnTo>
                <a:lnTo>
                  <a:pt x="23225" y="230213"/>
                </a:lnTo>
                <a:lnTo>
                  <a:pt x="5806" y="279825"/>
                </a:lnTo>
                <a:lnTo>
                  <a:pt x="0" y="330398"/>
                </a:lnTo>
                <a:lnTo>
                  <a:pt x="1451" y="355745"/>
                </a:lnTo>
                <a:lnTo>
                  <a:pt x="13064" y="405958"/>
                </a:lnTo>
                <a:lnTo>
                  <a:pt x="36289" y="454727"/>
                </a:lnTo>
                <a:lnTo>
                  <a:pt x="71127" y="501092"/>
                </a:lnTo>
                <a:lnTo>
                  <a:pt x="117577" y="544089"/>
                </a:lnTo>
                <a:lnTo>
                  <a:pt x="175060" y="582411"/>
                </a:lnTo>
                <a:lnTo>
                  <a:pt x="239556" y="613378"/>
                </a:lnTo>
                <a:lnTo>
                  <a:pt x="309103" y="636603"/>
                </a:lnTo>
                <a:lnTo>
                  <a:pt x="382258" y="652087"/>
                </a:lnTo>
                <a:lnTo>
                  <a:pt x="457577" y="659828"/>
                </a:lnTo>
                <a:lnTo>
                  <a:pt x="495597" y="660796"/>
                </a:lnTo>
                <a:lnTo>
                  <a:pt x="533618" y="659828"/>
                </a:lnTo>
                <a:lnTo>
                  <a:pt x="608937" y="652087"/>
                </a:lnTo>
                <a:lnTo>
                  <a:pt x="682091" y="636603"/>
                </a:lnTo>
                <a:lnTo>
                  <a:pt x="751638" y="613378"/>
                </a:lnTo>
                <a:lnTo>
                  <a:pt x="816135" y="582411"/>
                </a:lnTo>
                <a:lnTo>
                  <a:pt x="873618" y="544089"/>
                </a:lnTo>
                <a:lnTo>
                  <a:pt x="920068" y="501092"/>
                </a:lnTo>
                <a:lnTo>
                  <a:pt x="954906" y="454727"/>
                </a:lnTo>
                <a:lnTo>
                  <a:pt x="978131" y="405958"/>
                </a:lnTo>
                <a:lnTo>
                  <a:pt x="989744" y="355745"/>
                </a:lnTo>
                <a:lnTo>
                  <a:pt x="991195" y="330398"/>
                </a:lnTo>
                <a:lnTo>
                  <a:pt x="989744" y="305051"/>
                </a:lnTo>
                <a:lnTo>
                  <a:pt x="978131" y="254839"/>
                </a:lnTo>
                <a:lnTo>
                  <a:pt x="954906" y="206069"/>
                </a:lnTo>
                <a:lnTo>
                  <a:pt x="920068" y="159705"/>
                </a:lnTo>
                <a:lnTo>
                  <a:pt x="873618" y="116707"/>
                </a:lnTo>
                <a:lnTo>
                  <a:pt x="816135" y="78385"/>
                </a:lnTo>
                <a:lnTo>
                  <a:pt x="751638" y="47418"/>
                </a:lnTo>
                <a:lnTo>
                  <a:pt x="682091" y="24193"/>
                </a:lnTo>
                <a:lnTo>
                  <a:pt x="608937" y="8709"/>
                </a:lnTo>
                <a:lnTo>
                  <a:pt x="533618" y="967"/>
                </a:lnTo>
                <a:lnTo>
                  <a:pt x="495597" y="0"/>
                </a:lnTo>
                <a:close/>
              </a:path>
            </a:pathLst>
          </a:custGeom>
          <a:solidFill>
            <a:srgbClr val="00C5FF"/>
          </a:solidFill>
        </p:spPr>
        <p:txBody>
          <a:bodyPr wrap="square" lIns="0" tIns="0" rIns="0" bIns="0" rtlCol="0"/>
          <a:lstStyle/>
          <a:p>
            <a:endParaRPr/>
          </a:p>
        </p:txBody>
      </p:sp>
      <p:sp>
        <p:nvSpPr>
          <p:cNvPr id="13" name="object 13"/>
          <p:cNvSpPr/>
          <p:nvPr/>
        </p:nvSpPr>
        <p:spPr>
          <a:xfrm>
            <a:off x="4080866" y="2589608"/>
            <a:ext cx="991235" cy="661035"/>
          </a:xfrm>
          <a:custGeom>
            <a:avLst/>
            <a:gdLst/>
            <a:ahLst/>
            <a:cxnLst/>
            <a:rect l="l" t="t" r="r" b="b"/>
            <a:pathLst>
              <a:path w="991235" h="661035">
                <a:moveTo>
                  <a:pt x="846037" y="96771"/>
                </a:moveTo>
                <a:lnTo>
                  <a:pt x="898294" y="137724"/>
                </a:lnTo>
                <a:lnTo>
                  <a:pt x="938938" y="182526"/>
                </a:lnTo>
                <a:lnTo>
                  <a:pt x="967970" y="230213"/>
                </a:lnTo>
                <a:lnTo>
                  <a:pt x="985389" y="279824"/>
                </a:lnTo>
                <a:lnTo>
                  <a:pt x="991195" y="330398"/>
                </a:lnTo>
                <a:lnTo>
                  <a:pt x="989743" y="355745"/>
                </a:lnTo>
                <a:lnTo>
                  <a:pt x="978131" y="405957"/>
                </a:lnTo>
                <a:lnTo>
                  <a:pt x="954905" y="454727"/>
                </a:lnTo>
                <a:lnTo>
                  <a:pt x="920068" y="501092"/>
                </a:lnTo>
                <a:lnTo>
                  <a:pt x="873617" y="544089"/>
                </a:lnTo>
                <a:lnTo>
                  <a:pt x="816134" y="582411"/>
                </a:lnTo>
                <a:lnTo>
                  <a:pt x="751638" y="613378"/>
                </a:lnTo>
                <a:lnTo>
                  <a:pt x="682091" y="636603"/>
                </a:lnTo>
                <a:lnTo>
                  <a:pt x="608936" y="652087"/>
                </a:lnTo>
                <a:lnTo>
                  <a:pt x="533617" y="659829"/>
                </a:lnTo>
                <a:lnTo>
                  <a:pt x="495597" y="660796"/>
                </a:lnTo>
                <a:lnTo>
                  <a:pt x="457577" y="659829"/>
                </a:lnTo>
                <a:lnTo>
                  <a:pt x="382258" y="652087"/>
                </a:lnTo>
                <a:lnTo>
                  <a:pt x="309103" y="636603"/>
                </a:lnTo>
                <a:lnTo>
                  <a:pt x="239556" y="613378"/>
                </a:lnTo>
                <a:lnTo>
                  <a:pt x="175060" y="582411"/>
                </a:lnTo>
                <a:lnTo>
                  <a:pt x="117577" y="544089"/>
                </a:lnTo>
                <a:lnTo>
                  <a:pt x="71127" y="501092"/>
                </a:lnTo>
                <a:lnTo>
                  <a:pt x="36289" y="454727"/>
                </a:lnTo>
                <a:lnTo>
                  <a:pt x="13064" y="405957"/>
                </a:lnTo>
                <a:lnTo>
                  <a:pt x="1451" y="355745"/>
                </a:lnTo>
                <a:lnTo>
                  <a:pt x="0" y="330398"/>
                </a:lnTo>
                <a:lnTo>
                  <a:pt x="1451" y="305051"/>
                </a:lnTo>
                <a:lnTo>
                  <a:pt x="13064" y="254838"/>
                </a:lnTo>
                <a:lnTo>
                  <a:pt x="36289" y="206069"/>
                </a:lnTo>
                <a:lnTo>
                  <a:pt x="71127" y="159704"/>
                </a:lnTo>
                <a:lnTo>
                  <a:pt x="117577" y="116706"/>
                </a:lnTo>
                <a:lnTo>
                  <a:pt x="175060" y="78384"/>
                </a:lnTo>
                <a:lnTo>
                  <a:pt x="239556" y="47418"/>
                </a:lnTo>
                <a:lnTo>
                  <a:pt x="309103" y="24192"/>
                </a:lnTo>
                <a:lnTo>
                  <a:pt x="382258" y="8709"/>
                </a:lnTo>
                <a:lnTo>
                  <a:pt x="457577" y="967"/>
                </a:lnTo>
                <a:lnTo>
                  <a:pt x="495597" y="0"/>
                </a:lnTo>
                <a:lnTo>
                  <a:pt x="533617" y="967"/>
                </a:lnTo>
                <a:lnTo>
                  <a:pt x="608936" y="8709"/>
                </a:lnTo>
                <a:lnTo>
                  <a:pt x="682091" y="24192"/>
                </a:lnTo>
                <a:lnTo>
                  <a:pt x="751638" y="47418"/>
                </a:lnTo>
                <a:lnTo>
                  <a:pt x="816134" y="78384"/>
                </a:lnTo>
                <a:lnTo>
                  <a:pt x="846037" y="96771"/>
                </a:lnTo>
              </a:path>
            </a:pathLst>
          </a:custGeom>
          <a:ln w="3175">
            <a:solidFill>
              <a:srgbClr val="000000"/>
            </a:solidFill>
          </a:ln>
        </p:spPr>
        <p:txBody>
          <a:bodyPr wrap="square" lIns="0" tIns="0" rIns="0" bIns="0" rtlCol="0"/>
          <a:lstStyle/>
          <a:p>
            <a:endParaRPr/>
          </a:p>
        </p:txBody>
      </p:sp>
      <p:sp>
        <p:nvSpPr>
          <p:cNvPr id="14" name="object 14"/>
          <p:cNvSpPr txBox="1"/>
          <p:nvPr/>
        </p:nvSpPr>
        <p:spPr>
          <a:xfrm>
            <a:off x="4159503" y="2827473"/>
            <a:ext cx="834390" cy="203200"/>
          </a:xfrm>
          <a:prstGeom prst="rect">
            <a:avLst/>
          </a:prstGeom>
        </p:spPr>
        <p:txBody>
          <a:bodyPr vert="horz" wrap="square" lIns="0" tIns="0" rIns="0" bIns="0" rtlCol="0">
            <a:spAutoFit/>
          </a:bodyPr>
          <a:lstStyle/>
          <a:p>
            <a:pPr marL="12700">
              <a:lnSpc>
                <a:spcPct val="100000"/>
              </a:lnSpc>
            </a:pPr>
            <a:r>
              <a:rPr sz="1400" dirty="0">
                <a:latin typeface="Gill Sans MT"/>
                <a:cs typeface="Gill Sans MT"/>
              </a:rPr>
              <a:t>Stri</a:t>
            </a:r>
            <a:r>
              <a:rPr sz="1400" spc="-10" dirty="0">
                <a:latin typeface="Gill Sans MT"/>
                <a:cs typeface="Gill Sans MT"/>
              </a:rPr>
              <a:t>ct</a:t>
            </a:r>
            <a:r>
              <a:rPr sz="1400" spc="-5" dirty="0">
                <a:latin typeface="Gill Sans MT"/>
                <a:cs typeface="Gill Sans MT"/>
              </a:rPr>
              <a:t> </a:t>
            </a:r>
            <a:r>
              <a:rPr sz="1400" spc="-10" dirty="0">
                <a:latin typeface="Gill Sans MT"/>
                <a:cs typeface="Gill Sans MT"/>
              </a:rPr>
              <a:t>Nas</a:t>
            </a:r>
            <a:r>
              <a:rPr sz="1400" dirty="0">
                <a:latin typeface="Gill Sans MT"/>
                <a:cs typeface="Gill Sans MT"/>
              </a:rPr>
              <a:t>h</a:t>
            </a:r>
            <a:endParaRPr sz="1400">
              <a:latin typeface="Gill Sans MT"/>
              <a:cs typeface="Gill Sans MT"/>
            </a:endParaRPr>
          </a:p>
        </p:txBody>
      </p:sp>
      <p:sp>
        <p:nvSpPr>
          <p:cNvPr id="3" name="Rectangle 2">
            <a:extLst>
              <a:ext uri="{FF2B5EF4-FFF2-40B4-BE49-F238E27FC236}">
                <a16:creationId xmlns:a16="http://schemas.microsoft.com/office/drawing/2014/main" id="{55F5756D-B62F-E62D-4D88-9A29E59F09B1}"/>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017AF2B0-07D9-5BDE-3104-F43CD469FA1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8">
            <a:extLst>
              <a:ext uri="{FF2B5EF4-FFF2-40B4-BE49-F238E27FC236}">
                <a16:creationId xmlns:a16="http://schemas.microsoft.com/office/drawing/2014/main" id="{2A78FB4D-BC1E-5843-750F-D71D433B39ED}"/>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36</a:t>
            </a:fld>
            <a:r>
              <a:rPr lang="en-US" sz="2000" dirty="0">
                <a:solidFill>
                  <a:prstClr val="black"/>
                </a:solidFill>
                <a:latin typeface="Comic Sans MS"/>
                <a:sym typeface="Comic Sans MS"/>
              </a:rPr>
              <a:t>/59</a:t>
            </a:r>
          </a:p>
        </p:txBody>
      </p:sp>
      <p:sp>
        <p:nvSpPr>
          <p:cNvPr id="15" name="Footer Placeholder 9">
            <a:extLst>
              <a:ext uri="{FF2B5EF4-FFF2-40B4-BE49-F238E27FC236}">
                <a16:creationId xmlns:a16="http://schemas.microsoft.com/office/drawing/2014/main" id="{73578AA5-93F9-F618-595C-01A0A4CBE8D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7" name="Rectangle 16">
            <a:extLst>
              <a:ext uri="{FF2B5EF4-FFF2-40B4-BE49-F238E27FC236}">
                <a16:creationId xmlns:a16="http://schemas.microsoft.com/office/drawing/2014/main" id="{C161F0D8-9E2D-B640-29DC-422D7A35A8FD}"/>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spc="-25" dirty="0"/>
              <a:t>ESS</a:t>
            </a:r>
            <a:r>
              <a:rPr spc="-5" dirty="0"/>
              <a:t> </a:t>
            </a:r>
            <a:r>
              <a:rPr dirty="0"/>
              <a:t>-</a:t>
            </a:r>
            <a:r>
              <a:rPr spc="-5" dirty="0"/>
              <a:t> </a:t>
            </a:r>
            <a:r>
              <a:rPr dirty="0"/>
              <a:t>Exi</a:t>
            </a:r>
            <a:r>
              <a:rPr spc="-20" dirty="0"/>
              <a:t>s</a:t>
            </a:r>
            <a:r>
              <a:rPr spc="-15" dirty="0"/>
              <a:t>t</a:t>
            </a:r>
            <a:r>
              <a:rPr dirty="0"/>
              <a:t>ence</a:t>
            </a:r>
          </a:p>
        </p:txBody>
      </p:sp>
      <p:sp>
        <p:nvSpPr>
          <p:cNvPr id="6" name="object 6"/>
          <p:cNvSpPr txBox="1"/>
          <p:nvPr/>
        </p:nvSpPr>
        <p:spPr>
          <a:xfrm>
            <a:off x="719137" y="1914037"/>
            <a:ext cx="7106284" cy="2929890"/>
          </a:xfrm>
          <a:prstGeom prst="rect">
            <a:avLst/>
          </a:prstGeom>
        </p:spPr>
        <p:txBody>
          <a:bodyPr vert="horz" wrap="square" lIns="0" tIns="0" rIns="0" bIns="0" rtlCol="0">
            <a:spAutoFit/>
          </a:bodyPr>
          <a:lstStyle/>
          <a:p>
            <a:pPr marL="12700" marR="583565">
              <a:lnSpc>
                <a:spcPts val="3200"/>
              </a:lnSpc>
            </a:pPr>
            <a:r>
              <a:rPr sz="2800" b="1" spc="-25" dirty="0">
                <a:solidFill>
                  <a:srgbClr val="00669D"/>
                </a:solidFill>
                <a:latin typeface="Arial"/>
                <a:cs typeface="Arial"/>
              </a:rPr>
              <a:t>L</a:t>
            </a:r>
            <a:r>
              <a:rPr sz="2800" b="1" dirty="0">
                <a:solidFill>
                  <a:srgbClr val="00669D"/>
                </a:solidFill>
                <a:latin typeface="Arial"/>
                <a:cs typeface="Arial"/>
              </a:rPr>
              <a:t>et</a:t>
            </a:r>
            <a:r>
              <a:rPr sz="2800" b="1" spc="-5" dirty="0">
                <a:solidFill>
                  <a:srgbClr val="00669D"/>
                </a:solidFill>
                <a:latin typeface="Arial"/>
                <a:cs typeface="Arial"/>
              </a:rPr>
              <a:t> </a:t>
            </a:r>
            <a:r>
              <a:rPr sz="2800" b="1" spc="-25" dirty="0">
                <a:solidFill>
                  <a:srgbClr val="00669D"/>
                </a:solidFill>
                <a:latin typeface="Arial"/>
                <a:cs typeface="Arial"/>
              </a:rPr>
              <a:t>G</a:t>
            </a:r>
            <a:r>
              <a:rPr sz="2800" b="1" spc="-5" dirty="0">
                <a:solidFill>
                  <a:srgbClr val="00669D"/>
                </a:solidFill>
                <a:latin typeface="Arial"/>
                <a:cs typeface="Arial"/>
              </a:rPr>
              <a:t> </a:t>
            </a:r>
            <a:r>
              <a:rPr sz="2800" b="1" spc="-25" dirty="0">
                <a:solidFill>
                  <a:srgbClr val="00669D"/>
                </a:solidFill>
                <a:latin typeface="Arial"/>
                <a:cs typeface="Arial"/>
              </a:rPr>
              <a:t>b</a:t>
            </a:r>
            <a:r>
              <a:rPr sz="2800" b="1" dirty="0">
                <a:solidFill>
                  <a:srgbClr val="00669D"/>
                </a:solidFill>
                <a:latin typeface="Arial"/>
                <a:cs typeface="Arial"/>
              </a:rPr>
              <a:t>e</a:t>
            </a:r>
            <a:r>
              <a:rPr sz="2800" b="1" spc="-5" dirty="0">
                <a:solidFill>
                  <a:srgbClr val="00669D"/>
                </a:solidFill>
                <a:latin typeface="Arial"/>
                <a:cs typeface="Arial"/>
              </a:rPr>
              <a:t> </a:t>
            </a:r>
            <a:r>
              <a:rPr sz="2800" b="1" dirty="0">
                <a:solidFill>
                  <a:srgbClr val="00669D"/>
                </a:solidFill>
                <a:latin typeface="Arial"/>
                <a:cs typeface="Arial"/>
              </a:rPr>
              <a:t>a</a:t>
            </a:r>
            <a:r>
              <a:rPr sz="2800" b="1" spc="-5" dirty="0">
                <a:solidFill>
                  <a:srgbClr val="00669D"/>
                </a:solidFill>
                <a:latin typeface="Arial"/>
                <a:cs typeface="Arial"/>
              </a:rPr>
              <a:t> </a:t>
            </a:r>
            <a:r>
              <a:rPr sz="2800" b="1" spc="-20" dirty="0">
                <a:solidFill>
                  <a:srgbClr val="00669D"/>
                </a:solidFill>
                <a:latin typeface="Arial"/>
                <a:cs typeface="Arial"/>
              </a:rPr>
              <a:t>tw</a:t>
            </a:r>
            <a:r>
              <a:rPr sz="2800" b="1" spc="-25" dirty="0">
                <a:solidFill>
                  <a:srgbClr val="00669D"/>
                </a:solidFill>
                <a:latin typeface="Arial"/>
                <a:cs typeface="Arial"/>
              </a:rPr>
              <a:t>o</a:t>
            </a:r>
            <a:r>
              <a:rPr sz="2800" b="1" spc="-10" dirty="0">
                <a:solidFill>
                  <a:srgbClr val="00669D"/>
                </a:solidFill>
                <a:latin typeface="Arial"/>
                <a:cs typeface="Arial"/>
              </a:rPr>
              <a:t>-</a:t>
            </a:r>
            <a:r>
              <a:rPr sz="2800" b="1" spc="-25" dirty="0">
                <a:solidFill>
                  <a:srgbClr val="00669D"/>
                </a:solidFill>
                <a:latin typeface="Arial"/>
                <a:cs typeface="Arial"/>
              </a:rPr>
              <a:t>p</a:t>
            </a:r>
            <a:r>
              <a:rPr sz="2800" b="1" spc="-10" dirty="0">
                <a:solidFill>
                  <a:srgbClr val="00669D"/>
                </a:solidFill>
                <a:latin typeface="Arial"/>
                <a:cs typeface="Arial"/>
              </a:rPr>
              <a:t>l</a:t>
            </a:r>
            <a:r>
              <a:rPr sz="2800" b="1" dirty="0">
                <a:solidFill>
                  <a:srgbClr val="00669D"/>
                </a:solidFill>
                <a:latin typeface="Arial"/>
                <a:cs typeface="Arial"/>
              </a:rPr>
              <a:t>ayer</a:t>
            </a:r>
            <a:r>
              <a:rPr sz="2800" b="1" spc="-5" dirty="0">
                <a:solidFill>
                  <a:srgbClr val="00669D"/>
                </a:solidFill>
                <a:latin typeface="Arial"/>
                <a:cs typeface="Arial"/>
              </a:rPr>
              <a:t> </a:t>
            </a:r>
            <a:r>
              <a:rPr sz="2800" b="1" dirty="0">
                <a:solidFill>
                  <a:srgbClr val="00669D"/>
                </a:solidFill>
                <a:latin typeface="Arial"/>
                <a:cs typeface="Arial"/>
              </a:rPr>
              <a:t>symmetr</a:t>
            </a:r>
            <a:r>
              <a:rPr sz="2800" b="1" spc="-10" dirty="0">
                <a:solidFill>
                  <a:srgbClr val="00669D"/>
                </a:solidFill>
                <a:latin typeface="Arial"/>
                <a:cs typeface="Arial"/>
              </a:rPr>
              <a:t>i</a:t>
            </a:r>
            <a:r>
              <a:rPr sz="2800" b="1" dirty="0">
                <a:solidFill>
                  <a:srgbClr val="00669D"/>
                </a:solidFill>
                <a:latin typeface="Arial"/>
                <a:cs typeface="Arial"/>
              </a:rPr>
              <a:t>c</a:t>
            </a:r>
            <a:r>
              <a:rPr sz="2800" b="1" spc="-5" dirty="0">
                <a:solidFill>
                  <a:srgbClr val="00669D"/>
                </a:solidFill>
                <a:latin typeface="Arial"/>
                <a:cs typeface="Arial"/>
              </a:rPr>
              <a:t> </a:t>
            </a:r>
            <a:r>
              <a:rPr sz="2800" b="1" spc="-25" dirty="0">
                <a:solidFill>
                  <a:srgbClr val="00669D"/>
                </a:solidFill>
                <a:latin typeface="Arial"/>
                <a:cs typeface="Arial"/>
              </a:rPr>
              <a:t>g</a:t>
            </a:r>
            <a:r>
              <a:rPr sz="2800" b="1" dirty="0">
                <a:solidFill>
                  <a:srgbClr val="00669D"/>
                </a:solidFill>
                <a:latin typeface="Arial"/>
                <a:cs typeface="Arial"/>
              </a:rPr>
              <a:t>ame </a:t>
            </a:r>
            <a:r>
              <a:rPr sz="2800" b="1" spc="-15" dirty="0">
                <a:solidFill>
                  <a:srgbClr val="00669D"/>
                </a:solidFill>
                <a:latin typeface="Arial"/>
                <a:cs typeface="Arial"/>
              </a:rPr>
              <a:t>with</a:t>
            </a:r>
            <a:r>
              <a:rPr sz="2800" b="1" spc="-5" dirty="0">
                <a:solidFill>
                  <a:srgbClr val="00669D"/>
                </a:solidFill>
                <a:latin typeface="Arial"/>
                <a:cs typeface="Arial"/>
              </a:rPr>
              <a:t> </a:t>
            </a:r>
            <a:r>
              <a:rPr sz="2800" b="1" dirty="0">
                <a:solidFill>
                  <a:srgbClr val="00669D"/>
                </a:solidFill>
                <a:latin typeface="Arial"/>
                <a:cs typeface="Arial"/>
              </a:rPr>
              <a:t>2</a:t>
            </a:r>
            <a:r>
              <a:rPr sz="2800" b="1" spc="-5" dirty="0">
                <a:solidFill>
                  <a:srgbClr val="00669D"/>
                </a:solidFill>
                <a:latin typeface="Arial"/>
                <a:cs typeface="Arial"/>
              </a:rPr>
              <a:t> </a:t>
            </a:r>
            <a:r>
              <a:rPr sz="2800" b="1" spc="-25" dirty="0">
                <a:solidFill>
                  <a:srgbClr val="00669D"/>
                </a:solidFill>
                <a:latin typeface="Arial"/>
                <a:cs typeface="Arial"/>
              </a:rPr>
              <a:t>pu</a:t>
            </a:r>
            <a:r>
              <a:rPr sz="2800" b="1" dirty="0">
                <a:solidFill>
                  <a:srgbClr val="00669D"/>
                </a:solidFill>
                <a:latin typeface="Arial"/>
                <a:cs typeface="Arial"/>
              </a:rPr>
              <a:t>re</a:t>
            </a:r>
            <a:r>
              <a:rPr sz="2800" b="1" spc="-5" dirty="0">
                <a:solidFill>
                  <a:srgbClr val="00669D"/>
                </a:solidFill>
                <a:latin typeface="Arial"/>
                <a:cs typeface="Arial"/>
              </a:rPr>
              <a:t> </a:t>
            </a:r>
            <a:r>
              <a:rPr sz="2800" b="1" dirty="0">
                <a:solidFill>
                  <a:srgbClr val="00669D"/>
                </a:solidFill>
                <a:latin typeface="Arial"/>
                <a:cs typeface="Arial"/>
              </a:rPr>
              <a:t>strate</a:t>
            </a:r>
            <a:r>
              <a:rPr sz="2800" b="1" spc="-25" dirty="0">
                <a:solidFill>
                  <a:srgbClr val="00669D"/>
                </a:solidFill>
                <a:latin typeface="Arial"/>
                <a:cs typeface="Arial"/>
              </a:rPr>
              <a:t>g</a:t>
            </a:r>
            <a:r>
              <a:rPr sz="2800" b="1" spc="-10" dirty="0">
                <a:solidFill>
                  <a:srgbClr val="00669D"/>
                </a:solidFill>
                <a:latin typeface="Arial"/>
                <a:cs typeface="Arial"/>
              </a:rPr>
              <a:t>i</a:t>
            </a:r>
            <a:r>
              <a:rPr sz="2800" b="1" dirty="0">
                <a:solidFill>
                  <a:srgbClr val="00669D"/>
                </a:solidFill>
                <a:latin typeface="Arial"/>
                <a:cs typeface="Arial"/>
              </a:rPr>
              <a:t>es</a:t>
            </a:r>
            <a:r>
              <a:rPr sz="2800" b="1" spc="-5" dirty="0">
                <a:solidFill>
                  <a:srgbClr val="00669D"/>
                </a:solidFill>
                <a:latin typeface="Arial"/>
                <a:cs typeface="Arial"/>
              </a:rPr>
              <a:t> </a:t>
            </a:r>
            <a:r>
              <a:rPr sz="2800" b="1" dirty="0">
                <a:solidFill>
                  <a:srgbClr val="00669D"/>
                </a:solidFill>
                <a:latin typeface="Arial"/>
                <a:cs typeface="Arial"/>
              </a:rPr>
              <a:t>s</a:t>
            </a:r>
            <a:r>
              <a:rPr sz="2800" b="1" spc="-25" dirty="0">
                <a:solidFill>
                  <a:srgbClr val="00669D"/>
                </a:solidFill>
                <a:latin typeface="Arial"/>
                <a:cs typeface="Arial"/>
              </a:rPr>
              <a:t>u</a:t>
            </a:r>
            <a:r>
              <a:rPr sz="2800" b="1" dirty="0">
                <a:solidFill>
                  <a:srgbClr val="00669D"/>
                </a:solidFill>
                <a:latin typeface="Arial"/>
                <a:cs typeface="Arial"/>
              </a:rPr>
              <a:t>c</a:t>
            </a:r>
            <a:r>
              <a:rPr sz="2800" b="1" spc="-20" dirty="0">
                <a:solidFill>
                  <a:srgbClr val="00669D"/>
                </a:solidFill>
                <a:latin typeface="Arial"/>
                <a:cs typeface="Arial"/>
              </a:rPr>
              <a:t>h</a:t>
            </a:r>
            <a:r>
              <a:rPr sz="2800" b="1" spc="-5" dirty="0">
                <a:solidFill>
                  <a:srgbClr val="00669D"/>
                </a:solidFill>
                <a:latin typeface="Arial"/>
                <a:cs typeface="Arial"/>
              </a:rPr>
              <a:t> </a:t>
            </a:r>
            <a:r>
              <a:rPr sz="2800" b="1" spc="-10" dirty="0">
                <a:solidFill>
                  <a:srgbClr val="00669D"/>
                </a:solidFill>
                <a:latin typeface="Arial"/>
                <a:cs typeface="Arial"/>
              </a:rPr>
              <a:t>t</a:t>
            </a:r>
            <a:r>
              <a:rPr sz="2800" b="1" spc="-25" dirty="0">
                <a:solidFill>
                  <a:srgbClr val="00669D"/>
                </a:solidFill>
                <a:latin typeface="Arial"/>
                <a:cs typeface="Arial"/>
              </a:rPr>
              <a:t>h</a:t>
            </a:r>
            <a:r>
              <a:rPr sz="2800" b="1" dirty="0">
                <a:solidFill>
                  <a:srgbClr val="00669D"/>
                </a:solidFill>
                <a:latin typeface="Arial"/>
                <a:cs typeface="Arial"/>
              </a:rPr>
              <a:t>at</a:t>
            </a:r>
            <a:endParaRPr sz="2800" dirty="0">
              <a:latin typeface="Arial"/>
              <a:cs typeface="Arial"/>
            </a:endParaRPr>
          </a:p>
          <a:p>
            <a:pPr>
              <a:lnSpc>
                <a:spcPct val="100000"/>
              </a:lnSpc>
              <a:spcBef>
                <a:spcPts val="41"/>
              </a:spcBef>
            </a:pPr>
            <a:endParaRPr sz="2500" dirty="0">
              <a:latin typeface="Times New Roman"/>
              <a:cs typeface="Times New Roman"/>
            </a:endParaRPr>
          </a:p>
          <a:p>
            <a:pPr marL="12700">
              <a:lnSpc>
                <a:spcPct val="100000"/>
              </a:lnSpc>
            </a:pPr>
            <a:r>
              <a:rPr sz="3400" spc="-155" dirty="0">
                <a:solidFill>
                  <a:srgbClr val="00669D"/>
                </a:solidFill>
                <a:latin typeface="Lucida Sans Unicode"/>
                <a:cs typeface="Lucida Sans Unicode"/>
              </a:rPr>
              <a:t>Π</a:t>
            </a:r>
            <a:r>
              <a:rPr sz="3400" spc="-15" dirty="0">
                <a:solidFill>
                  <a:srgbClr val="00669D"/>
                </a:solidFill>
                <a:latin typeface="Century"/>
                <a:cs typeface="Century"/>
              </a:rPr>
              <a:t>(</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1</a:t>
            </a:r>
            <a:r>
              <a:rPr sz="3400" spc="-105" dirty="0">
                <a:solidFill>
                  <a:srgbClr val="00669D"/>
                </a:solidFill>
                <a:latin typeface="Century"/>
                <a:cs typeface="Century"/>
              </a:rPr>
              <a:t>,</a:t>
            </a:r>
            <a:r>
              <a:rPr sz="3400" spc="-380" dirty="0">
                <a:solidFill>
                  <a:srgbClr val="00669D"/>
                </a:solidFill>
                <a:latin typeface="Century"/>
                <a:cs typeface="Century"/>
              </a:rPr>
              <a:t> </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1</a:t>
            </a:r>
            <a:r>
              <a:rPr sz="3400" spc="-15" dirty="0">
                <a:solidFill>
                  <a:srgbClr val="00669D"/>
                </a:solidFill>
                <a:latin typeface="Century"/>
                <a:cs typeface="Century"/>
              </a:rPr>
              <a:t>)</a:t>
            </a:r>
            <a:r>
              <a:rPr sz="3400" spc="-5" dirty="0">
                <a:solidFill>
                  <a:srgbClr val="00669D"/>
                </a:solidFill>
                <a:latin typeface="Century"/>
                <a:cs typeface="Century"/>
              </a:rPr>
              <a:t> </a:t>
            </a:r>
            <a:r>
              <a:rPr sz="3400" spc="-409" dirty="0">
                <a:solidFill>
                  <a:srgbClr val="00669D"/>
                </a:solidFill>
                <a:latin typeface="Lucida Sans Unicode"/>
                <a:cs typeface="Lucida Sans Unicode"/>
              </a:rPr>
              <a:t>≠</a:t>
            </a:r>
            <a:r>
              <a:rPr sz="3400" spc="-135" dirty="0">
                <a:solidFill>
                  <a:srgbClr val="00669D"/>
                </a:solidFill>
                <a:latin typeface="Lucida Sans Unicode"/>
                <a:cs typeface="Lucida Sans Unicode"/>
              </a:rPr>
              <a:t> </a:t>
            </a:r>
            <a:r>
              <a:rPr sz="3400" spc="-155" dirty="0">
                <a:solidFill>
                  <a:srgbClr val="00669D"/>
                </a:solidFill>
                <a:latin typeface="Lucida Sans Unicode"/>
                <a:cs typeface="Lucida Sans Unicode"/>
              </a:rPr>
              <a:t>Π</a:t>
            </a:r>
            <a:r>
              <a:rPr sz="3400" spc="-15" dirty="0">
                <a:solidFill>
                  <a:srgbClr val="00669D"/>
                </a:solidFill>
                <a:latin typeface="Century"/>
                <a:cs typeface="Century"/>
              </a:rPr>
              <a:t>(</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2</a:t>
            </a:r>
            <a:r>
              <a:rPr sz="3400" spc="-105" dirty="0">
                <a:solidFill>
                  <a:srgbClr val="00669D"/>
                </a:solidFill>
                <a:latin typeface="Century"/>
                <a:cs typeface="Century"/>
              </a:rPr>
              <a:t>,</a:t>
            </a:r>
            <a:r>
              <a:rPr sz="3400" spc="-380" dirty="0">
                <a:solidFill>
                  <a:srgbClr val="00669D"/>
                </a:solidFill>
                <a:latin typeface="Century"/>
                <a:cs typeface="Century"/>
              </a:rPr>
              <a:t> </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1</a:t>
            </a:r>
            <a:r>
              <a:rPr sz="3400" spc="-15" dirty="0">
                <a:solidFill>
                  <a:srgbClr val="00669D"/>
                </a:solidFill>
                <a:latin typeface="Century"/>
                <a:cs typeface="Century"/>
              </a:rPr>
              <a:t>)</a:t>
            </a:r>
            <a:r>
              <a:rPr sz="3400" spc="-195" dirty="0">
                <a:solidFill>
                  <a:srgbClr val="00669D"/>
                </a:solidFill>
                <a:latin typeface="Century"/>
                <a:cs typeface="Century"/>
              </a:rPr>
              <a:t> </a:t>
            </a:r>
            <a:r>
              <a:rPr sz="3400" spc="-625" dirty="0">
                <a:solidFill>
                  <a:srgbClr val="00669D"/>
                </a:solidFill>
                <a:latin typeface="Lucida Sans Unicode"/>
                <a:cs typeface="Lucida Sans Unicode"/>
              </a:rPr>
              <a:t>∧</a:t>
            </a:r>
            <a:r>
              <a:rPr sz="3400" spc="-325" dirty="0">
                <a:solidFill>
                  <a:srgbClr val="00669D"/>
                </a:solidFill>
                <a:latin typeface="Lucida Sans Unicode"/>
                <a:cs typeface="Lucida Sans Unicode"/>
              </a:rPr>
              <a:t> </a:t>
            </a:r>
            <a:r>
              <a:rPr sz="3400" spc="-155" dirty="0">
                <a:solidFill>
                  <a:srgbClr val="00669D"/>
                </a:solidFill>
                <a:latin typeface="Lucida Sans Unicode"/>
                <a:cs typeface="Lucida Sans Unicode"/>
              </a:rPr>
              <a:t>Π</a:t>
            </a:r>
            <a:r>
              <a:rPr sz="3400" spc="-15" dirty="0">
                <a:solidFill>
                  <a:srgbClr val="00669D"/>
                </a:solidFill>
                <a:latin typeface="Century"/>
                <a:cs typeface="Century"/>
              </a:rPr>
              <a:t>(</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2</a:t>
            </a:r>
            <a:r>
              <a:rPr sz="3400" spc="-105" dirty="0">
                <a:solidFill>
                  <a:srgbClr val="00669D"/>
                </a:solidFill>
                <a:latin typeface="Century"/>
                <a:cs typeface="Century"/>
              </a:rPr>
              <a:t>,</a:t>
            </a:r>
            <a:r>
              <a:rPr sz="3400" spc="-380" dirty="0">
                <a:solidFill>
                  <a:srgbClr val="00669D"/>
                </a:solidFill>
                <a:latin typeface="Century"/>
                <a:cs typeface="Century"/>
              </a:rPr>
              <a:t> </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2</a:t>
            </a:r>
            <a:r>
              <a:rPr sz="3400" spc="-15" dirty="0">
                <a:solidFill>
                  <a:srgbClr val="00669D"/>
                </a:solidFill>
                <a:latin typeface="Century"/>
                <a:cs typeface="Century"/>
              </a:rPr>
              <a:t>)</a:t>
            </a:r>
            <a:r>
              <a:rPr sz="3400" spc="-5" dirty="0">
                <a:solidFill>
                  <a:srgbClr val="00669D"/>
                </a:solidFill>
                <a:latin typeface="Century"/>
                <a:cs typeface="Century"/>
              </a:rPr>
              <a:t> </a:t>
            </a:r>
            <a:r>
              <a:rPr sz="3400" spc="-409" dirty="0">
                <a:solidFill>
                  <a:srgbClr val="00669D"/>
                </a:solidFill>
                <a:latin typeface="Lucida Sans Unicode"/>
                <a:cs typeface="Lucida Sans Unicode"/>
              </a:rPr>
              <a:t>≠</a:t>
            </a:r>
            <a:r>
              <a:rPr sz="3400" spc="-135" dirty="0">
                <a:solidFill>
                  <a:srgbClr val="00669D"/>
                </a:solidFill>
                <a:latin typeface="Lucida Sans Unicode"/>
                <a:cs typeface="Lucida Sans Unicode"/>
              </a:rPr>
              <a:t> </a:t>
            </a:r>
            <a:r>
              <a:rPr sz="3400" spc="-155" dirty="0">
                <a:solidFill>
                  <a:srgbClr val="00669D"/>
                </a:solidFill>
                <a:latin typeface="Lucida Sans Unicode"/>
                <a:cs typeface="Lucida Sans Unicode"/>
              </a:rPr>
              <a:t>Π</a:t>
            </a:r>
            <a:r>
              <a:rPr sz="3400" spc="-15" dirty="0">
                <a:solidFill>
                  <a:srgbClr val="00669D"/>
                </a:solidFill>
                <a:latin typeface="Century"/>
                <a:cs typeface="Century"/>
              </a:rPr>
              <a:t>(</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1</a:t>
            </a:r>
            <a:r>
              <a:rPr sz="3400" spc="-105" dirty="0">
                <a:solidFill>
                  <a:srgbClr val="00669D"/>
                </a:solidFill>
                <a:latin typeface="Century"/>
                <a:cs typeface="Century"/>
              </a:rPr>
              <a:t>,</a:t>
            </a:r>
            <a:r>
              <a:rPr sz="3400" spc="-380" dirty="0">
                <a:solidFill>
                  <a:srgbClr val="00669D"/>
                </a:solidFill>
                <a:latin typeface="Century"/>
                <a:cs typeface="Century"/>
              </a:rPr>
              <a:t> </a:t>
            </a:r>
            <a:r>
              <a:rPr sz="3400" i="1" spc="-135" dirty="0">
                <a:solidFill>
                  <a:srgbClr val="00669D"/>
                </a:solidFill>
                <a:latin typeface="Times New Roman"/>
                <a:cs typeface="Times New Roman"/>
              </a:rPr>
              <a:t>s</a:t>
            </a:r>
            <a:r>
              <a:rPr sz="3600" spc="-202" baseline="-19675" dirty="0">
                <a:solidFill>
                  <a:srgbClr val="00669D"/>
                </a:solidFill>
                <a:latin typeface="Century"/>
                <a:cs typeface="Century"/>
              </a:rPr>
              <a:t>2</a:t>
            </a:r>
            <a:r>
              <a:rPr sz="3400" spc="-15" dirty="0">
                <a:solidFill>
                  <a:srgbClr val="00669D"/>
                </a:solidFill>
                <a:latin typeface="Century"/>
                <a:cs typeface="Century"/>
              </a:rPr>
              <a:t>)</a:t>
            </a:r>
            <a:endParaRPr sz="3400" dirty="0">
              <a:latin typeface="Century"/>
              <a:cs typeface="Century"/>
            </a:endParaRPr>
          </a:p>
          <a:p>
            <a:pPr>
              <a:lnSpc>
                <a:spcPct val="100000"/>
              </a:lnSpc>
              <a:spcBef>
                <a:spcPts val="48"/>
              </a:spcBef>
            </a:pPr>
            <a:endParaRPr sz="5550" dirty="0">
              <a:latin typeface="Times New Roman"/>
              <a:cs typeface="Times New Roman"/>
            </a:endParaRPr>
          </a:p>
          <a:p>
            <a:pPr marL="12700">
              <a:lnSpc>
                <a:spcPct val="100000"/>
              </a:lnSpc>
            </a:pPr>
            <a:r>
              <a:rPr sz="2800" b="1" spc="-10" dirty="0">
                <a:solidFill>
                  <a:srgbClr val="00669D"/>
                </a:solidFill>
                <a:latin typeface="Arial"/>
                <a:cs typeface="Arial"/>
              </a:rPr>
              <a:t>t</a:t>
            </a:r>
            <a:r>
              <a:rPr sz="2800" b="1" spc="-25" dirty="0">
                <a:solidFill>
                  <a:srgbClr val="00669D"/>
                </a:solidFill>
                <a:latin typeface="Arial"/>
                <a:cs typeface="Arial"/>
              </a:rPr>
              <a:t>h</a:t>
            </a:r>
            <a:r>
              <a:rPr sz="2800" b="1" dirty="0">
                <a:solidFill>
                  <a:srgbClr val="00669D"/>
                </a:solidFill>
                <a:latin typeface="Arial"/>
                <a:cs typeface="Arial"/>
              </a:rPr>
              <a:t>e</a:t>
            </a:r>
            <a:r>
              <a:rPr sz="2800" b="1" spc="-20" dirty="0">
                <a:solidFill>
                  <a:srgbClr val="00669D"/>
                </a:solidFill>
                <a:latin typeface="Arial"/>
                <a:cs typeface="Arial"/>
              </a:rPr>
              <a:t>n</a:t>
            </a:r>
            <a:r>
              <a:rPr sz="2800" b="1" spc="-5" dirty="0">
                <a:solidFill>
                  <a:srgbClr val="00669D"/>
                </a:solidFill>
                <a:latin typeface="Arial"/>
                <a:cs typeface="Arial"/>
              </a:rPr>
              <a:t> </a:t>
            </a:r>
            <a:r>
              <a:rPr sz="2800" b="1" spc="-25" dirty="0">
                <a:solidFill>
                  <a:srgbClr val="00669D"/>
                </a:solidFill>
                <a:latin typeface="Arial"/>
                <a:cs typeface="Arial"/>
              </a:rPr>
              <a:t>G</a:t>
            </a:r>
            <a:r>
              <a:rPr sz="2800" b="1" spc="-5" dirty="0">
                <a:solidFill>
                  <a:srgbClr val="00669D"/>
                </a:solidFill>
                <a:latin typeface="Arial"/>
                <a:cs typeface="Arial"/>
              </a:rPr>
              <a:t> </a:t>
            </a:r>
            <a:r>
              <a:rPr sz="2800" b="1" spc="-25" dirty="0">
                <a:solidFill>
                  <a:srgbClr val="00669D"/>
                </a:solidFill>
                <a:latin typeface="Arial"/>
                <a:cs typeface="Arial"/>
              </a:rPr>
              <a:t>h</a:t>
            </a:r>
            <a:r>
              <a:rPr sz="2800" b="1" dirty="0">
                <a:solidFill>
                  <a:srgbClr val="00669D"/>
                </a:solidFill>
                <a:latin typeface="Arial"/>
                <a:cs typeface="Arial"/>
              </a:rPr>
              <a:t>as</a:t>
            </a:r>
            <a:r>
              <a:rPr sz="2800" b="1" spc="-5" dirty="0">
                <a:solidFill>
                  <a:srgbClr val="00669D"/>
                </a:solidFill>
                <a:latin typeface="Arial"/>
                <a:cs typeface="Arial"/>
              </a:rPr>
              <a:t> </a:t>
            </a:r>
            <a:r>
              <a:rPr sz="2800" b="1" dirty="0">
                <a:solidFill>
                  <a:srgbClr val="00669D"/>
                </a:solidFill>
                <a:latin typeface="Arial"/>
                <a:cs typeface="Arial"/>
              </a:rPr>
              <a:t>a</a:t>
            </a:r>
            <a:r>
              <a:rPr sz="2800" b="1" spc="-20" dirty="0">
                <a:solidFill>
                  <a:srgbClr val="00669D"/>
                </a:solidFill>
                <a:latin typeface="Arial"/>
                <a:cs typeface="Arial"/>
              </a:rPr>
              <a:t>n</a:t>
            </a:r>
            <a:r>
              <a:rPr sz="2800" b="1" spc="-5" dirty="0">
                <a:solidFill>
                  <a:srgbClr val="00669D"/>
                </a:solidFill>
                <a:latin typeface="Arial"/>
                <a:cs typeface="Arial"/>
              </a:rPr>
              <a:t> </a:t>
            </a:r>
            <a:r>
              <a:rPr sz="2800" b="1" spc="-20" dirty="0">
                <a:solidFill>
                  <a:srgbClr val="00669D"/>
                </a:solidFill>
                <a:latin typeface="Arial"/>
                <a:cs typeface="Arial"/>
              </a:rPr>
              <a:t>ESS.</a:t>
            </a:r>
            <a:endParaRPr sz="2800" dirty="0">
              <a:latin typeface="Arial"/>
              <a:cs typeface="Arial"/>
            </a:endParaRPr>
          </a:p>
        </p:txBody>
      </p:sp>
      <p:sp>
        <p:nvSpPr>
          <p:cNvPr id="3" name="Rectangle 2">
            <a:extLst>
              <a:ext uri="{FF2B5EF4-FFF2-40B4-BE49-F238E27FC236}">
                <a16:creationId xmlns:a16="http://schemas.microsoft.com/office/drawing/2014/main" id="{1573A712-9430-0D18-2300-8772DE503B4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E654F652-442F-8B3C-19DB-AD3744985A2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1F3053B8-EF42-795D-FB68-DD1B6B0C933A}"/>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37</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3C48BA40-1B39-66D1-5A02-14F9BDADCBF1}"/>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046670FD-9A45-40D0-9C99-729DDB3E17A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414019" y="1908957"/>
            <a:ext cx="7223759" cy="3827779"/>
          </a:xfrm>
          <a:prstGeom prst="rect">
            <a:avLst/>
          </a:prstGeom>
        </p:spPr>
        <p:txBody>
          <a:bodyPr vert="horz" wrap="square" lIns="0" tIns="0" rIns="0" bIns="0" rtlCol="0">
            <a:spAutoFit/>
          </a:bodyPr>
          <a:lstStyle/>
          <a:p>
            <a:pPr marL="355600" marR="1102360" indent="-342900">
              <a:lnSpc>
                <a:spcPts val="3200"/>
              </a:lnSpc>
              <a:buSzPct val="89285"/>
              <a:buFont typeface="Arial"/>
              <a:buChar char="•"/>
              <a:tabLst>
                <a:tab pos="355600" algn="l"/>
              </a:tabLst>
            </a:pPr>
            <a:r>
              <a:rPr sz="2800" b="1" dirty="0">
                <a:solidFill>
                  <a:srgbClr val="00669D"/>
                </a:solidFill>
                <a:latin typeface="Arial"/>
                <a:cs typeface="Arial"/>
              </a:rPr>
              <a:t>A</a:t>
            </a:r>
            <a:r>
              <a:rPr sz="2800" b="1" spc="-105" dirty="0">
                <a:solidFill>
                  <a:srgbClr val="00669D"/>
                </a:solidFill>
                <a:latin typeface="Arial"/>
                <a:cs typeface="Arial"/>
              </a:rPr>
              <a:t> </a:t>
            </a:r>
            <a:r>
              <a:rPr sz="2800" b="1" spc="-25" dirty="0">
                <a:solidFill>
                  <a:srgbClr val="00669D"/>
                </a:solidFill>
                <a:latin typeface="Arial"/>
                <a:cs typeface="Arial"/>
              </a:rPr>
              <a:t>d</a:t>
            </a:r>
            <a:r>
              <a:rPr sz="2800" b="1" dirty="0">
                <a:solidFill>
                  <a:srgbClr val="00669D"/>
                </a:solidFill>
                <a:latin typeface="Arial"/>
                <a:cs typeface="Arial"/>
              </a:rPr>
              <a:t>y</a:t>
            </a:r>
            <a:r>
              <a:rPr sz="2800" b="1" spc="-25" dirty="0">
                <a:solidFill>
                  <a:srgbClr val="00669D"/>
                </a:solidFill>
                <a:latin typeface="Arial"/>
                <a:cs typeface="Arial"/>
              </a:rPr>
              <a:t>n</a:t>
            </a:r>
            <a:r>
              <a:rPr sz="2800" b="1" dirty="0">
                <a:solidFill>
                  <a:srgbClr val="00669D"/>
                </a:solidFill>
                <a:latin typeface="Arial"/>
                <a:cs typeface="Arial"/>
              </a:rPr>
              <a:t>am</a:t>
            </a:r>
            <a:r>
              <a:rPr sz="2800" b="1" spc="-10" dirty="0">
                <a:solidFill>
                  <a:srgbClr val="00669D"/>
                </a:solidFill>
                <a:latin typeface="Arial"/>
                <a:cs typeface="Arial"/>
              </a:rPr>
              <a:t>i</a:t>
            </a:r>
            <a:r>
              <a:rPr sz="2800" b="1" dirty="0">
                <a:solidFill>
                  <a:srgbClr val="00669D"/>
                </a:solidFill>
                <a:latin typeface="Arial"/>
                <a:cs typeface="Arial"/>
              </a:rPr>
              <a:t>c</a:t>
            </a:r>
            <a:r>
              <a:rPr sz="2800" b="1" spc="-5" dirty="0">
                <a:solidFill>
                  <a:srgbClr val="00669D"/>
                </a:solidFill>
                <a:latin typeface="Arial"/>
                <a:cs typeface="Arial"/>
              </a:rPr>
              <a:t> </a:t>
            </a:r>
            <a:r>
              <a:rPr sz="2800" b="1" dirty="0">
                <a:solidFill>
                  <a:srgbClr val="00669D"/>
                </a:solidFill>
                <a:latin typeface="Arial"/>
                <a:cs typeface="Arial"/>
              </a:rPr>
              <a:t>systems</a:t>
            </a:r>
            <a:r>
              <a:rPr sz="2800" b="1" spc="-5" dirty="0">
                <a:solidFill>
                  <a:srgbClr val="00669D"/>
                </a:solidFill>
                <a:latin typeface="Arial"/>
                <a:cs typeface="Arial"/>
              </a:rPr>
              <a:t> </a:t>
            </a:r>
            <a:r>
              <a:rPr sz="2800" b="1" spc="-25" dirty="0">
                <a:solidFill>
                  <a:srgbClr val="00669D"/>
                </a:solidFill>
                <a:latin typeface="Arial"/>
                <a:cs typeface="Arial"/>
              </a:rPr>
              <a:t>d</a:t>
            </a:r>
            <a:r>
              <a:rPr sz="2800" b="1" dirty="0">
                <a:solidFill>
                  <a:srgbClr val="00669D"/>
                </a:solidFill>
                <a:latin typeface="Arial"/>
                <a:cs typeface="Arial"/>
              </a:rPr>
              <a:t>escr</a:t>
            </a:r>
            <a:r>
              <a:rPr sz="2800" b="1" spc="-10" dirty="0">
                <a:solidFill>
                  <a:srgbClr val="00669D"/>
                </a:solidFill>
                <a:latin typeface="Arial"/>
                <a:cs typeface="Arial"/>
              </a:rPr>
              <a:t>i</a:t>
            </a:r>
            <a:r>
              <a:rPr sz="2800" b="1" spc="-25" dirty="0">
                <a:solidFill>
                  <a:srgbClr val="00669D"/>
                </a:solidFill>
                <a:latin typeface="Arial"/>
                <a:cs typeface="Arial"/>
              </a:rPr>
              <a:t>p</a:t>
            </a:r>
            <a:r>
              <a:rPr sz="2800" b="1" spc="-10" dirty="0">
                <a:solidFill>
                  <a:srgbClr val="00669D"/>
                </a:solidFill>
                <a:latin typeface="Arial"/>
                <a:cs typeface="Arial"/>
              </a:rPr>
              <a:t>ti</a:t>
            </a:r>
            <a:r>
              <a:rPr sz="2800" b="1" spc="-25" dirty="0">
                <a:solidFill>
                  <a:srgbClr val="00669D"/>
                </a:solidFill>
                <a:latin typeface="Arial"/>
                <a:cs typeface="Arial"/>
              </a:rPr>
              <a:t>o</a:t>
            </a:r>
            <a:r>
              <a:rPr sz="2800" b="1" spc="-20" dirty="0">
                <a:solidFill>
                  <a:srgbClr val="00669D"/>
                </a:solidFill>
                <a:latin typeface="Arial"/>
                <a:cs typeface="Arial"/>
              </a:rPr>
              <a:t>n</a:t>
            </a:r>
            <a:r>
              <a:rPr sz="2800" b="1" spc="-5" dirty="0">
                <a:solidFill>
                  <a:srgbClr val="00669D"/>
                </a:solidFill>
                <a:latin typeface="Arial"/>
                <a:cs typeface="Arial"/>
              </a:rPr>
              <a:t> </a:t>
            </a:r>
            <a:r>
              <a:rPr sz="2800" b="1" spc="-25" dirty="0">
                <a:solidFill>
                  <a:srgbClr val="00669D"/>
                </a:solidFill>
                <a:latin typeface="Arial"/>
                <a:cs typeface="Arial"/>
              </a:rPr>
              <a:t>o</a:t>
            </a:r>
            <a:r>
              <a:rPr sz="2800" b="1" dirty="0">
                <a:solidFill>
                  <a:srgbClr val="00669D"/>
                </a:solidFill>
                <a:latin typeface="Arial"/>
                <a:cs typeface="Arial"/>
              </a:rPr>
              <a:t>f ev</a:t>
            </a:r>
            <a:r>
              <a:rPr sz="2800" b="1" spc="-25" dirty="0">
                <a:solidFill>
                  <a:srgbClr val="00669D"/>
                </a:solidFill>
                <a:latin typeface="Arial"/>
                <a:cs typeface="Arial"/>
              </a:rPr>
              <a:t>o</a:t>
            </a:r>
            <a:r>
              <a:rPr sz="2800" b="1" spc="-10" dirty="0">
                <a:solidFill>
                  <a:srgbClr val="00669D"/>
                </a:solidFill>
                <a:latin typeface="Arial"/>
                <a:cs typeface="Arial"/>
              </a:rPr>
              <a:t>l</a:t>
            </a:r>
            <a:r>
              <a:rPr sz="2800" b="1" spc="-25" dirty="0">
                <a:solidFill>
                  <a:srgbClr val="00669D"/>
                </a:solidFill>
                <a:latin typeface="Arial"/>
                <a:cs typeface="Arial"/>
              </a:rPr>
              <a:t>u</a:t>
            </a:r>
            <a:r>
              <a:rPr sz="2800" b="1" spc="-10" dirty="0">
                <a:solidFill>
                  <a:srgbClr val="00669D"/>
                </a:solidFill>
                <a:latin typeface="Arial"/>
                <a:cs typeface="Arial"/>
              </a:rPr>
              <a:t>ti</a:t>
            </a:r>
            <a:r>
              <a:rPr sz="2800" b="1" spc="-25" dirty="0">
                <a:solidFill>
                  <a:srgbClr val="00669D"/>
                </a:solidFill>
                <a:latin typeface="Arial"/>
                <a:cs typeface="Arial"/>
              </a:rPr>
              <a:t>on</a:t>
            </a:r>
            <a:r>
              <a:rPr sz="2800" b="1" dirty="0">
                <a:solidFill>
                  <a:srgbClr val="00669D"/>
                </a:solidFill>
                <a:latin typeface="Arial"/>
                <a:cs typeface="Arial"/>
              </a:rPr>
              <a:t>ary</a:t>
            </a:r>
            <a:r>
              <a:rPr sz="2800" b="1" spc="-5" dirty="0">
                <a:solidFill>
                  <a:srgbClr val="00669D"/>
                </a:solidFill>
                <a:latin typeface="Arial"/>
                <a:cs typeface="Arial"/>
              </a:rPr>
              <a:t> </a:t>
            </a:r>
            <a:r>
              <a:rPr sz="2800" b="1" spc="-25" dirty="0">
                <a:solidFill>
                  <a:srgbClr val="00669D"/>
                </a:solidFill>
                <a:latin typeface="Arial"/>
                <a:cs typeface="Arial"/>
              </a:rPr>
              <a:t>d</a:t>
            </a:r>
            <a:r>
              <a:rPr sz="2800" b="1" dirty="0">
                <a:solidFill>
                  <a:srgbClr val="00669D"/>
                </a:solidFill>
                <a:latin typeface="Arial"/>
                <a:cs typeface="Arial"/>
              </a:rPr>
              <a:t>y</a:t>
            </a:r>
            <a:r>
              <a:rPr sz="2800" b="1" spc="-25" dirty="0">
                <a:solidFill>
                  <a:srgbClr val="00669D"/>
                </a:solidFill>
                <a:latin typeface="Arial"/>
                <a:cs typeface="Arial"/>
              </a:rPr>
              <a:t>n</a:t>
            </a:r>
            <a:r>
              <a:rPr sz="2800" b="1" dirty="0">
                <a:solidFill>
                  <a:srgbClr val="00669D"/>
                </a:solidFill>
                <a:latin typeface="Arial"/>
                <a:cs typeface="Arial"/>
              </a:rPr>
              <a:t>am</a:t>
            </a:r>
            <a:r>
              <a:rPr sz="2800" b="1" spc="-10" dirty="0">
                <a:solidFill>
                  <a:srgbClr val="00669D"/>
                </a:solidFill>
                <a:latin typeface="Arial"/>
                <a:cs typeface="Arial"/>
              </a:rPr>
              <a:t>i</a:t>
            </a:r>
            <a:r>
              <a:rPr sz="2800" b="1" dirty="0">
                <a:solidFill>
                  <a:srgbClr val="00669D"/>
                </a:solidFill>
                <a:latin typeface="Arial"/>
                <a:cs typeface="Arial"/>
              </a:rPr>
              <a:t>cs</a:t>
            </a:r>
            <a:endParaRPr sz="2800" dirty="0">
              <a:latin typeface="Arial"/>
              <a:cs typeface="Arial"/>
            </a:endParaRPr>
          </a:p>
          <a:p>
            <a:pPr>
              <a:lnSpc>
                <a:spcPct val="100000"/>
              </a:lnSpc>
              <a:spcBef>
                <a:spcPts val="0"/>
              </a:spcBef>
              <a:buFont typeface="Arial"/>
              <a:buChar char="•"/>
            </a:pPr>
            <a:endParaRPr sz="3450" dirty="0">
              <a:latin typeface="Times New Roman"/>
              <a:cs typeface="Times New Roman"/>
            </a:endParaRPr>
          </a:p>
          <a:p>
            <a:pPr marL="355600" marR="5080" indent="-342900">
              <a:lnSpc>
                <a:spcPts val="3200"/>
              </a:lnSpc>
              <a:buSzPct val="89285"/>
              <a:buFont typeface="Arial"/>
              <a:buChar char="•"/>
              <a:tabLst>
                <a:tab pos="355600" algn="l"/>
              </a:tabLst>
            </a:pPr>
            <a:r>
              <a:rPr sz="2800" b="1" dirty="0">
                <a:solidFill>
                  <a:srgbClr val="00669D"/>
                </a:solidFill>
                <a:latin typeface="Arial"/>
                <a:cs typeface="Arial"/>
              </a:rPr>
              <a:t>Re</a:t>
            </a:r>
            <a:r>
              <a:rPr sz="2800" b="1" spc="-25" dirty="0">
                <a:solidFill>
                  <a:srgbClr val="00669D"/>
                </a:solidFill>
                <a:latin typeface="Arial"/>
                <a:cs typeface="Arial"/>
              </a:rPr>
              <a:t>p</a:t>
            </a:r>
            <a:r>
              <a:rPr sz="2800" b="1" spc="-10" dirty="0">
                <a:solidFill>
                  <a:srgbClr val="00669D"/>
                </a:solidFill>
                <a:latin typeface="Arial"/>
                <a:cs typeface="Arial"/>
              </a:rPr>
              <a:t>li</a:t>
            </a:r>
            <a:r>
              <a:rPr sz="2800" b="1" dirty="0">
                <a:solidFill>
                  <a:srgbClr val="00669D"/>
                </a:solidFill>
                <a:latin typeface="Arial"/>
                <a:cs typeface="Arial"/>
              </a:rPr>
              <a:t>ca</a:t>
            </a:r>
            <a:r>
              <a:rPr sz="2800" b="1" spc="-10" dirty="0">
                <a:solidFill>
                  <a:srgbClr val="00669D"/>
                </a:solidFill>
                <a:latin typeface="Arial"/>
                <a:cs typeface="Arial"/>
              </a:rPr>
              <a:t>t</a:t>
            </a:r>
            <a:r>
              <a:rPr sz="2800" b="1" spc="-25" dirty="0">
                <a:solidFill>
                  <a:srgbClr val="00669D"/>
                </a:solidFill>
                <a:latin typeface="Arial"/>
                <a:cs typeface="Arial"/>
              </a:rPr>
              <a:t>o</a:t>
            </a:r>
            <a:r>
              <a:rPr sz="2800" b="1" dirty="0">
                <a:solidFill>
                  <a:srgbClr val="00669D"/>
                </a:solidFill>
                <a:latin typeface="Arial"/>
                <a:cs typeface="Arial"/>
              </a:rPr>
              <a:t>r</a:t>
            </a:r>
            <a:r>
              <a:rPr sz="2800" b="1" spc="-5" dirty="0">
                <a:solidFill>
                  <a:srgbClr val="00669D"/>
                </a:solidFill>
                <a:latin typeface="Arial"/>
                <a:cs typeface="Arial"/>
              </a:rPr>
              <a:t> </a:t>
            </a:r>
            <a:r>
              <a:rPr sz="2800" b="1" spc="-25" dirty="0">
                <a:solidFill>
                  <a:srgbClr val="00669D"/>
                </a:solidFill>
                <a:latin typeface="Arial"/>
                <a:cs typeface="Arial"/>
              </a:rPr>
              <a:t>d</a:t>
            </a:r>
            <a:r>
              <a:rPr sz="2800" b="1" dirty="0">
                <a:solidFill>
                  <a:srgbClr val="00669D"/>
                </a:solidFill>
                <a:latin typeface="Arial"/>
                <a:cs typeface="Arial"/>
              </a:rPr>
              <a:t>y</a:t>
            </a:r>
            <a:r>
              <a:rPr sz="2800" b="1" spc="-25" dirty="0">
                <a:solidFill>
                  <a:srgbClr val="00669D"/>
                </a:solidFill>
                <a:latin typeface="Arial"/>
                <a:cs typeface="Arial"/>
              </a:rPr>
              <a:t>n</a:t>
            </a:r>
            <a:r>
              <a:rPr sz="2800" b="1" dirty="0">
                <a:solidFill>
                  <a:srgbClr val="00669D"/>
                </a:solidFill>
                <a:latin typeface="Arial"/>
                <a:cs typeface="Arial"/>
              </a:rPr>
              <a:t>am</a:t>
            </a:r>
            <a:r>
              <a:rPr sz="2800" b="1" spc="-10" dirty="0">
                <a:solidFill>
                  <a:srgbClr val="00669D"/>
                </a:solidFill>
                <a:latin typeface="Arial"/>
                <a:cs typeface="Arial"/>
              </a:rPr>
              <a:t>i</a:t>
            </a:r>
            <a:r>
              <a:rPr sz="2800" b="1" dirty="0">
                <a:solidFill>
                  <a:srgbClr val="00669D"/>
                </a:solidFill>
                <a:latin typeface="Arial"/>
                <a:cs typeface="Arial"/>
              </a:rPr>
              <a:t>cs</a:t>
            </a:r>
            <a:r>
              <a:rPr sz="2800" b="1" spc="-5" dirty="0">
                <a:solidFill>
                  <a:srgbClr val="00669D"/>
                </a:solidFill>
                <a:latin typeface="Arial"/>
                <a:cs typeface="Arial"/>
              </a:rPr>
              <a:t> </a:t>
            </a:r>
            <a:r>
              <a:rPr sz="2800" b="1" dirty="0">
                <a:solidFill>
                  <a:srgbClr val="00669D"/>
                </a:solidFill>
                <a:latin typeface="Arial"/>
                <a:cs typeface="Arial"/>
              </a:rPr>
              <a:t>ass</a:t>
            </a:r>
            <a:r>
              <a:rPr sz="2800" b="1" spc="-25" dirty="0">
                <a:solidFill>
                  <a:srgbClr val="00669D"/>
                </a:solidFill>
                <a:latin typeface="Arial"/>
                <a:cs typeface="Arial"/>
              </a:rPr>
              <a:t>u</a:t>
            </a:r>
            <a:r>
              <a:rPr sz="2800" b="1" dirty="0">
                <a:solidFill>
                  <a:srgbClr val="00669D"/>
                </a:solidFill>
                <a:latin typeface="Arial"/>
                <a:cs typeface="Arial"/>
              </a:rPr>
              <a:t>mes</a:t>
            </a:r>
            <a:r>
              <a:rPr sz="2800" b="1" spc="-5" dirty="0">
                <a:solidFill>
                  <a:srgbClr val="00669D"/>
                </a:solidFill>
                <a:latin typeface="Arial"/>
                <a:cs typeface="Arial"/>
              </a:rPr>
              <a:t> </a:t>
            </a:r>
            <a:r>
              <a:rPr sz="2800" b="1" dirty="0">
                <a:solidFill>
                  <a:srgbClr val="C82506"/>
                </a:solidFill>
                <a:latin typeface="Arial"/>
                <a:cs typeface="Arial"/>
              </a:rPr>
              <a:t>exact c</a:t>
            </a:r>
            <a:r>
              <a:rPr sz="2800" b="1" spc="-25" dirty="0">
                <a:solidFill>
                  <a:srgbClr val="C82506"/>
                </a:solidFill>
                <a:latin typeface="Arial"/>
                <a:cs typeface="Arial"/>
              </a:rPr>
              <a:t>op</a:t>
            </a:r>
            <a:r>
              <a:rPr sz="2800" b="1" dirty="0">
                <a:solidFill>
                  <a:srgbClr val="C82506"/>
                </a:solidFill>
                <a:latin typeface="Arial"/>
                <a:cs typeface="Arial"/>
              </a:rPr>
              <a:t>y</a:t>
            </a:r>
            <a:r>
              <a:rPr sz="2800" b="1" spc="-10" dirty="0">
                <a:solidFill>
                  <a:srgbClr val="C82506"/>
                </a:solidFill>
                <a:latin typeface="Arial"/>
                <a:cs typeface="Arial"/>
              </a:rPr>
              <a:t>i</a:t>
            </a:r>
            <a:r>
              <a:rPr sz="2800" b="1" spc="-25" dirty="0">
                <a:solidFill>
                  <a:srgbClr val="C82506"/>
                </a:solidFill>
                <a:latin typeface="Arial"/>
                <a:cs typeface="Arial"/>
              </a:rPr>
              <a:t>n</a:t>
            </a:r>
            <a:r>
              <a:rPr sz="2800" b="1" spc="-20" dirty="0">
                <a:solidFill>
                  <a:srgbClr val="C82506"/>
                </a:solidFill>
                <a:latin typeface="Arial"/>
                <a:cs typeface="Arial"/>
              </a:rPr>
              <a:t>g</a:t>
            </a:r>
            <a:r>
              <a:rPr sz="2800" b="1" spc="-5" dirty="0">
                <a:solidFill>
                  <a:srgbClr val="C82506"/>
                </a:solidFill>
                <a:latin typeface="Arial"/>
                <a:cs typeface="Arial"/>
              </a:rPr>
              <a:t> </a:t>
            </a:r>
            <a:r>
              <a:rPr sz="2800" b="1" spc="-25" dirty="0">
                <a:solidFill>
                  <a:srgbClr val="C82506"/>
                </a:solidFill>
                <a:latin typeface="Arial"/>
                <a:cs typeface="Arial"/>
              </a:rPr>
              <a:t>o</a:t>
            </a:r>
            <a:r>
              <a:rPr sz="2800" b="1" dirty="0">
                <a:solidFill>
                  <a:srgbClr val="C82506"/>
                </a:solidFill>
                <a:latin typeface="Arial"/>
                <a:cs typeface="Arial"/>
              </a:rPr>
              <a:t>f</a:t>
            </a:r>
            <a:r>
              <a:rPr sz="2800" b="1" spc="-5" dirty="0">
                <a:solidFill>
                  <a:srgbClr val="C82506"/>
                </a:solidFill>
                <a:latin typeface="Arial"/>
                <a:cs typeface="Arial"/>
              </a:rPr>
              <a:t> </a:t>
            </a:r>
            <a:r>
              <a:rPr sz="2800" b="1" spc="-10" dirty="0">
                <a:solidFill>
                  <a:srgbClr val="C82506"/>
                </a:solidFill>
                <a:latin typeface="Arial"/>
                <a:cs typeface="Arial"/>
              </a:rPr>
              <a:t>t</a:t>
            </a:r>
            <a:r>
              <a:rPr sz="2800" b="1" spc="-25" dirty="0">
                <a:solidFill>
                  <a:srgbClr val="C82506"/>
                </a:solidFill>
                <a:latin typeface="Arial"/>
                <a:cs typeface="Arial"/>
              </a:rPr>
              <a:t>h</a:t>
            </a:r>
            <a:r>
              <a:rPr sz="2800" b="1" dirty="0">
                <a:solidFill>
                  <a:srgbClr val="C82506"/>
                </a:solidFill>
                <a:latin typeface="Arial"/>
                <a:cs typeface="Arial"/>
              </a:rPr>
              <a:t>e</a:t>
            </a:r>
            <a:r>
              <a:rPr sz="2800" b="1" spc="-5" dirty="0">
                <a:solidFill>
                  <a:srgbClr val="C82506"/>
                </a:solidFill>
                <a:latin typeface="Arial"/>
                <a:cs typeface="Arial"/>
              </a:rPr>
              <a:t> </a:t>
            </a:r>
            <a:r>
              <a:rPr sz="2800" b="1" spc="-25" dirty="0">
                <a:solidFill>
                  <a:srgbClr val="C82506"/>
                </a:solidFill>
                <a:latin typeface="Arial"/>
                <a:cs typeface="Arial"/>
              </a:rPr>
              <a:t>b</a:t>
            </a:r>
            <a:r>
              <a:rPr sz="2800" b="1" dirty="0">
                <a:solidFill>
                  <a:srgbClr val="C82506"/>
                </a:solidFill>
                <a:latin typeface="Arial"/>
                <a:cs typeface="Arial"/>
              </a:rPr>
              <a:t>e</a:t>
            </a:r>
            <a:r>
              <a:rPr sz="2800" b="1" spc="-25" dirty="0">
                <a:solidFill>
                  <a:srgbClr val="C82506"/>
                </a:solidFill>
                <a:latin typeface="Arial"/>
                <a:cs typeface="Arial"/>
              </a:rPr>
              <a:t>h</a:t>
            </a:r>
            <a:r>
              <a:rPr sz="2800" b="1" dirty="0">
                <a:solidFill>
                  <a:srgbClr val="C82506"/>
                </a:solidFill>
                <a:latin typeface="Arial"/>
                <a:cs typeface="Arial"/>
              </a:rPr>
              <a:t>av</a:t>
            </a:r>
            <a:r>
              <a:rPr sz="2800" b="1" spc="-10" dirty="0">
                <a:solidFill>
                  <a:srgbClr val="C82506"/>
                </a:solidFill>
                <a:latin typeface="Arial"/>
                <a:cs typeface="Arial"/>
              </a:rPr>
              <a:t>i</a:t>
            </a:r>
            <a:r>
              <a:rPr sz="2800" b="1" spc="-25" dirty="0">
                <a:solidFill>
                  <a:srgbClr val="C82506"/>
                </a:solidFill>
                <a:latin typeface="Arial"/>
                <a:cs typeface="Arial"/>
              </a:rPr>
              <a:t>ou</a:t>
            </a:r>
            <a:r>
              <a:rPr sz="2800" b="1" dirty="0">
                <a:solidFill>
                  <a:srgbClr val="C82506"/>
                </a:solidFill>
                <a:latin typeface="Arial"/>
                <a:cs typeface="Arial"/>
              </a:rPr>
              <a:t>r</a:t>
            </a:r>
            <a:r>
              <a:rPr sz="2800" b="1" spc="-5" dirty="0">
                <a:solidFill>
                  <a:srgbClr val="C82506"/>
                </a:solidFill>
                <a:latin typeface="Arial"/>
                <a:cs typeface="Arial"/>
              </a:rPr>
              <a:t> </a:t>
            </a:r>
            <a:r>
              <a:rPr sz="2800" b="1" spc="-25" dirty="0">
                <a:solidFill>
                  <a:srgbClr val="C82506"/>
                </a:solidFill>
                <a:latin typeface="Arial"/>
                <a:cs typeface="Arial"/>
              </a:rPr>
              <a:t>p</a:t>
            </a:r>
            <a:r>
              <a:rPr sz="2800" b="1" dirty="0">
                <a:solidFill>
                  <a:srgbClr val="C82506"/>
                </a:solidFill>
                <a:latin typeface="Arial"/>
                <a:cs typeface="Arial"/>
              </a:rPr>
              <a:t>r</a:t>
            </a:r>
            <a:r>
              <a:rPr sz="2800" b="1" spc="-25" dirty="0">
                <a:solidFill>
                  <a:srgbClr val="C82506"/>
                </a:solidFill>
                <a:latin typeface="Arial"/>
                <a:cs typeface="Arial"/>
              </a:rPr>
              <a:t>opo</a:t>
            </a:r>
            <a:r>
              <a:rPr sz="2800" b="1" dirty="0">
                <a:solidFill>
                  <a:srgbClr val="C82506"/>
                </a:solidFill>
                <a:latin typeface="Arial"/>
                <a:cs typeface="Arial"/>
              </a:rPr>
              <a:t>r</a:t>
            </a:r>
            <a:r>
              <a:rPr sz="2800" b="1" spc="-10" dirty="0">
                <a:solidFill>
                  <a:srgbClr val="C82506"/>
                </a:solidFill>
                <a:latin typeface="Arial"/>
                <a:cs typeface="Arial"/>
              </a:rPr>
              <a:t>ti</a:t>
            </a:r>
            <a:r>
              <a:rPr sz="2800" b="1" spc="-25" dirty="0">
                <a:solidFill>
                  <a:srgbClr val="C82506"/>
                </a:solidFill>
                <a:latin typeface="Arial"/>
                <a:cs typeface="Arial"/>
              </a:rPr>
              <a:t>on</a:t>
            </a:r>
            <a:r>
              <a:rPr sz="2800" b="1" dirty="0">
                <a:solidFill>
                  <a:srgbClr val="C82506"/>
                </a:solidFill>
                <a:latin typeface="Arial"/>
                <a:cs typeface="Arial"/>
              </a:rPr>
              <a:t>a</a:t>
            </a:r>
            <a:r>
              <a:rPr sz="2800" b="1" spc="-10" dirty="0">
                <a:solidFill>
                  <a:srgbClr val="C82506"/>
                </a:solidFill>
                <a:latin typeface="Arial"/>
                <a:cs typeface="Arial"/>
              </a:rPr>
              <a:t>l</a:t>
            </a:r>
            <a:r>
              <a:rPr sz="2800" b="1" spc="-5" dirty="0">
                <a:solidFill>
                  <a:srgbClr val="C82506"/>
                </a:solidFill>
                <a:latin typeface="Arial"/>
                <a:cs typeface="Arial"/>
              </a:rPr>
              <a:t> </a:t>
            </a:r>
            <a:r>
              <a:rPr sz="2800" b="1" spc="-15" dirty="0">
                <a:solidFill>
                  <a:srgbClr val="C82506"/>
                </a:solidFill>
                <a:latin typeface="Arial"/>
                <a:cs typeface="Arial"/>
              </a:rPr>
              <a:t>to</a:t>
            </a:r>
            <a:r>
              <a:rPr sz="2800" b="1" spc="-10" dirty="0">
                <a:solidFill>
                  <a:srgbClr val="C82506"/>
                </a:solidFill>
                <a:latin typeface="Arial"/>
                <a:cs typeface="Arial"/>
              </a:rPr>
              <a:t> fit</a:t>
            </a:r>
            <a:r>
              <a:rPr sz="2800" b="1" spc="-25" dirty="0">
                <a:solidFill>
                  <a:srgbClr val="C82506"/>
                </a:solidFill>
                <a:latin typeface="Arial"/>
                <a:cs typeface="Arial"/>
              </a:rPr>
              <a:t>n</a:t>
            </a:r>
            <a:r>
              <a:rPr sz="2800" b="1" dirty="0">
                <a:solidFill>
                  <a:srgbClr val="C82506"/>
                </a:solidFill>
                <a:latin typeface="Arial"/>
                <a:cs typeface="Arial"/>
              </a:rPr>
              <a:t>ess</a:t>
            </a:r>
            <a:r>
              <a:rPr sz="2800" b="1" spc="-5" dirty="0">
                <a:solidFill>
                  <a:srgbClr val="C82506"/>
                </a:solidFill>
                <a:latin typeface="Arial"/>
                <a:cs typeface="Arial"/>
              </a:rPr>
              <a:t> </a:t>
            </a:r>
            <a:r>
              <a:rPr sz="2800" b="1" spc="-10" dirty="0">
                <a:solidFill>
                  <a:srgbClr val="C82506"/>
                </a:solidFill>
                <a:latin typeface="Arial"/>
                <a:cs typeface="Arial"/>
              </a:rPr>
              <a:t>/</a:t>
            </a:r>
            <a:r>
              <a:rPr sz="2800" b="1" spc="-5" dirty="0">
                <a:solidFill>
                  <a:srgbClr val="C82506"/>
                </a:solidFill>
                <a:latin typeface="Arial"/>
                <a:cs typeface="Arial"/>
              </a:rPr>
              <a:t> </a:t>
            </a:r>
            <a:r>
              <a:rPr sz="2800" b="1" dirty="0">
                <a:solidFill>
                  <a:srgbClr val="C82506"/>
                </a:solidFill>
                <a:latin typeface="Arial"/>
                <a:cs typeface="Arial"/>
              </a:rPr>
              <a:t>s</a:t>
            </a:r>
            <a:r>
              <a:rPr sz="2800" b="1" spc="-25" dirty="0">
                <a:solidFill>
                  <a:srgbClr val="C82506"/>
                </a:solidFill>
                <a:latin typeface="Arial"/>
                <a:cs typeface="Arial"/>
              </a:rPr>
              <a:t>u</a:t>
            </a:r>
            <a:r>
              <a:rPr sz="2800" b="1" dirty="0">
                <a:solidFill>
                  <a:srgbClr val="C82506"/>
                </a:solidFill>
                <a:latin typeface="Arial"/>
                <a:cs typeface="Arial"/>
              </a:rPr>
              <a:t>ccess</a:t>
            </a:r>
            <a:endParaRPr sz="2800" dirty="0">
              <a:latin typeface="Arial"/>
              <a:cs typeface="Arial"/>
            </a:endParaRPr>
          </a:p>
          <a:p>
            <a:pPr>
              <a:lnSpc>
                <a:spcPct val="100000"/>
              </a:lnSpc>
              <a:spcBef>
                <a:spcPts val="0"/>
              </a:spcBef>
              <a:buFont typeface="Arial"/>
              <a:buChar char="•"/>
            </a:pPr>
            <a:endParaRPr sz="3450" dirty="0">
              <a:latin typeface="Times New Roman"/>
              <a:cs typeface="Times New Roman"/>
            </a:endParaRPr>
          </a:p>
          <a:p>
            <a:pPr marL="355600" marR="239395" indent="-342900">
              <a:lnSpc>
                <a:spcPts val="3200"/>
              </a:lnSpc>
              <a:buSzPct val="89285"/>
              <a:buFont typeface="Arial"/>
              <a:buChar char="•"/>
              <a:tabLst>
                <a:tab pos="355600" algn="l"/>
              </a:tabLst>
            </a:pPr>
            <a:r>
              <a:rPr sz="2800" b="1" spc="-25" dirty="0">
                <a:solidFill>
                  <a:srgbClr val="00669D"/>
                </a:solidFill>
                <a:latin typeface="Arial"/>
                <a:cs typeface="Arial"/>
              </a:rPr>
              <a:t>o</a:t>
            </a:r>
            <a:r>
              <a:rPr sz="2800" b="1" spc="-10" dirty="0">
                <a:solidFill>
                  <a:srgbClr val="00669D"/>
                </a:solidFill>
                <a:latin typeface="Arial"/>
                <a:cs typeface="Arial"/>
              </a:rPr>
              <a:t>t</a:t>
            </a:r>
            <a:r>
              <a:rPr sz="2800" b="1" spc="-25" dirty="0">
                <a:solidFill>
                  <a:srgbClr val="00669D"/>
                </a:solidFill>
                <a:latin typeface="Arial"/>
                <a:cs typeface="Arial"/>
              </a:rPr>
              <a:t>h</a:t>
            </a:r>
            <a:r>
              <a:rPr sz="2800" b="1" dirty="0">
                <a:solidFill>
                  <a:srgbClr val="00669D"/>
                </a:solidFill>
                <a:latin typeface="Arial"/>
                <a:cs typeface="Arial"/>
              </a:rPr>
              <a:t>er</a:t>
            </a:r>
            <a:r>
              <a:rPr sz="2800" b="1" spc="-5" dirty="0">
                <a:solidFill>
                  <a:srgbClr val="00669D"/>
                </a:solidFill>
                <a:latin typeface="Arial"/>
                <a:cs typeface="Arial"/>
              </a:rPr>
              <a:t> </a:t>
            </a:r>
            <a:r>
              <a:rPr sz="2800" b="1" dirty="0">
                <a:solidFill>
                  <a:srgbClr val="00669D"/>
                </a:solidFill>
                <a:latin typeface="Arial"/>
                <a:cs typeface="Arial"/>
              </a:rPr>
              <a:t>ty</a:t>
            </a:r>
            <a:r>
              <a:rPr sz="2800" b="1" spc="-25" dirty="0">
                <a:solidFill>
                  <a:srgbClr val="00669D"/>
                </a:solidFill>
                <a:latin typeface="Arial"/>
                <a:cs typeface="Arial"/>
              </a:rPr>
              <a:t>p</a:t>
            </a:r>
            <a:r>
              <a:rPr sz="2800" b="1" dirty="0">
                <a:solidFill>
                  <a:srgbClr val="00669D"/>
                </a:solidFill>
                <a:latin typeface="Arial"/>
                <a:cs typeface="Arial"/>
              </a:rPr>
              <a:t>es</a:t>
            </a:r>
            <a:r>
              <a:rPr sz="2800" b="1" spc="-5" dirty="0">
                <a:solidFill>
                  <a:srgbClr val="00669D"/>
                </a:solidFill>
                <a:latin typeface="Arial"/>
                <a:cs typeface="Arial"/>
              </a:rPr>
              <a:t> </a:t>
            </a:r>
            <a:r>
              <a:rPr sz="2800" b="1" spc="-25" dirty="0">
                <a:solidFill>
                  <a:srgbClr val="00669D"/>
                </a:solidFill>
                <a:latin typeface="Arial"/>
                <a:cs typeface="Arial"/>
              </a:rPr>
              <a:t>o</a:t>
            </a:r>
            <a:r>
              <a:rPr sz="2800" b="1" dirty="0">
                <a:solidFill>
                  <a:srgbClr val="00669D"/>
                </a:solidFill>
                <a:latin typeface="Arial"/>
                <a:cs typeface="Arial"/>
              </a:rPr>
              <a:t>f</a:t>
            </a:r>
            <a:r>
              <a:rPr sz="2800" b="1" spc="-5" dirty="0">
                <a:solidFill>
                  <a:srgbClr val="00669D"/>
                </a:solidFill>
                <a:latin typeface="Arial"/>
                <a:cs typeface="Arial"/>
              </a:rPr>
              <a:t> </a:t>
            </a:r>
            <a:r>
              <a:rPr sz="2800" b="1" spc="-10" dirty="0">
                <a:solidFill>
                  <a:srgbClr val="00669D"/>
                </a:solidFill>
                <a:latin typeface="Arial"/>
                <a:cs typeface="Arial"/>
              </a:rPr>
              <a:t>l</a:t>
            </a:r>
            <a:r>
              <a:rPr sz="2800" b="1" dirty="0">
                <a:solidFill>
                  <a:srgbClr val="00669D"/>
                </a:solidFill>
                <a:latin typeface="Arial"/>
                <a:cs typeface="Arial"/>
              </a:rPr>
              <a:t>ear</a:t>
            </a:r>
            <a:r>
              <a:rPr sz="2800" b="1" spc="-25" dirty="0">
                <a:solidFill>
                  <a:srgbClr val="00669D"/>
                </a:solidFill>
                <a:latin typeface="Arial"/>
                <a:cs typeface="Arial"/>
              </a:rPr>
              <a:t>n</a:t>
            </a:r>
            <a:r>
              <a:rPr sz="2800" b="1" spc="-10" dirty="0">
                <a:solidFill>
                  <a:srgbClr val="00669D"/>
                </a:solidFill>
                <a:latin typeface="Arial"/>
                <a:cs typeface="Arial"/>
              </a:rPr>
              <a:t>i</a:t>
            </a:r>
            <a:r>
              <a:rPr sz="2800" b="1" spc="-25" dirty="0">
                <a:solidFill>
                  <a:srgbClr val="00669D"/>
                </a:solidFill>
                <a:latin typeface="Arial"/>
                <a:cs typeface="Arial"/>
              </a:rPr>
              <a:t>n</a:t>
            </a:r>
            <a:r>
              <a:rPr sz="2800" b="1" spc="-20" dirty="0">
                <a:solidFill>
                  <a:srgbClr val="00669D"/>
                </a:solidFill>
                <a:latin typeface="Arial"/>
                <a:cs typeface="Arial"/>
              </a:rPr>
              <a:t>g</a:t>
            </a:r>
            <a:r>
              <a:rPr sz="2800" b="1" spc="-5" dirty="0">
                <a:solidFill>
                  <a:srgbClr val="00669D"/>
                </a:solidFill>
                <a:latin typeface="Arial"/>
                <a:cs typeface="Arial"/>
              </a:rPr>
              <a:t> </a:t>
            </a:r>
            <a:r>
              <a:rPr sz="2800" b="1" spc="-10" dirty="0">
                <a:solidFill>
                  <a:srgbClr val="00669D"/>
                </a:solidFill>
                <a:latin typeface="Arial"/>
                <a:cs typeface="Arial"/>
              </a:rPr>
              <a:t>/</a:t>
            </a:r>
            <a:r>
              <a:rPr sz="2800" b="1" spc="-5" dirty="0">
                <a:solidFill>
                  <a:srgbClr val="00669D"/>
                </a:solidFill>
                <a:latin typeface="Arial"/>
                <a:cs typeface="Arial"/>
              </a:rPr>
              <a:t> </a:t>
            </a:r>
            <a:r>
              <a:rPr sz="2800" b="1" spc="-10" dirty="0">
                <a:solidFill>
                  <a:srgbClr val="00669D"/>
                </a:solidFill>
                <a:latin typeface="Arial"/>
                <a:cs typeface="Arial"/>
              </a:rPr>
              <a:t>i</a:t>
            </a:r>
            <a:r>
              <a:rPr sz="2800" b="1" dirty="0">
                <a:solidFill>
                  <a:srgbClr val="00669D"/>
                </a:solidFill>
                <a:latin typeface="Arial"/>
                <a:cs typeface="Arial"/>
              </a:rPr>
              <a:t>m</a:t>
            </a:r>
            <a:r>
              <a:rPr sz="2800" b="1" spc="-10" dirty="0">
                <a:solidFill>
                  <a:srgbClr val="00669D"/>
                </a:solidFill>
                <a:latin typeface="Arial"/>
                <a:cs typeface="Arial"/>
              </a:rPr>
              <a:t>i</a:t>
            </a:r>
            <a:r>
              <a:rPr sz="2800" b="1" dirty="0">
                <a:solidFill>
                  <a:srgbClr val="00669D"/>
                </a:solidFill>
                <a:latin typeface="Arial"/>
                <a:cs typeface="Arial"/>
              </a:rPr>
              <a:t>ta</a:t>
            </a:r>
            <a:r>
              <a:rPr sz="2800" b="1" spc="-10" dirty="0">
                <a:solidFill>
                  <a:srgbClr val="00669D"/>
                </a:solidFill>
                <a:latin typeface="Arial"/>
                <a:cs typeface="Arial"/>
              </a:rPr>
              <a:t>ti</a:t>
            </a:r>
            <a:r>
              <a:rPr sz="2800" b="1" spc="-25" dirty="0">
                <a:solidFill>
                  <a:srgbClr val="00669D"/>
                </a:solidFill>
                <a:latin typeface="Arial"/>
                <a:cs typeface="Arial"/>
              </a:rPr>
              <a:t>o</a:t>
            </a:r>
            <a:r>
              <a:rPr sz="2800" b="1" spc="-20" dirty="0">
                <a:solidFill>
                  <a:srgbClr val="00669D"/>
                </a:solidFill>
                <a:latin typeface="Arial"/>
                <a:cs typeface="Arial"/>
              </a:rPr>
              <a:t>n</a:t>
            </a:r>
            <a:r>
              <a:rPr sz="2800" b="1" spc="-5" dirty="0">
                <a:solidFill>
                  <a:srgbClr val="00669D"/>
                </a:solidFill>
                <a:latin typeface="Arial"/>
                <a:cs typeface="Arial"/>
              </a:rPr>
              <a:t> </a:t>
            </a:r>
            <a:r>
              <a:rPr sz="2800" b="1" dirty="0">
                <a:solidFill>
                  <a:srgbClr val="00669D"/>
                </a:solidFill>
                <a:latin typeface="Arial"/>
                <a:cs typeface="Arial"/>
              </a:rPr>
              <a:t>(a</a:t>
            </a:r>
            <a:r>
              <a:rPr sz="2800" b="1" spc="-25" dirty="0">
                <a:solidFill>
                  <a:srgbClr val="00669D"/>
                </a:solidFill>
                <a:latin typeface="Arial"/>
                <a:cs typeface="Arial"/>
              </a:rPr>
              <a:t>n</a:t>
            </a:r>
            <a:r>
              <a:rPr sz="2800" b="1" spc="-20" dirty="0">
                <a:solidFill>
                  <a:srgbClr val="00669D"/>
                </a:solidFill>
                <a:latin typeface="Arial"/>
                <a:cs typeface="Arial"/>
              </a:rPr>
              <a:t>d</a:t>
            </a:r>
            <a:r>
              <a:rPr sz="2800" b="1" spc="-10" dirty="0">
                <a:solidFill>
                  <a:srgbClr val="00669D"/>
                </a:solidFill>
                <a:latin typeface="Arial"/>
                <a:cs typeface="Arial"/>
              </a:rPr>
              <a:t> t</a:t>
            </a:r>
            <a:r>
              <a:rPr sz="2800" b="1" spc="-25" dirty="0">
                <a:solidFill>
                  <a:srgbClr val="00669D"/>
                </a:solidFill>
                <a:latin typeface="Arial"/>
                <a:cs typeface="Arial"/>
              </a:rPr>
              <a:t>hu</a:t>
            </a:r>
            <a:r>
              <a:rPr sz="2800" b="1" dirty="0">
                <a:solidFill>
                  <a:srgbClr val="00669D"/>
                </a:solidFill>
                <a:latin typeface="Arial"/>
                <a:cs typeface="Arial"/>
              </a:rPr>
              <a:t>s</a:t>
            </a:r>
            <a:r>
              <a:rPr sz="2800" b="1" spc="-5" dirty="0">
                <a:solidFill>
                  <a:srgbClr val="00669D"/>
                </a:solidFill>
                <a:latin typeface="Arial"/>
                <a:cs typeface="Arial"/>
              </a:rPr>
              <a:t> </a:t>
            </a:r>
            <a:r>
              <a:rPr sz="2800" b="1" spc="-25" dirty="0">
                <a:solidFill>
                  <a:srgbClr val="00669D"/>
                </a:solidFill>
                <a:latin typeface="Arial"/>
                <a:cs typeface="Arial"/>
              </a:rPr>
              <a:t>d</a:t>
            </a:r>
            <a:r>
              <a:rPr sz="2800" b="1" dirty="0">
                <a:solidFill>
                  <a:srgbClr val="00669D"/>
                </a:solidFill>
                <a:latin typeface="Arial"/>
                <a:cs typeface="Arial"/>
              </a:rPr>
              <a:t>y</a:t>
            </a:r>
            <a:r>
              <a:rPr sz="2800" b="1" spc="-25" dirty="0">
                <a:solidFill>
                  <a:srgbClr val="00669D"/>
                </a:solidFill>
                <a:latin typeface="Arial"/>
                <a:cs typeface="Arial"/>
              </a:rPr>
              <a:t>n</a:t>
            </a:r>
            <a:r>
              <a:rPr sz="2800" b="1" dirty="0">
                <a:solidFill>
                  <a:srgbClr val="00669D"/>
                </a:solidFill>
                <a:latin typeface="Arial"/>
                <a:cs typeface="Arial"/>
              </a:rPr>
              <a:t>am</a:t>
            </a:r>
            <a:r>
              <a:rPr sz="2800" b="1" spc="-10" dirty="0">
                <a:solidFill>
                  <a:srgbClr val="00669D"/>
                </a:solidFill>
                <a:latin typeface="Arial"/>
                <a:cs typeface="Arial"/>
              </a:rPr>
              <a:t>i</a:t>
            </a:r>
            <a:r>
              <a:rPr sz="2800" b="1" dirty="0">
                <a:solidFill>
                  <a:srgbClr val="00669D"/>
                </a:solidFill>
                <a:latin typeface="Arial"/>
                <a:cs typeface="Arial"/>
              </a:rPr>
              <a:t>cs)</a:t>
            </a:r>
            <a:r>
              <a:rPr sz="2800" b="1" spc="-5" dirty="0">
                <a:solidFill>
                  <a:srgbClr val="00669D"/>
                </a:solidFill>
                <a:latin typeface="Arial"/>
                <a:cs typeface="Arial"/>
              </a:rPr>
              <a:t> </a:t>
            </a:r>
            <a:r>
              <a:rPr sz="2800" b="1" spc="-25" dirty="0">
                <a:solidFill>
                  <a:srgbClr val="00669D"/>
                </a:solidFill>
                <a:latin typeface="Arial"/>
                <a:cs typeface="Arial"/>
              </a:rPr>
              <a:t>h</a:t>
            </a:r>
            <a:r>
              <a:rPr sz="2800" b="1" dirty="0">
                <a:solidFill>
                  <a:srgbClr val="00669D"/>
                </a:solidFill>
                <a:latin typeface="Arial"/>
                <a:cs typeface="Arial"/>
              </a:rPr>
              <a:t>ave</a:t>
            </a:r>
            <a:r>
              <a:rPr sz="2800" b="1" spc="-5" dirty="0">
                <a:solidFill>
                  <a:srgbClr val="00669D"/>
                </a:solidFill>
                <a:latin typeface="Arial"/>
                <a:cs typeface="Arial"/>
              </a:rPr>
              <a:t> </a:t>
            </a:r>
            <a:r>
              <a:rPr sz="2800" b="1" spc="-25" dirty="0">
                <a:solidFill>
                  <a:srgbClr val="00669D"/>
                </a:solidFill>
                <a:latin typeface="Arial"/>
                <a:cs typeface="Arial"/>
              </a:rPr>
              <a:t>b</a:t>
            </a:r>
            <a:r>
              <a:rPr sz="2800" b="1" dirty="0">
                <a:solidFill>
                  <a:srgbClr val="00669D"/>
                </a:solidFill>
                <a:latin typeface="Arial"/>
                <a:cs typeface="Arial"/>
              </a:rPr>
              <a:t>ee</a:t>
            </a:r>
            <a:r>
              <a:rPr sz="2800" b="1" spc="-20" dirty="0">
                <a:solidFill>
                  <a:srgbClr val="00669D"/>
                </a:solidFill>
                <a:latin typeface="Arial"/>
                <a:cs typeface="Arial"/>
              </a:rPr>
              <a:t>n</a:t>
            </a:r>
            <a:r>
              <a:rPr sz="2800" b="1" spc="-5" dirty="0">
                <a:solidFill>
                  <a:srgbClr val="00669D"/>
                </a:solidFill>
                <a:latin typeface="Arial"/>
                <a:cs typeface="Arial"/>
              </a:rPr>
              <a:t> </a:t>
            </a:r>
            <a:r>
              <a:rPr sz="2800" b="1" spc="-10" dirty="0">
                <a:solidFill>
                  <a:srgbClr val="00669D"/>
                </a:solidFill>
                <a:latin typeface="Arial"/>
                <a:cs typeface="Arial"/>
              </a:rPr>
              <a:t>i</a:t>
            </a:r>
            <a:r>
              <a:rPr sz="2800" b="1" spc="-25" dirty="0">
                <a:solidFill>
                  <a:srgbClr val="00669D"/>
                </a:solidFill>
                <a:latin typeface="Arial"/>
                <a:cs typeface="Arial"/>
              </a:rPr>
              <a:t>n</a:t>
            </a:r>
            <a:r>
              <a:rPr sz="2800" b="1" dirty="0">
                <a:solidFill>
                  <a:srgbClr val="00669D"/>
                </a:solidFill>
                <a:latin typeface="Arial"/>
                <a:cs typeface="Arial"/>
              </a:rPr>
              <a:t>ves</a:t>
            </a:r>
            <a:r>
              <a:rPr sz="2800" b="1" spc="-10" dirty="0">
                <a:solidFill>
                  <a:srgbClr val="00669D"/>
                </a:solidFill>
                <a:latin typeface="Arial"/>
                <a:cs typeface="Arial"/>
              </a:rPr>
              <a:t>ti</a:t>
            </a:r>
            <a:r>
              <a:rPr sz="2800" b="1" spc="-25" dirty="0">
                <a:solidFill>
                  <a:srgbClr val="00669D"/>
                </a:solidFill>
                <a:latin typeface="Arial"/>
                <a:cs typeface="Arial"/>
              </a:rPr>
              <a:t>g</a:t>
            </a:r>
            <a:r>
              <a:rPr sz="2800" b="1" dirty="0">
                <a:solidFill>
                  <a:srgbClr val="00669D"/>
                </a:solidFill>
                <a:latin typeface="Arial"/>
                <a:cs typeface="Arial"/>
              </a:rPr>
              <a:t>ate</a:t>
            </a:r>
            <a:r>
              <a:rPr sz="2800" b="1" spc="-20" dirty="0">
                <a:solidFill>
                  <a:srgbClr val="00669D"/>
                </a:solidFill>
                <a:latin typeface="Arial"/>
                <a:cs typeface="Arial"/>
              </a:rPr>
              <a:t>d</a:t>
            </a:r>
            <a:endParaRPr sz="2800" dirty="0">
              <a:latin typeface="Arial"/>
              <a:cs typeface="Arial"/>
            </a:endParaRPr>
          </a:p>
        </p:txBody>
      </p:sp>
      <p:sp>
        <p:nvSpPr>
          <p:cNvPr id="6" name="object 6"/>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Replica</a:t>
            </a:r>
            <a:r>
              <a:rPr spc="-15" dirty="0"/>
              <a:t>t</a:t>
            </a:r>
            <a:r>
              <a:rPr dirty="0"/>
              <a:t>or</a:t>
            </a:r>
            <a:r>
              <a:rPr spc="-5" dirty="0"/>
              <a:t> </a:t>
            </a:r>
            <a:r>
              <a:rPr dirty="0"/>
              <a:t>Dynamics</a:t>
            </a:r>
          </a:p>
        </p:txBody>
      </p:sp>
      <p:sp>
        <p:nvSpPr>
          <p:cNvPr id="3" name="Rectangle 2">
            <a:extLst>
              <a:ext uri="{FF2B5EF4-FFF2-40B4-BE49-F238E27FC236}">
                <a16:creationId xmlns:a16="http://schemas.microsoft.com/office/drawing/2014/main" id="{F7559047-6199-0C93-93F6-99FD81D3417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DB292651-1370-0E9A-B8AE-E0206AF8A84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Slide Number Placeholder 8">
            <a:extLst>
              <a:ext uri="{FF2B5EF4-FFF2-40B4-BE49-F238E27FC236}">
                <a16:creationId xmlns:a16="http://schemas.microsoft.com/office/drawing/2014/main" id="{0669205C-55BC-8B45-D754-6E07AED76CA6}"/>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38</a:t>
            </a:fld>
            <a:r>
              <a:rPr lang="en-US" sz="2000" dirty="0">
                <a:solidFill>
                  <a:prstClr val="black"/>
                </a:solidFill>
                <a:latin typeface="Comic Sans MS"/>
                <a:sym typeface="Comic Sans MS"/>
              </a:rPr>
              <a:t>/59</a:t>
            </a:r>
          </a:p>
        </p:txBody>
      </p:sp>
      <p:sp>
        <p:nvSpPr>
          <p:cNvPr id="8" name="Footer Placeholder 9">
            <a:extLst>
              <a:ext uri="{FF2B5EF4-FFF2-40B4-BE49-F238E27FC236}">
                <a16:creationId xmlns:a16="http://schemas.microsoft.com/office/drawing/2014/main" id="{E6B75240-5FB4-468E-530D-051CE768EB2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FAA31507-6FA2-997A-14ED-AD9BF6EF3B6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Replica</a:t>
            </a:r>
            <a:r>
              <a:rPr spc="-15" dirty="0"/>
              <a:t>t</a:t>
            </a:r>
            <a:r>
              <a:rPr dirty="0"/>
              <a:t>or</a:t>
            </a:r>
            <a:r>
              <a:rPr spc="-5" dirty="0"/>
              <a:t> </a:t>
            </a:r>
            <a:r>
              <a:rPr dirty="0"/>
              <a:t>Dynamics</a:t>
            </a:r>
          </a:p>
        </p:txBody>
      </p:sp>
      <p:sp>
        <p:nvSpPr>
          <p:cNvPr id="6" name="object 6"/>
          <p:cNvSpPr txBox="1"/>
          <p:nvPr/>
        </p:nvSpPr>
        <p:spPr>
          <a:xfrm>
            <a:off x="565638" y="4073678"/>
            <a:ext cx="6494145" cy="1696720"/>
          </a:xfrm>
          <a:prstGeom prst="rect">
            <a:avLst/>
          </a:prstGeom>
        </p:spPr>
        <p:txBody>
          <a:bodyPr vert="horz" wrap="square" lIns="0" tIns="0" rIns="0" bIns="0" rtlCol="0">
            <a:spAutoFit/>
          </a:bodyPr>
          <a:lstStyle/>
          <a:p>
            <a:pPr marL="71120">
              <a:lnSpc>
                <a:spcPct val="100000"/>
              </a:lnSpc>
              <a:tabLst>
                <a:tab pos="939800" algn="l"/>
              </a:tabLst>
            </a:pPr>
            <a:r>
              <a:rPr sz="2700" i="1" spc="70" dirty="0">
                <a:latin typeface="Times New Roman"/>
                <a:cs typeface="Times New Roman"/>
              </a:rPr>
              <a:t>x</a:t>
            </a:r>
            <a:r>
              <a:rPr sz="2325" i="1" spc="22" baseline="43010" dirty="0">
                <a:latin typeface="Times New Roman"/>
                <a:cs typeface="Times New Roman"/>
              </a:rPr>
              <a:t>T</a:t>
            </a:r>
            <a:r>
              <a:rPr sz="2325" i="1" spc="247" baseline="43010" dirty="0">
                <a:latin typeface="Times New Roman"/>
                <a:cs typeface="Times New Roman"/>
              </a:rPr>
              <a:t> </a:t>
            </a:r>
            <a:r>
              <a:rPr sz="2700" i="1" dirty="0">
                <a:latin typeface="Times New Roman"/>
                <a:cs typeface="Times New Roman"/>
              </a:rPr>
              <a:t>Ax	</a:t>
            </a:r>
            <a:r>
              <a:rPr sz="2700" dirty="0">
                <a:latin typeface="Times New Roman"/>
                <a:cs typeface="Times New Roman"/>
              </a:rPr>
              <a:t>mean</a:t>
            </a:r>
            <a:r>
              <a:rPr sz="2700" spc="-110" dirty="0">
                <a:latin typeface="Times New Roman"/>
                <a:cs typeface="Times New Roman"/>
              </a:rPr>
              <a:t> </a:t>
            </a:r>
            <a:r>
              <a:rPr sz="2700" dirty="0">
                <a:latin typeface="Times New Roman"/>
                <a:cs typeface="Times New Roman"/>
              </a:rPr>
              <a:t>payoff</a:t>
            </a:r>
            <a:r>
              <a:rPr sz="2700" spc="45" dirty="0">
                <a:latin typeface="Times New Roman"/>
                <a:cs typeface="Times New Roman"/>
              </a:rPr>
              <a:t> </a:t>
            </a:r>
            <a:r>
              <a:rPr sz="2700" dirty="0">
                <a:latin typeface="Times New Roman"/>
                <a:cs typeface="Times New Roman"/>
              </a:rPr>
              <a:t>in</a:t>
            </a:r>
            <a:r>
              <a:rPr sz="2700" spc="-30" dirty="0">
                <a:latin typeface="Times New Roman"/>
                <a:cs typeface="Times New Roman"/>
              </a:rPr>
              <a:t> </a:t>
            </a:r>
            <a:r>
              <a:rPr sz="2700" dirty="0">
                <a:latin typeface="Times New Roman"/>
                <a:cs typeface="Times New Roman"/>
              </a:rPr>
              <a:t>population</a:t>
            </a:r>
          </a:p>
          <a:p>
            <a:pPr>
              <a:lnSpc>
                <a:spcPct val="100000"/>
              </a:lnSpc>
              <a:spcBef>
                <a:spcPts val="0"/>
              </a:spcBef>
            </a:pPr>
            <a:endParaRPr sz="4000" dirty="0">
              <a:latin typeface="Times New Roman"/>
              <a:cs typeface="Times New Roman"/>
            </a:endParaRPr>
          </a:p>
          <a:p>
            <a:pPr marL="12700" marR="5080">
              <a:lnSpc>
                <a:spcPts val="2800"/>
              </a:lnSpc>
            </a:pPr>
            <a:r>
              <a:rPr sz="2400" spc="-15" dirty="0">
                <a:solidFill>
                  <a:srgbClr val="861001"/>
                </a:solidFill>
                <a:latin typeface="Gill Sans MT"/>
                <a:cs typeface="Gill Sans MT"/>
              </a:rPr>
              <a:t>Impo</a:t>
            </a:r>
            <a:r>
              <a:rPr sz="2400" spc="30" dirty="0">
                <a:solidFill>
                  <a:srgbClr val="861001"/>
                </a:solidFill>
                <a:latin typeface="Gill Sans MT"/>
                <a:cs typeface="Gill Sans MT"/>
              </a:rPr>
              <a:t>r</a:t>
            </a:r>
            <a:r>
              <a:rPr sz="2400" spc="-10" dirty="0">
                <a:solidFill>
                  <a:srgbClr val="861001"/>
                </a:solidFill>
                <a:latin typeface="Gill Sans MT"/>
                <a:cs typeface="Gill Sans MT"/>
              </a:rPr>
              <a:t>ta</a:t>
            </a:r>
            <a:r>
              <a:rPr sz="2400" dirty="0">
                <a:solidFill>
                  <a:srgbClr val="861001"/>
                </a:solidFill>
                <a:latin typeface="Gill Sans MT"/>
                <a:cs typeface="Gill Sans MT"/>
              </a:rPr>
              <a:t>nt</a:t>
            </a:r>
            <a:r>
              <a:rPr sz="2400" spc="-5" dirty="0">
                <a:solidFill>
                  <a:srgbClr val="861001"/>
                </a:solidFill>
                <a:latin typeface="Gill Sans MT"/>
                <a:cs typeface="Gill Sans MT"/>
              </a:rPr>
              <a:t> </a:t>
            </a:r>
            <a:r>
              <a:rPr sz="2400" spc="-15" dirty="0">
                <a:solidFill>
                  <a:srgbClr val="861001"/>
                </a:solidFill>
                <a:latin typeface="Gill Sans MT"/>
                <a:cs typeface="Gill Sans MT"/>
              </a:rPr>
              <a:t>no</a:t>
            </a:r>
            <a:r>
              <a:rPr sz="2400" dirty="0">
                <a:solidFill>
                  <a:srgbClr val="861001"/>
                </a:solidFill>
                <a:latin typeface="Gill Sans MT"/>
                <a:cs typeface="Gill Sans MT"/>
              </a:rPr>
              <a:t>t</a:t>
            </a:r>
            <a:r>
              <a:rPr sz="2400" spc="-5" dirty="0">
                <a:solidFill>
                  <a:srgbClr val="861001"/>
                </a:solidFill>
                <a:latin typeface="Gill Sans MT"/>
                <a:cs typeface="Gill Sans MT"/>
              </a:rPr>
              <a:t>e</a:t>
            </a:r>
            <a:r>
              <a:rPr sz="2400" dirty="0">
                <a:latin typeface="Gill Sans MT"/>
                <a:cs typeface="Gill Sans MT"/>
              </a:rPr>
              <a:t>:</a:t>
            </a:r>
            <a:r>
              <a:rPr sz="2400" spc="-245" dirty="0">
                <a:latin typeface="Gill Sans MT"/>
                <a:cs typeface="Gill Sans MT"/>
              </a:rPr>
              <a:t> </a:t>
            </a:r>
            <a:r>
              <a:rPr sz="2400" spc="-50" dirty="0">
                <a:latin typeface="Gill Sans MT"/>
                <a:cs typeface="Gill Sans MT"/>
              </a:rPr>
              <a:t>w</a:t>
            </a:r>
            <a:r>
              <a:rPr sz="2400" dirty="0">
                <a:latin typeface="Gill Sans MT"/>
                <a:cs typeface="Gill Sans MT"/>
              </a:rPr>
              <a:t>e</a:t>
            </a:r>
            <a:r>
              <a:rPr sz="2400" spc="-5" dirty="0">
                <a:latin typeface="Gill Sans MT"/>
                <a:cs typeface="Gill Sans MT"/>
              </a:rPr>
              <a:t> </a:t>
            </a:r>
            <a:r>
              <a:rPr sz="2400" spc="-15" dirty="0">
                <a:latin typeface="Gill Sans MT"/>
                <a:cs typeface="Gill Sans MT"/>
              </a:rPr>
              <a:t>a</a:t>
            </a:r>
            <a:r>
              <a:rPr sz="2400" spc="-60" dirty="0">
                <a:latin typeface="Gill Sans MT"/>
                <a:cs typeface="Gill Sans MT"/>
              </a:rPr>
              <a:t>r</a:t>
            </a:r>
            <a:r>
              <a:rPr sz="2400" dirty="0">
                <a:latin typeface="Gill Sans MT"/>
                <a:cs typeface="Gill Sans MT"/>
              </a:rPr>
              <a:t>e</a:t>
            </a:r>
            <a:r>
              <a:rPr sz="2400" spc="-5" dirty="0">
                <a:latin typeface="Gill Sans MT"/>
                <a:cs typeface="Gill Sans MT"/>
              </a:rPr>
              <a:t> </a:t>
            </a:r>
            <a:r>
              <a:rPr sz="2400" spc="-15" dirty="0">
                <a:latin typeface="Gill Sans MT"/>
                <a:cs typeface="Gill Sans MT"/>
              </a:rPr>
              <a:t>dea</a:t>
            </a:r>
            <a:r>
              <a:rPr sz="2400" dirty="0">
                <a:latin typeface="Gill Sans MT"/>
                <a:cs typeface="Gill Sans MT"/>
              </a:rPr>
              <a:t>li</a:t>
            </a:r>
            <a:r>
              <a:rPr sz="2400" spc="-15" dirty="0">
                <a:latin typeface="Gill Sans MT"/>
                <a:cs typeface="Gill Sans MT"/>
              </a:rPr>
              <a:t>ng</a:t>
            </a:r>
            <a:r>
              <a:rPr sz="2400" spc="-5" dirty="0">
                <a:latin typeface="Gill Sans MT"/>
                <a:cs typeface="Gill Sans MT"/>
              </a:rPr>
              <a:t> </a:t>
            </a:r>
            <a:r>
              <a:rPr sz="2400" dirty="0">
                <a:latin typeface="Gill Sans MT"/>
                <a:cs typeface="Gill Sans MT"/>
              </a:rPr>
              <a:t>with</a:t>
            </a:r>
            <a:r>
              <a:rPr sz="2400" spc="-5" dirty="0">
                <a:latin typeface="Gill Sans MT"/>
                <a:cs typeface="Gill Sans MT"/>
              </a:rPr>
              <a:t> </a:t>
            </a:r>
            <a:r>
              <a:rPr sz="2400" spc="-15" dirty="0">
                <a:latin typeface="Gill Sans MT"/>
                <a:cs typeface="Gill Sans MT"/>
              </a:rPr>
              <a:t>a</a:t>
            </a:r>
            <a:r>
              <a:rPr sz="2400" spc="-5" dirty="0">
                <a:latin typeface="Gill Sans MT"/>
                <a:cs typeface="Gill Sans MT"/>
              </a:rPr>
              <a:t> </a:t>
            </a:r>
            <a:r>
              <a:rPr sz="2400" spc="-15" dirty="0">
                <a:latin typeface="Gill Sans MT"/>
                <a:cs typeface="Gill Sans MT"/>
              </a:rPr>
              <a:t>d</a:t>
            </a:r>
            <a:r>
              <a:rPr sz="2400" dirty="0">
                <a:latin typeface="Gill Sans MT"/>
                <a:cs typeface="Gill Sans MT"/>
              </a:rPr>
              <a:t>i</a:t>
            </a:r>
            <a:r>
              <a:rPr sz="2400" spc="-10" dirty="0">
                <a:latin typeface="Gill Sans MT"/>
                <a:cs typeface="Gill Sans MT"/>
              </a:rPr>
              <a:t>sc</a:t>
            </a:r>
            <a:r>
              <a:rPr sz="2400" spc="-60" dirty="0">
                <a:latin typeface="Gill Sans MT"/>
                <a:cs typeface="Gill Sans MT"/>
              </a:rPr>
              <a:t>r</a:t>
            </a:r>
            <a:r>
              <a:rPr sz="2400" dirty="0">
                <a:latin typeface="Gill Sans MT"/>
                <a:cs typeface="Gill Sans MT"/>
              </a:rPr>
              <a:t>ete</a:t>
            </a:r>
            <a:r>
              <a:rPr sz="2400" spc="-5" dirty="0">
                <a:latin typeface="Gill Sans MT"/>
                <a:cs typeface="Gill Sans MT"/>
              </a:rPr>
              <a:t> </a:t>
            </a:r>
            <a:r>
              <a:rPr sz="2400" spc="-10" dirty="0">
                <a:latin typeface="Gill Sans MT"/>
                <a:cs typeface="Gill Sans MT"/>
              </a:rPr>
              <a:t>s</a:t>
            </a:r>
            <a:r>
              <a:rPr sz="2400" dirty="0">
                <a:latin typeface="Gill Sans MT"/>
                <a:cs typeface="Gill Sans MT"/>
              </a:rPr>
              <a:t>et</a:t>
            </a:r>
            <a:r>
              <a:rPr sz="2400" spc="-5" dirty="0">
                <a:latin typeface="Gill Sans MT"/>
                <a:cs typeface="Gill Sans MT"/>
              </a:rPr>
              <a:t> </a:t>
            </a:r>
            <a:r>
              <a:rPr sz="2400" spc="-15" dirty="0">
                <a:latin typeface="Gill Sans MT"/>
                <a:cs typeface="Gill Sans MT"/>
              </a:rPr>
              <a:t>o</a:t>
            </a:r>
            <a:r>
              <a:rPr sz="2400" dirty="0">
                <a:latin typeface="Gill Sans MT"/>
                <a:cs typeface="Gill Sans MT"/>
              </a:rPr>
              <a:t>f </a:t>
            </a:r>
            <a:r>
              <a:rPr sz="2400" spc="-5" dirty="0">
                <a:latin typeface="Gill Sans MT"/>
                <a:cs typeface="Gill Sans MT"/>
              </a:rPr>
              <a:t>(</a:t>
            </a:r>
            <a:r>
              <a:rPr sz="2400" dirty="0">
                <a:latin typeface="Gill Sans MT"/>
                <a:cs typeface="Gill Sans MT"/>
              </a:rPr>
              <a:t>i</a:t>
            </a:r>
            <a:r>
              <a:rPr sz="2400" spc="-20" dirty="0">
                <a:latin typeface="Gill Sans MT"/>
                <a:cs typeface="Gill Sans MT"/>
              </a:rPr>
              <a:t>m</a:t>
            </a:r>
            <a:r>
              <a:rPr sz="2400" spc="-45" dirty="0">
                <a:latin typeface="Gill Sans MT"/>
                <a:cs typeface="Gill Sans MT"/>
              </a:rPr>
              <a:t>m</a:t>
            </a:r>
            <a:r>
              <a:rPr sz="2400" spc="-10" dirty="0">
                <a:latin typeface="Gill Sans MT"/>
                <a:cs typeface="Gill Sans MT"/>
              </a:rPr>
              <a:t>uta</a:t>
            </a:r>
            <a:r>
              <a:rPr sz="2400" dirty="0">
                <a:latin typeface="Gill Sans MT"/>
                <a:cs typeface="Gill Sans MT"/>
              </a:rPr>
              <a:t>ble)</a:t>
            </a:r>
            <a:r>
              <a:rPr sz="2400" spc="-5" dirty="0">
                <a:latin typeface="Gill Sans MT"/>
                <a:cs typeface="Gill Sans MT"/>
              </a:rPr>
              <a:t> </a:t>
            </a:r>
            <a:r>
              <a:rPr sz="2400" spc="-10" dirty="0">
                <a:latin typeface="Gill Sans MT"/>
                <a:cs typeface="Gill Sans MT"/>
              </a:rPr>
              <a:t>strate</a:t>
            </a:r>
            <a:r>
              <a:rPr sz="2400" spc="25" dirty="0">
                <a:latin typeface="Gill Sans MT"/>
                <a:cs typeface="Gill Sans MT"/>
              </a:rPr>
              <a:t>g</a:t>
            </a:r>
            <a:r>
              <a:rPr sz="2400" spc="-15" dirty="0">
                <a:latin typeface="Gill Sans MT"/>
                <a:cs typeface="Gill Sans MT"/>
              </a:rPr>
              <a:t>y</a:t>
            </a:r>
            <a:r>
              <a:rPr sz="2400" spc="-5" dirty="0">
                <a:latin typeface="Gill Sans MT"/>
                <a:cs typeface="Gill Sans MT"/>
              </a:rPr>
              <a:t> </a:t>
            </a:r>
            <a:r>
              <a:rPr sz="2400" spc="-15" dirty="0">
                <a:latin typeface="Gill Sans MT"/>
                <a:cs typeface="Gill Sans MT"/>
              </a:rPr>
              <a:t>types</a:t>
            </a:r>
            <a:r>
              <a:rPr sz="2400" spc="-5" dirty="0">
                <a:latin typeface="Gill Sans MT"/>
                <a:cs typeface="Gill Sans MT"/>
              </a:rPr>
              <a:t> </a:t>
            </a:r>
            <a:r>
              <a:rPr sz="2400" dirty="0">
                <a:latin typeface="Gill Sans MT"/>
                <a:cs typeface="Gill Sans MT"/>
              </a:rPr>
              <a:t>he</a:t>
            </a:r>
            <a:r>
              <a:rPr sz="2400" spc="-50" dirty="0">
                <a:latin typeface="Gill Sans MT"/>
                <a:cs typeface="Gill Sans MT"/>
              </a:rPr>
              <a:t>r</a:t>
            </a:r>
            <a:r>
              <a:rPr sz="2400" dirty="0">
                <a:latin typeface="Gill Sans MT"/>
                <a:cs typeface="Gill Sans MT"/>
              </a:rPr>
              <a:t>e</a:t>
            </a:r>
          </a:p>
        </p:txBody>
      </p:sp>
      <p:sp>
        <p:nvSpPr>
          <p:cNvPr id="7" name="object 7"/>
          <p:cNvSpPr txBox="1"/>
          <p:nvPr/>
        </p:nvSpPr>
        <p:spPr>
          <a:xfrm>
            <a:off x="1585847" y="3542315"/>
            <a:ext cx="3375025" cy="370840"/>
          </a:xfrm>
          <a:prstGeom prst="rect">
            <a:avLst/>
          </a:prstGeom>
        </p:spPr>
        <p:txBody>
          <a:bodyPr vert="horz" wrap="square" lIns="0" tIns="0" rIns="0" bIns="0" rtlCol="0">
            <a:spAutoFit/>
          </a:bodyPr>
          <a:lstStyle/>
          <a:p>
            <a:pPr marL="12700">
              <a:lnSpc>
                <a:spcPct val="100000"/>
              </a:lnSpc>
            </a:pPr>
            <a:r>
              <a:rPr sz="2700" dirty="0">
                <a:latin typeface="Times New Roman"/>
                <a:cs typeface="Times New Roman"/>
              </a:rPr>
              <a:t>average</a:t>
            </a:r>
            <a:r>
              <a:rPr sz="2700" spc="-250" dirty="0">
                <a:latin typeface="Times New Roman"/>
                <a:cs typeface="Times New Roman"/>
              </a:rPr>
              <a:t> </a:t>
            </a:r>
            <a:r>
              <a:rPr sz="2700" dirty="0">
                <a:latin typeface="Times New Roman"/>
                <a:cs typeface="Times New Roman"/>
              </a:rPr>
              <a:t>payoff</a:t>
            </a:r>
            <a:r>
              <a:rPr sz="2700" spc="85" dirty="0">
                <a:latin typeface="Times New Roman"/>
                <a:cs typeface="Times New Roman"/>
              </a:rPr>
              <a:t> </a:t>
            </a:r>
            <a:r>
              <a:rPr sz="2700" dirty="0">
                <a:latin typeface="Times New Roman"/>
                <a:cs typeface="Times New Roman"/>
              </a:rPr>
              <a:t>for type</a:t>
            </a:r>
            <a:r>
              <a:rPr sz="2700" spc="-330" dirty="0">
                <a:latin typeface="Times New Roman"/>
                <a:cs typeface="Times New Roman"/>
              </a:rPr>
              <a:t> </a:t>
            </a:r>
            <a:r>
              <a:rPr sz="2700" i="1" dirty="0">
                <a:latin typeface="Times New Roman"/>
                <a:cs typeface="Times New Roman"/>
              </a:rPr>
              <a:t>i</a:t>
            </a:r>
            <a:endParaRPr sz="2700" dirty="0">
              <a:latin typeface="Times New Roman"/>
              <a:cs typeface="Times New Roman"/>
            </a:endParaRPr>
          </a:p>
        </p:txBody>
      </p:sp>
      <p:sp>
        <p:nvSpPr>
          <p:cNvPr id="8" name="object 8"/>
          <p:cNvSpPr txBox="1"/>
          <p:nvPr/>
        </p:nvSpPr>
        <p:spPr>
          <a:xfrm>
            <a:off x="602910" y="3542315"/>
            <a:ext cx="730885" cy="429259"/>
          </a:xfrm>
          <a:prstGeom prst="rect">
            <a:avLst/>
          </a:prstGeom>
        </p:spPr>
        <p:txBody>
          <a:bodyPr vert="horz" wrap="square" lIns="0" tIns="0" rIns="0" bIns="0" rtlCol="0">
            <a:spAutoFit/>
          </a:bodyPr>
          <a:lstStyle/>
          <a:p>
            <a:pPr marL="12700">
              <a:lnSpc>
                <a:spcPct val="100000"/>
              </a:lnSpc>
            </a:pPr>
            <a:r>
              <a:rPr sz="2700" dirty="0">
                <a:latin typeface="Times New Roman"/>
                <a:cs typeface="Times New Roman"/>
              </a:rPr>
              <a:t>(</a:t>
            </a:r>
            <a:r>
              <a:rPr sz="2700" spc="-395" dirty="0">
                <a:latin typeface="Times New Roman"/>
                <a:cs typeface="Times New Roman"/>
              </a:rPr>
              <a:t> </a:t>
            </a:r>
            <a:r>
              <a:rPr sz="2700" i="1" dirty="0">
                <a:latin typeface="Times New Roman"/>
                <a:cs typeface="Times New Roman"/>
              </a:rPr>
              <a:t>A</a:t>
            </a:r>
            <a:r>
              <a:rPr sz="2700" i="1" spc="60" dirty="0">
                <a:latin typeface="Times New Roman"/>
                <a:cs typeface="Times New Roman"/>
              </a:rPr>
              <a:t>x</a:t>
            </a:r>
            <a:r>
              <a:rPr sz="2700" spc="85" dirty="0">
                <a:latin typeface="Times New Roman"/>
                <a:cs typeface="Times New Roman"/>
              </a:rPr>
              <a:t>)</a:t>
            </a:r>
            <a:r>
              <a:rPr sz="2325" i="1" spc="7" baseline="-25089" dirty="0">
                <a:latin typeface="Times New Roman"/>
                <a:cs typeface="Times New Roman"/>
              </a:rPr>
              <a:t>i</a:t>
            </a:r>
            <a:endParaRPr sz="2325" baseline="-25089" dirty="0">
              <a:latin typeface="Times New Roman"/>
              <a:cs typeface="Times New Roman"/>
            </a:endParaRPr>
          </a:p>
        </p:txBody>
      </p:sp>
      <p:sp>
        <p:nvSpPr>
          <p:cNvPr id="9" name="object 9"/>
          <p:cNvSpPr txBox="1"/>
          <p:nvPr/>
        </p:nvSpPr>
        <p:spPr>
          <a:xfrm>
            <a:off x="3319701" y="3016123"/>
            <a:ext cx="2603500" cy="370840"/>
          </a:xfrm>
          <a:prstGeom prst="rect">
            <a:avLst/>
          </a:prstGeom>
        </p:spPr>
        <p:txBody>
          <a:bodyPr vert="horz" wrap="square" lIns="0" tIns="0" rIns="0" bIns="0" rtlCol="0">
            <a:spAutoFit/>
          </a:bodyPr>
          <a:lstStyle/>
          <a:p>
            <a:pPr marL="12700">
              <a:lnSpc>
                <a:spcPct val="100000"/>
              </a:lnSpc>
            </a:pPr>
            <a:r>
              <a:rPr sz="2700" dirty="0">
                <a:latin typeface="Times New Roman"/>
                <a:cs typeface="Times New Roman"/>
              </a:rPr>
              <a:t>state</a:t>
            </a:r>
            <a:r>
              <a:rPr sz="2700" spc="-180" dirty="0">
                <a:latin typeface="Times New Roman"/>
                <a:cs typeface="Times New Roman"/>
              </a:rPr>
              <a:t> </a:t>
            </a:r>
            <a:r>
              <a:rPr sz="2700" dirty="0">
                <a:latin typeface="Times New Roman"/>
                <a:cs typeface="Times New Roman"/>
              </a:rPr>
              <a:t>of</a:t>
            </a:r>
            <a:r>
              <a:rPr sz="2700" spc="245" dirty="0">
                <a:latin typeface="Times New Roman"/>
                <a:cs typeface="Times New Roman"/>
              </a:rPr>
              <a:t> </a:t>
            </a:r>
            <a:r>
              <a:rPr sz="2700" dirty="0">
                <a:latin typeface="Times New Roman"/>
                <a:cs typeface="Times New Roman"/>
              </a:rPr>
              <a:t>population</a:t>
            </a:r>
          </a:p>
        </p:txBody>
      </p:sp>
      <p:sp>
        <p:nvSpPr>
          <p:cNvPr id="10" name="object 10"/>
          <p:cNvSpPr txBox="1"/>
          <p:nvPr/>
        </p:nvSpPr>
        <p:spPr>
          <a:xfrm>
            <a:off x="624493" y="3016123"/>
            <a:ext cx="2451735" cy="429259"/>
          </a:xfrm>
          <a:prstGeom prst="rect">
            <a:avLst/>
          </a:prstGeom>
        </p:spPr>
        <p:txBody>
          <a:bodyPr vert="horz" wrap="square" lIns="0" tIns="0" rIns="0" bIns="0" rtlCol="0">
            <a:spAutoFit/>
          </a:bodyPr>
          <a:lstStyle/>
          <a:p>
            <a:pPr marL="12700">
              <a:lnSpc>
                <a:spcPct val="100000"/>
              </a:lnSpc>
            </a:pPr>
            <a:r>
              <a:rPr sz="2700" i="1" dirty="0">
                <a:latin typeface="Times New Roman"/>
                <a:cs typeface="Times New Roman"/>
              </a:rPr>
              <a:t>x</a:t>
            </a:r>
            <a:r>
              <a:rPr sz="2700" i="1" spc="-15" dirty="0">
                <a:latin typeface="Times New Roman"/>
                <a:cs typeface="Times New Roman"/>
              </a:rPr>
              <a:t> </a:t>
            </a:r>
            <a:r>
              <a:rPr sz="2700" dirty="0">
                <a:latin typeface="Symbol"/>
                <a:cs typeface="Symbol"/>
              </a:rPr>
              <a:t></a:t>
            </a:r>
            <a:r>
              <a:rPr sz="2700" spc="-90" dirty="0">
                <a:latin typeface="Times New Roman"/>
                <a:cs typeface="Times New Roman"/>
              </a:rPr>
              <a:t> </a:t>
            </a:r>
            <a:r>
              <a:rPr sz="2700" spc="195" dirty="0">
                <a:latin typeface="Times New Roman"/>
                <a:cs typeface="Times New Roman"/>
              </a:rPr>
              <a:t>(</a:t>
            </a:r>
            <a:r>
              <a:rPr sz="2700" i="1" spc="-160" dirty="0">
                <a:latin typeface="Times New Roman"/>
                <a:cs typeface="Times New Roman"/>
              </a:rPr>
              <a:t>x</a:t>
            </a:r>
            <a:r>
              <a:rPr sz="2325" spc="22" baseline="-25089" dirty="0">
                <a:latin typeface="Times New Roman"/>
                <a:cs typeface="Times New Roman"/>
              </a:rPr>
              <a:t>1</a:t>
            </a:r>
            <a:r>
              <a:rPr sz="2325" spc="-375" baseline="-25089" dirty="0">
                <a:latin typeface="Times New Roman"/>
                <a:cs typeface="Times New Roman"/>
              </a:rPr>
              <a:t> </a:t>
            </a:r>
            <a:r>
              <a:rPr sz="2700" dirty="0">
                <a:latin typeface="Times New Roman"/>
                <a:cs typeface="Times New Roman"/>
              </a:rPr>
              <a:t>,...,</a:t>
            </a:r>
            <a:r>
              <a:rPr sz="2700" spc="-210" dirty="0">
                <a:latin typeface="Times New Roman"/>
                <a:cs typeface="Times New Roman"/>
              </a:rPr>
              <a:t> </a:t>
            </a:r>
            <a:r>
              <a:rPr sz="2700" i="1" spc="15" dirty="0">
                <a:latin typeface="Times New Roman"/>
                <a:cs typeface="Times New Roman"/>
              </a:rPr>
              <a:t>x</a:t>
            </a:r>
            <a:r>
              <a:rPr sz="2325" i="1" spc="22" baseline="-25089" dirty="0">
                <a:latin typeface="Times New Roman"/>
                <a:cs typeface="Times New Roman"/>
              </a:rPr>
              <a:t>n</a:t>
            </a:r>
            <a:r>
              <a:rPr sz="2325" i="1" spc="-82" baseline="-25089" dirty="0">
                <a:latin typeface="Times New Roman"/>
                <a:cs typeface="Times New Roman"/>
              </a:rPr>
              <a:t> </a:t>
            </a:r>
            <a:r>
              <a:rPr sz="2700" dirty="0">
                <a:latin typeface="Times New Roman"/>
                <a:cs typeface="Times New Roman"/>
              </a:rPr>
              <a:t>)</a:t>
            </a:r>
            <a:r>
              <a:rPr sz="2700" spc="-350" dirty="0">
                <a:latin typeface="Times New Roman"/>
                <a:cs typeface="Times New Roman"/>
              </a:rPr>
              <a:t> </a:t>
            </a:r>
            <a:r>
              <a:rPr sz="2700" dirty="0">
                <a:latin typeface="Symbol"/>
                <a:cs typeface="Symbol"/>
              </a:rPr>
              <a:t></a:t>
            </a:r>
            <a:r>
              <a:rPr sz="2700" spc="-280" dirty="0">
                <a:latin typeface="Times New Roman"/>
                <a:cs typeface="Times New Roman"/>
              </a:rPr>
              <a:t> </a:t>
            </a:r>
            <a:r>
              <a:rPr sz="2700" i="1" spc="125" dirty="0">
                <a:latin typeface="Times New Roman"/>
                <a:cs typeface="Times New Roman"/>
              </a:rPr>
              <a:t>S</a:t>
            </a:r>
            <a:r>
              <a:rPr sz="2325" i="1" spc="22" baseline="-25089" dirty="0">
                <a:latin typeface="Times New Roman"/>
                <a:cs typeface="Times New Roman"/>
              </a:rPr>
              <a:t>n</a:t>
            </a:r>
            <a:endParaRPr sz="2325" baseline="-25089" dirty="0">
              <a:latin typeface="Times New Roman"/>
              <a:cs typeface="Times New Roman"/>
            </a:endParaRPr>
          </a:p>
        </p:txBody>
      </p:sp>
      <p:sp>
        <p:nvSpPr>
          <p:cNvPr id="11" name="object 11"/>
          <p:cNvSpPr txBox="1"/>
          <p:nvPr/>
        </p:nvSpPr>
        <p:spPr>
          <a:xfrm>
            <a:off x="602910" y="1971832"/>
            <a:ext cx="3463290" cy="947419"/>
          </a:xfrm>
          <a:prstGeom prst="rect">
            <a:avLst/>
          </a:prstGeom>
        </p:spPr>
        <p:txBody>
          <a:bodyPr vert="horz" wrap="square" lIns="0" tIns="0" rIns="0" bIns="0" rtlCol="0">
            <a:spAutoFit/>
          </a:bodyPr>
          <a:lstStyle/>
          <a:p>
            <a:pPr marL="12700">
              <a:lnSpc>
                <a:spcPct val="100000"/>
              </a:lnSpc>
              <a:tabLst>
                <a:tab pos="2720975" algn="l"/>
              </a:tabLst>
            </a:pPr>
            <a:r>
              <a:rPr sz="2700" dirty="0">
                <a:latin typeface="Times New Roman"/>
                <a:cs typeface="Times New Roman"/>
              </a:rPr>
              <a:t>large</a:t>
            </a:r>
            <a:r>
              <a:rPr sz="2700" spc="-204" dirty="0">
                <a:latin typeface="Times New Roman"/>
                <a:cs typeface="Times New Roman"/>
              </a:rPr>
              <a:t> </a:t>
            </a:r>
            <a:r>
              <a:rPr sz="2700" dirty="0">
                <a:latin typeface="Times New Roman"/>
                <a:cs typeface="Times New Roman"/>
              </a:rPr>
              <a:t>populatio</a:t>
            </a:r>
            <a:r>
              <a:rPr sz="2700" spc="-35" dirty="0">
                <a:latin typeface="Times New Roman"/>
                <a:cs typeface="Times New Roman"/>
              </a:rPr>
              <a:t>n</a:t>
            </a:r>
            <a:r>
              <a:rPr sz="2700" dirty="0">
                <a:latin typeface="Times New Roman"/>
                <a:cs typeface="Times New Roman"/>
              </a:rPr>
              <a:t>,</a:t>
            </a:r>
            <a:r>
              <a:rPr sz="2700" spc="-170" dirty="0">
                <a:latin typeface="Times New Roman"/>
                <a:cs typeface="Times New Roman"/>
              </a:rPr>
              <a:t> </a:t>
            </a:r>
            <a:r>
              <a:rPr sz="2700" i="1" dirty="0">
                <a:latin typeface="Times New Roman"/>
                <a:cs typeface="Times New Roman"/>
              </a:rPr>
              <a:t>n	</a:t>
            </a:r>
            <a:r>
              <a:rPr sz="2700" dirty="0">
                <a:latin typeface="Times New Roman"/>
                <a:cs typeface="Times New Roman"/>
              </a:rPr>
              <a:t>types</a:t>
            </a:r>
          </a:p>
          <a:p>
            <a:pPr marL="33655">
              <a:lnSpc>
                <a:spcPct val="100000"/>
              </a:lnSpc>
              <a:spcBef>
                <a:spcPts val="840"/>
              </a:spcBef>
              <a:tabLst>
                <a:tab pos="430530" algn="l"/>
              </a:tabLst>
            </a:pPr>
            <a:r>
              <a:rPr sz="2700" i="1" spc="-35" dirty="0">
                <a:latin typeface="Times New Roman"/>
                <a:cs typeface="Times New Roman"/>
              </a:rPr>
              <a:t>x</a:t>
            </a:r>
            <a:r>
              <a:rPr sz="2325" i="1" spc="7" baseline="-25089" dirty="0">
                <a:latin typeface="Times New Roman"/>
                <a:cs typeface="Times New Roman"/>
              </a:rPr>
              <a:t>i</a:t>
            </a:r>
            <a:r>
              <a:rPr sz="2325" i="1" baseline="-25089" dirty="0">
                <a:latin typeface="Times New Roman"/>
                <a:cs typeface="Times New Roman"/>
              </a:rPr>
              <a:t>	</a:t>
            </a:r>
            <a:r>
              <a:rPr sz="2700" dirty="0">
                <a:latin typeface="Times New Roman"/>
                <a:cs typeface="Times New Roman"/>
              </a:rPr>
              <a:t>frequency</a:t>
            </a:r>
            <a:r>
              <a:rPr sz="2700" spc="-245" dirty="0">
                <a:latin typeface="Times New Roman"/>
                <a:cs typeface="Times New Roman"/>
              </a:rPr>
              <a:t> </a:t>
            </a:r>
            <a:r>
              <a:rPr sz="2700" dirty="0">
                <a:latin typeface="Times New Roman"/>
                <a:cs typeface="Times New Roman"/>
              </a:rPr>
              <a:t>of</a:t>
            </a:r>
            <a:r>
              <a:rPr sz="2700" spc="285" dirty="0">
                <a:latin typeface="Times New Roman"/>
                <a:cs typeface="Times New Roman"/>
              </a:rPr>
              <a:t> </a:t>
            </a:r>
            <a:r>
              <a:rPr sz="2700" dirty="0">
                <a:latin typeface="Times New Roman"/>
                <a:cs typeface="Times New Roman"/>
              </a:rPr>
              <a:t>type</a:t>
            </a:r>
            <a:r>
              <a:rPr sz="2700" spc="-305" dirty="0">
                <a:latin typeface="Times New Roman"/>
                <a:cs typeface="Times New Roman"/>
              </a:rPr>
              <a:t> </a:t>
            </a:r>
            <a:r>
              <a:rPr sz="2700" i="1" dirty="0">
                <a:latin typeface="Times New Roman"/>
                <a:cs typeface="Times New Roman"/>
              </a:rPr>
              <a:t>i</a:t>
            </a:r>
            <a:endParaRPr sz="2700" dirty="0">
              <a:latin typeface="Times New Roman"/>
              <a:cs typeface="Times New Roman"/>
            </a:endParaRPr>
          </a:p>
        </p:txBody>
      </p:sp>
      <p:sp>
        <p:nvSpPr>
          <p:cNvPr id="12" name="object 12"/>
          <p:cNvSpPr txBox="1"/>
          <p:nvPr/>
        </p:nvSpPr>
        <p:spPr>
          <a:xfrm>
            <a:off x="6019800" y="3048000"/>
            <a:ext cx="2363724" cy="386715"/>
          </a:xfrm>
          <a:prstGeom prst="rect">
            <a:avLst/>
          </a:prstGeom>
        </p:spPr>
        <p:txBody>
          <a:bodyPr vert="horz" wrap="square" lIns="0" tIns="0" rIns="0" bIns="0" rtlCol="0">
            <a:spAutoFit/>
          </a:bodyPr>
          <a:lstStyle/>
          <a:p>
            <a:pPr marL="12700">
              <a:lnSpc>
                <a:spcPct val="100000"/>
              </a:lnSpc>
            </a:pPr>
            <a:r>
              <a:rPr sz="2400" dirty="0">
                <a:latin typeface="Cambria"/>
                <a:cs typeface="Cambria"/>
              </a:rPr>
              <a:t>⃪</a:t>
            </a:r>
            <a:r>
              <a:rPr sz="2400" spc="110" dirty="0">
                <a:latin typeface="Cambria"/>
                <a:cs typeface="Cambria"/>
              </a:rPr>
              <a:t> </a:t>
            </a:r>
            <a:r>
              <a:rPr sz="2400" spc="-10" dirty="0">
                <a:solidFill>
                  <a:srgbClr val="861001"/>
                </a:solidFill>
                <a:latin typeface="Gill Sans MT"/>
                <a:cs typeface="Gill Sans MT"/>
              </a:rPr>
              <a:t>fra</a:t>
            </a:r>
            <a:r>
              <a:rPr sz="2400" dirty="0">
                <a:solidFill>
                  <a:srgbClr val="861001"/>
                </a:solidFill>
                <a:latin typeface="Gill Sans MT"/>
                <a:cs typeface="Gill Sans MT"/>
              </a:rPr>
              <a:t>ct</a:t>
            </a:r>
            <a:r>
              <a:rPr sz="2400" spc="-5" dirty="0">
                <a:solidFill>
                  <a:srgbClr val="861001"/>
                </a:solidFill>
                <a:latin typeface="Gill Sans MT"/>
                <a:cs typeface="Gill Sans MT"/>
              </a:rPr>
              <a:t>i</a:t>
            </a:r>
            <a:r>
              <a:rPr sz="2400" spc="-15" dirty="0">
                <a:solidFill>
                  <a:srgbClr val="861001"/>
                </a:solidFill>
                <a:latin typeface="Gill Sans MT"/>
                <a:cs typeface="Gill Sans MT"/>
              </a:rPr>
              <a:t>o</a:t>
            </a:r>
            <a:r>
              <a:rPr sz="2400" dirty="0">
                <a:solidFill>
                  <a:srgbClr val="861001"/>
                </a:solidFill>
                <a:latin typeface="Gill Sans MT"/>
                <a:cs typeface="Gill Sans MT"/>
              </a:rPr>
              <a:t>n</a:t>
            </a:r>
            <a:r>
              <a:rPr sz="2400" spc="-5" dirty="0">
                <a:solidFill>
                  <a:srgbClr val="861001"/>
                </a:solidFill>
                <a:latin typeface="Gill Sans MT"/>
                <a:cs typeface="Gill Sans MT"/>
              </a:rPr>
              <a:t> </a:t>
            </a:r>
            <a:r>
              <a:rPr sz="2400" spc="-15" dirty="0">
                <a:solidFill>
                  <a:srgbClr val="861001"/>
                </a:solidFill>
                <a:latin typeface="Gill Sans MT"/>
                <a:cs typeface="Gill Sans MT"/>
              </a:rPr>
              <a:t>o</a:t>
            </a:r>
            <a:r>
              <a:rPr sz="2400" dirty="0">
                <a:solidFill>
                  <a:srgbClr val="861001"/>
                </a:solidFill>
                <a:latin typeface="Gill Sans MT"/>
                <a:cs typeface="Gill Sans MT"/>
              </a:rPr>
              <a:t>f</a:t>
            </a:r>
            <a:r>
              <a:rPr sz="2400" spc="-5" dirty="0">
                <a:solidFill>
                  <a:srgbClr val="861001"/>
                </a:solidFill>
                <a:latin typeface="Gill Sans MT"/>
                <a:cs typeface="Gill Sans MT"/>
              </a:rPr>
              <a:t> </a:t>
            </a:r>
            <a:r>
              <a:rPr sz="2400" dirty="0">
                <a:solidFill>
                  <a:srgbClr val="861001"/>
                </a:solidFill>
                <a:latin typeface="Gill Sans MT"/>
                <a:cs typeface="Gill Sans MT"/>
              </a:rPr>
              <a:t>type</a:t>
            </a:r>
            <a:r>
              <a:rPr sz="2400" spc="-5" dirty="0">
                <a:solidFill>
                  <a:srgbClr val="861001"/>
                </a:solidFill>
                <a:latin typeface="Gill Sans MT"/>
                <a:cs typeface="Gill Sans MT"/>
              </a:rPr>
              <a:t> </a:t>
            </a:r>
            <a:r>
              <a:rPr sz="2400" i="1" spc="-5" dirty="0">
                <a:solidFill>
                  <a:srgbClr val="861001"/>
                </a:solidFill>
                <a:latin typeface="Gill Sans MT"/>
                <a:cs typeface="Gill Sans MT"/>
              </a:rPr>
              <a:t>i</a:t>
            </a:r>
            <a:endParaRPr sz="2400" dirty="0">
              <a:latin typeface="Gill Sans MT"/>
              <a:cs typeface="Gill Sans MT"/>
            </a:endParaRPr>
          </a:p>
        </p:txBody>
      </p:sp>
      <p:sp>
        <p:nvSpPr>
          <p:cNvPr id="3" name="Rectangle 2">
            <a:extLst>
              <a:ext uri="{FF2B5EF4-FFF2-40B4-BE49-F238E27FC236}">
                <a16:creationId xmlns:a16="http://schemas.microsoft.com/office/drawing/2014/main" id="{9EA7C463-6DBC-3645-FCD6-FF19976C6695}"/>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AA6A899F-53E2-D991-C9A1-BB718439D2D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Slide Number Placeholder 8">
            <a:extLst>
              <a:ext uri="{FF2B5EF4-FFF2-40B4-BE49-F238E27FC236}">
                <a16:creationId xmlns:a16="http://schemas.microsoft.com/office/drawing/2014/main" id="{7B8DE6C4-AB27-93D9-75FB-6F768425FBF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39</a:t>
            </a:fld>
            <a:r>
              <a:rPr lang="en-US" sz="2000" dirty="0">
                <a:solidFill>
                  <a:prstClr val="black"/>
                </a:solidFill>
                <a:latin typeface="Comic Sans MS"/>
                <a:sym typeface="Comic Sans MS"/>
              </a:rPr>
              <a:t>/59</a:t>
            </a:r>
          </a:p>
        </p:txBody>
      </p:sp>
      <p:sp>
        <p:nvSpPr>
          <p:cNvPr id="14" name="Footer Placeholder 9">
            <a:extLst>
              <a:ext uri="{FF2B5EF4-FFF2-40B4-BE49-F238E27FC236}">
                <a16:creationId xmlns:a16="http://schemas.microsoft.com/office/drawing/2014/main" id="{6A4B4980-E014-E6C4-638F-41C66966250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4F88FCCE-CCF9-7597-F02C-CE3FC6296B8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55538"/>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dirty="0"/>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p:nvPr/>
        </p:nvSpPr>
        <p:spPr>
          <a:xfrm>
            <a:off x="535940" y="310801"/>
            <a:ext cx="3527425" cy="431800"/>
          </a:xfrm>
          <a:prstGeom prst="rect">
            <a:avLst/>
          </a:prstGeom>
        </p:spPr>
        <p:txBody>
          <a:bodyPr vert="horz" wrap="square" lIns="0" tIns="0" rIns="0" bIns="0" rtlCol="0">
            <a:spAutoFit/>
          </a:bodyPr>
          <a:lstStyle/>
          <a:p>
            <a:pPr marL="12700">
              <a:lnSpc>
                <a:spcPct val="100000"/>
              </a:lnSpc>
            </a:pPr>
            <a:r>
              <a:rPr sz="3200" dirty="0">
                <a:latin typeface="Arial"/>
                <a:cs typeface="Arial"/>
              </a:rPr>
              <a:t>Replica</a:t>
            </a:r>
            <a:r>
              <a:rPr sz="3200" spc="-15" dirty="0">
                <a:latin typeface="Arial"/>
                <a:cs typeface="Arial"/>
              </a:rPr>
              <a:t>t</a:t>
            </a:r>
            <a:r>
              <a:rPr sz="3200" dirty="0">
                <a:latin typeface="Arial"/>
                <a:cs typeface="Arial"/>
              </a:rPr>
              <a:t>or</a:t>
            </a:r>
            <a:r>
              <a:rPr sz="3200" spc="-5" dirty="0">
                <a:latin typeface="Arial"/>
                <a:cs typeface="Arial"/>
              </a:rPr>
              <a:t> </a:t>
            </a:r>
            <a:r>
              <a:rPr sz="3200" dirty="0">
                <a:latin typeface="Arial"/>
                <a:cs typeface="Arial"/>
              </a:rPr>
              <a:t>equa</a:t>
            </a:r>
            <a:r>
              <a:rPr sz="3200" spc="-15" dirty="0">
                <a:latin typeface="Arial"/>
                <a:cs typeface="Arial"/>
              </a:rPr>
              <a:t>t</a:t>
            </a:r>
            <a:r>
              <a:rPr sz="3200" dirty="0">
                <a:latin typeface="Arial"/>
                <a:cs typeface="Arial"/>
              </a:rPr>
              <a:t>ion</a:t>
            </a:r>
            <a:endParaRPr sz="3200">
              <a:latin typeface="Arial"/>
              <a:cs typeface="Arial"/>
            </a:endParaRPr>
          </a:p>
        </p:txBody>
      </p:sp>
      <mc:AlternateContent xmlns:mc="http://schemas.openxmlformats.org/markup-compatibility/2006" xmlns:a14="http://schemas.microsoft.com/office/drawing/2010/main">
        <mc:Choice Requires="a14">
          <p:sp>
            <p:nvSpPr>
              <p:cNvPr id="10" name="object 10"/>
              <p:cNvSpPr txBox="1"/>
              <p:nvPr/>
            </p:nvSpPr>
            <p:spPr>
              <a:xfrm>
                <a:off x="670221" y="1391094"/>
                <a:ext cx="4859020" cy="555858"/>
              </a:xfrm>
              <a:prstGeom prst="rect">
                <a:avLst/>
              </a:prstGeom>
            </p:spPr>
            <p:txBody>
              <a:bodyPr vert="horz" wrap="square" lIns="0" tIns="0" rIns="0" bIns="0" rtlCol="0">
                <a:spAutoFit/>
              </a:bodyPr>
              <a:lstStyle/>
              <a:p>
                <a:pPr marL="12700">
                  <a:lnSpc>
                    <a:spcPct val="100000"/>
                  </a:lnSpc>
                  <a:tabLst>
                    <a:tab pos="939165" algn="l"/>
                    <a:tab pos="2246630" algn="l"/>
                  </a:tabLst>
                </a:pPr>
                <a14:m>
                  <m:oMath xmlns:m="http://schemas.openxmlformats.org/officeDocument/2006/math">
                    <m:sSub>
                      <m:sSubPr>
                        <m:ctrlPr>
                          <a:rPr lang="en-US" sz="3200" b="0" i="1" spc="-10" smtClean="0">
                            <a:latin typeface="Cambria Math" panose="02040503050406030204" pitchFamily="18" charset="0"/>
                            <a:cs typeface="Times New Roman"/>
                          </a:rPr>
                        </m:ctrlPr>
                      </m:sSubPr>
                      <m:e>
                        <m:acc>
                          <m:accPr>
                            <m:chr m:val="̇"/>
                            <m:ctrlPr>
                              <a:rPr lang="en-US" sz="3200" b="0" i="1" spc="-10" smtClean="0">
                                <a:latin typeface="Cambria Math" panose="02040503050406030204" pitchFamily="18" charset="0"/>
                                <a:cs typeface="Times New Roman"/>
                              </a:rPr>
                            </m:ctrlPr>
                          </m:accPr>
                          <m:e>
                            <m:r>
                              <a:rPr lang="en-US" sz="3200" b="0" i="1" spc="-10" smtClean="0">
                                <a:latin typeface="Cambria Math" panose="02040503050406030204" pitchFamily="18" charset="0"/>
                                <a:cs typeface="Times New Roman"/>
                              </a:rPr>
                              <m:t>𝑥</m:t>
                            </m:r>
                          </m:e>
                        </m:acc>
                      </m:e>
                      <m:sub>
                        <m:r>
                          <a:rPr lang="en-US" sz="3200" b="0" i="1" spc="-10" smtClean="0">
                            <a:latin typeface="Cambria Math" panose="02040503050406030204" pitchFamily="18" charset="0"/>
                            <a:cs typeface="Times New Roman"/>
                          </a:rPr>
                          <m:t>𝑖</m:t>
                        </m:r>
                      </m:sub>
                    </m:sSub>
                    <m:r>
                      <a:rPr lang="en-US" sz="3200" b="0" i="1" spc="-10" smtClean="0">
                        <a:latin typeface="Cambria Math" panose="02040503050406030204" pitchFamily="18" charset="0"/>
                        <a:cs typeface="Times New Roman"/>
                      </a:rPr>
                      <m:t>=</m:t>
                    </m:r>
                    <m:sSub>
                      <m:sSubPr>
                        <m:ctrlPr>
                          <a:rPr lang="en-US" sz="3200" b="0" i="1" spc="-10" smtClean="0">
                            <a:latin typeface="Cambria Math" panose="02040503050406030204" pitchFamily="18" charset="0"/>
                            <a:cs typeface="Times New Roman"/>
                          </a:rPr>
                        </m:ctrlPr>
                      </m:sSubPr>
                      <m:e>
                        <m:r>
                          <a:rPr lang="en-US" sz="3200" b="0" i="1" spc="-10" smtClean="0">
                            <a:latin typeface="Cambria Math" panose="02040503050406030204" pitchFamily="18" charset="0"/>
                            <a:cs typeface="Times New Roman"/>
                          </a:rPr>
                          <m:t>𝑥</m:t>
                        </m:r>
                      </m:e>
                      <m:sub>
                        <m:r>
                          <a:rPr lang="en-US" sz="3200" b="0" i="1" spc="-10" smtClean="0">
                            <a:latin typeface="Cambria Math" panose="02040503050406030204" pitchFamily="18" charset="0"/>
                            <a:cs typeface="Times New Roman"/>
                          </a:rPr>
                          <m:t>𝑖</m:t>
                        </m:r>
                      </m:sub>
                    </m:sSub>
                    <m:d>
                      <m:dPr>
                        <m:ctrlPr>
                          <a:rPr lang="en-US" sz="3200" b="0" i="1" spc="-10" smtClean="0">
                            <a:latin typeface="Cambria Math" panose="02040503050406030204" pitchFamily="18" charset="0"/>
                            <a:cs typeface="Times New Roman"/>
                          </a:rPr>
                        </m:ctrlPr>
                      </m:dPr>
                      <m:e>
                        <m:sSub>
                          <m:sSubPr>
                            <m:ctrlPr>
                              <a:rPr lang="en-US" sz="3200" b="0" i="1" spc="-10" smtClean="0">
                                <a:latin typeface="Cambria Math" panose="02040503050406030204" pitchFamily="18" charset="0"/>
                                <a:cs typeface="Times New Roman"/>
                              </a:rPr>
                            </m:ctrlPr>
                          </m:sSubPr>
                          <m:e>
                            <m:d>
                              <m:dPr>
                                <m:ctrlPr>
                                  <a:rPr lang="en-US" sz="3200" b="0" i="1" spc="-10" smtClean="0">
                                    <a:latin typeface="Cambria Math" panose="02040503050406030204" pitchFamily="18" charset="0"/>
                                    <a:cs typeface="Times New Roman"/>
                                  </a:rPr>
                                </m:ctrlPr>
                              </m:dPr>
                              <m:e>
                                <m:r>
                                  <a:rPr lang="en-US" sz="3200" b="0" i="1" spc="-10" smtClean="0">
                                    <a:latin typeface="Cambria Math" panose="02040503050406030204" pitchFamily="18" charset="0"/>
                                    <a:cs typeface="Times New Roman"/>
                                  </a:rPr>
                                  <m:t>𝐴𝑥</m:t>
                                </m:r>
                              </m:e>
                            </m:d>
                          </m:e>
                          <m:sub>
                            <m:r>
                              <a:rPr lang="en-US" sz="3200" b="0" i="1" spc="-10" smtClean="0">
                                <a:latin typeface="Cambria Math" panose="02040503050406030204" pitchFamily="18" charset="0"/>
                                <a:cs typeface="Times New Roman"/>
                              </a:rPr>
                              <m:t>𝑖</m:t>
                            </m:r>
                          </m:sub>
                        </m:sSub>
                        <m:r>
                          <a:rPr lang="en-US" sz="3200" b="0" i="1" spc="-10" smtClean="0">
                            <a:latin typeface="Cambria Math" panose="02040503050406030204" pitchFamily="18" charset="0"/>
                            <a:cs typeface="Times New Roman"/>
                          </a:rPr>
                          <m:t>−</m:t>
                        </m:r>
                        <m:sSup>
                          <m:sSupPr>
                            <m:ctrlPr>
                              <a:rPr lang="en-US" sz="3200" b="0" i="1" spc="-10" smtClean="0">
                                <a:latin typeface="Cambria Math" panose="02040503050406030204" pitchFamily="18" charset="0"/>
                                <a:cs typeface="Times New Roman"/>
                              </a:rPr>
                            </m:ctrlPr>
                          </m:sSupPr>
                          <m:e>
                            <m:r>
                              <a:rPr lang="en-US" sz="3200" b="0" i="1" spc="-10" smtClean="0">
                                <a:latin typeface="Cambria Math" panose="02040503050406030204" pitchFamily="18" charset="0"/>
                                <a:cs typeface="Times New Roman"/>
                              </a:rPr>
                              <m:t>𝑥</m:t>
                            </m:r>
                          </m:e>
                          <m:sup>
                            <m:r>
                              <a:rPr lang="en-US" sz="3200" b="0" i="1" spc="-10" smtClean="0">
                                <a:latin typeface="Cambria Math" panose="02040503050406030204" pitchFamily="18" charset="0"/>
                                <a:cs typeface="Times New Roman"/>
                              </a:rPr>
                              <m:t>𝑇</m:t>
                            </m:r>
                          </m:sup>
                        </m:sSup>
                        <m:r>
                          <a:rPr lang="en-US" sz="3200" b="0" i="1" spc="-10" smtClean="0">
                            <a:latin typeface="Cambria Math" panose="02040503050406030204" pitchFamily="18" charset="0"/>
                            <a:cs typeface="Times New Roman"/>
                          </a:rPr>
                          <m:t>𝐴𝑥</m:t>
                        </m:r>
                      </m:e>
                    </m:d>
                  </m:oMath>
                </a14:m>
                <a:r>
                  <a:rPr lang="en-US" sz="3200" dirty="0">
                    <a:latin typeface="Times New Roman"/>
                    <a:cs typeface="Times New Roman"/>
                  </a:rPr>
                  <a:t> </a:t>
                </a:r>
                <a:endParaRPr sz="3200" dirty="0">
                  <a:latin typeface="Times New Roman"/>
                  <a:cs typeface="Times New Roman"/>
                </a:endParaRPr>
              </a:p>
            </p:txBody>
          </p:sp>
        </mc:Choice>
        <mc:Fallback xmlns="">
          <p:sp>
            <p:nvSpPr>
              <p:cNvPr id="10" name="object 10"/>
              <p:cNvSpPr txBox="1">
                <a:spLocks noRot="1" noChangeAspect="1" noMove="1" noResize="1" noEditPoints="1" noAdjustHandles="1" noChangeArrowheads="1" noChangeShapeType="1" noTextEdit="1"/>
              </p:cNvSpPr>
              <p:nvPr/>
            </p:nvSpPr>
            <p:spPr>
              <a:xfrm>
                <a:off x="670221" y="1391094"/>
                <a:ext cx="4859020" cy="555858"/>
              </a:xfrm>
              <a:prstGeom prst="rect">
                <a:avLst/>
              </a:prstGeom>
              <a:blipFill>
                <a:blip r:embed="rId3"/>
                <a:stretch>
                  <a:fillRect b="-1099"/>
                </a:stretch>
              </a:blipFill>
            </p:spPr>
            <p:txBody>
              <a:bodyPr/>
              <a:lstStyle/>
              <a:p>
                <a:r>
                  <a:rPr lang="en-US">
                    <a:noFill/>
                  </a:rPr>
                  <a:t> </a:t>
                </a:r>
              </a:p>
            </p:txBody>
          </p:sp>
        </mc:Fallback>
      </mc:AlternateContent>
      <p:sp>
        <p:nvSpPr>
          <p:cNvPr id="11" name="object 11"/>
          <p:cNvSpPr txBox="1"/>
          <p:nvPr/>
        </p:nvSpPr>
        <p:spPr>
          <a:xfrm>
            <a:off x="625152" y="5490152"/>
            <a:ext cx="6813550" cy="241300"/>
          </a:xfrm>
          <a:prstGeom prst="rect">
            <a:avLst/>
          </a:prstGeom>
        </p:spPr>
        <p:txBody>
          <a:bodyPr vert="horz" wrap="square" lIns="0" tIns="0" rIns="0" bIns="0" rtlCol="0">
            <a:spAutoFit/>
          </a:bodyPr>
          <a:lstStyle/>
          <a:p>
            <a:pPr marL="12700">
              <a:lnSpc>
                <a:spcPct val="100000"/>
              </a:lnSpc>
            </a:pPr>
            <a:r>
              <a:rPr sz="1700" b="1" spc="60" dirty="0">
                <a:latin typeface="Gill Sans MT"/>
                <a:cs typeface="Gill Sans MT"/>
              </a:rPr>
              <a:t>a</a:t>
            </a:r>
            <a:r>
              <a:rPr sz="1700" b="1" spc="85" dirty="0">
                <a:latin typeface="Gill Sans MT"/>
                <a:cs typeface="Gill Sans MT"/>
              </a:rPr>
              <a:t>dd</a:t>
            </a:r>
            <a:r>
              <a:rPr sz="1700" b="1" spc="55" dirty="0">
                <a:latin typeface="Gill Sans MT"/>
                <a:cs typeface="Gill Sans MT"/>
              </a:rPr>
              <a:t>i</a:t>
            </a:r>
            <a:r>
              <a:rPr sz="1700" b="1" spc="85" dirty="0">
                <a:latin typeface="Gill Sans MT"/>
                <a:cs typeface="Gill Sans MT"/>
              </a:rPr>
              <a:t>n</a:t>
            </a:r>
            <a:r>
              <a:rPr sz="1700" b="1" spc="25" dirty="0">
                <a:latin typeface="Gill Sans MT"/>
                <a:cs typeface="Gill Sans MT"/>
              </a:rPr>
              <a:t>g</a:t>
            </a:r>
            <a:r>
              <a:rPr sz="1700" b="1" spc="30" dirty="0">
                <a:latin typeface="Gill Sans MT"/>
                <a:cs typeface="Gill Sans MT"/>
              </a:rPr>
              <a:t> </a:t>
            </a:r>
            <a:r>
              <a:rPr sz="1700" b="1" spc="15" dirty="0">
                <a:latin typeface="Gill Sans MT"/>
                <a:cs typeface="Gill Sans MT"/>
              </a:rPr>
              <a:t>c</a:t>
            </a:r>
            <a:r>
              <a:rPr sz="1700" b="1" spc="70" dirty="0">
                <a:latin typeface="Gill Sans MT"/>
                <a:cs typeface="Gill Sans MT"/>
              </a:rPr>
              <a:t>o</a:t>
            </a:r>
            <a:r>
              <a:rPr sz="1700" b="1" spc="85" dirty="0">
                <a:latin typeface="Gill Sans MT"/>
                <a:cs typeface="Gill Sans MT"/>
              </a:rPr>
              <a:t>n</a:t>
            </a:r>
            <a:r>
              <a:rPr sz="1700" b="1" spc="90" dirty="0">
                <a:latin typeface="Gill Sans MT"/>
                <a:cs typeface="Gill Sans MT"/>
              </a:rPr>
              <a:t>s</a:t>
            </a:r>
            <a:r>
              <a:rPr sz="1700" b="1" spc="100" dirty="0">
                <a:latin typeface="Gill Sans MT"/>
                <a:cs typeface="Gill Sans MT"/>
              </a:rPr>
              <a:t>t</a:t>
            </a:r>
            <a:r>
              <a:rPr sz="1700" b="1" spc="75" dirty="0">
                <a:latin typeface="Gill Sans MT"/>
                <a:cs typeface="Gill Sans MT"/>
              </a:rPr>
              <a:t>a</a:t>
            </a:r>
            <a:r>
              <a:rPr sz="1700" b="1" spc="85" dirty="0">
                <a:latin typeface="Gill Sans MT"/>
                <a:cs typeface="Gill Sans MT"/>
              </a:rPr>
              <a:t>n</a:t>
            </a:r>
            <a:r>
              <a:rPr sz="1700" b="1" spc="100" dirty="0">
                <a:latin typeface="Gill Sans MT"/>
                <a:cs typeface="Gill Sans MT"/>
              </a:rPr>
              <a:t>t</a:t>
            </a:r>
            <a:r>
              <a:rPr sz="1700" b="1" spc="90" dirty="0">
                <a:latin typeface="Gill Sans MT"/>
                <a:cs typeface="Gill Sans MT"/>
              </a:rPr>
              <a:t>s</a:t>
            </a:r>
            <a:r>
              <a:rPr sz="1700" b="1" spc="30" dirty="0">
                <a:latin typeface="Gill Sans MT"/>
                <a:cs typeface="Gill Sans MT"/>
              </a:rPr>
              <a:t> </a:t>
            </a:r>
            <a:r>
              <a:rPr sz="1700" b="1" spc="100" dirty="0">
                <a:latin typeface="Gill Sans MT"/>
                <a:cs typeface="Gill Sans MT"/>
              </a:rPr>
              <a:t>t</a:t>
            </a:r>
            <a:r>
              <a:rPr sz="1700" b="1" spc="70" dirty="0">
                <a:latin typeface="Gill Sans MT"/>
                <a:cs typeface="Gill Sans MT"/>
              </a:rPr>
              <a:t>o</a:t>
            </a:r>
            <a:r>
              <a:rPr sz="1700" b="1" spc="30" dirty="0">
                <a:latin typeface="Gill Sans MT"/>
                <a:cs typeface="Gill Sans MT"/>
              </a:rPr>
              <a:t> </a:t>
            </a:r>
            <a:r>
              <a:rPr sz="1700" b="1" spc="15" dirty="0">
                <a:latin typeface="Gill Sans MT"/>
                <a:cs typeface="Gill Sans MT"/>
              </a:rPr>
              <a:t>c</a:t>
            </a:r>
            <a:r>
              <a:rPr sz="1700" b="1" spc="70" dirty="0">
                <a:latin typeface="Gill Sans MT"/>
                <a:cs typeface="Gill Sans MT"/>
              </a:rPr>
              <a:t>o</a:t>
            </a:r>
            <a:r>
              <a:rPr sz="1700" b="1" spc="55" dirty="0">
                <a:latin typeface="Gill Sans MT"/>
                <a:cs typeface="Gill Sans MT"/>
              </a:rPr>
              <a:t>l</a:t>
            </a:r>
            <a:r>
              <a:rPr sz="1700" b="1" spc="85" dirty="0">
                <a:latin typeface="Gill Sans MT"/>
                <a:cs typeface="Gill Sans MT"/>
              </a:rPr>
              <a:t>u</a:t>
            </a:r>
            <a:r>
              <a:rPr sz="1700" b="1" spc="45" dirty="0">
                <a:latin typeface="Gill Sans MT"/>
                <a:cs typeface="Gill Sans MT"/>
              </a:rPr>
              <a:t>m</a:t>
            </a:r>
            <a:r>
              <a:rPr sz="1700" b="1" spc="85" dirty="0">
                <a:latin typeface="Gill Sans MT"/>
                <a:cs typeface="Gill Sans MT"/>
              </a:rPr>
              <a:t>n</a:t>
            </a:r>
            <a:r>
              <a:rPr sz="1700" b="1" spc="90" dirty="0">
                <a:latin typeface="Gill Sans MT"/>
                <a:cs typeface="Gill Sans MT"/>
              </a:rPr>
              <a:t>s</a:t>
            </a:r>
            <a:r>
              <a:rPr sz="1700" b="1" spc="30" dirty="0">
                <a:latin typeface="Gill Sans MT"/>
                <a:cs typeface="Gill Sans MT"/>
              </a:rPr>
              <a:t> </a:t>
            </a:r>
            <a:r>
              <a:rPr sz="1700" b="1" spc="70" dirty="0">
                <a:latin typeface="Gill Sans MT"/>
                <a:cs typeface="Gill Sans MT"/>
              </a:rPr>
              <a:t>o</a:t>
            </a:r>
            <a:r>
              <a:rPr sz="1700" b="1" spc="110" dirty="0">
                <a:latin typeface="Gill Sans MT"/>
                <a:cs typeface="Gill Sans MT"/>
              </a:rPr>
              <a:t>f</a:t>
            </a:r>
            <a:r>
              <a:rPr sz="1700" b="1" spc="80" dirty="0">
                <a:latin typeface="Gill Sans MT"/>
                <a:cs typeface="Gill Sans MT"/>
              </a:rPr>
              <a:t> </a:t>
            </a:r>
            <a:r>
              <a:rPr sz="1700" b="1" spc="75" dirty="0">
                <a:latin typeface="Gill Sans MT"/>
                <a:cs typeface="Gill Sans MT"/>
              </a:rPr>
              <a:t>A</a:t>
            </a:r>
            <a:r>
              <a:rPr sz="1700" b="1" spc="30" dirty="0">
                <a:latin typeface="Gill Sans MT"/>
                <a:cs typeface="Gill Sans MT"/>
              </a:rPr>
              <a:t> </a:t>
            </a:r>
            <a:r>
              <a:rPr sz="1700" b="1" spc="55" dirty="0">
                <a:latin typeface="Gill Sans MT"/>
                <a:cs typeface="Gill Sans MT"/>
              </a:rPr>
              <a:t>l</a:t>
            </a:r>
            <a:r>
              <a:rPr sz="1700" b="1" spc="75" dirty="0">
                <a:latin typeface="Gill Sans MT"/>
                <a:cs typeface="Gill Sans MT"/>
              </a:rPr>
              <a:t>e</a:t>
            </a:r>
            <a:r>
              <a:rPr sz="1700" b="1" spc="60" dirty="0">
                <a:latin typeface="Gill Sans MT"/>
                <a:cs typeface="Gill Sans MT"/>
              </a:rPr>
              <a:t>a</a:t>
            </a:r>
            <a:r>
              <a:rPr sz="1700" b="1" spc="95" dirty="0">
                <a:latin typeface="Gill Sans MT"/>
                <a:cs typeface="Gill Sans MT"/>
              </a:rPr>
              <a:t>v</a:t>
            </a:r>
            <a:r>
              <a:rPr sz="1700" b="1" spc="75" dirty="0">
                <a:latin typeface="Gill Sans MT"/>
                <a:cs typeface="Gill Sans MT"/>
              </a:rPr>
              <a:t>e</a:t>
            </a:r>
            <a:r>
              <a:rPr sz="1700" b="1" spc="90" dirty="0">
                <a:latin typeface="Gill Sans MT"/>
                <a:cs typeface="Gill Sans MT"/>
              </a:rPr>
              <a:t>s</a:t>
            </a:r>
            <a:r>
              <a:rPr sz="1700" b="1" spc="30" dirty="0">
                <a:latin typeface="Gill Sans MT"/>
                <a:cs typeface="Gill Sans MT"/>
              </a:rPr>
              <a:t> </a:t>
            </a:r>
            <a:r>
              <a:rPr sz="1700" b="1" spc="75" dirty="0">
                <a:latin typeface="Gill Sans MT"/>
                <a:cs typeface="Gill Sans MT"/>
              </a:rPr>
              <a:t>e</a:t>
            </a:r>
            <a:r>
              <a:rPr sz="1700" b="1" spc="85" dirty="0">
                <a:latin typeface="Gill Sans MT"/>
                <a:cs typeface="Gill Sans MT"/>
              </a:rPr>
              <a:t>qu</a:t>
            </a:r>
            <a:r>
              <a:rPr sz="1700" b="1" spc="55" dirty="0">
                <a:latin typeface="Gill Sans MT"/>
                <a:cs typeface="Gill Sans MT"/>
              </a:rPr>
              <a:t>ili</a:t>
            </a:r>
            <a:r>
              <a:rPr sz="1700" b="1" spc="85" dirty="0">
                <a:latin typeface="Gill Sans MT"/>
                <a:cs typeface="Gill Sans MT"/>
              </a:rPr>
              <a:t>b</a:t>
            </a:r>
            <a:r>
              <a:rPr sz="1700" b="1" dirty="0">
                <a:latin typeface="Gill Sans MT"/>
                <a:cs typeface="Gill Sans MT"/>
              </a:rPr>
              <a:t>r</a:t>
            </a:r>
            <a:r>
              <a:rPr sz="1700" b="1" spc="55" dirty="0">
                <a:latin typeface="Gill Sans MT"/>
                <a:cs typeface="Gill Sans MT"/>
              </a:rPr>
              <a:t>i</a:t>
            </a:r>
            <a:r>
              <a:rPr sz="1700" b="1" spc="60" dirty="0">
                <a:latin typeface="Gill Sans MT"/>
                <a:cs typeface="Gill Sans MT"/>
              </a:rPr>
              <a:t>a</a:t>
            </a:r>
            <a:r>
              <a:rPr sz="1700" b="1" spc="30" dirty="0">
                <a:latin typeface="Gill Sans MT"/>
                <a:cs typeface="Gill Sans MT"/>
              </a:rPr>
              <a:t> </a:t>
            </a:r>
            <a:r>
              <a:rPr sz="1700" b="1" spc="85" dirty="0">
                <a:latin typeface="Gill Sans MT"/>
                <a:cs typeface="Gill Sans MT"/>
              </a:rPr>
              <a:t>un</a:t>
            </a:r>
            <a:r>
              <a:rPr sz="1700" b="1" spc="15" dirty="0">
                <a:latin typeface="Gill Sans MT"/>
                <a:cs typeface="Gill Sans MT"/>
              </a:rPr>
              <a:t>c</a:t>
            </a:r>
            <a:r>
              <a:rPr sz="1700" b="1" spc="85" dirty="0">
                <a:latin typeface="Gill Sans MT"/>
                <a:cs typeface="Gill Sans MT"/>
              </a:rPr>
              <a:t>h</a:t>
            </a:r>
            <a:r>
              <a:rPr sz="1700" b="1" spc="75" dirty="0">
                <a:latin typeface="Gill Sans MT"/>
                <a:cs typeface="Gill Sans MT"/>
              </a:rPr>
              <a:t>a</a:t>
            </a:r>
            <a:r>
              <a:rPr sz="1700" b="1" spc="85" dirty="0">
                <a:latin typeface="Gill Sans MT"/>
                <a:cs typeface="Gill Sans MT"/>
              </a:rPr>
              <a:t>n</a:t>
            </a:r>
            <a:r>
              <a:rPr sz="1700" b="1" spc="45" dirty="0">
                <a:latin typeface="Gill Sans MT"/>
                <a:cs typeface="Gill Sans MT"/>
              </a:rPr>
              <a:t>ge</a:t>
            </a:r>
            <a:r>
              <a:rPr sz="1700" b="1" spc="85" dirty="0">
                <a:latin typeface="Gill Sans MT"/>
                <a:cs typeface="Gill Sans MT"/>
              </a:rPr>
              <a:t>d</a:t>
            </a:r>
            <a:r>
              <a:rPr sz="1700" b="1" spc="50" dirty="0">
                <a:latin typeface="Gill Sans MT"/>
                <a:cs typeface="Gill Sans MT"/>
              </a:rPr>
              <a:t>!</a:t>
            </a:r>
            <a:endParaRPr sz="1700">
              <a:latin typeface="Gill Sans MT"/>
              <a:cs typeface="Gill Sans MT"/>
            </a:endParaRPr>
          </a:p>
        </p:txBody>
      </p:sp>
      <p:sp>
        <p:nvSpPr>
          <p:cNvPr id="12" name="object 12"/>
          <p:cNvSpPr/>
          <p:nvPr/>
        </p:nvSpPr>
        <p:spPr>
          <a:xfrm>
            <a:off x="688150" y="3797955"/>
            <a:ext cx="502920" cy="706120"/>
          </a:xfrm>
          <a:custGeom>
            <a:avLst/>
            <a:gdLst/>
            <a:ahLst/>
            <a:cxnLst/>
            <a:rect l="l" t="t" r="r" b="b"/>
            <a:pathLst>
              <a:path w="502919" h="706120">
                <a:moveTo>
                  <a:pt x="502709" y="0"/>
                </a:moveTo>
                <a:lnTo>
                  <a:pt x="0" y="706087"/>
                </a:lnTo>
              </a:path>
            </a:pathLst>
          </a:custGeom>
          <a:ln w="14389">
            <a:solidFill>
              <a:srgbClr val="000000"/>
            </a:solidFill>
          </a:ln>
        </p:spPr>
        <p:txBody>
          <a:bodyPr wrap="square" lIns="0" tIns="0" rIns="0" bIns="0" rtlCol="0"/>
          <a:lstStyle/>
          <a:p>
            <a:endParaRPr/>
          </a:p>
        </p:txBody>
      </p:sp>
      <p:sp>
        <p:nvSpPr>
          <p:cNvPr id="13" name="object 13"/>
          <p:cNvSpPr txBox="1"/>
          <p:nvPr/>
        </p:nvSpPr>
        <p:spPr>
          <a:xfrm>
            <a:off x="1545974" y="3947165"/>
            <a:ext cx="3399790" cy="370840"/>
          </a:xfrm>
          <a:prstGeom prst="rect">
            <a:avLst/>
          </a:prstGeom>
        </p:spPr>
        <p:txBody>
          <a:bodyPr vert="horz" wrap="square" lIns="0" tIns="0" rIns="0" bIns="0" rtlCol="0">
            <a:spAutoFit/>
          </a:bodyPr>
          <a:lstStyle/>
          <a:p>
            <a:pPr marL="12700">
              <a:lnSpc>
                <a:spcPct val="100000"/>
              </a:lnSpc>
            </a:pPr>
            <a:r>
              <a:rPr sz="2700" dirty="0">
                <a:latin typeface="Times New Roman"/>
                <a:cs typeface="Times New Roman"/>
              </a:rPr>
              <a:t>per</a:t>
            </a:r>
            <a:r>
              <a:rPr sz="2700" spc="-114" dirty="0">
                <a:latin typeface="Times New Roman"/>
                <a:cs typeface="Times New Roman"/>
              </a:rPr>
              <a:t> </a:t>
            </a:r>
            <a:r>
              <a:rPr sz="2700" dirty="0">
                <a:latin typeface="Times New Roman"/>
                <a:cs typeface="Times New Roman"/>
              </a:rPr>
              <a:t>capita</a:t>
            </a:r>
            <a:r>
              <a:rPr sz="2700" spc="-30" dirty="0">
                <a:latin typeface="Times New Roman"/>
                <a:cs typeface="Times New Roman"/>
              </a:rPr>
              <a:t> </a:t>
            </a:r>
            <a:r>
              <a:rPr sz="2700" dirty="0">
                <a:latin typeface="Times New Roman"/>
                <a:cs typeface="Times New Roman"/>
              </a:rPr>
              <a:t>rate</a:t>
            </a:r>
            <a:r>
              <a:rPr sz="2700" spc="-204" dirty="0">
                <a:latin typeface="Times New Roman"/>
                <a:cs typeface="Times New Roman"/>
              </a:rPr>
              <a:t> </a:t>
            </a:r>
            <a:r>
              <a:rPr sz="2700" dirty="0">
                <a:latin typeface="Times New Roman"/>
                <a:cs typeface="Times New Roman"/>
              </a:rPr>
              <a:t>of</a:t>
            </a:r>
            <a:r>
              <a:rPr sz="2700" spc="200" dirty="0">
                <a:latin typeface="Times New Roman"/>
                <a:cs typeface="Times New Roman"/>
              </a:rPr>
              <a:t> </a:t>
            </a:r>
            <a:r>
              <a:rPr sz="2700" dirty="0">
                <a:latin typeface="Times New Roman"/>
                <a:cs typeface="Times New Roman"/>
              </a:rPr>
              <a:t>growth</a:t>
            </a:r>
          </a:p>
        </p:txBody>
      </p:sp>
      <mc:AlternateContent xmlns:mc="http://schemas.openxmlformats.org/markup-compatibility/2006" xmlns:a14="http://schemas.microsoft.com/office/drawing/2010/main">
        <mc:Choice Requires="a14">
          <p:sp>
            <p:nvSpPr>
              <p:cNvPr id="15" name="object 15"/>
              <p:cNvSpPr txBox="1"/>
              <p:nvPr/>
            </p:nvSpPr>
            <p:spPr>
              <a:xfrm>
                <a:off x="929704" y="4256075"/>
                <a:ext cx="343535" cy="179536"/>
              </a:xfrm>
              <a:prstGeom prst="rect">
                <a:avLst/>
              </a:prstGeom>
            </p:spPr>
            <p:txBody>
              <a:bodyPr vert="horz" wrap="square" lIns="0" tIns="0" rIns="0" bIns="0" rtlCol="0">
                <a:spAutoFit/>
              </a:bodyPr>
              <a:lstStyle/>
              <a:p>
                <a:pPr marL="12700">
                  <a:lnSpc>
                    <a:spcPts val="1405"/>
                  </a:lnSpc>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cs typeface="Times New Roman"/>
                            </a:rPr>
                          </m:ctrlPr>
                        </m:sSubPr>
                        <m:e>
                          <m:r>
                            <a:rPr lang="en-US" sz="2800" b="0" i="1" smtClean="0">
                              <a:latin typeface="Cambria Math" panose="02040503050406030204" pitchFamily="18" charset="0"/>
                              <a:cs typeface="Times New Roman"/>
                            </a:rPr>
                            <m:t>𝑥</m:t>
                          </m:r>
                        </m:e>
                        <m:sub>
                          <m:r>
                            <a:rPr lang="en-US" sz="2800" b="0" i="1" smtClean="0">
                              <a:latin typeface="Cambria Math" panose="02040503050406030204" pitchFamily="18" charset="0"/>
                              <a:cs typeface="Times New Roman"/>
                            </a:rPr>
                            <m:t>𝑖</m:t>
                          </m:r>
                        </m:sub>
                      </m:sSub>
                    </m:oMath>
                  </m:oMathPara>
                </a14:m>
                <a:endParaRPr sz="2800" dirty="0">
                  <a:latin typeface="Times New Roman"/>
                  <a:cs typeface="Times New Roman"/>
                </a:endParaRPr>
              </a:p>
            </p:txBody>
          </p:sp>
        </mc:Choice>
        <mc:Fallback xmlns="">
          <p:sp>
            <p:nvSpPr>
              <p:cNvPr id="15" name="object 15"/>
              <p:cNvSpPr txBox="1">
                <a:spLocks noRot="1" noChangeAspect="1" noMove="1" noResize="1" noEditPoints="1" noAdjustHandles="1" noChangeArrowheads="1" noChangeShapeType="1" noTextEdit="1"/>
              </p:cNvSpPr>
              <p:nvPr/>
            </p:nvSpPr>
            <p:spPr>
              <a:xfrm>
                <a:off x="929704" y="4256075"/>
                <a:ext cx="343535" cy="179536"/>
              </a:xfrm>
              <a:prstGeom prst="rect">
                <a:avLst/>
              </a:prstGeom>
              <a:blipFill>
                <a:blip r:embed="rId4"/>
                <a:stretch>
                  <a:fillRect l="-21429" t="-43333" r="-12500" b="-6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16"/>
              <p:cNvSpPr txBox="1"/>
              <p:nvPr/>
            </p:nvSpPr>
            <p:spPr>
              <a:xfrm>
                <a:off x="609600" y="3771767"/>
                <a:ext cx="272240" cy="415498"/>
              </a:xfrm>
              <a:prstGeom prst="rect">
                <a:avLst/>
              </a:prstGeom>
            </p:spPr>
            <p:txBody>
              <a:bodyPr vert="horz" wrap="square" lIns="0" tIns="0" rIns="0" bIns="0" rtlCol="0">
                <a:spAutoFit/>
              </a:bodyPr>
              <a:lstStyle/>
              <a:p>
                <a:pPr marL="12700">
                  <a:lnSpc>
                    <a:spcPct val="100000"/>
                  </a:lnSpc>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cs typeface="Times New Roman"/>
                            </a:rPr>
                          </m:ctrlPr>
                        </m:sSubPr>
                        <m:e>
                          <m:acc>
                            <m:accPr>
                              <m:chr m:val="̇"/>
                              <m:ctrlPr>
                                <a:rPr lang="en-US" sz="2700" i="1" smtClean="0">
                                  <a:latin typeface="Cambria Math" panose="02040503050406030204" pitchFamily="18" charset="0"/>
                                  <a:cs typeface="Times New Roman"/>
                                </a:rPr>
                              </m:ctrlPr>
                            </m:accPr>
                            <m:e>
                              <m:r>
                                <a:rPr lang="en-US" sz="2700" b="0" i="1" smtClean="0">
                                  <a:latin typeface="Cambria Math" panose="02040503050406030204" pitchFamily="18" charset="0"/>
                                  <a:cs typeface="Times New Roman"/>
                                </a:rPr>
                                <m:t>𝑥</m:t>
                              </m:r>
                            </m:e>
                          </m:acc>
                        </m:e>
                        <m:sub>
                          <m:r>
                            <a:rPr lang="en-US" sz="2700" b="0" i="1" smtClean="0">
                              <a:latin typeface="Cambria Math" panose="02040503050406030204" pitchFamily="18" charset="0"/>
                              <a:cs typeface="Times New Roman"/>
                            </a:rPr>
                            <m:t>𝑖</m:t>
                          </m:r>
                        </m:sub>
                      </m:sSub>
                    </m:oMath>
                  </m:oMathPara>
                </a14:m>
                <a:endParaRPr sz="2700" dirty="0">
                  <a:latin typeface="Times New Roman"/>
                  <a:cs typeface="Times New Roman"/>
                </a:endParaRPr>
              </a:p>
            </p:txBody>
          </p:sp>
        </mc:Choice>
        <mc:Fallback xmlns="">
          <p:sp>
            <p:nvSpPr>
              <p:cNvPr id="16" name="object 16"/>
              <p:cNvSpPr txBox="1">
                <a:spLocks noRot="1" noChangeAspect="1" noMove="1" noResize="1" noEditPoints="1" noAdjustHandles="1" noChangeArrowheads="1" noChangeShapeType="1" noTextEdit="1"/>
              </p:cNvSpPr>
              <p:nvPr/>
            </p:nvSpPr>
            <p:spPr>
              <a:xfrm>
                <a:off x="609600" y="3771767"/>
                <a:ext cx="272240" cy="415498"/>
              </a:xfrm>
              <a:prstGeom prst="rect">
                <a:avLst/>
              </a:prstGeom>
              <a:blipFill>
                <a:blip r:embed="rId5"/>
                <a:stretch>
                  <a:fillRect/>
                </a:stretch>
              </a:blipFill>
            </p:spPr>
            <p:txBody>
              <a:bodyPr/>
              <a:lstStyle/>
              <a:p>
                <a:r>
                  <a:rPr lang="en-US">
                    <a:noFill/>
                  </a:rPr>
                  <a:t> </a:t>
                </a:r>
              </a:p>
            </p:txBody>
          </p:sp>
        </mc:Fallback>
      </mc:AlternateContent>
      <p:sp>
        <p:nvSpPr>
          <p:cNvPr id="17" name="object 17"/>
          <p:cNvSpPr txBox="1"/>
          <p:nvPr/>
        </p:nvSpPr>
        <p:spPr>
          <a:xfrm>
            <a:off x="507950" y="2917001"/>
            <a:ext cx="7499984" cy="420370"/>
          </a:xfrm>
          <a:prstGeom prst="rect">
            <a:avLst/>
          </a:prstGeom>
        </p:spPr>
        <p:txBody>
          <a:bodyPr vert="horz" wrap="square" lIns="0" tIns="0" rIns="0" bIns="0" rtlCol="0">
            <a:spAutoFit/>
          </a:bodyPr>
          <a:lstStyle/>
          <a:p>
            <a:pPr marL="12700">
              <a:lnSpc>
                <a:spcPct val="100000"/>
              </a:lnSpc>
            </a:pPr>
            <a:r>
              <a:rPr sz="2500" spc="-15" dirty="0">
                <a:latin typeface="Gill Sans MT"/>
                <a:cs typeface="Gill Sans MT"/>
              </a:rPr>
              <a:t>“</a:t>
            </a:r>
            <a:r>
              <a:rPr sz="2600" i="1" spc="-85" dirty="0">
                <a:latin typeface="Times New Roman"/>
                <a:cs typeface="Times New Roman"/>
              </a:rPr>
              <a:t>x</a:t>
            </a:r>
            <a:r>
              <a:rPr sz="2775" i="1" baseline="-19519" dirty="0">
                <a:latin typeface="Times New Roman"/>
                <a:cs typeface="Times New Roman"/>
              </a:rPr>
              <a:t>i </a:t>
            </a:r>
            <a:r>
              <a:rPr sz="2775" i="1" spc="-352" baseline="-19519" dirty="0">
                <a:latin typeface="Times New Roman"/>
                <a:cs typeface="Times New Roman"/>
              </a:rPr>
              <a:t> </a:t>
            </a:r>
            <a:r>
              <a:rPr sz="2500" spc="-15" dirty="0">
                <a:latin typeface="Gill Sans MT"/>
                <a:cs typeface="Gill Sans MT"/>
              </a:rPr>
              <a:t>g</a:t>
            </a:r>
            <a:r>
              <a:rPr sz="2500" spc="-75" dirty="0">
                <a:latin typeface="Gill Sans MT"/>
                <a:cs typeface="Gill Sans MT"/>
              </a:rPr>
              <a:t>r</a:t>
            </a:r>
            <a:r>
              <a:rPr sz="2500" spc="-40" dirty="0">
                <a:latin typeface="Gill Sans MT"/>
                <a:cs typeface="Gill Sans MT"/>
              </a:rPr>
              <a:t>o</a:t>
            </a:r>
            <a:r>
              <a:rPr sz="2500" dirty="0">
                <a:latin typeface="Gill Sans MT"/>
                <a:cs typeface="Gill Sans MT"/>
              </a:rPr>
              <a:t>w</a:t>
            </a:r>
            <a:r>
              <a:rPr sz="2500" spc="-10" dirty="0">
                <a:latin typeface="Gill Sans MT"/>
                <a:cs typeface="Gill Sans MT"/>
              </a:rPr>
              <a:t>s</a:t>
            </a:r>
            <a:r>
              <a:rPr sz="2500" spc="-5" dirty="0">
                <a:latin typeface="Gill Sans MT"/>
                <a:cs typeface="Gill Sans MT"/>
              </a:rPr>
              <a:t> </a:t>
            </a:r>
            <a:r>
              <a:rPr sz="2500" spc="-15" dirty="0">
                <a:latin typeface="Gill Sans MT"/>
                <a:cs typeface="Gill Sans MT"/>
              </a:rPr>
              <a:t>a</a:t>
            </a:r>
            <a:r>
              <a:rPr sz="2500" dirty="0">
                <a:latin typeface="Gill Sans MT"/>
                <a:cs typeface="Gill Sans MT"/>
              </a:rPr>
              <a:t>t</a:t>
            </a:r>
            <a:r>
              <a:rPr sz="2500" spc="-5" dirty="0">
                <a:latin typeface="Gill Sans MT"/>
                <a:cs typeface="Gill Sans MT"/>
              </a:rPr>
              <a:t> </a:t>
            </a:r>
            <a:r>
              <a:rPr sz="2500" dirty="0">
                <a:latin typeface="Gill Sans MT"/>
                <a:cs typeface="Gill Sans MT"/>
              </a:rPr>
              <a:t>the</a:t>
            </a:r>
            <a:r>
              <a:rPr sz="2500" spc="-5" dirty="0">
                <a:latin typeface="Gill Sans MT"/>
                <a:cs typeface="Gill Sans MT"/>
              </a:rPr>
              <a:t> </a:t>
            </a:r>
            <a:r>
              <a:rPr sz="2500" spc="-15" dirty="0">
                <a:latin typeface="Gill Sans MT"/>
                <a:cs typeface="Gill Sans MT"/>
              </a:rPr>
              <a:t>ra</a:t>
            </a:r>
            <a:r>
              <a:rPr sz="2500" dirty="0">
                <a:latin typeface="Gill Sans MT"/>
                <a:cs typeface="Gill Sans MT"/>
              </a:rPr>
              <a:t>te</a:t>
            </a:r>
            <a:r>
              <a:rPr sz="2500" spc="-5" dirty="0">
                <a:latin typeface="Gill Sans MT"/>
                <a:cs typeface="Gill Sans MT"/>
              </a:rPr>
              <a:t> </a:t>
            </a:r>
            <a:r>
              <a:rPr sz="2500" spc="-15" dirty="0">
                <a:latin typeface="Gill Sans MT"/>
                <a:cs typeface="Gill Sans MT"/>
              </a:rPr>
              <a:t>a</a:t>
            </a:r>
            <a:r>
              <a:rPr sz="2500" dirty="0">
                <a:latin typeface="Gill Sans MT"/>
                <a:cs typeface="Gill Sans MT"/>
              </a:rPr>
              <a:t>t</a:t>
            </a:r>
            <a:r>
              <a:rPr sz="2500" spc="-5" dirty="0">
                <a:latin typeface="Gill Sans MT"/>
                <a:cs typeface="Gill Sans MT"/>
              </a:rPr>
              <a:t> </a:t>
            </a:r>
            <a:r>
              <a:rPr sz="2500" dirty="0">
                <a:latin typeface="Gill Sans MT"/>
                <a:cs typeface="Gill Sans MT"/>
              </a:rPr>
              <a:t>whi</a:t>
            </a:r>
            <a:r>
              <a:rPr sz="2500" spc="-15" dirty="0">
                <a:latin typeface="Gill Sans MT"/>
                <a:cs typeface="Gill Sans MT"/>
              </a:rPr>
              <a:t>ch</a:t>
            </a:r>
            <a:r>
              <a:rPr sz="2500" spc="-5" dirty="0">
                <a:latin typeface="Gill Sans MT"/>
                <a:cs typeface="Gill Sans MT"/>
              </a:rPr>
              <a:t> </a:t>
            </a:r>
            <a:r>
              <a:rPr sz="2500" dirty="0">
                <a:latin typeface="Gill Sans MT"/>
                <a:cs typeface="Gill Sans MT"/>
              </a:rPr>
              <a:t>it</a:t>
            </a:r>
            <a:r>
              <a:rPr sz="2500" spc="-5" dirty="0">
                <a:latin typeface="Gill Sans MT"/>
                <a:cs typeface="Gill Sans MT"/>
              </a:rPr>
              <a:t> </a:t>
            </a:r>
            <a:r>
              <a:rPr sz="2500" spc="-15" dirty="0">
                <a:latin typeface="Gill Sans MT"/>
                <a:cs typeface="Gill Sans MT"/>
              </a:rPr>
              <a:t>o</a:t>
            </a:r>
            <a:r>
              <a:rPr sz="2500" dirty="0">
                <a:latin typeface="Gill Sans MT"/>
                <a:cs typeface="Gill Sans MT"/>
              </a:rPr>
              <a:t>utper</a:t>
            </a:r>
            <a:r>
              <a:rPr sz="2500" spc="-25" dirty="0">
                <a:latin typeface="Gill Sans MT"/>
                <a:cs typeface="Gill Sans MT"/>
              </a:rPr>
              <a:t>f</a:t>
            </a:r>
            <a:r>
              <a:rPr sz="2500" spc="-15" dirty="0">
                <a:latin typeface="Gill Sans MT"/>
                <a:cs typeface="Gill Sans MT"/>
              </a:rPr>
              <a:t>orms</a:t>
            </a:r>
            <a:r>
              <a:rPr sz="2500" spc="-5" dirty="0">
                <a:latin typeface="Gill Sans MT"/>
                <a:cs typeface="Gill Sans MT"/>
              </a:rPr>
              <a:t> </a:t>
            </a:r>
            <a:r>
              <a:rPr sz="2500" dirty="0">
                <a:latin typeface="Gill Sans MT"/>
                <a:cs typeface="Gill Sans MT"/>
              </a:rPr>
              <a:t>the</a:t>
            </a:r>
            <a:r>
              <a:rPr sz="2500" spc="-5" dirty="0">
                <a:latin typeface="Gill Sans MT"/>
                <a:cs typeface="Gill Sans MT"/>
              </a:rPr>
              <a:t> </a:t>
            </a:r>
            <a:r>
              <a:rPr sz="2500" spc="-105" dirty="0">
                <a:latin typeface="Gill Sans MT"/>
                <a:cs typeface="Gill Sans MT"/>
              </a:rPr>
              <a:t>a</a:t>
            </a:r>
            <a:r>
              <a:rPr sz="2500" spc="-65" dirty="0">
                <a:latin typeface="Gill Sans MT"/>
                <a:cs typeface="Gill Sans MT"/>
              </a:rPr>
              <a:t>v</a:t>
            </a:r>
            <a:r>
              <a:rPr sz="2500" spc="-15" dirty="0">
                <a:latin typeface="Gill Sans MT"/>
                <a:cs typeface="Gill Sans MT"/>
              </a:rPr>
              <a:t>erage”</a:t>
            </a:r>
            <a:endParaRPr sz="2500" dirty="0">
              <a:latin typeface="Gill Sans MT"/>
              <a:cs typeface="Gill Sans MT"/>
            </a:endParaRPr>
          </a:p>
        </p:txBody>
      </p:sp>
      <p:sp>
        <p:nvSpPr>
          <p:cNvPr id="18" name="object 18"/>
          <p:cNvSpPr/>
          <p:nvPr/>
        </p:nvSpPr>
        <p:spPr>
          <a:xfrm>
            <a:off x="413399" y="5153328"/>
            <a:ext cx="7151069" cy="1008762"/>
          </a:xfrm>
          <a:prstGeom prst="rect">
            <a:avLst/>
          </a:prstGeom>
          <a:blipFill>
            <a:blip r:embed="rId6" cstate="print">
              <a:duotone>
                <a:schemeClr val="accent1">
                  <a:shade val="45000"/>
                  <a:satMod val="135000"/>
                </a:schemeClr>
                <a:prstClr val="white"/>
              </a:duotone>
            </a:blip>
            <a:stretch>
              <a:fillRect/>
            </a:stretch>
          </a:blipFill>
        </p:spPr>
        <p:txBody>
          <a:bodyPr wrap="square" lIns="0" tIns="0" rIns="0" bIns="0" rtlCol="0"/>
          <a:lstStyle/>
          <a:p>
            <a:endParaRPr dirty="0"/>
          </a:p>
        </p:txBody>
      </p:sp>
      <p:sp>
        <p:nvSpPr>
          <p:cNvPr id="7" name="Rectangle 6">
            <a:extLst>
              <a:ext uri="{FF2B5EF4-FFF2-40B4-BE49-F238E27FC236}">
                <a16:creationId xmlns:a16="http://schemas.microsoft.com/office/drawing/2014/main" id="{D8A7D109-267F-7E77-961A-868B655034A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3A7C88C7-D236-C19D-AEE1-7856692EB5E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37248683-A0BB-39D5-F76D-7AB3CA098BA0}"/>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40</a:t>
            </a:fld>
            <a:r>
              <a:rPr lang="en-US" sz="2000" dirty="0">
                <a:solidFill>
                  <a:prstClr val="black"/>
                </a:solidFill>
                <a:latin typeface="Comic Sans MS"/>
                <a:sym typeface="Comic Sans MS"/>
              </a:rPr>
              <a:t>/59</a:t>
            </a:r>
          </a:p>
        </p:txBody>
      </p:sp>
      <p:sp>
        <p:nvSpPr>
          <p:cNvPr id="14" name="Footer Placeholder 9">
            <a:extLst>
              <a:ext uri="{FF2B5EF4-FFF2-40B4-BE49-F238E27FC236}">
                <a16:creationId xmlns:a16="http://schemas.microsoft.com/office/drawing/2014/main" id="{12C3D625-87A1-F595-8F49-2042D215551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9" name="Rectangle 18">
            <a:extLst>
              <a:ext uri="{FF2B5EF4-FFF2-40B4-BE49-F238E27FC236}">
                <a16:creationId xmlns:a16="http://schemas.microsoft.com/office/drawing/2014/main" id="{ADD09D8C-2AE6-16E6-28D2-51A2B145106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A7CC5A4-B374-2A87-A900-52B924C41B41}"/>
                  </a:ext>
                </a:extLst>
              </p:cNvPr>
              <p:cNvSpPr txBox="1"/>
              <p:nvPr/>
            </p:nvSpPr>
            <p:spPr>
              <a:xfrm>
                <a:off x="670220" y="2145268"/>
                <a:ext cx="7832429" cy="369332"/>
              </a:xfrm>
              <a:prstGeom prst="rect">
                <a:avLst/>
              </a:prstGeom>
              <a:noFill/>
            </p:spPr>
            <p:txBody>
              <a:bodyPr wrap="square">
                <a:spAutoFit/>
              </a:bodyPr>
              <a:lstStyle/>
              <a:p>
                <a:r>
                  <a:rPr lang="en-US" dirty="0">
                    <a:solidFill>
                      <a:schemeClr val="tx2">
                        <a:lumMod val="60000"/>
                        <a:lumOff val="40000"/>
                      </a:schemeClr>
                    </a:solidFill>
                    <a:latin typeface="Söhne"/>
                  </a:rPr>
                  <a:t>D</a:t>
                </a:r>
                <a:r>
                  <a:rPr lang="en-US" b="0" i="0" dirty="0">
                    <a:solidFill>
                      <a:schemeClr val="tx2">
                        <a:lumMod val="60000"/>
                        <a:lumOff val="40000"/>
                      </a:schemeClr>
                    </a:solidFill>
                    <a:effectLst/>
                    <a:latin typeface="Söhne"/>
                  </a:rPr>
                  <a:t>escribes how the frequency of strategy type </a:t>
                </a:r>
                <a14:m>
                  <m:oMath xmlns:m="http://schemas.openxmlformats.org/officeDocument/2006/math">
                    <m:r>
                      <a:rPr lang="en-US" b="0" i="1" dirty="0" smtClean="0">
                        <a:solidFill>
                          <a:schemeClr val="tx2">
                            <a:lumMod val="60000"/>
                            <a:lumOff val="40000"/>
                          </a:schemeClr>
                        </a:solidFill>
                        <a:effectLst/>
                        <a:latin typeface="Cambria Math" panose="02040503050406030204" pitchFamily="18" charset="0"/>
                      </a:rPr>
                      <m:t>𝑖</m:t>
                    </m:r>
                  </m:oMath>
                </a14:m>
                <a:r>
                  <a:rPr lang="en-US" b="0" i="0" dirty="0">
                    <a:solidFill>
                      <a:schemeClr val="tx2">
                        <a:lumMod val="60000"/>
                        <a:lumOff val="40000"/>
                      </a:schemeClr>
                    </a:solidFill>
                    <a:effectLst/>
                    <a:latin typeface="Söhne"/>
                  </a:rPr>
                  <a:t>, denoted as</a:t>
                </a:r>
                <a14:m>
                  <m:oMath xmlns:m="http://schemas.openxmlformats.org/officeDocument/2006/math">
                    <m:r>
                      <a:rPr lang="en-US" b="0" i="1" dirty="0" smtClean="0">
                        <a:solidFill>
                          <a:schemeClr val="tx2">
                            <a:lumMod val="60000"/>
                            <a:lumOff val="40000"/>
                          </a:schemeClr>
                        </a:solidFill>
                        <a:effectLst/>
                        <a:latin typeface="Cambria Math" panose="02040503050406030204" pitchFamily="18" charset="0"/>
                      </a:rPr>
                      <m:t> </m:t>
                    </m:r>
                    <m:sSub>
                      <m:sSubPr>
                        <m:ctrlPr>
                          <a:rPr lang="en-US" b="0" i="1" dirty="0" err="1">
                            <a:solidFill>
                              <a:schemeClr val="tx2">
                                <a:lumMod val="60000"/>
                                <a:lumOff val="40000"/>
                              </a:schemeClr>
                            </a:solidFill>
                            <a:effectLst/>
                            <a:latin typeface="Cambria Math" panose="02040503050406030204" pitchFamily="18" charset="0"/>
                          </a:rPr>
                        </m:ctrlPr>
                      </m:sSubPr>
                      <m:e>
                        <m:r>
                          <a:rPr lang="en-US" b="0" i="1" dirty="0" err="1">
                            <a:solidFill>
                              <a:schemeClr val="tx2">
                                <a:lumMod val="60000"/>
                                <a:lumOff val="40000"/>
                              </a:schemeClr>
                            </a:solidFill>
                            <a:effectLst/>
                            <a:latin typeface="Cambria Math" panose="02040503050406030204" pitchFamily="18" charset="0"/>
                          </a:rPr>
                          <m:t>𝑥</m:t>
                        </m:r>
                      </m:e>
                      <m:sub>
                        <m:r>
                          <a:rPr lang="en-US" b="0" i="1" dirty="0" err="1">
                            <a:solidFill>
                              <a:schemeClr val="tx2">
                                <a:lumMod val="60000"/>
                                <a:lumOff val="40000"/>
                              </a:schemeClr>
                            </a:solidFill>
                            <a:effectLst/>
                            <a:latin typeface="Cambria Math" panose="02040503050406030204" pitchFamily="18" charset="0"/>
                          </a:rPr>
                          <m:t>𝑖</m:t>
                        </m:r>
                      </m:sub>
                    </m:sSub>
                  </m:oMath>
                </a14:m>
                <a:r>
                  <a:rPr lang="en-US" b="0" i="0" dirty="0">
                    <a:solidFill>
                      <a:schemeClr val="tx2">
                        <a:lumMod val="60000"/>
                        <a:lumOff val="40000"/>
                      </a:schemeClr>
                    </a:solidFill>
                    <a:effectLst/>
                    <a:latin typeface="Söhne"/>
                  </a:rPr>
                  <a:t>, changes over time. </a:t>
                </a:r>
                <a:endParaRPr lang="en-US" dirty="0">
                  <a:solidFill>
                    <a:schemeClr val="tx2">
                      <a:lumMod val="60000"/>
                      <a:lumOff val="40000"/>
                    </a:schemeClr>
                  </a:solidFill>
                </a:endParaRPr>
              </a:p>
            </p:txBody>
          </p:sp>
        </mc:Choice>
        <mc:Fallback xmlns="">
          <p:sp>
            <p:nvSpPr>
              <p:cNvPr id="21" name="TextBox 20">
                <a:extLst>
                  <a:ext uri="{FF2B5EF4-FFF2-40B4-BE49-F238E27FC236}">
                    <a16:creationId xmlns:a16="http://schemas.microsoft.com/office/drawing/2014/main" id="{AA7CC5A4-B374-2A87-A900-52B924C41B41}"/>
                  </a:ext>
                </a:extLst>
              </p:cNvPr>
              <p:cNvSpPr txBox="1">
                <a:spLocks noRot="1" noChangeAspect="1" noMove="1" noResize="1" noEditPoints="1" noAdjustHandles="1" noChangeArrowheads="1" noChangeShapeType="1" noTextEdit="1"/>
              </p:cNvSpPr>
              <p:nvPr/>
            </p:nvSpPr>
            <p:spPr>
              <a:xfrm>
                <a:off x="670220" y="2145268"/>
                <a:ext cx="7832429" cy="369332"/>
              </a:xfrm>
              <a:prstGeom prst="rect">
                <a:avLst/>
              </a:prstGeom>
              <a:blipFill>
                <a:blip r:embed="rId7"/>
                <a:stretch>
                  <a:fillRect l="-700" t="-9836" r="-623" b="-24590"/>
                </a:stretch>
              </a:blipFill>
            </p:spPr>
            <p:txBody>
              <a:bodyPr/>
              <a:lstStyle/>
              <a:p>
                <a:r>
                  <a:rPr 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23443" rIns="0" bIns="0" rtlCol="0">
            <a:spAutoFit/>
          </a:bodyPr>
          <a:lstStyle/>
          <a:p>
            <a:pPr marL="23495">
              <a:lnSpc>
                <a:spcPct val="100000"/>
              </a:lnSpc>
            </a:pPr>
            <a:r>
              <a:rPr sz="3600" dirty="0"/>
              <a:t>Replica</a:t>
            </a:r>
            <a:r>
              <a:rPr sz="3600" spc="-15" dirty="0"/>
              <a:t>t</a:t>
            </a:r>
            <a:r>
              <a:rPr sz="3600" dirty="0"/>
              <a:t>or</a:t>
            </a:r>
            <a:r>
              <a:rPr sz="3600" spc="-5" dirty="0"/>
              <a:t> </a:t>
            </a:r>
            <a:r>
              <a:rPr sz="3600" dirty="0"/>
              <a:t>dynamics</a:t>
            </a:r>
            <a:r>
              <a:rPr sz="3600" spc="-5" dirty="0"/>
              <a:t> </a:t>
            </a:r>
            <a:r>
              <a:rPr sz="3600" dirty="0"/>
              <a:t>-</a:t>
            </a:r>
            <a:r>
              <a:rPr sz="3600" spc="-5" dirty="0"/>
              <a:t> </a:t>
            </a:r>
            <a:r>
              <a:rPr sz="3600" dirty="0"/>
              <a:t>Re</a:t>
            </a:r>
            <a:r>
              <a:rPr sz="3600" spc="-15" dirty="0"/>
              <a:t>st</a:t>
            </a:r>
            <a:r>
              <a:rPr sz="3600" spc="-5" dirty="0"/>
              <a:t> </a:t>
            </a:r>
            <a:r>
              <a:rPr sz="3600" dirty="0"/>
              <a:t>Poin</a:t>
            </a:r>
            <a:r>
              <a:rPr sz="3600" spc="-15" dirty="0"/>
              <a:t>t</a:t>
            </a:r>
            <a:r>
              <a:rPr sz="3600" dirty="0"/>
              <a:t>s</a:t>
            </a:r>
          </a:p>
        </p:txBody>
      </p:sp>
      <mc:AlternateContent xmlns:mc="http://schemas.openxmlformats.org/markup-compatibility/2006" xmlns:a14="http://schemas.microsoft.com/office/drawing/2010/main">
        <mc:Choice Requires="a14">
          <p:sp>
            <p:nvSpPr>
              <p:cNvPr id="17" name="object 17"/>
              <p:cNvSpPr txBox="1"/>
              <p:nvPr/>
            </p:nvSpPr>
            <p:spPr>
              <a:xfrm>
                <a:off x="521017" y="3320304"/>
                <a:ext cx="7833359" cy="2185214"/>
              </a:xfrm>
              <a:prstGeom prst="rect">
                <a:avLst/>
              </a:prstGeom>
            </p:spPr>
            <p:txBody>
              <a:bodyPr vert="horz" wrap="square" lIns="0" tIns="0" rIns="0" bIns="0" rtlCol="0">
                <a:spAutoFit/>
              </a:bodyPr>
              <a:lstStyle/>
              <a:p>
                <a:pPr marL="12700">
                  <a:lnSpc>
                    <a:spcPts val="2840"/>
                  </a:lnSpc>
                </a:pPr>
                <a:r>
                  <a:rPr sz="2400" dirty="0">
                    <a:latin typeface="Gill Sans MT"/>
                    <a:cs typeface="Gill Sans MT"/>
                  </a:rPr>
                  <a:t>Intu</a:t>
                </a:r>
                <a:r>
                  <a:rPr sz="2400" spc="-5" dirty="0">
                    <a:latin typeface="Gill Sans MT"/>
                    <a:cs typeface="Gill Sans MT"/>
                  </a:rPr>
                  <a:t>i</a:t>
                </a:r>
                <a:r>
                  <a:rPr sz="2400" dirty="0">
                    <a:latin typeface="Gill Sans MT"/>
                    <a:cs typeface="Gill Sans MT"/>
                  </a:rPr>
                  <a:t>ti</a:t>
                </a:r>
                <a:r>
                  <a:rPr sz="2400" spc="-65" dirty="0">
                    <a:latin typeface="Gill Sans MT"/>
                    <a:cs typeface="Gill Sans MT"/>
                  </a:rPr>
                  <a:t>v</a:t>
                </a:r>
                <a:r>
                  <a:rPr sz="2400" dirty="0">
                    <a:latin typeface="Gill Sans MT"/>
                    <a:cs typeface="Gill Sans MT"/>
                  </a:rPr>
                  <a:t>e</a:t>
                </a:r>
                <a:r>
                  <a:rPr sz="2400" spc="-25" dirty="0">
                    <a:latin typeface="Gill Sans MT"/>
                    <a:cs typeface="Gill Sans MT"/>
                  </a:rPr>
                  <a:t>l</a:t>
                </a:r>
                <a:r>
                  <a:rPr sz="2400" dirty="0">
                    <a:latin typeface="Gill Sans MT"/>
                    <a:cs typeface="Gill Sans MT"/>
                  </a:rPr>
                  <a:t>y:</a:t>
                </a:r>
                <a:r>
                  <a:rPr sz="2400" spc="-245" dirty="0">
                    <a:latin typeface="Gill Sans MT"/>
                    <a:cs typeface="Gill Sans MT"/>
                  </a:rPr>
                  <a:t> </a:t>
                </a:r>
                <a:r>
                  <a:rPr sz="2400" dirty="0">
                    <a:latin typeface="Gill Sans MT"/>
                    <a:cs typeface="Gill Sans MT"/>
                  </a:rPr>
                  <a:t>either</a:t>
                </a:r>
              </a:p>
              <a:p>
                <a:pPr marL="494665" indent="-342900">
                  <a:lnSpc>
                    <a:spcPts val="2800"/>
                  </a:lnSpc>
                  <a:buFont typeface="Gill Sans MT"/>
                  <a:buChar char="•"/>
                  <a:tabLst>
                    <a:tab pos="494665" algn="l"/>
                  </a:tabLst>
                </a:pPr>
                <a:r>
                  <a:rPr sz="2400" dirty="0">
                    <a:latin typeface="Gill Sans MT"/>
                    <a:cs typeface="Gill Sans MT"/>
                  </a:rPr>
                  <a:t>the</a:t>
                </a:r>
                <a:r>
                  <a:rPr sz="2400" spc="-50" dirty="0">
                    <a:latin typeface="Gill Sans MT"/>
                    <a:cs typeface="Gill Sans MT"/>
                  </a:rPr>
                  <a:t>r</a:t>
                </a:r>
                <a:r>
                  <a:rPr sz="2400" dirty="0">
                    <a:latin typeface="Gill Sans MT"/>
                    <a:cs typeface="Gill Sans MT"/>
                  </a:rPr>
                  <a:t>e</a:t>
                </a:r>
                <a:r>
                  <a:rPr sz="2400" spc="-5" dirty="0">
                    <a:latin typeface="Gill Sans MT"/>
                    <a:cs typeface="Gill Sans MT"/>
                  </a:rPr>
                  <a:t> </a:t>
                </a:r>
                <a:r>
                  <a:rPr sz="2400" dirty="0">
                    <a:latin typeface="Gill Sans MT"/>
                    <a:cs typeface="Gill Sans MT"/>
                  </a:rPr>
                  <a:t>i</a:t>
                </a:r>
                <a:r>
                  <a:rPr sz="2400" spc="-10" dirty="0">
                    <a:latin typeface="Gill Sans MT"/>
                    <a:cs typeface="Gill Sans MT"/>
                  </a:rPr>
                  <a:t>s</a:t>
                </a:r>
                <a:r>
                  <a:rPr sz="2400" spc="-5" dirty="0">
                    <a:latin typeface="Gill Sans MT"/>
                    <a:cs typeface="Gill Sans MT"/>
                  </a:rPr>
                  <a:t> </a:t>
                </a:r>
                <a:r>
                  <a:rPr sz="2400" spc="-15" dirty="0">
                    <a:latin typeface="Gill Sans MT"/>
                    <a:cs typeface="Gill Sans MT"/>
                  </a:rPr>
                  <a:t>no</a:t>
                </a:r>
                <a:r>
                  <a:rPr sz="2400" spc="-5" dirty="0">
                    <a:latin typeface="Gill Sans MT"/>
                    <a:cs typeface="Gill Sans MT"/>
                  </a:rPr>
                  <a:t>-</a:t>
                </a:r>
                <a:r>
                  <a:rPr sz="2400" spc="-15" dirty="0">
                    <a:latin typeface="Gill Sans MT"/>
                    <a:cs typeface="Gill Sans MT"/>
                  </a:rPr>
                  <a:t>o</a:t>
                </a:r>
                <a:r>
                  <a:rPr sz="2400" dirty="0">
                    <a:latin typeface="Gill Sans MT"/>
                    <a:cs typeface="Gill Sans MT"/>
                  </a:rPr>
                  <a:t>ne</a:t>
                </a:r>
                <a:r>
                  <a:rPr sz="2400" spc="-5" dirty="0">
                    <a:latin typeface="Gill Sans MT"/>
                    <a:cs typeface="Gill Sans MT"/>
                  </a:rPr>
                  <a:t> </a:t>
                </a:r>
                <a:r>
                  <a:rPr sz="2400" dirty="0">
                    <a:latin typeface="Gill Sans MT"/>
                    <a:cs typeface="Gill Sans MT"/>
                  </a:rPr>
                  <a:t>left</a:t>
                </a:r>
                <a:r>
                  <a:rPr sz="2400" spc="-5" dirty="0">
                    <a:latin typeface="Gill Sans MT"/>
                    <a:cs typeface="Gill Sans MT"/>
                  </a:rPr>
                  <a:t> </a:t>
                </a:r>
                <a:r>
                  <a:rPr sz="2400" spc="-15" dirty="0">
                    <a:latin typeface="Gill Sans MT"/>
                    <a:cs typeface="Gill Sans MT"/>
                  </a:rPr>
                  <a:t>to</a:t>
                </a:r>
                <a:r>
                  <a:rPr sz="2400" spc="-5" dirty="0">
                    <a:latin typeface="Gill Sans MT"/>
                    <a:cs typeface="Gill Sans MT"/>
                  </a:rPr>
                  <a:t> </a:t>
                </a:r>
                <a:r>
                  <a:rPr sz="2400" dirty="0">
                    <a:latin typeface="Gill Sans MT"/>
                    <a:cs typeface="Gill Sans MT"/>
                  </a:rPr>
                  <a:t>e</a:t>
                </a:r>
                <a:r>
                  <a:rPr sz="2400" spc="-75" dirty="0">
                    <a:latin typeface="Gill Sans MT"/>
                    <a:cs typeface="Gill Sans MT"/>
                  </a:rPr>
                  <a:t>x</a:t>
                </a:r>
                <a:r>
                  <a:rPr sz="2400" dirty="0">
                    <a:latin typeface="Gill Sans MT"/>
                    <a:cs typeface="Gill Sans MT"/>
                  </a:rPr>
                  <a:t>ecute</a:t>
                </a:r>
                <a:r>
                  <a:rPr sz="2400" spc="-5" dirty="0">
                    <a:latin typeface="Gill Sans MT"/>
                    <a:cs typeface="Gill Sans MT"/>
                  </a:rPr>
                  <a:t> </a:t>
                </a:r>
                <a:r>
                  <a:rPr sz="2400" spc="-10" dirty="0">
                    <a:latin typeface="Gill Sans MT"/>
                    <a:cs typeface="Gill Sans MT"/>
                  </a:rPr>
                  <a:t>strate</a:t>
                </a:r>
                <a:r>
                  <a:rPr sz="2400" spc="25" dirty="0">
                    <a:latin typeface="Gill Sans MT"/>
                    <a:cs typeface="Gill Sans MT"/>
                  </a:rPr>
                  <a:t>g</a:t>
                </a:r>
                <a:r>
                  <a:rPr sz="2400" spc="-15" dirty="0">
                    <a:latin typeface="Gill Sans MT"/>
                    <a:cs typeface="Gill Sans MT"/>
                  </a:rPr>
                  <a:t>y</a:t>
                </a:r>
                <a:r>
                  <a:rPr sz="2400" spc="-5" dirty="0">
                    <a:latin typeface="Gill Sans MT"/>
                    <a:cs typeface="Gill Sans MT"/>
                  </a:rPr>
                  <a:t> </a:t>
                </a:r>
                <a14:m>
                  <m:oMath xmlns:m="http://schemas.openxmlformats.org/officeDocument/2006/math">
                    <m:r>
                      <a:rPr lang="en-US" sz="2400" i="1" spc="-5" dirty="0" smtClean="0">
                        <a:latin typeface="Cambria Math" panose="02040503050406030204" pitchFamily="18" charset="0"/>
                        <a:cs typeface="Gill Sans MT"/>
                      </a:rPr>
                      <m:t>𝑖</m:t>
                    </m:r>
                  </m:oMath>
                </a14:m>
                <a:r>
                  <a:rPr sz="2400" i="1" spc="-5" dirty="0">
                    <a:latin typeface="Gill Sans MT"/>
                    <a:cs typeface="Gill Sans MT"/>
                  </a:rPr>
                  <a:t> </a:t>
                </a:r>
                <a:r>
                  <a:rPr sz="2400" spc="-15" dirty="0">
                    <a:latin typeface="Gill Sans MT"/>
                    <a:cs typeface="Gill Sans MT"/>
                  </a:rPr>
                  <a:t>or</a:t>
                </a:r>
                <a:endParaRPr sz="2400" dirty="0">
                  <a:latin typeface="Gill Sans MT"/>
                  <a:cs typeface="Gill Sans MT"/>
                </a:endParaRPr>
              </a:p>
              <a:p>
                <a:pPr marL="494665" indent="-342900">
                  <a:lnSpc>
                    <a:spcPts val="2840"/>
                  </a:lnSpc>
                  <a:buFont typeface="Gill Sans MT"/>
                  <a:buChar char="•"/>
                  <a:tabLst>
                    <a:tab pos="494665" algn="l"/>
                  </a:tabLst>
                </a:pPr>
                <a:r>
                  <a:rPr sz="2400" dirty="0">
                    <a:latin typeface="Gill Sans MT"/>
                    <a:cs typeface="Gill Sans MT"/>
                  </a:rPr>
                  <a:t>the</a:t>
                </a:r>
                <a:r>
                  <a:rPr sz="2400" spc="-5" dirty="0">
                    <a:latin typeface="Gill Sans MT"/>
                    <a:cs typeface="Gill Sans MT"/>
                  </a:rPr>
                  <a:t> </a:t>
                </a:r>
                <a:r>
                  <a:rPr sz="2400" spc="-15" dirty="0">
                    <a:latin typeface="Gill Sans MT"/>
                    <a:cs typeface="Gill Sans MT"/>
                  </a:rPr>
                  <a:t>p</a:t>
                </a:r>
                <a:r>
                  <a:rPr sz="2400" spc="-114" dirty="0">
                    <a:latin typeface="Gill Sans MT"/>
                    <a:cs typeface="Gill Sans MT"/>
                  </a:rPr>
                  <a:t>a</a:t>
                </a:r>
                <a:r>
                  <a:rPr sz="2400" spc="-65" dirty="0">
                    <a:latin typeface="Gill Sans MT"/>
                    <a:cs typeface="Gill Sans MT"/>
                  </a:rPr>
                  <a:t>y</a:t>
                </a:r>
                <a:r>
                  <a:rPr sz="2400" spc="-15" dirty="0">
                    <a:latin typeface="Gill Sans MT"/>
                    <a:cs typeface="Gill Sans MT"/>
                  </a:rPr>
                  <a:t>o</a:t>
                </a:r>
                <a:r>
                  <a:rPr sz="2400" dirty="0">
                    <a:latin typeface="Gill Sans MT"/>
                    <a:cs typeface="Gill Sans MT"/>
                  </a:rPr>
                  <a:t>ff</a:t>
                </a:r>
                <a:r>
                  <a:rPr sz="2400" spc="-5" dirty="0">
                    <a:latin typeface="Gill Sans MT"/>
                    <a:cs typeface="Gill Sans MT"/>
                  </a:rPr>
                  <a:t> </a:t>
                </a:r>
                <a:r>
                  <a:rPr sz="2400" spc="-25" dirty="0">
                    <a:latin typeface="Gill Sans MT"/>
                    <a:cs typeface="Gill Sans MT"/>
                  </a:rPr>
                  <a:t>f</a:t>
                </a:r>
                <a:r>
                  <a:rPr sz="2400" spc="-15" dirty="0">
                    <a:latin typeface="Gill Sans MT"/>
                    <a:cs typeface="Gill Sans MT"/>
                  </a:rPr>
                  <a:t>or</a:t>
                </a:r>
                <a:r>
                  <a:rPr sz="2400" spc="-5" dirty="0">
                    <a:latin typeface="Gill Sans MT"/>
                    <a:cs typeface="Gill Sans MT"/>
                  </a:rPr>
                  <a:t> </a:t>
                </a:r>
                <a:r>
                  <a:rPr sz="2400" spc="-10" dirty="0">
                    <a:latin typeface="Gill Sans MT"/>
                    <a:cs typeface="Gill Sans MT"/>
                  </a:rPr>
                  <a:t>strate</a:t>
                </a:r>
                <a:r>
                  <a:rPr sz="2400" spc="25" dirty="0">
                    <a:latin typeface="Gill Sans MT"/>
                    <a:cs typeface="Gill Sans MT"/>
                  </a:rPr>
                  <a:t>g</a:t>
                </a:r>
                <a:r>
                  <a:rPr sz="2400" spc="-15" dirty="0">
                    <a:latin typeface="Gill Sans MT"/>
                    <a:cs typeface="Gill Sans MT"/>
                  </a:rPr>
                  <a:t>y</a:t>
                </a:r>
                <a:r>
                  <a:rPr sz="2400" spc="-5" dirty="0">
                    <a:latin typeface="Gill Sans MT"/>
                    <a:cs typeface="Gill Sans MT"/>
                  </a:rPr>
                  <a:t> </a:t>
                </a:r>
                <a:r>
                  <a:rPr sz="2400" i="1" spc="-5" dirty="0">
                    <a:latin typeface="Gill Sans MT"/>
                    <a:cs typeface="Gill Sans MT"/>
                  </a:rPr>
                  <a:t>i </a:t>
                </a:r>
                <a:r>
                  <a:rPr sz="2400" dirty="0">
                    <a:latin typeface="Gill Sans MT"/>
                    <a:cs typeface="Gill Sans MT"/>
                  </a:rPr>
                  <a:t>i</a:t>
                </a:r>
                <a:r>
                  <a:rPr sz="2400" spc="-10" dirty="0">
                    <a:latin typeface="Gill Sans MT"/>
                    <a:cs typeface="Gill Sans MT"/>
                  </a:rPr>
                  <a:t>s</a:t>
                </a:r>
                <a:r>
                  <a:rPr sz="2400" spc="-5" dirty="0">
                    <a:latin typeface="Gill Sans MT"/>
                    <a:cs typeface="Gill Sans MT"/>
                  </a:rPr>
                  <a:t> </a:t>
                </a:r>
                <a:r>
                  <a:rPr sz="2400" dirty="0">
                    <a:latin typeface="Gill Sans MT"/>
                    <a:cs typeface="Gill Sans MT"/>
                  </a:rPr>
                  <a:t>the</a:t>
                </a:r>
                <a:r>
                  <a:rPr sz="2400" spc="-5" dirty="0">
                    <a:latin typeface="Gill Sans MT"/>
                    <a:cs typeface="Gill Sans MT"/>
                  </a:rPr>
                  <a:t> </a:t>
                </a:r>
                <a:r>
                  <a:rPr sz="2400" spc="-10" dirty="0">
                    <a:latin typeface="Gill Sans MT"/>
                    <a:cs typeface="Gill Sans MT"/>
                  </a:rPr>
                  <a:t>sa</a:t>
                </a:r>
                <a:r>
                  <a:rPr sz="2400" dirty="0">
                    <a:latin typeface="Gill Sans MT"/>
                    <a:cs typeface="Gill Sans MT"/>
                  </a:rPr>
                  <a:t>me</a:t>
                </a:r>
                <a:r>
                  <a:rPr sz="2400" spc="-5" dirty="0">
                    <a:latin typeface="Gill Sans MT"/>
                    <a:cs typeface="Gill Sans MT"/>
                  </a:rPr>
                  <a:t> </a:t>
                </a:r>
                <a:r>
                  <a:rPr sz="2400" spc="-10" dirty="0">
                    <a:latin typeface="Gill Sans MT"/>
                    <a:cs typeface="Gill Sans MT"/>
                  </a:rPr>
                  <a:t>as</a:t>
                </a:r>
                <a:r>
                  <a:rPr sz="2400" spc="-5" dirty="0">
                    <a:latin typeface="Gill Sans MT"/>
                    <a:cs typeface="Gill Sans MT"/>
                  </a:rPr>
                  <a:t> </a:t>
                </a:r>
                <a:r>
                  <a:rPr sz="2400" dirty="0">
                    <a:latin typeface="Gill Sans MT"/>
                    <a:cs typeface="Gill Sans MT"/>
                  </a:rPr>
                  <a:t>the</a:t>
                </a:r>
                <a:r>
                  <a:rPr sz="2400" spc="-5" dirty="0">
                    <a:latin typeface="Gill Sans MT"/>
                    <a:cs typeface="Gill Sans MT"/>
                  </a:rPr>
                  <a:t> </a:t>
                </a:r>
                <a:r>
                  <a:rPr sz="2400" spc="-100" dirty="0">
                    <a:latin typeface="Gill Sans MT"/>
                    <a:cs typeface="Gill Sans MT"/>
                  </a:rPr>
                  <a:t>a</a:t>
                </a:r>
                <a:r>
                  <a:rPr sz="2400" spc="-65" dirty="0">
                    <a:latin typeface="Gill Sans MT"/>
                    <a:cs typeface="Gill Sans MT"/>
                  </a:rPr>
                  <a:t>v</a:t>
                </a:r>
                <a:r>
                  <a:rPr sz="2400" spc="-15" dirty="0">
                    <a:latin typeface="Gill Sans MT"/>
                    <a:cs typeface="Gill Sans MT"/>
                  </a:rPr>
                  <a:t>erag</a:t>
                </a:r>
                <a:r>
                  <a:rPr sz="2400" dirty="0">
                    <a:latin typeface="Gill Sans MT"/>
                    <a:cs typeface="Gill Sans MT"/>
                  </a:rPr>
                  <a:t>e</a:t>
                </a:r>
                <a:r>
                  <a:rPr sz="2400" spc="-5" dirty="0">
                    <a:latin typeface="Gill Sans MT"/>
                    <a:cs typeface="Gill Sans MT"/>
                  </a:rPr>
                  <a:t> </a:t>
                </a:r>
                <a:r>
                  <a:rPr sz="2400" spc="-15" dirty="0">
                    <a:latin typeface="Gill Sans MT"/>
                    <a:cs typeface="Gill Sans MT"/>
                  </a:rPr>
                  <a:t>p</a:t>
                </a:r>
                <a:r>
                  <a:rPr sz="2400" spc="-114" dirty="0">
                    <a:latin typeface="Gill Sans MT"/>
                    <a:cs typeface="Gill Sans MT"/>
                  </a:rPr>
                  <a:t>a</a:t>
                </a:r>
                <a:r>
                  <a:rPr sz="2400" spc="-65" dirty="0">
                    <a:latin typeface="Gill Sans MT"/>
                    <a:cs typeface="Gill Sans MT"/>
                  </a:rPr>
                  <a:t>y</a:t>
                </a:r>
                <a:r>
                  <a:rPr sz="2400" spc="-15" dirty="0">
                    <a:latin typeface="Gill Sans MT"/>
                    <a:cs typeface="Gill Sans MT"/>
                  </a:rPr>
                  <a:t>o</a:t>
                </a:r>
                <a:r>
                  <a:rPr sz="2400" dirty="0">
                    <a:latin typeface="Gill Sans MT"/>
                    <a:cs typeface="Gill Sans MT"/>
                  </a:rPr>
                  <a:t>ff</a:t>
                </a:r>
              </a:p>
              <a:p>
                <a:pPr>
                  <a:lnSpc>
                    <a:spcPct val="100000"/>
                  </a:lnSpc>
                </a:pPr>
                <a:endParaRPr sz="2400" dirty="0">
                  <a:latin typeface="Times New Roman"/>
                  <a:cs typeface="Times New Roman"/>
                </a:endParaRPr>
              </a:p>
              <a:p>
                <a:pPr>
                  <a:lnSpc>
                    <a:spcPct val="100000"/>
                  </a:lnSpc>
                  <a:spcBef>
                    <a:spcPts val="1"/>
                  </a:spcBef>
                </a:pPr>
                <a:endParaRPr sz="2400" dirty="0">
                  <a:latin typeface="Times New Roman"/>
                  <a:cs typeface="Times New Roman"/>
                </a:endParaRPr>
              </a:p>
              <a:p>
                <a:pPr marL="12700">
                  <a:lnSpc>
                    <a:spcPct val="100000"/>
                  </a:lnSpc>
                </a:pPr>
                <a:r>
                  <a:rPr sz="2400" dirty="0">
                    <a:latin typeface="Gill Sans MT"/>
                    <a:cs typeface="Gill Sans MT"/>
                  </a:rPr>
                  <a:t>Thi</a:t>
                </a:r>
                <a:r>
                  <a:rPr sz="2400" spc="-10" dirty="0">
                    <a:latin typeface="Gill Sans MT"/>
                    <a:cs typeface="Gill Sans MT"/>
                  </a:rPr>
                  <a:t>s</a:t>
                </a:r>
                <a:r>
                  <a:rPr sz="2400" spc="-5" dirty="0">
                    <a:latin typeface="Gill Sans MT"/>
                    <a:cs typeface="Gill Sans MT"/>
                  </a:rPr>
                  <a:t> </a:t>
                </a:r>
                <a:r>
                  <a:rPr sz="2400" spc="-15" dirty="0">
                    <a:latin typeface="Gill Sans MT"/>
                    <a:cs typeface="Gill Sans MT"/>
                  </a:rPr>
                  <a:t>means</a:t>
                </a:r>
                <a:r>
                  <a:rPr sz="2400" spc="-5" dirty="0">
                    <a:latin typeface="Gill Sans MT"/>
                    <a:cs typeface="Gill Sans MT"/>
                  </a:rPr>
                  <a:t> </a:t>
                </a:r>
                <a:r>
                  <a:rPr sz="2400" spc="-10" dirty="0">
                    <a:latin typeface="Gill Sans MT"/>
                    <a:cs typeface="Gill Sans MT"/>
                  </a:rPr>
                  <a:t>tha</a:t>
                </a:r>
                <a:r>
                  <a:rPr sz="2400" dirty="0">
                    <a:latin typeface="Gill Sans MT"/>
                    <a:cs typeface="Gill Sans MT"/>
                  </a:rPr>
                  <a:t>t</a:t>
                </a:r>
                <a:r>
                  <a:rPr sz="2400" spc="-5" dirty="0">
                    <a:latin typeface="Gill Sans MT"/>
                    <a:cs typeface="Gill Sans MT"/>
                  </a:rPr>
                  <a:t> </a:t>
                </a:r>
                <a:r>
                  <a:rPr sz="2400" dirty="0">
                    <a:latin typeface="Gill Sans MT"/>
                    <a:cs typeface="Gill Sans MT"/>
                  </a:rPr>
                  <a:t>in</a:t>
                </a:r>
                <a:r>
                  <a:rPr sz="2400" spc="-5" dirty="0">
                    <a:latin typeface="Gill Sans MT"/>
                    <a:cs typeface="Gill Sans MT"/>
                  </a:rPr>
                  <a:t> </a:t>
                </a:r>
                <a:r>
                  <a:rPr sz="2400" spc="-15" dirty="0">
                    <a:latin typeface="Gill Sans MT"/>
                    <a:cs typeface="Gill Sans MT"/>
                  </a:rPr>
                  <a:t>stead</a:t>
                </a:r>
                <a:r>
                  <a:rPr sz="2400" dirty="0">
                    <a:latin typeface="Gill Sans MT"/>
                    <a:cs typeface="Gill Sans MT"/>
                  </a:rPr>
                  <a:t>y</a:t>
                </a:r>
                <a:r>
                  <a:rPr sz="2400" spc="-5" dirty="0">
                    <a:latin typeface="Gill Sans MT"/>
                    <a:cs typeface="Gill Sans MT"/>
                  </a:rPr>
                  <a:t>-</a:t>
                </a:r>
                <a:r>
                  <a:rPr sz="2400" spc="-10" dirty="0">
                    <a:latin typeface="Gill Sans MT"/>
                    <a:cs typeface="Gill Sans MT"/>
                  </a:rPr>
                  <a:t>sta</a:t>
                </a:r>
                <a:r>
                  <a:rPr sz="2400" dirty="0">
                    <a:latin typeface="Gill Sans MT"/>
                    <a:cs typeface="Gill Sans MT"/>
                  </a:rPr>
                  <a:t>te</a:t>
                </a:r>
                <a:r>
                  <a:rPr sz="2400" spc="-5" dirty="0">
                    <a:latin typeface="Gill Sans MT"/>
                    <a:cs typeface="Gill Sans MT"/>
                  </a:rPr>
                  <a:t> </a:t>
                </a:r>
                <a:r>
                  <a:rPr sz="2400" spc="-15" dirty="0">
                    <a:latin typeface="Gill Sans MT"/>
                    <a:cs typeface="Gill Sans MT"/>
                  </a:rPr>
                  <a:t>a</a:t>
                </a:r>
                <a:r>
                  <a:rPr sz="2400" dirty="0">
                    <a:latin typeface="Gill Sans MT"/>
                    <a:cs typeface="Gill Sans MT"/>
                  </a:rPr>
                  <a:t>ll</a:t>
                </a:r>
                <a:r>
                  <a:rPr sz="2400" spc="-5" dirty="0">
                    <a:latin typeface="Gill Sans MT"/>
                    <a:cs typeface="Gill Sans MT"/>
                  </a:rPr>
                  <a:t> </a:t>
                </a:r>
                <a:r>
                  <a:rPr sz="2400" spc="-15" dirty="0">
                    <a:latin typeface="Gill Sans MT"/>
                    <a:cs typeface="Gill Sans MT"/>
                  </a:rPr>
                  <a:t>types</a:t>
                </a:r>
                <a:r>
                  <a:rPr sz="2400" spc="-5" dirty="0">
                    <a:latin typeface="Gill Sans MT"/>
                    <a:cs typeface="Gill Sans MT"/>
                  </a:rPr>
                  <a:t> </a:t>
                </a:r>
                <a:r>
                  <a:rPr sz="2400" spc="-45" dirty="0">
                    <a:latin typeface="Gill Sans MT"/>
                    <a:cs typeface="Gill Sans MT"/>
                  </a:rPr>
                  <a:t>m</a:t>
                </a:r>
                <a:r>
                  <a:rPr sz="2400" spc="-15" dirty="0">
                    <a:latin typeface="Gill Sans MT"/>
                    <a:cs typeface="Gill Sans MT"/>
                  </a:rPr>
                  <a:t>us</a:t>
                </a:r>
                <a:r>
                  <a:rPr sz="2400" dirty="0">
                    <a:latin typeface="Gill Sans MT"/>
                    <a:cs typeface="Gill Sans MT"/>
                  </a:rPr>
                  <a:t>t</a:t>
                </a:r>
                <a:r>
                  <a:rPr sz="2400" spc="-5" dirty="0">
                    <a:latin typeface="Gill Sans MT"/>
                    <a:cs typeface="Gill Sans MT"/>
                  </a:rPr>
                  <a:t> </a:t>
                </a:r>
                <a:r>
                  <a:rPr sz="2400" spc="-15" dirty="0">
                    <a:latin typeface="Gill Sans MT"/>
                    <a:cs typeface="Gill Sans MT"/>
                  </a:rPr>
                  <a:t>h</a:t>
                </a:r>
                <a:r>
                  <a:rPr sz="2400" spc="-100" dirty="0">
                    <a:latin typeface="Gill Sans MT"/>
                    <a:cs typeface="Gill Sans MT"/>
                  </a:rPr>
                  <a:t>a</a:t>
                </a:r>
                <a:r>
                  <a:rPr sz="2400" spc="-65" dirty="0">
                    <a:latin typeface="Gill Sans MT"/>
                    <a:cs typeface="Gill Sans MT"/>
                  </a:rPr>
                  <a:t>v</a:t>
                </a:r>
                <a:r>
                  <a:rPr sz="2400" dirty="0">
                    <a:latin typeface="Gill Sans MT"/>
                    <a:cs typeface="Gill Sans MT"/>
                  </a:rPr>
                  <a:t>e</a:t>
                </a:r>
                <a:r>
                  <a:rPr sz="2400" spc="-5" dirty="0">
                    <a:latin typeface="Gill Sans MT"/>
                    <a:cs typeface="Gill Sans MT"/>
                  </a:rPr>
                  <a:t> </a:t>
                </a:r>
                <a:r>
                  <a:rPr sz="2400" spc="-10" dirty="0">
                    <a:latin typeface="Gill Sans MT"/>
                    <a:cs typeface="Gill Sans MT"/>
                  </a:rPr>
                  <a:t>sa</a:t>
                </a:r>
                <a:r>
                  <a:rPr sz="2400" dirty="0">
                    <a:latin typeface="Gill Sans MT"/>
                    <a:cs typeface="Gill Sans MT"/>
                  </a:rPr>
                  <a:t>me</a:t>
                </a:r>
                <a:r>
                  <a:rPr sz="2400" spc="-5" dirty="0">
                    <a:latin typeface="Gill Sans MT"/>
                    <a:cs typeface="Gill Sans MT"/>
                  </a:rPr>
                  <a:t> </a:t>
                </a:r>
                <a:r>
                  <a:rPr sz="2400" spc="-15" dirty="0">
                    <a:latin typeface="Gill Sans MT"/>
                    <a:cs typeface="Gill Sans MT"/>
                  </a:rPr>
                  <a:t>p</a:t>
                </a:r>
                <a:r>
                  <a:rPr sz="2400" spc="-114" dirty="0">
                    <a:latin typeface="Gill Sans MT"/>
                    <a:cs typeface="Gill Sans MT"/>
                  </a:rPr>
                  <a:t>a</a:t>
                </a:r>
                <a:r>
                  <a:rPr sz="2400" spc="-65" dirty="0">
                    <a:latin typeface="Gill Sans MT"/>
                    <a:cs typeface="Gill Sans MT"/>
                  </a:rPr>
                  <a:t>y</a:t>
                </a:r>
                <a:r>
                  <a:rPr sz="2400" spc="-15" dirty="0">
                    <a:latin typeface="Gill Sans MT"/>
                    <a:cs typeface="Gill Sans MT"/>
                  </a:rPr>
                  <a:t>o</a:t>
                </a:r>
                <a:r>
                  <a:rPr sz="2400" dirty="0">
                    <a:latin typeface="Gill Sans MT"/>
                    <a:cs typeface="Gill Sans MT"/>
                  </a:rPr>
                  <a:t>ff.</a:t>
                </a:r>
              </a:p>
            </p:txBody>
          </p:sp>
        </mc:Choice>
        <mc:Fallback xmlns="">
          <p:sp>
            <p:nvSpPr>
              <p:cNvPr id="17" name="object 17"/>
              <p:cNvSpPr txBox="1">
                <a:spLocks noRot="1" noChangeAspect="1" noMove="1" noResize="1" noEditPoints="1" noAdjustHandles="1" noChangeArrowheads="1" noChangeShapeType="1" noTextEdit="1"/>
              </p:cNvSpPr>
              <p:nvPr/>
            </p:nvSpPr>
            <p:spPr>
              <a:xfrm>
                <a:off x="521017" y="3320304"/>
                <a:ext cx="7833359" cy="2185214"/>
              </a:xfrm>
              <a:prstGeom prst="rect">
                <a:avLst/>
              </a:prstGeom>
              <a:blipFill>
                <a:blip r:embed="rId3"/>
                <a:stretch>
                  <a:fillRect l="-2179" t="-5028" r="-1012" b="-75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267A266-4BC2-760F-3D5B-97256280813A}"/>
                  </a:ext>
                </a:extLst>
              </p:cNvPr>
              <p:cNvSpPr txBox="1"/>
              <p:nvPr/>
            </p:nvSpPr>
            <p:spPr>
              <a:xfrm>
                <a:off x="457200" y="1809828"/>
                <a:ext cx="6308472" cy="1163460"/>
              </a:xfrm>
              <a:prstGeom prst="rect">
                <a:avLst/>
              </a:prstGeom>
              <a:noFill/>
            </p:spPr>
            <p:txBody>
              <a:bodyPr wrap="square">
                <a:spAutoFit/>
              </a:bodyPr>
              <a:lstStyle/>
              <a:p>
                <a:pPr marL="12700">
                  <a:lnSpc>
                    <a:spcPct val="100000"/>
                  </a:lnSpc>
                  <a:tabLst>
                    <a:tab pos="939165" algn="l"/>
                    <a:tab pos="2246630" algn="l"/>
                  </a:tabLst>
                </a:pPr>
                <a14:m>
                  <m:oMath xmlns:m="http://schemas.openxmlformats.org/officeDocument/2006/math">
                    <m:sSub>
                      <m:sSubPr>
                        <m:ctrlPr>
                          <a:rPr lang="ar-YE" sz="2800" b="0" i="1" spc="-10" smtClean="0">
                            <a:latin typeface="Cambria Math" panose="02040503050406030204" pitchFamily="18" charset="0"/>
                            <a:cs typeface="Times New Roman"/>
                          </a:rPr>
                        </m:ctrlPr>
                      </m:sSubPr>
                      <m:e>
                        <m:acc>
                          <m:accPr>
                            <m:chr m:val="̇"/>
                            <m:ctrlPr>
                              <a:rPr lang="ar-YE" sz="2800" b="0" i="1" spc="-10" smtClean="0">
                                <a:latin typeface="Cambria Math" panose="02040503050406030204" pitchFamily="18" charset="0"/>
                                <a:cs typeface="Times New Roman"/>
                              </a:rPr>
                            </m:ctrlPr>
                          </m:accPr>
                          <m:e>
                            <m:r>
                              <a:rPr lang="ar-YE" sz="2800" b="0" i="1" spc="-10" smtClean="0">
                                <a:latin typeface="Cambria Math" panose="02040503050406030204" pitchFamily="18" charset="0"/>
                                <a:cs typeface="Times New Roman"/>
                              </a:rPr>
                              <m:t>𝑥</m:t>
                            </m:r>
                          </m:e>
                        </m:acc>
                      </m:e>
                      <m:sub>
                        <m:r>
                          <a:rPr lang="ar-YE" sz="2800" b="0" i="1" spc="-10" smtClean="0">
                            <a:latin typeface="Cambria Math" panose="02040503050406030204" pitchFamily="18" charset="0"/>
                            <a:cs typeface="Times New Roman"/>
                          </a:rPr>
                          <m:t>𝑖</m:t>
                        </m:r>
                      </m:sub>
                    </m:sSub>
                    <m:r>
                      <a:rPr lang="ar-YE" sz="2800" b="0" i="1" spc="-10" smtClean="0">
                        <a:latin typeface="Cambria Math" panose="02040503050406030204" pitchFamily="18" charset="0"/>
                        <a:cs typeface="Times New Roman"/>
                      </a:rPr>
                      <m:t>=</m:t>
                    </m:r>
                    <m:sSub>
                      <m:sSubPr>
                        <m:ctrlPr>
                          <a:rPr lang="ar-YE" sz="2800" b="0" i="1" spc="-10" smtClean="0">
                            <a:latin typeface="Cambria Math" panose="02040503050406030204" pitchFamily="18" charset="0"/>
                            <a:cs typeface="Times New Roman"/>
                          </a:rPr>
                        </m:ctrlPr>
                      </m:sSubPr>
                      <m:e>
                        <m:r>
                          <a:rPr lang="ar-YE" sz="2800" b="0" i="1" spc="-10" smtClean="0">
                            <a:latin typeface="Cambria Math" panose="02040503050406030204" pitchFamily="18" charset="0"/>
                            <a:cs typeface="Times New Roman"/>
                          </a:rPr>
                          <m:t>𝑥</m:t>
                        </m:r>
                      </m:e>
                      <m:sub>
                        <m:r>
                          <a:rPr lang="ar-YE" sz="2800" b="0" i="1" spc="-10" smtClean="0">
                            <a:latin typeface="Cambria Math" panose="02040503050406030204" pitchFamily="18" charset="0"/>
                            <a:cs typeface="Times New Roman"/>
                          </a:rPr>
                          <m:t>𝑖</m:t>
                        </m:r>
                      </m:sub>
                    </m:sSub>
                    <m:d>
                      <m:dPr>
                        <m:ctrlPr>
                          <a:rPr lang="ar-YE" sz="2800" b="0" i="1" spc="-10" smtClean="0">
                            <a:latin typeface="Cambria Math" panose="02040503050406030204" pitchFamily="18" charset="0"/>
                            <a:cs typeface="Times New Roman"/>
                          </a:rPr>
                        </m:ctrlPr>
                      </m:dPr>
                      <m:e>
                        <m:sSub>
                          <m:sSubPr>
                            <m:ctrlPr>
                              <a:rPr lang="ar-YE" sz="2800" b="0" i="1" spc="-10" smtClean="0">
                                <a:latin typeface="Cambria Math" panose="02040503050406030204" pitchFamily="18" charset="0"/>
                                <a:cs typeface="Times New Roman"/>
                              </a:rPr>
                            </m:ctrlPr>
                          </m:sSubPr>
                          <m:e>
                            <m:d>
                              <m:dPr>
                                <m:ctrlPr>
                                  <a:rPr lang="ar-YE" sz="2800" b="0" i="1" spc="-10" smtClean="0">
                                    <a:latin typeface="Cambria Math" panose="02040503050406030204" pitchFamily="18" charset="0"/>
                                    <a:cs typeface="Times New Roman"/>
                                  </a:rPr>
                                </m:ctrlPr>
                              </m:dPr>
                              <m:e>
                                <m:r>
                                  <a:rPr lang="ar-YE" sz="2800" b="0" i="1" spc="-10" smtClean="0">
                                    <a:latin typeface="Cambria Math" panose="02040503050406030204" pitchFamily="18" charset="0"/>
                                    <a:cs typeface="Times New Roman"/>
                                  </a:rPr>
                                  <m:t>𝐴𝑥</m:t>
                                </m:r>
                              </m:e>
                            </m:d>
                          </m:e>
                          <m:sub>
                            <m:r>
                              <a:rPr lang="ar-YE" sz="2800" b="0" i="1" spc="-10" smtClean="0">
                                <a:latin typeface="Cambria Math" panose="02040503050406030204" pitchFamily="18" charset="0"/>
                                <a:cs typeface="Times New Roman"/>
                              </a:rPr>
                              <m:t>𝑖</m:t>
                            </m:r>
                          </m:sub>
                        </m:sSub>
                        <m:r>
                          <a:rPr lang="ar-YE" sz="2800" b="0" i="1" spc="-10" smtClean="0">
                            <a:latin typeface="Cambria Math" panose="02040503050406030204" pitchFamily="18" charset="0"/>
                            <a:cs typeface="Times New Roman"/>
                          </a:rPr>
                          <m:t>−</m:t>
                        </m:r>
                        <m:sSup>
                          <m:sSupPr>
                            <m:ctrlPr>
                              <a:rPr lang="ar-YE" sz="2800" b="0" i="1" spc="-10" smtClean="0">
                                <a:latin typeface="Cambria Math" panose="02040503050406030204" pitchFamily="18" charset="0"/>
                                <a:cs typeface="Times New Roman"/>
                              </a:rPr>
                            </m:ctrlPr>
                          </m:sSupPr>
                          <m:e>
                            <m:r>
                              <a:rPr lang="ar-YE" sz="2800" b="0" i="1" spc="-10" smtClean="0">
                                <a:latin typeface="Cambria Math" panose="02040503050406030204" pitchFamily="18" charset="0"/>
                                <a:cs typeface="Times New Roman"/>
                              </a:rPr>
                              <m:t>𝑥</m:t>
                            </m:r>
                          </m:e>
                          <m:sup>
                            <m:r>
                              <a:rPr lang="ar-YE" sz="2800" b="0" i="1" spc="-10" smtClean="0">
                                <a:latin typeface="Cambria Math" panose="02040503050406030204" pitchFamily="18" charset="0"/>
                                <a:cs typeface="Times New Roman"/>
                              </a:rPr>
                              <m:t>𝑇</m:t>
                            </m:r>
                          </m:sup>
                        </m:sSup>
                        <m:r>
                          <a:rPr lang="ar-YE" sz="2800" b="0" i="1" spc="-10" smtClean="0">
                            <a:latin typeface="Cambria Math" panose="02040503050406030204" pitchFamily="18" charset="0"/>
                            <a:cs typeface="Times New Roman"/>
                          </a:rPr>
                          <m:t>𝐴𝑥</m:t>
                        </m:r>
                      </m:e>
                    </m:d>
                  </m:oMath>
                </a14:m>
                <a:r>
                  <a:rPr lang="ar-YE" sz="2800" dirty="0">
                    <a:latin typeface="Times New Roman"/>
                    <a:cs typeface="Times New Roman"/>
                  </a:rPr>
                  <a:t> </a:t>
                </a:r>
                <a:endParaRPr lang="en-US" sz="2800" dirty="0">
                  <a:latin typeface="Times New Roman"/>
                  <a:cs typeface="Times New Roman"/>
                </a:endParaRPr>
              </a:p>
              <a:p>
                <a:pPr marL="12700">
                  <a:lnSpc>
                    <a:spcPct val="100000"/>
                  </a:lnSpc>
                  <a:spcBef>
                    <a:spcPts val="1200"/>
                  </a:spcBef>
                  <a:tabLst>
                    <a:tab pos="939165" algn="l"/>
                    <a:tab pos="2246630" algn="l"/>
                  </a:tabLst>
                </a:pPr>
                <a:r>
                  <a:rPr lang="en-US" sz="2800" dirty="0">
                    <a:latin typeface="Times New Roman"/>
                    <a:cs typeface="Times New Roman"/>
                  </a:rPr>
                  <a:t>rest point : </a:t>
                </a:r>
                <a14:m>
                  <m:oMath xmlns:m="http://schemas.openxmlformats.org/officeDocument/2006/math">
                    <m:sSub>
                      <m:sSubPr>
                        <m:ctrlPr>
                          <a:rPr lang="en-US" sz="2800" b="0" i="1" smtClean="0">
                            <a:latin typeface="Cambria Math" panose="02040503050406030204" pitchFamily="18" charset="0"/>
                            <a:cs typeface="Times New Roman"/>
                          </a:rPr>
                        </m:ctrlPr>
                      </m:sSubPr>
                      <m:e>
                        <m:r>
                          <a:rPr lang="en-US" sz="2800" b="0" i="1" smtClean="0">
                            <a:latin typeface="Cambria Math" panose="02040503050406030204" pitchFamily="18" charset="0"/>
                            <a:cs typeface="Times New Roman"/>
                          </a:rPr>
                          <m:t>𝑧</m:t>
                        </m:r>
                      </m:e>
                      <m:sub>
                        <m:r>
                          <a:rPr lang="en-US" sz="2800" b="0" i="1" smtClean="0">
                            <a:latin typeface="Cambria Math" panose="02040503050406030204" pitchFamily="18" charset="0"/>
                            <a:cs typeface="Times New Roman"/>
                          </a:rPr>
                          <m:t>𝑖</m:t>
                        </m:r>
                      </m:sub>
                    </m:sSub>
                    <m:r>
                      <a:rPr lang="en-US" sz="2800" b="0" i="1" smtClean="0">
                        <a:latin typeface="Cambria Math" panose="02040503050406030204" pitchFamily="18" charset="0"/>
                        <a:cs typeface="Times New Roman"/>
                      </a:rPr>
                      <m:t>=</m:t>
                    </m:r>
                    <m:r>
                      <a:rPr lang="en-US" sz="2800" b="0" i="1" smtClean="0">
                        <a:latin typeface="Cambria Math" panose="02040503050406030204" pitchFamily="18" charset="0"/>
                        <a:cs typeface="Times New Roman"/>
                      </a:rPr>
                      <m:t>0</m:t>
                    </m:r>
                  </m:oMath>
                </a14:m>
                <a:r>
                  <a:rPr lang="en-US" sz="2800" dirty="0">
                    <a:latin typeface="Times New Roman"/>
                    <a:cs typeface="Times New Roman"/>
                  </a:rPr>
                  <a:t> or </a:t>
                </a:r>
                <a14:m>
                  <m:oMath xmlns:m="http://schemas.openxmlformats.org/officeDocument/2006/math">
                    <m:sSub>
                      <m:sSubPr>
                        <m:ctrlPr>
                          <a:rPr lang="en-US" sz="2800" b="0" i="1" smtClean="0">
                            <a:latin typeface="Cambria Math" panose="02040503050406030204" pitchFamily="18" charset="0"/>
                            <a:cs typeface="Times New Roman"/>
                          </a:rPr>
                        </m:ctrlPr>
                      </m:sSubPr>
                      <m:e>
                        <m:d>
                          <m:dPr>
                            <m:ctrlPr>
                              <a:rPr lang="en-US" sz="2800" b="0" i="1" smtClean="0">
                                <a:latin typeface="Cambria Math" panose="02040503050406030204" pitchFamily="18" charset="0"/>
                                <a:cs typeface="Times New Roman"/>
                              </a:rPr>
                            </m:ctrlPr>
                          </m:dPr>
                          <m:e>
                            <m:r>
                              <a:rPr lang="en-US" sz="2800" b="0" i="1" smtClean="0">
                                <a:latin typeface="Cambria Math" panose="02040503050406030204" pitchFamily="18" charset="0"/>
                                <a:cs typeface="Times New Roman"/>
                              </a:rPr>
                              <m:t>𝐴𝑧</m:t>
                            </m:r>
                          </m:e>
                        </m:d>
                      </m:e>
                      <m:sub>
                        <m:r>
                          <a:rPr lang="en-US" sz="2800" b="0" i="1" smtClean="0">
                            <a:latin typeface="Cambria Math" panose="02040503050406030204" pitchFamily="18" charset="0"/>
                            <a:cs typeface="Times New Roman"/>
                          </a:rPr>
                          <m:t>𝑖</m:t>
                        </m:r>
                      </m:sub>
                    </m:sSub>
                    <m:r>
                      <a:rPr lang="en-US" sz="2800" b="0" i="1" smtClean="0">
                        <a:latin typeface="Cambria Math" panose="02040503050406030204" pitchFamily="18" charset="0"/>
                        <a:cs typeface="Times New Roman"/>
                      </a:rPr>
                      <m:t>=</m:t>
                    </m:r>
                    <m:sSup>
                      <m:sSupPr>
                        <m:ctrlPr>
                          <a:rPr lang="en-US" sz="2800" b="0" i="1" smtClean="0">
                            <a:latin typeface="Cambria Math" panose="02040503050406030204" pitchFamily="18" charset="0"/>
                            <a:cs typeface="Times New Roman"/>
                          </a:rPr>
                        </m:ctrlPr>
                      </m:sSupPr>
                      <m:e>
                        <m:r>
                          <a:rPr lang="en-US" sz="2800" b="0" i="1" smtClean="0">
                            <a:latin typeface="Cambria Math" panose="02040503050406030204" pitchFamily="18" charset="0"/>
                            <a:cs typeface="Times New Roman"/>
                          </a:rPr>
                          <m:t>𝑧</m:t>
                        </m:r>
                      </m:e>
                      <m:sup>
                        <m:r>
                          <a:rPr lang="en-US" sz="2800" b="0" i="1" smtClean="0">
                            <a:latin typeface="Cambria Math" panose="02040503050406030204" pitchFamily="18" charset="0"/>
                            <a:cs typeface="Times New Roman"/>
                          </a:rPr>
                          <m:t>𝑇</m:t>
                        </m:r>
                      </m:sup>
                    </m:sSup>
                    <m:r>
                      <a:rPr lang="en-US" sz="2800" b="0" i="1" smtClean="0">
                        <a:latin typeface="Cambria Math" panose="02040503050406030204" pitchFamily="18" charset="0"/>
                        <a:cs typeface="Times New Roman"/>
                      </a:rPr>
                      <m:t>𝐴𝑧</m:t>
                    </m:r>
                  </m:oMath>
                </a14:m>
                <a:endParaRPr lang="ar-YE" sz="2800" dirty="0">
                  <a:latin typeface="Times New Roman"/>
                  <a:cs typeface="Times New Roman"/>
                </a:endParaRPr>
              </a:p>
            </p:txBody>
          </p:sp>
        </mc:Choice>
        <mc:Fallback xmlns="">
          <p:sp>
            <p:nvSpPr>
              <p:cNvPr id="19" name="TextBox 18">
                <a:extLst>
                  <a:ext uri="{FF2B5EF4-FFF2-40B4-BE49-F238E27FC236}">
                    <a16:creationId xmlns:a16="http://schemas.microsoft.com/office/drawing/2014/main" id="{6267A266-4BC2-760F-3D5B-97256280813A}"/>
                  </a:ext>
                </a:extLst>
              </p:cNvPr>
              <p:cNvSpPr txBox="1">
                <a:spLocks noRot="1" noChangeAspect="1" noMove="1" noResize="1" noEditPoints="1" noAdjustHandles="1" noChangeArrowheads="1" noChangeShapeType="1" noTextEdit="1"/>
              </p:cNvSpPr>
              <p:nvPr/>
            </p:nvSpPr>
            <p:spPr>
              <a:xfrm>
                <a:off x="457200" y="1809828"/>
                <a:ext cx="6308472" cy="1163460"/>
              </a:xfrm>
              <a:prstGeom prst="rect">
                <a:avLst/>
              </a:prstGeom>
              <a:blipFill>
                <a:blip r:embed="rId4"/>
                <a:stretch>
                  <a:fillRect l="-1739" t="-3665" b="-13613"/>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85898584-77E2-A242-9C5A-2A9140CFFA6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F7A01E-0217-6C44-7DDE-1C84174124B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Slide Number Placeholder 8">
            <a:extLst>
              <a:ext uri="{FF2B5EF4-FFF2-40B4-BE49-F238E27FC236}">
                <a16:creationId xmlns:a16="http://schemas.microsoft.com/office/drawing/2014/main" id="{61D481B2-7ED2-09EA-538D-51962ABA8FF4}"/>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41</a:t>
            </a:fld>
            <a:r>
              <a:rPr lang="en-US" sz="2000" dirty="0">
                <a:solidFill>
                  <a:prstClr val="black"/>
                </a:solidFill>
                <a:latin typeface="Comic Sans MS"/>
                <a:sym typeface="Comic Sans MS"/>
              </a:rPr>
              <a:t>/59</a:t>
            </a:r>
          </a:p>
        </p:txBody>
      </p:sp>
      <p:sp>
        <p:nvSpPr>
          <p:cNvPr id="23" name="Footer Placeholder 9">
            <a:extLst>
              <a:ext uri="{FF2B5EF4-FFF2-40B4-BE49-F238E27FC236}">
                <a16:creationId xmlns:a16="http://schemas.microsoft.com/office/drawing/2014/main" id="{473C81A4-0EC7-840C-5CDD-21D985F5B04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24" name="Rectangle 23">
            <a:extLst>
              <a:ext uri="{FF2B5EF4-FFF2-40B4-BE49-F238E27FC236}">
                <a16:creationId xmlns:a16="http://schemas.microsoft.com/office/drawing/2014/main" id="{ED09163B-58EE-31EF-7EFF-62D593F2326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Replica</a:t>
            </a:r>
            <a:r>
              <a:rPr spc="-15" dirty="0"/>
              <a:t>t</a:t>
            </a:r>
            <a:r>
              <a:rPr dirty="0"/>
              <a:t>or</a:t>
            </a:r>
            <a:r>
              <a:rPr spc="-5" dirty="0"/>
              <a:t> </a:t>
            </a:r>
            <a:r>
              <a:rPr dirty="0"/>
              <a:t>equa</a:t>
            </a:r>
            <a:r>
              <a:rPr spc="-15" dirty="0"/>
              <a:t>t</a:t>
            </a:r>
            <a:r>
              <a:rPr dirty="0"/>
              <a:t>ion</a:t>
            </a:r>
            <a:r>
              <a:rPr spc="-5" dirty="0"/>
              <a:t> </a:t>
            </a:r>
            <a:r>
              <a:rPr spc="-15" dirty="0"/>
              <a:t>f</a:t>
            </a:r>
            <a:r>
              <a:rPr dirty="0"/>
              <a:t>or</a:t>
            </a:r>
            <a:r>
              <a:rPr spc="-5" dirty="0"/>
              <a:t> </a:t>
            </a:r>
            <a:r>
              <a:rPr dirty="0"/>
              <a:t>n=2</a:t>
            </a:r>
          </a:p>
        </p:txBody>
      </p:sp>
      <p:sp>
        <p:nvSpPr>
          <p:cNvPr id="7" name="object 7"/>
          <p:cNvSpPr txBox="1"/>
          <p:nvPr/>
        </p:nvSpPr>
        <p:spPr>
          <a:xfrm>
            <a:off x="383830" y="5124573"/>
            <a:ext cx="3609975" cy="775335"/>
          </a:xfrm>
          <a:prstGeom prst="rect">
            <a:avLst/>
          </a:prstGeom>
        </p:spPr>
        <p:txBody>
          <a:bodyPr vert="horz" wrap="square" lIns="0" tIns="0" rIns="0" bIns="0" rtlCol="0">
            <a:spAutoFit/>
          </a:bodyPr>
          <a:lstStyle/>
          <a:p>
            <a:pPr marL="178435">
              <a:lnSpc>
                <a:spcPct val="100000"/>
              </a:lnSpc>
              <a:tabLst>
                <a:tab pos="1773555" algn="l"/>
              </a:tabLst>
            </a:pPr>
            <a:r>
              <a:rPr sz="2900" dirty="0">
                <a:latin typeface="Times New Roman"/>
                <a:cs typeface="Times New Roman"/>
              </a:rPr>
              <a:t>(provided	</a:t>
            </a:r>
            <a:r>
              <a:rPr sz="2900" i="1" dirty="0">
                <a:latin typeface="Times New Roman"/>
                <a:cs typeface="Times New Roman"/>
              </a:rPr>
              <a:t>ab</a:t>
            </a:r>
            <a:r>
              <a:rPr sz="2900" i="1" spc="-45" dirty="0">
                <a:latin typeface="Times New Roman"/>
                <a:cs typeface="Times New Roman"/>
              </a:rPr>
              <a:t> </a:t>
            </a:r>
            <a:r>
              <a:rPr sz="2900" dirty="0">
                <a:latin typeface="Symbol"/>
                <a:cs typeface="Symbol"/>
              </a:rPr>
              <a:t></a:t>
            </a:r>
            <a:r>
              <a:rPr sz="2900" spc="-100" dirty="0">
                <a:latin typeface="Times New Roman"/>
                <a:cs typeface="Times New Roman"/>
              </a:rPr>
              <a:t> </a:t>
            </a:r>
            <a:r>
              <a:rPr sz="2900" dirty="0">
                <a:latin typeface="Times New Roman"/>
                <a:cs typeface="Times New Roman"/>
              </a:rPr>
              <a:t>0)</a:t>
            </a:r>
            <a:endParaRPr sz="2900">
              <a:latin typeface="Times New Roman"/>
              <a:cs typeface="Times New Roman"/>
            </a:endParaRPr>
          </a:p>
        </p:txBody>
      </p:sp>
      <mc:AlternateContent xmlns:mc="http://schemas.openxmlformats.org/markup-compatibility/2006" xmlns:a14="http://schemas.microsoft.com/office/drawing/2010/main">
        <mc:Choice Requires="a14">
          <p:sp>
            <p:nvSpPr>
              <p:cNvPr id="8" name="object 8"/>
              <p:cNvSpPr txBox="1"/>
              <p:nvPr/>
            </p:nvSpPr>
            <p:spPr>
              <a:xfrm>
                <a:off x="555778" y="3852741"/>
                <a:ext cx="7369022" cy="1387303"/>
              </a:xfrm>
              <a:prstGeom prst="rect">
                <a:avLst/>
              </a:prstGeom>
            </p:spPr>
            <p:txBody>
              <a:bodyPr vert="horz" wrap="square" lIns="0" tIns="0" rIns="0" bIns="0" rtlCol="0">
                <a:spAutoFit/>
              </a:bodyPr>
              <a:lstStyle/>
              <a:p>
                <a:pPr marL="12700">
                  <a:lnSpc>
                    <a:spcPct val="100000"/>
                  </a:lnSpc>
                  <a:spcBef>
                    <a:spcPts val="2700"/>
                  </a:spcBef>
                  <a:tabLst>
                    <a:tab pos="4532630" algn="l"/>
                  </a:tabLst>
                </a:pPr>
                <a14:m>
                  <m:oMath xmlns:m="http://schemas.openxmlformats.org/officeDocument/2006/math">
                    <m:acc>
                      <m:accPr>
                        <m:chr m:val="̇"/>
                        <m:ctrlPr>
                          <a:rPr lang="ar-YE" sz="2900" i="1" smtClean="0">
                            <a:latin typeface="Cambria Math" panose="02040503050406030204" pitchFamily="18" charset="0"/>
                            <a:cs typeface="Times New Roman"/>
                          </a:rPr>
                        </m:ctrlPr>
                      </m:accPr>
                      <m:e>
                        <m:r>
                          <a:rPr lang="ar-YE" sz="2900" b="0" i="1" smtClean="0">
                            <a:latin typeface="Cambria Math" panose="02040503050406030204" pitchFamily="18" charset="0"/>
                            <a:cs typeface="Times New Roman"/>
                          </a:rPr>
                          <m:t>𝑥</m:t>
                        </m:r>
                      </m:e>
                    </m:acc>
                    <m:r>
                      <a:rPr lang="en-US" sz="2900" b="0" i="1" smtClean="0">
                        <a:latin typeface="Cambria Math" panose="02040503050406030204" pitchFamily="18" charset="0"/>
                        <a:cs typeface="Times New Roman"/>
                      </a:rPr>
                      <m:t>=</m:t>
                    </m:r>
                    <m:r>
                      <a:rPr lang="en-US" sz="2900" b="0" i="1" smtClean="0">
                        <a:latin typeface="Cambria Math" panose="02040503050406030204" pitchFamily="18" charset="0"/>
                        <a:cs typeface="Times New Roman"/>
                      </a:rPr>
                      <m:t>𝑥</m:t>
                    </m:r>
                    <m:d>
                      <m:dPr>
                        <m:ctrlPr>
                          <a:rPr lang="en-US" sz="2900" b="0" i="1" smtClean="0">
                            <a:latin typeface="Cambria Math" panose="02040503050406030204" pitchFamily="18" charset="0"/>
                            <a:cs typeface="Times New Roman"/>
                          </a:rPr>
                        </m:ctrlPr>
                      </m:dPr>
                      <m:e>
                        <m:r>
                          <a:rPr lang="en-US" sz="2900" b="0" i="1" smtClean="0">
                            <a:latin typeface="Cambria Math" panose="02040503050406030204" pitchFamily="18" charset="0"/>
                            <a:cs typeface="Times New Roman"/>
                          </a:rPr>
                          <m:t>1</m:t>
                        </m:r>
                        <m:r>
                          <a:rPr lang="en-US" sz="2900" b="0" i="1" smtClean="0">
                            <a:latin typeface="Cambria Math" panose="02040503050406030204" pitchFamily="18" charset="0"/>
                            <a:cs typeface="Times New Roman"/>
                          </a:rPr>
                          <m:t>−</m:t>
                        </m:r>
                        <m:r>
                          <a:rPr lang="en-US" sz="2900" b="0" i="1" smtClean="0">
                            <a:latin typeface="Cambria Math" panose="02040503050406030204" pitchFamily="18" charset="0"/>
                            <a:cs typeface="Times New Roman"/>
                          </a:rPr>
                          <m:t>𝑥</m:t>
                        </m:r>
                      </m:e>
                    </m:d>
                    <m:d>
                      <m:dPr>
                        <m:begChr m:val="["/>
                        <m:endChr m:val="]"/>
                        <m:ctrlPr>
                          <a:rPr lang="en-US" sz="2900" b="0" i="1" smtClean="0">
                            <a:latin typeface="Cambria Math" panose="02040503050406030204" pitchFamily="18" charset="0"/>
                            <a:cs typeface="Times New Roman"/>
                          </a:rPr>
                        </m:ctrlPr>
                      </m:dPr>
                      <m:e>
                        <m:r>
                          <a:rPr lang="en-US" sz="2900" b="0" i="1" smtClean="0">
                            <a:latin typeface="Cambria Math" panose="02040503050406030204" pitchFamily="18" charset="0"/>
                            <a:cs typeface="Times New Roman"/>
                          </a:rPr>
                          <m:t>𝑎</m:t>
                        </m:r>
                        <m:r>
                          <a:rPr lang="en-US" sz="2900" b="0" i="1" smtClean="0">
                            <a:latin typeface="Cambria Math" panose="02040503050406030204" pitchFamily="18" charset="0"/>
                            <a:cs typeface="Times New Roman"/>
                          </a:rPr>
                          <m:t>−</m:t>
                        </m:r>
                        <m:d>
                          <m:dPr>
                            <m:ctrlPr>
                              <a:rPr lang="en-US" sz="2900" b="0" i="1" smtClean="0">
                                <a:latin typeface="Cambria Math" panose="02040503050406030204" pitchFamily="18" charset="0"/>
                                <a:cs typeface="Times New Roman"/>
                              </a:rPr>
                            </m:ctrlPr>
                          </m:dPr>
                          <m:e>
                            <m:r>
                              <a:rPr lang="en-US" sz="2900" b="0" i="1" smtClean="0">
                                <a:latin typeface="Cambria Math" panose="02040503050406030204" pitchFamily="18" charset="0"/>
                                <a:cs typeface="Times New Roman"/>
                              </a:rPr>
                              <m:t>𝑎</m:t>
                            </m:r>
                            <m:r>
                              <a:rPr lang="en-US" sz="2900" b="0" i="1" smtClean="0">
                                <a:latin typeface="Cambria Math" panose="02040503050406030204" pitchFamily="18" charset="0"/>
                                <a:cs typeface="Times New Roman"/>
                              </a:rPr>
                              <m:t>+</m:t>
                            </m:r>
                            <m:r>
                              <a:rPr lang="en-US" sz="2900" b="0" i="1" smtClean="0">
                                <a:latin typeface="Cambria Math" panose="02040503050406030204" pitchFamily="18" charset="0"/>
                                <a:cs typeface="Times New Roman"/>
                              </a:rPr>
                              <m:t>𝑏</m:t>
                            </m:r>
                          </m:e>
                        </m:d>
                        <m:r>
                          <a:rPr lang="en-US" sz="2900" b="0" i="1" smtClean="0">
                            <a:latin typeface="Cambria Math" panose="02040503050406030204" pitchFamily="18" charset="0"/>
                            <a:cs typeface="Times New Roman"/>
                          </a:rPr>
                          <m:t>𝑥</m:t>
                        </m:r>
                      </m:e>
                    </m:d>
                  </m:oMath>
                </a14:m>
                <a:r>
                  <a:rPr lang="en-US" sz="2900" dirty="0">
                    <a:latin typeface="Times New Roman"/>
                    <a:cs typeface="Times New Roman"/>
                  </a:rPr>
                  <a:t> </a:t>
                </a:r>
                <a:endParaRPr lang="ar-YE" sz="2900" dirty="0">
                  <a:latin typeface="Times New Roman"/>
                  <a:cs typeface="Times New Roman"/>
                </a:endParaRPr>
              </a:p>
              <a:p>
                <a:pPr marL="12700">
                  <a:lnSpc>
                    <a:spcPct val="100000"/>
                  </a:lnSpc>
                  <a:spcBef>
                    <a:spcPts val="2700"/>
                  </a:spcBef>
                  <a:tabLst>
                    <a:tab pos="4532630" algn="l"/>
                  </a:tabLst>
                </a:pPr>
                <a:r>
                  <a:rPr lang="en-US" sz="2900" dirty="0">
                    <a:latin typeface="Times New Roman"/>
                    <a:cs typeface="Times New Roman"/>
                  </a:rPr>
                  <a:t>rest</a:t>
                </a:r>
                <a:r>
                  <a:rPr lang="en-US" sz="2900" spc="-65" dirty="0">
                    <a:latin typeface="Times New Roman"/>
                    <a:cs typeface="Times New Roman"/>
                  </a:rPr>
                  <a:t> </a:t>
                </a:r>
                <a:r>
                  <a:rPr lang="en-US" sz="2900" dirty="0">
                    <a:latin typeface="Times New Roman"/>
                    <a:cs typeface="Times New Roman"/>
                  </a:rPr>
                  <a:t>points</a:t>
                </a:r>
                <a:r>
                  <a:rPr lang="en-US" sz="2900" spc="-160" dirty="0">
                    <a:latin typeface="Times New Roman"/>
                    <a:cs typeface="Times New Roman"/>
                  </a:rPr>
                  <a:t> </a:t>
                </a:r>
                <a:r>
                  <a:rPr lang="en-US" sz="2900" dirty="0">
                    <a:latin typeface="Times New Roman"/>
                    <a:cs typeface="Times New Roman"/>
                  </a:rPr>
                  <a:t>for </a:t>
                </a:r>
                <a14:m>
                  <m:oMath xmlns:m="http://schemas.openxmlformats.org/officeDocument/2006/math">
                    <m:r>
                      <a:rPr lang="en-US" sz="2900" b="0" i="1" smtClean="0">
                        <a:latin typeface="Cambria Math" panose="02040503050406030204" pitchFamily="18" charset="0"/>
                        <a:cs typeface="Times New Roman"/>
                      </a:rPr>
                      <m:t>𝑥</m:t>
                    </m:r>
                    <m:r>
                      <a:rPr lang="en-US" sz="2900" b="0" i="1" smtClean="0">
                        <a:latin typeface="Cambria Math" panose="02040503050406030204" pitchFamily="18" charset="0"/>
                        <a:cs typeface="Times New Roman"/>
                      </a:rPr>
                      <m:t>=</m:t>
                    </m:r>
                    <m:r>
                      <a:rPr lang="en-US" sz="2900" b="0" i="1" smtClean="0">
                        <a:latin typeface="Cambria Math" panose="02040503050406030204" pitchFamily="18" charset="0"/>
                        <a:cs typeface="Times New Roman"/>
                      </a:rPr>
                      <m:t>0</m:t>
                    </m:r>
                    <m:r>
                      <a:rPr lang="en-US" sz="2900" b="0" i="1" smtClean="0">
                        <a:latin typeface="Cambria Math" panose="02040503050406030204" pitchFamily="18" charset="0"/>
                        <a:cs typeface="Times New Roman"/>
                      </a:rPr>
                      <m:t>,   </m:t>
                    </m:r>
                    <m:r>
                      <a:rPr lang="en-US" sz="2900" b="0" i="1" smtClean="0">
                        <a:latin typeface="Cambria Math" panose="02040503050406030204" pitchFamily="18" charset="0"/>
                        <a:cs typeface="Times New Roman"/>
                      </a:rPr>
                      <m:t>𝑥</m:t>
                    </m:r>
                    <m:r>
                      <a:rPr lang="en-US" sz="2900" b="0" i="1" smtClean="0">
                        <a:latin typeface="Cambria Math" panose="02040503050406030204" pitchFamily="18" charset="0"/>
                        <a:cs typeface="Times New Roman"/>
                      </a:rPr>
                      <m:t>=</m:t>
                    </m:r>
                    <m:r>
                      <a:rPr lang="en-US" sz="2900" b="0" i="1" smtClean="0">
                        <a:latin typeface="Cambria Math" panose="02040503050406030204" pitchFamily="18" charset="0"/>
                        <a:cs typeface="Times New Roman"/>
                      </a:rPr>
                      <m:t>1</m:t>
                    </m:r>
                    <m:r>
                      <a:rPr lang="en-US" sz="2900" b="0" i="1" smtClean="0">
                        <a:latin typeface="Cambria Math" panose="02040503050406030204" pitchFamily="18" charset="0"/>
                        <a:cs typeface="Times New Roman"/>
                      </a:rPr>
                      <m:t>  </m:t>
                    </m:r>
                    <m:r>
                      <a:rPr lang="en-US" sz="2900" b="0" i="1" smtClean="0">
                        <a:latin typeface="Cambria Math" panose="02040503050406030204" pitchFamily="18" charset="0"/>
                        <a:cs typeface="Times New Roman"/>
                      </a:rPr>
                      <m:t>𝑎𝑛𝑑</m:t>
                    </m:r>
                    <m:r>
                      <a:rPr lang="en-US" sz="2900" b="0" i="1" smtClean="0">
                        <a:latin typeface="Cambria Math" panose="02040503050406030204" pitchFamily="18" charset="0"/>
                        <a:cs typeface="Times New Roman"/>
                      </a:rPr>
                      <m:t> </m:t>
                    </m:r>
                    <m:r>
                      <a:rPr lang="en-US" sz="2900" b="0" i="1" smtClean="0">
                        <a:latin typeface="Cambria Math" panose="02040503050406030204" pitchFamily="18" charset="0"/>
                        <a:cs typeface="Times New Roman"/>
                      </a:rPr>
                      <m:t>𝑥</m:t>
                    </m:r>
                    <m:r>
                      <a:rPr lang="en-US" sz="2900" b="0" i="1" smtClean="0">
                        <a:latin typeface="Cambria Math" panose="02040503050406030204" pitchFamily="18" charset="0"/>
                        <a:cs typeface="Times New Roman"/>
                      </a:rPr>
                      <m:t>=</m:t>
                    </m:r>
                    <m:f>
                      <m:fPr>
                        <m:ctrlPr>
                          <a:rPr lang="en-US" sz="2900" b="0" i="1" smtClean="0">
                            <a:latin typeface="Cambria Math" panose="02040503050406030204" pitchFamily="18" charset="0"/>
                            <a:cs typeface="Times New Roman"/>
                          </a:rPr>
                        </m:ctrlPr>
                      </m:fPr>
                      <m:num>
                        <m:r>
                          <a:rPr lang="en-US" sz="2900" b="0" i="1" smtClean="0">
                            <a:latin typeface="Cambria Math" panose="02040503050406030204" pitchFamily="18" charset="0"/>
                            <a:cs typeface="Times New Roman"/>
                          </a:rPr>
                          <m:t>𝑎</m:t>
                        </m:r>
                      </m:num>
                      <m:den>
                        <m:r>
                          <a:rPr lang="en-US" sz="2900" b="0" i="1" smtClean="0">
                            <a:latin typeface="Cambria Math" panose="02040503050406030204" pitchFamily="18" charset="0"/>
                            <a:cs typeface="Times New Roman"/>
                          </a:rPr>
                          <m:t>𝑎</m:t>
                        </m:r>
                        <m:r>
                          <a:rPr lang="en-US" sz="2900" b="0" i="1" smtClean="0">
                            <a:latin typeface="Cambria Math" panose="02040503050406030204" pitchFamily="18" charset="0"/>
                            <a:cs typeface="Times New Roman"/>
                          </a:rPr>
                          <m:t>+</m:t>
                        </m:r>
                        <m:r>
                          <a:rPr lang="en-US" sz="2900" b="0" i="1" smtClean="0">
                            <a:latin typeface="Cambria Math" panose="02040503050406030204" pitchFamily="18" charset="0"/>
                            <a:cs typeface="Times New Roman"/>
                          </a:rPr>
                          <m:t>𝑏</m:t>
                        </m:r>
                      </m:den>
                    </m:f>
                  </m:oMath>
                </a14:m>
                <a:endParaRPr sz="2900" dirty="0">
                  <a:latin typeface="Symbol"/>
                  <a:cs typeface="Symbol"/>
                </a:endParaRPr>
              </a:p>
            </p:txBody>
          </p:sp>
        </mc:Choice>
        <mc:Fallback xmlns="">
          <p:sp>
            <p:nvSpPr>
              <p:cNvPr id="8" name="object 8"/>
              <p:cNvSpPr txBox="1">
                <a:spLocks noRot="1" noChangeAspect="1" noMove="1" noResize="1" noEditPoints="1" noAdjustHandles="1" noChangeArrowheads="1" noChangeShapeType="1" noTextEdit="1"/>
              </p:cNvSpPr>
              <p:nvPr/>
            </p:nvSpPr>
            <p:spPr>
              <a:xfrm>
                <a:off x="555778" y="3852741"/>
                <a:ext cx="7369022" cy="1387303"/>
              </a:xfrm>
              <a:prstGeom prst="rect">
                <a:avLst/>
              </a:prstGeom>
              <a:blipFill>
                <a:blip r:embed="rId3"/>
                <a:stretch>
                  <a:fillRect l="-2812"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12"/>
              <p:cNvSpPr txBox="1"/>
              <p:nvPr/>
            </p:nvSpPr>
            <p:spPr>
              <a:xfrm>
                <a:off x="561537" y="1568663"/>
                <a:ext cx="4620063" cy="446276"/>
              </a:xfrm>
              <a:prstGeom prst="rect">
                <a:avLst/>
              </a:prstGeom>
            </p:spPr>
            <p:txBody>
              <a:bodyPr vert="horz" wrap="square" lIns="0" tIns="0" rIns="0" bIns="0" rtlCol="0">
                <a:spAutoFit/>
              </a:bodyPr>
              <a:lstStyle/>
              <a:p>
                <a:pPr marL="24130">
                  <a:lnSpc>
                    <a:spcPct val="100000"/>
                  </a:lnSpc>
                  <a:tabLst>
                    <a:tab pos="1398270" algn="l"/>
                  </a:tabLst>
                </a:pPr>
                <a14:m>
                  <m:oMath xmlns:m="http://schemas.openxmlformats.org/officeDocument/2006/math">
                    <m:sSub>
                      <m:sSubPr>
                        <m:ctrlPr>
                          <a:rPr lang="en-US" sz="2900" b="0" i="1" smtClean="0">
                            <a:latin typeface="Cambria Math" panose="02040503050406030204" pitchFamily="18" charset="0"/>
                            <a:cs typeface="Symbol"/>
                          </a:rPr>
                        </m:ctrlPr>
                      </m:sSubPr>
                      <m:e>
                        <m:r>
                          <a:rPr lang="en-US" sz="2900" b="0" i="1" smtClean="0">
                            <a:latin typeface="Cambria Math" panose="02040503050406030204" pitchFamily="18" charset="0"/>
                            <a:cs typeface="Symbol"/>
                          </a:rPr>
                          <m:t>𝑥</m:t>
                        </m:r>
                      </m:e>
                      <m:sub>
                        <m:r>
                          <a:rPr lang="en-US" sz="2900" b="0" i="1" smtClean="0">
                            <a:latin typeface="Cambria Math" panose="02040503050406030204" pitchFamily="18" charset="0"/>
                            <a:cs typeface="Symbol"/>
                          </a:rPr>
                          <m:t>1</m:t>
                        </m:r>
                      </m:sub>
                    </m:sSub>
                    <m:r>
                      <a:rPr lang="en-US" sz="2900" b="0" i="1" smtClean="0">
                        <a:latin typeface="Cambria Math" panose="02040503050406030204" pitchFamily="18" charset="0"/>
                        <a:cs typeface="Symbol"/>
                      </a:rPr>
                      <m:t>=</m:t>
                    </m:r>
                    <m:r>
                      <a:rPr lang="en-US" sz="2900" b="0" i="1" smtClean="0">
                        <a:latin typeface="Cambria Math" panose="02040503050406030204" pitchFamily="18" charset="0"/>
                        <a:cs typeface="Symbol"/>
                      </a:rPr>
                      <m:t>𝑥</m:t>
                    </m:r>
                    <m:r>
                      <a:rPr lang="en-US" sz="2900" b="0" i="1" smtClean="0">
                        <a:latin typeface="Cambria Math" panose="02040503050406030204" pitchFamily="18" charset="0"/>
                        <a:cs typeface="Symbol"/>
                      </a:rPr>
                      <m:t>,   </m:t>
                    </m:r>
                    <m:sSub>
                      <m:sSubPr>
                        <m:ctrlPr>
                          <a:rPr lang="en-US" sz="2900" b="0" i="1" smtClean="0">
                            <a:latin typeface="Cambria Math" panose="02040503050406030204" pitchFamily="18" charset="0"/>
                            <a:cs typeface="Symbol"/>
                          </a:rPr>
                        </m:ctrlPr>
                      </m:sSubPr>
                      <m:e>
                        <m:r>
                          <a:rPr lang="en-US" sz="2900" b="0" i="1" smtClean="0">
                            <a:latin typeface="Cambria Math" panose="02040503050406030204" pitchFamily="18" charset="0"/>
                            <a:cs typeface="Symbol"/>
                          </a:rPr>
                          <m:t>   </m:t>
                        </m:r>
                        <m:r>
                          <a:rPr lang="en-US" sz="2900" b="0" i="1" smtClean="0">
                            <a:latin typeface="Cambria Math" panose="02040503050406030204" pitchFamily="18" charset="0"/>
                            <a:cs typeface="Symbol"/>
                          </a:rPr>
                          <m:t>𝑥</m:t>
                        </m:r>
                      </m:e>
                      <m:sub>
                        <m:r>
                          <a:rPr lang="en-US" sz="2900" b="0" i="1" smtClean="0">
                            <a:latin typeface="Cambria Math" panose="02040503050406030204" pitchFamily="18" charset="0"/>
                            <a:cs typeface="Symbol"/>
                          </a:rPr>
                          <m:t>2</m:t>
                        </m:r>
                      </m:sub>
                    </m:sSub>
                    <m:r>
                      <a:rPr lang="en-US" sz="2900" b="0" i="1" smtClean="0">
                        <a:latin typeface="Cambria Math" panose="02040503050406030204" pitchFamily="18" charset="0"/>
                        <a:cs typeface="Symbol"/>
                      </a:rPr>
                      <m:t>=</m:t>
                    </m:r>
                    <m:r>
                      <a:rPr lang="en-US" sz="2900" b="0" i="1" smtClean="0">
                        <a:latin typeface="Cambria Math" panose="02040503050406030204" pitchFamily="18" charset="0"/>
                        <a:cs typeface="Symbol"/>
                      </a:rPr>
                      <m:t>1</m:t>
                    </m:r>
                    <m:r>
                      <a:rPr lang="en-US" sz="2900" b="0" i="1" smtClean="0">
                        <a:latin typeface="Cambria Math" panose="02040503050406030204" pitchFamily="18" charset="0"/>
                        <a:cs typeface="Symbol"/>
                      </a:rPr>
                      <m:t>−</m:t>
                    </m:r>
                    <m:r>
                      <a:rPr lang="en-US" sz="2900" b="0" i="1" smtClean="0">
                        <a:latin typeface="Cambria Math" panose="02040503050406030204" pitchFamily="18" charset="0"/>
                        <a:cs typeface="Symbol"/>
                      </a:rPr>
                      <m:t>𝑥</m:t>
                    </m:r>
                  </m:oMath>
                </a14:m>
                <a:r>
                  <a:rPr lang="en-US" sz="2900" dirty="0">
                    <a:latin typeface="Symbol"/>
                    <a:cs typeface="Symbol"/>
                  </a:rPr>
                  <a:t> </a:t>
                </a:r>
                <a:endParaRPr sz="2900" dirty="0">
                  <a:latin typeface="Symbol"/>
                  <a:cs typeface="Symbol"/>
                </a:endParaRPr>
              </a:p>
            </p:txBody>
          </p:sp>
        </mc:Choice>
        <mc:Fallback xmlns="">
          <p:sp>
            <p:nvSpPr>
              <p:cNvPr id="12" name="object 12"/>
              <p:cNvSpPr txBox="1">
                <a:spLocks noRot="1" noChangeAspect="1" noMove="1" noResize="1" noEditPoints="1" noAdjustHandles="1" noChangeArrowheads="1" noChangeShapeType="1" noTextEdit="1"/>
              </p:cNvSpPr>
              <p:nvPr/>
            </p:nvSpPr>
            <p:spPr>
              <a:xfrm>
                <a:off x="561537" y="1568663"/>
                <a:ext cx="4620063" cy="446276"/>
              </a:xfrm>
              <a:prstGeom prst="rect">
                <a:avLst/>
              </a:prstGeom>
              <a:blipFill>
                <a:blip r:embed="rId4"/>
                <a:stretch>
                  <a:fillRect/>
                </a:stretch>
              </a:blipFill>
            </p:spPr>
            <p:txBody>
              <a:bodyPr/>
              <a:lstStyle/>
              <a:p>
                <a:r>
                  <a:rPr lang="en-US">
                    <a:noFill/>
                  </a:rPr>
                  <a:t> </a:t>
                </a:r>
              </a:p>
            </p:txBody>
          </p:sp>
        </mc:Fallback>
      </mc:AlternateContent>
      <p:sp>
        <p:nvSpPr>
          <p:cNvPr id="24" name="object 24"/>
          <p:cNvSpPr/>
          <p:nvPr/>
        </p:nvSpPr>
        <p:spPr>
          <a:xfrm>
            <a:off x="383830" y="5124573"/>
            <a:ext cx="3609975" cy="775335"/>
          </a:xfrm>
          <a:custGeom>
            <a:avLst/>
            <a:gdLst/>
            <a:ahLst/>
            <a:cxnLst/>
            <a:rect l="l" t="t" r="r" b="b"/>
            <a:pathLst>
              <a:path w="3609975" h="775335">
                <a:moveTo>
                  <a:pt x="0" y="774738"/>
                </a:moveTo>
                <a:lnTo>
                  <a:pt x="3609751" y="774738"/>
                </a:lnTo>
                <a:lnTo>
                  <a:pt x="3609751" y="0"/>
                </a:lnTo>
                <a:lnTo>
                  <a:pt x="0" y="0"/>
                </a:lnTo>
                <a:lnTo>
                  <a:pt x="0" y="774738"/>
                </a:lnTo>
                <a:close/>
              </a:path>
            </a:pathLst>
          </a:custGeom>
          <a:solidFill>
            <a:srgbClr val="E7E7E7"/>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70E824A-60A4-8876-6CFD-444789DC3466}"/>
                  </a:ext>
                </a:extLst>
              </p:cNvPr>
              <p:cNvSpPr txBox="1"/>
              <p:nvPr/>
            </p:nvSpPr>
            <p:spPr>
              <a:xfrm>
                <a:off x="450040" y="2286000"/>
                <a:ext cx="7693370" cy="1209883"/>
              </a:xfrm>
              <a:prstGeom prst="rect">
                <a:avLst/>
              </a:prstGeom>
              <a:noFill/>
            </p:spPr>
            <p:txBody>
              <a:bodyPr wrap="square">
                <a:spAutoFit/>
              </a:bodyPr>
              <a:lstStyle/>
              <a:p>
                <a:pPr marL="12700">
                  <a:lnSpc>
                    <a:spcPct val="100000"/>
                  </a:lnSpc>
                  <a:tabLst>
                    <a:tab pos="939165" algn="l"/>
                    <a:tab pos="2246630" algn="l"/>
                  </a:tabLst>
                </a:pPr>
                <a14:m>
                  <m:oMath xmlns:m="http://schemas.openxmlformats.org/officeDocument/2006/math">
                    <m:d>
                      <m:dPr>
                        <m:begChr m:val="["/>
                        <m:endChr m:val="]"/>
                        <m:ctrlPr>
                          <a:rPr lang="en-US" sz="2800" b="0" i="1" smtClean="0">
                            <a:latin typeface="Cambria Math" panose="02040503050406030204" pitchFamily="18" charset="0"/>
                            <a:cs typeface="Times New Roman"/>
                          </a:rPr>
                        </m:ctrlPr>
                      </m:dPr>
                      <m:e>
                        <m:m>
                          <m:mPr>
                            <m:mcs>
                              <m:mc>
                                <m:mcPr>
                                  <m:count m:val="2"/>
                                  <m:mcJc m:val="center"/>
                                </m:mcPr>
                              </m:mc>
                            </m:mcs>
                            <m:ctrlPr>
                              <a:rPr lang="en-US" sz="2800" b="0" i="1" smtClean="0">
                                <a:latin typeface="Cambria Math" panose="02040503050406030204" pitchFamily="18" charset="0"/>
                                <a:cs typeface="Times New Roman"/>
                              </a:rPr>
                            </m:ctrlPr>
                          </m:mPr>
                          <m:mr>
                            <m:e>
                              <m:eqArr>
                                <m:eqArrPr>
                                  <m:ctrlPr>
                                    <a:rPr lang="en-US" sz="2800" b="0" i="1" smtClean="0">
                                      <a:latin typeface="Cambria Math" panose="02040503050406030204" pitchFamily="18" charset="0"/>
                                      <a:cs typeface="Times New Roman"/>
                                    </a:rPr>
                                  </m:ctrlPr>
                                </m:eqArrPr>
                                <m:e>
                                  <m:sSub>
                                    <m:sSubPr>
                                      <m:ctrlPr>
                                        <a:rPr lang="en-US" sz="2800" b="0" i="1" smtClean="0">
                                          <a:latin typeface="Cambria Math" panose="02040503050406030204" pitchFamily="18" charset="0"/>
                                          <a:cs typeface="Times New Roman"/>
                                        </a:rPr>
                                      </m:ctrlPr>
                                    </m:sSubPr>
                                    <m:e>
                                      <m:r>
                                        <m:rPr>
                                          <m:brk m:alnAt="7"/>
                                        </m:rPr>
                                        <a:rPr lang="en-US" sz="2800" b="0" i="1" smtClean="0">
                                          <a:latin typeface="Cambria Math" panose="02040503050406030204" pitchFamily="18" charset="0"/>
                                          <a:cs typeface="Times New Roman"/>
                                        </a:rPr>
                                        <m:t>𝑎</m:t>
                                      </m:r>
                                    </m:e>
                                    <m:sub>
                                      <m:r>
                                        <m:rPr>
                                          <m:brk m:alnAt="7"/>
                                        </m:rPr>
                                        <a:rPr lang="en-US" sz="2800" b="0" i="1" smtClean="0">
                                          <a:latin typeface="Cambria Math" panose="02040503050406030204" pitchFamily="18" charset="0"/>
                                          <a:cs typeface="Times New Roman"/>
                                        </a:rPr>
                                        <m:t>1</m:t>
                                      </m:r>
                                      <m:r>
                                        <a:rPr lang="en-US" sz="2800" b="0" i="1" smtClean="0">
                                          <a:latin typeface="Cambria Math" panose="02040503050406030204" pitchFamily="18" charset="0"/>
                                          <a:cs typeface="Times New Roman"/>
                                        </a:rPr>
                                        <m:t>1</m:t>
                                      </m:r>
                                    </m:sub>
                                  </m:sSub>
                                </m:e>
                                <m:e>
                                  <m:r>
                                    <a:rPr lang="en-US" sz="2800" b="0" i="1" smtClean="0">
                                      <a:latin typeface="Cambria Math" panose="02040503050406030204" pitchFamily="18" charset="0"/>
                                      <a:cs typeface="Times New Roman"/>
                                    </a:rPr>
                                    <m:t> </m:t>
                                  </m:r>
                                </m:e>
                              </m:eqArr>
                            </m:e>
                            <m:e>
                              <m:eqArr>
                                <m:eqArrPr>
                                  <m:ctrlPr>
                                    <a:rPr lang="en-US" sz="2800" b="0" i="1" smtClean="0">
                                      <a:latin typeface="Cambria Math" panose="02040503050406030204" pitchFamily="18" charset="0"/>
                                      <a:cs typeface="Times New Roman"/>
                                    </a:rPr>
                                  </m:ctrlPr>
                                </m:eqArrPr>
                                <m:e>
                                  <m:sSub>
                                    <m:sSubPr>
                                      <m:ctrlPr>
                                        <a:rPr lang="en-US" sz="2800" b="0" i="1" smtClean="0">
                                          <a:latin typeface="Cambria Math" panose="02040503050406030204" pitchFamily="18" charset="0"/>
                                          <a:cs typeface="Times New Roman"/>
                                        </a:rPr>
                                      </m:ctrlPr>
                                    </m:sSubPr>
                                    <m:e>
                                      <m:r>
                                        <a:rPr lang="en-US" sz="2800" b="0" i="1" smtClean="0">
                                          <a:latin typeface="Cambria Math" panose="02040503050406030204" pitchFamily="18" charset="0"/>
                                          <a:cs typeface="Times New Roman"/>
                                        </a:rPr>
                                        <m:t>𝑎</m:t>
                                      </m:r>
                                    </m:e>
                                    <m:sub>
                                      <m:r>
                                        <a:rPr lang="en-US" sz="2800" b="0" i="1" smtClean="0">
                                          <a:latin typeface="Cambria Math" panose="02040503050406030204" pitchFamily="18" charset="0"/>
                                          <a:cs typeface="Times New Roman"/>
                                        </a:rPr>
                                        <m:t>12</m:t>
                                      </m:r>
                                    </m:sub>
                                  </m:sSub>
                                </m:e>
                                <m:e>
                                  <m:r>
                                    <a:rPr lang="en-US" sz="2800" b="0" i="1" smtClean="0">
                                      <a:latin typeface="Cambria Math" panose="02040503050406030204" pitchFamily="18" charset="0"/>
                                      <a:cs typeface="Times New Roman"/>
                                    </a:rPr>
                                    <m:t> </m:t>
                                  </m:r>
                                </m:e>
                              </m:eqArr>
                            </m:e>
                          </m:mr>
                          <m:mr>
                            <m:e>
                              <m:sSub>
                                <m:sSubPr>
                                  <m:ctrlPr>
                                    <a:rPr lang="en-US" sz="2800" b="0" i="1" smtClean="0">
                                      <a:latin typeface="Cambria Math" panose="02040503050406030204" pitchFamily="18" charset="0"/>
                                      <a:cs typeface="Times New Roman"/>
                                    </a:rPr>
                                  </m:ctrlPr>
                                </m:sSubPr>
                                <m:e>
                                  <m:r>
                                    <a:rPr lang="en-US" sz="2800" b="0" i="1" smtClean="0">
                                      <a:latin typeface="Cambria Math" panose="02040503050406030204" pitchFamily="18" charset="0"/>
                                      <a:cs typeface="Times New Roman"/>
                                    </a:rPr>
                                    <m:t>𝑎</m:t>
                                  </m:r>
                                </m:e>
                                <m:sub>
                                  <m:r>
                                    <a:rPr lang="en-US" sz="2800" b="0" i="1" smtClean="0">
                                      <a:latin typeface="Cambria Math" panose="02040503050406030204" pitchFamily="18" charset="0"/>
                                      <a:cs typeface="Times New Roman"/>
                                    </a:rPr>
                                    <m:t>21</m:t>
                                  </m:r>
                                </m:sub>
                              </m:sSub>
                            </m:e>
                            <m:e>
                              <m:sSub>
                                <m:sSubPr>
                                  <m:ctrlPr>
                                    <a:rPr lang="en-US" sz="2800" b="0" i="1" smtClean="0">
                                      <a:latin typeface="Cambria Math" panose="02040503050406030204" pitchFamily="18" charset="0"/>
                                      <a:cs typeface="Times New Roman"/>
                                    </a:rPr>
                                  </m:ctrlPr>
                                </m:sSubPr>
                                <m:e>
                                  <m:r>
                                    <a:rPr lang="en-US" sz="2800" b="0" i="1" smtClean="0">
                                      <a:latin typeface="Cambria Math" panose="02040503050406030204" pitchFamily="18" charset="0"/>
                                      <a:cs typeface="Times New Roman"/>
                                    </a:rPr>
                                    <m:t>𝑎</m:t>
                                  </m:r>
                                </m:e>
                                <m:sub>
                                  <m:r>
                                    <a:rPr lang="en-US" sz="2800" b="0" i="1" smtClean="0">
                                      <a:latin typeface="Cambria Math" panose="02040503050406030204" pitchFamily="18" charset="0"/>
                                      <a:cs typeface="Times New Roman"/>
                                    </a:rPr>
                                    <m:t>22</m:t>
                                  </m:r>
                                </m:sub>
                              </m:sSub>
                            </m:e>
                          </m:mr>
                        </m:m>
                      </m:e>
                    </m:d>
                  </m:oMath>
                </a14:m>
                <a:r>
                  <a:rPr lang="en-US" sz="2800" dirty="0">
                    <a:latin typeface="Times New Roman"/>
                    <a:cs typeface="Times New Roman"/>
                  </a:rPr>
                  <a:t>     or equivalently     </a:t>
                </a:r>
                <a14:m>
                  <m:oMath xmlns:m="http://schemas.openxmlformats.org/officeDocument/2006/math">
                    <m:d>
                      <m:dPr>
                        <m:begChr m:val="["/>
                        <m:endChr m:val="]"/>
                        <m:ctrlPr>
                          <a:rPr lang="en-US" sz="2800" b="0" i="1" smtClean="0">
                            <a:latin typeface="Cambria Math" panose="02040503050406030204" pitchFamily="18" charset="0"/>
                            <a:cs typeface="Times New Roman"/>
                          </a:rPr>
                        </m:ctrlPr>
                      </m:dPr>
                      <m:e>
                        <m:m>
                          <m:mPr>
                            <m:mcs>
                              <m:mc>
                                <m:mcPr>
                                  <m:count m:val="2"/>
                                  <m:mcJc m:val="center"/>
                                </m:mcPr>
                              </m:mc>
                            </m:mcs>
                            <m:ctrlPr>
                              <a:rPr lang="en-US" sz="2800" b="0" i="1" smtClean="0">
                                <a:latin typeface="Cambria Math" panose="02040503050406030204" pitchFamily="18" charset="0"/>
                                <a:cs typeface="Times New Roman"/>
                              </a:rPr>
                            </m:ctrlPr>
                          </m:mPr>
                          <m:mr>
                            <m:e>
                              <m:eqArr>
                                <m:eqArrPr>
                                  <m:ctrlPr>
                                    <a:rPr lang="en-US" sz="2800" b="0" i="1" smtClean="0">
                                      <a:latin typeface="Cambria Math" panose="02040503050406030204" pitchFamily="18" charset="0"/>
                                      <a:cs typeface="Times New Roman"/>
                                    </a:rPr>
                                  </m:ctrlPr>
                                </m:eqArrPr>
                                <m:e>
                                  <m:r>
                                    <m:rPr>
                                      <m:brk m:alnAt="7"/>
                                    </m:rPr>
                                    <a:rPr lang="en-US" sz="2800" b="0" i="1" smtClean="0">
                                      <a:latin typeface="Cambria Math" panose="02040503050406030204" pitchFamily="18" charset="0"/>
                                      <a:cs typeface="Times New Roman"/>
                                    </a:rPr>
                                    <m:t>0</m:t>
                                  </m:r>
                                </m:e>
                                <m:e>
                                  <m:r>
                                    <a:rPr lang="en-US" sz="2800" b="0" i="1" smtClean="0">
                                      <a:latin typeface="Cambria Math" panose="02040503050406030204" pitchFamily="18" charset="0"/>
                                      <a:cs typeface="Times New Roman"/>
                                    </a:rPr>
                                    <m:t> </m:t>
                                  </m:r>
                                </m:e>
                              </m:eqArr>
                            </m:e>
                            <m:e>
                              <m:eqArr>
                                <m:eqArrPr>
                                  <m:ctrlPr>
                                    <a:rPr lang="en-US" sz="2800" b="0" i="1" smtClean="0">
                                      <a:latin typeface="Cambria Math" panose="02040503050406030204" pitchFamily="18" charset="0"/>
                                      <a:cs typeface="Times New Roman"/>
                                    </a:rPr>
                                  </m:ctrlPr>
                                </m:eqArrPr>
                                <m:e>
                                  <m:r>
                                    <a:rPr lang="en-US" sz="2800" b="0" i="1" smtClean="0">
                                      <a:latin typeface="Cambria Math" panose="02040503050406030204" pitchFamily="18" charset="0"/>
                                      <a:cs typeface="Times New Roman"/>
                                    </a:rPr>
                                    <m:t>𝑎</m:t>
                                  </m:r>
                                </m:e>
                                <m:e>
                                  <m:r>
                                    <a:rPr lang="en-US" sz="2800" b="0" i="1" smtClean="0">
                                      <a:latin typeface="Cambria Math" panose="02040503050406030204" pitchFamily="18" charset="0"/>
                                      <a:cs typeface="Times New Roman"/>
                                    </a:rPr>
                                    <m:t> </m:t>
                                  </m:r>
                                </m:e>
                              </m:eqArr>
                            </m:e>
                          </m:mr>
                          <m:mr>
                            <m:e>
                              <m:r>
                                <a:rPr lang="en-US" sz="2800" b="0" i="1" smtClean="0">
                                  <a:latin typeface="Cambria Math" panose="02040503050406030204" pitchFamily="18" charset="0"/>
                                  <a:cs typeface="Times New Roman"/>
                                </a:rPr>
                                <m:t>𝑏</m:t>
                              </m:r>
                            </m:e>
                            <m:e>
                              <m:r>
                                <a:rPr lang="en-US" sz="2800" b="0" i="1" smtClean="0">
                                  <a:latin typeface="Cambria Math" panose="02040503050406030204" pitchFamily="18" charset="0"/>
                                  <a:cs typeface="Times New Roman"/>
                                </a:rPr>
                                <m:t>0</m:t>
                              </m:r>
                            </m:e>
                          </m:mr>
                        </m:m>
                      </m:e>
                    </m:d>
                  </m:oMath>
                </a14:m>
                <a:endParaRPr lang="ar-YE" sz="2800" dirty="0">
                  <a:latin typeface="Times New Roman"/>
                  <a:cs typeface="Times New Roman"/>
                </a:endParaRPr>
              </a:p>
            </p:txBody>
          </p:sp>
        </mc:Choice>
        <mc:Fallback xmlns="">
          <p:sp>
            <p:nvSpPr>
              <p:cNvPr id="26" name="TextBox 25">
                <a:extLst>
                  <a:ext uri="{FF2B5EF4-FFF2-40B4-BE49-F238E27FC236}">
                    <a16:creationId xmlns:a16="http://schemas.microsoft.com/office/drawing/2014/main" id="{270E824A-60A4-8876-6CFD-444789DC3466}"/>
                  </a:ext>
                </a:extLst>
              </p:cNvPr>
              <p:cNvSpPr txBox="1">
                <a:spLocks noRot="1" noChangeAspect="1" noMove="1" noResize="1" noEditPoints="1" noAdjustHandles="1" noChangeArrowheads="1" noChangeShapeType="1" noTextEdit="1"/>
              </p:cNvSpPr>
              <p:nvPr/>
            </p:nvSpPr>
            <p:spPr>
              <a:xfrm>
                <a:off x="450040" y="2286000"/>
                <a:ext cx="7693370" cy="1209883"/>
              </a:xfrm>
              <a:prstGeom prst="rect">
                <a:avLst/>
              </a:prstGeom>
              <a:blipFill>
                <a:blip r:embed="rId5"/>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54D6272C-72CC-6600-1DB9-84AB0A85A2F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14F3D8C1-F3DF-C7AD-C324-E46C53089A5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9" name="Slide Number Placeholder 8">
            <a:extLst>
              <a:ext uri="{FF2B5EF4-FFF2-40B4-BE49-F238E27FC236}">
                <a16:creationId xmlns:a16="http://schemas.microsoft.com/office/drawing/2014/main" id="{E9D1C4CC-0DE4-74C9-F0F2-D6BA6C5731A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42</a:t>
            </a:fld>
            <a:r>
              <a:rPr lang="en-US" sz="2000" dirty="0">
                <a:solidFill>
                  <a:prstClr val="black"/>
                </a:solidFill>
                <a:latin typeface="Comic Sans MS"/>
                <a:sym typeface="Comic Sans MS"/>
              </a:rPr>
              <a:t>/59</a:t>
            </a:r>
          </a:p>
        </p:txBody>
      </p:sp>
      <p:sp>
        <p:nvSpPr>
          <p:cNvPr id="30" name="Footer Placeholder 9">
            <a:extLst>
              <a:ext uri="{FF2B5EF4-FFF2-40B4-BE49-F238E27FC236}">
                <a16:creationId xmlns:a16="http://schemas.microsoft.com/office/drawing/2014/main" id="{31502FC4-BA62-B4AC-586A-3F53C6E7570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31" name="Rectangle 30">
            <a:extLst>
              <a:ext uri="{FF2B5EF4-FFF2-40B4-BE49-F238E27FC236}">
                <a16:creationId xmlns:a16="http://schemas.microsoft.com/office/drawing/2014/main" id="{FF92E2C8-A844-7211-4551-004CBB34B6F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A34204C-4506-9F51-D3DE-8C8B469E2F8B}"/>
                  </a:ext>
                </a:extLst>
              </p:cNvPr>
              <p:cNvSpPr txBox="1"/>
              <p:nvPr/>
            </p:nvSpPr>
            <p:spPr>
              <a:xfrm>
                <a:off x="6215336" y="3668075"/>
                <a:ext cx="1689052"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11</m:t>
                        </m:r>
                      </m:sub>
                    </m:sSub>
                  </m:oMath>
                </a14:m>
                <a:r>
                  <a:rPr lang="en-US" dirty="0"/>
                  <a:t> </a:t>
                </a:r>
              </a:p>
            </p:txBody>
          </p:sp>
        </mc:Choice>
        <mc:Fallback xmlns="">
          <p:sp>
            <p:nvSpPr>
              <p:cNvPr id="3" name="TextBox 2">
                <a:extLst>
                  <a:ext uri="{FF2B5EF4-FFF2-40B4-BE49-F238E27FC236}">
                    <a16:creationId xmlns:a16="http://schemas.microsoft.com/office/drawing/2014/main" id="{6A34204C-4506-9F51-D3DE-8C8B469E2F8B}"/>
                  </a:ext>
                </a:extLst>
              </p:cNvPr>
              <p:cNvSpPr txBox="1">
                <a:spLocks noRot="1" noChangeAspect="1" noMove="1" noResize="1" noEditPoints="1" noAdjustHandles="1" noChangeArrowheads="1" noChangeShapeType="1" noTextEdit="1"/>
              </p:cNvSpPr>
              <p:nvPr/>
            </p:nvSpPr>
            <p:spPr>
              <a:xfrm>
                <a:off x="6215336" y="3668075"/>
                <a:ext cx="1689052" cy="369332"/>
              </a:xfrm>
              <a:prstGeom prst="rect">
                <a:avLst/>
              </a:prstGeom>
              <a:blipFill>
                <a:blip r:embed="rId6"/>
                <a:stretch>
                  <a:fillRect/>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53353606-1353-0856-DC3F-276B6C203B6E}"/>
              </a:ext>
            </a:extLst>
          </p:cNvPr>
          <p:cNvCxnSpPr>
            <a:cxnSpLocks/>
            <a:stCxn id="3" idx="1"/>
          </p:cNvCxnSpPr>
          <p:nvPr/>
        </p:nvCxnSpPr>
        <p:spPr>
          <a:xfrm flipH="1" flipV="1">
            <a:off x="5486400" y="3495883"/>
            <a:ext cx="728936" cy="356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23443" rIns="0" bIns="0" rtlCol="0">
            <a:spAutoFit/>
          </a:bodyPr>
          <a:lstStyle/>
          <a:p>
            <a:pPr marL="23495">
              <a:lnSpc>
                <a:spcPct val="100000"/>
              </a:lnSpc>
            </a:pPr>
            <a:r>
              <a:rPr sz="3600" dirty="0"/>
              <a:t>Replica</a:t>
            </a:r>
            <a:r>
              <a:rPr sz="3600" spc="-15" dirty="0"/>
              <a:t>t</a:t>
            </a:r>
            <a:r>
              <a:rPr sz="3600" dirty="0"/>
              <a:t>or</a:t>
            </a:r>
            <a:r>
              <a:rPr sz="3600" spc="-5" dirty="0"/>
              <a:t> </a:t>
            </a:r>
            <a:r>
              <a:rPr sz="3600" dirty="0"/>
              <a:t>equa</a:t>
            </a:r>
            <a:r>
              <a:rPr sz="3600" spc="-15" dirty="0"/>
              <a:t>t</a:t>
            </a:r>
            <a:r>
              <a:rPr sz="3600" dirty="0"/>
              <a:t>ions</a:t>
            </a:r>
            <a:r>
              <a:rPr sz="3600" spc="-5" dirty="0"/>
              <a:t> </a:t>
            </a:r>
            <a:r>
              <a:rPr sz="3600" spc="-15" dirty="0"/>
              <a:t>f</a:t>
            </a:r>
            <a:r>
              <a:rPr sz="3600" dirty="0"/>
              <a:t>or</a:t>
            </a:r>
            <a:r>
              <a:rPr sz="3600" spc="-5" dirty="0"/>
              <a:t> </a:t>
            </a:r>
            <a:r>
              <a:rPr sz="3600" dirty="0"/>
              <a:t>n=2</a:t>
            </a:r>
            <a:r>
              <a:rPr sz="3600" spc="-10" dirty="0"/>
              <a:t>:</a:t>
            </a:r>
            <a:endParaRPr sz="3600" dirty="0"/>
          </a:p>
        </p:txBody>
      </p:sp>
      <p:sp>
        <p:nvSpPr>
          <p:cNvPr id="6" name="object 6"/>
          <p:cNvSpPr/>
          <p:nvPr/>
        </p:nvSpPr>
        <p:spPr>
          <a:xfrm>
            <a:off x="551441" y="1748631"/>
            <a:ext cx="3810000" cy="3886200"/>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4833194" y="1816631"/>
            <a:ext cx="2329605" cy="430887"/>
          </a:xfrm>
          <a:prstGeom prst="rect">
            <a:avLst/>
          </a:prstGeom>
        </p:spPr>
        <p:txBody>
          <a:bodyPr vert="horz" wrap="square" lIns="0" tIns="0" rIns="0" bIns="0" rtlCol="0">
            <a:spAutoFit/>
          </a:bodyPr>
          <a:lstStyle/>
          <a:p>
            <a:pPr marL="12700">
              <a:lnSpc>
                <a:spcPct val="100000"/>
              </a:lnSpc>
            </a:pPr>
            <a:r>
              <a:rPr lang="en-US" sz="4000" b="1" spc="-337" baseline="4444" dirty="0">
                <a:solidFill>
                  <a:srgbClr val="CE9964"/>
                </a:solidFill>
                <a:latin typeface="Arial"/>
                <a:cs typeface="Arial"/>
                <a:sym typeface="Wingdings 2" panose="05020102010507070707" pitchFamily="18" charset="2"/>
              </a:rPr>
              <a:t></a:t>
            </a:r>
            <a:r>
              <a:rPr sz="3750" spc="-442" baseline="4444" dirty="0">
                <a:solidFill>
                  <a:srgbClr val="CE9964"/>
                </a:solidFill>
                <a:latin typeface="Arial"/>
                <a:cs typeface="Arial"/>
              </a:rPr>
              <a:t> </a:t>
            </a:r>
            <a:r>
              <a:rPr sz="2800" dirty="0">
                <a:solidFill>
                  <a:srgbClr val="402000"/>
                </a:solidFill>
                <a:latin typeface="Times New Roman"/>
                <a:cs typeface="Times New Roman"/>
              </a:rPr>
              <a:t>D</a:t>
            </a:r>
            <a:r>
              <a:rPr sz="2800" spc="-15" dirty="0">
                <a:solidFill>
                  <a:srgbClr val="402000"/>
                </a:solidFill>
                <a:latin typeface="Times New Roman"/>
                <a:cs typeface="Times New Roman"/>
              </a:rPr>
              <a:t>omin</a:t>
            </a:r>
            <a:r>
              <a:rPr sz="2800" spc="-20" dirty="0">
                <a:solidFill>
                  <a:srgbClr val="402000"/>
                </a:solidFill>
                <a:latin typeface="Times New Roman"/>
                <a:cs typeface="Times New Roman"/>
              </a:rPr>
              <a:t>a</a:t>
            </a:r>
            <a:r>
              <a:rPr sz="2800" spc="-15" dirty="0">
                <a:solidFill>
                  <a:srgbClr val="402000"/>
                </a:solidFill>
                <a:latin typeface="Times New Roman"/>
                <a:cs typeface="Times New Roman"/>
              </a:rPr>
              <a:t>n</a:t>
            </a:r>
            <a:r>
              <a:rPr sz="2800" spc="-20" dirty="0">
                <a:solidFill>
                  <a:srgbClr val="402000"/>
                </a:solidFill>
                <a:latin typeface="Times New Roman"/>
                <a:cs typeface="Times New Roman"/>
              </a:rPr>
              <a:t>c</a:t>
            </a:r>
            <a:r>
              <a:rPr sz="2800" spc="-15" dirty="0">
                <a:solidFill>
                  <a:srgbClr val="402000"/>
                </a:solidFill>
                <a:latin typeface="Times New Roman"/>
                <a:cs typeface="Times New Roman"/>
              </a:rPr>
              <a:t>e</a:t>
            </a:r>
            <a:endParaRPr sz="2800" dirty="0">
              <a:latin typeface="Times New Roman"/>
              <a:cs typeface="Times New Roman"/>
            </a:endParaRPr>
          </a:p>
        </p:txBody>
      </p:sp>
      <p:sp>
        <p:nvSpPr>
          <p:cNvPr id="8" name="object 8"/>
          <p:cNvSpPr txBox="1"/>
          <p:nvPr/>
        </p:nvSpPr>
        <p:spPr>
          <a:xfrm>
            <a:off x="4833195" y="3291863"/>
            <a:ext cx="1850389" cy="430887"/>
          </a:xfrm>
          <a:prstGeom prst="rect">
            <a:avLst/>
          </a:prstGeom>
        </p:spPr>
        <p:txBody>
          <a:bodyPr vert="horz" wrap="square" lIns="0" tIns="0" rIns="0" bIns="0" rtlCol="0">
            <a:spAutoFit/>
          </a:bodyPr>
          <a:lstStyle/>
          <a:p>
            <a:pPr marL="12700">
              <a:lnSpc>
                <a:spcPct val="100000"/>
              </a:lnSpc>
            </a:pPr>
            <a:r>
              <a:rPr lang="en-US" sz="4000" b="1" spc="-337" baseline="4444" dirty="0">
                <a:solidFill>
                  <a:srgbClr val="CE9964"/>
                </a:solidFill>
                <a:latin typeface="Arial"/>
                <a:cs typeface="Arial"/>
                <a:sym typeface="Wingdings 2" panose="05020102010507070707" pitchFamily="18" charset="2"/>
              </a:rPr>
              <a:t></a:t>
            </a:r>
            <a:r>
              <a:rPr sz="3750" spc="-442" baseline="4444" dirty="0">
                <a:solidFill>
                  <a:srgbClr val="CE9964"/>
                </a:solidFill>
                <a:latin typeface="Arial"/>
                <a:cs typeface="Arial"/>
              </a:rPr>
              <a:t> </a:t>
            </a:r>
            <a:r>
              <a:rPr sz="2800" spc="-15" dirty="0">
                <a:solidFill>
                  <a:srgbClr val="402000"/>
                </a:solidFill>
                <a:latin typeface="Times New Roman"/>
                <a:cs typeface="Times New Roman"/>
              </a:rPr>
              <a:t>Bi</a:t>
            </a:r>
            <a:r>
              <a:rPr sz="2800" dirty="0">
                <a:solidFill>
                  <a:srgbClr val="402000"/>
                </a:solidFill>
                <a:latin typeface="Times New Roman"/>
                <a:cs typeface="Times New Roman"/>
              </a:rPr>
              <a:t>s</a:t>
            </a:r>
            <a:r>
              <a:rPr sz="2800" spc="-10" dirty="0">
                <a:solidFill>
                  <a:srgbClr val="402000"/>
                </a:solidFill>
                <a:latin typeface="Times New Roman"/>
                <a:cs typeface="Times New Roman"/>
              </a:rPr>
              <a:t>t</a:t>
            </a:r>
            <a:r>
              <a:rPr sz="2800" spc="-20" dirty="0">
                <a:solidFill>
                  <a:srgbClr val="402000"/>
                </a:solidFill>
                <a:latin typeface="Times New Roman"/>
                <a:cs typeface="Times New Roman"/>
              </a:rPr>
              <a:t>a</a:t>
            </a:r>
            <a:r>
              <a:rPr sz="2800" spc="-10" dirty="0">
                <a:solidFill>
                  <a:srgbClr val="402000"/>
                </a:solidFill>
                <a:latin typeface="Times New Roman"/>
                <a:cs typeface="Times New Roman"/>
              </a:rPr>
              <a:t>bilit</a:t>
            </a:r>
            <a:r>
              <a:rPr sz="2800" dirty="0">
                <a:solidFill>
                  <a:srgbClr val="402000"/>
                </a:solidFill>
                <a:latin typeface="Times New Roman"/>
                <a:cs typeface="Times New Roman"/>
              </a:rPr>
              <a:t>y</a:t>
            </a:r>
            <a:endParaRPr sz="2800" dirty="0">
              <a:latin typeface="Times New Roman"/>
              <a:cs typeface="Times New Roman"/>
            </a:endParaRPr>
          </a:p>
        </p:txBody>
      </p:sp>
      <p:sp>
        <p:nvSpPr>
          <p:cNvPr id="9" name="object 9"/>
          <p:cNvSpPr txBox="1"/>
          <p:nvPr/>
        </p:nvSpPr>
        <p:spPr>
          <a:xfrm>
            <a:off x="4833195" y="4767095"/>
            <a:ext cx="2945130" cy="430887"/>
          </a:xfrm>
          <a:prstGeom prst="rect">
            <a:avLst/>
          </a:prstGeom>
        </p:spPr>
        <p:txBody>
          <a:bodyPr vert="horz" wrap="square" lIns="0" tIns="0" rIns="0" bIns="0" rtlCol="0">
            <a:spAutoFit/>
          </a:bodyPr>
          <a:lstStyle/>
          <a:p>
            <a:pPr marL="12700">
              <a:lnSpc>
                <a:spcPct val="100000"/>
              </a:lnSpc>
            </a:pPr>
            <a:r>
              <a:rPr lang="en-US" sz="4000" b="1" spc="-337" baseline="4444" dirty="0">
                <a:solidFill>
                  <a:srgbClr val="CE9964"/>
                </a:solidFill>
                <a:latin typeface="Arial"/>
                <a:cs typeface="Arial"/>
                <a:sym typeface="Wingdings 2" panose="05020102010507070707" pitchFamily="18" charset="2"/>
              </a:rPr>
              <a:t></a:t>
            </a:r>
            <a:r>
              <a:rPr sz="3750" spc="-442" baseline="4444" dirty="0">
                <a:solidFill>
                  <a:srgbClr val="CE9964"/>
                </a:solidFill>
                <a:latin typeface="Arial"/>
                <a:cs typeface="Arial"/>
              </a:rPr>
              <a:t> </a:t>
            </a:r>
            <a:r>
              <a:rPr sz="2800" dirty="0">
                <a:solidFill>
                  <a:srgbClr val="402000"/>
                </a:solidFill>
                <a:latin typeface="Times New Roman"/>
                <a:cs typeface="Times New Roman"/>
              </a:rPr>
              <a:t>s</a:t>
            </a:r>
            <a:r>
              <a:rPr sz="2800" spc="-10" dirty="0">
                <a:solidFill>
                  <a:srgbClr val="402000"/>
                </a:solidFill>
                <a:latin typeface="Times New Roman"/>
                <a:cs typeface="Times New Roman"/>
              </a:rPr>
              <a:t>t</a:t>
            </a:r>
            <a:r>
              <a:rPr sz="2800" spc="-20" dirty="0">
                <a:solidFill>
                  <a:srgbClr val="402000"/>
                </a:solidFill>
                <a:latin typeface="Times New Roman"/>
                <a:cs typeface="Times New Roman"/>
              </a:rPr>
              <a:t>a</a:t>
            </a:r>
            <a:r>
              <a:rPr sz="2800" spc="-15" dirty="0">
                <a:solidFill>
                  <a:srgbClr val="402000"/>
                </a:solidFill>
                <a:latin typeface="Times New Roman"/>
                <a:cs typeface="Times New Roman"/>
              </a:rPr>
              <a:t>ble</a:t>
            </a:r>
            <a:r>
              <a:rPr sz="2800" spc="-5" dirty="0">
                <a:solidFill>
                  <a:srgbClr val="402000"/>
                </a:solidFill>
                <a:latin typeface="Times New Roman"/>
                <a:cs typeface="Times New Roman"/>
              </a:rPr>
              <a:t> </a:t>
            </a:r>
            <a:r>
              <a:rPr sz="2800" spc="-20" dirty="0">
                <a:solidFill>
                  <a:srgbClr val="402000"/>
                </a:solidFill>
                <a:latin typeface="Times New Roman"/>
                <a:cs typeface="Times New Roman"/>
              </a:rPr>
              <a:t>c</a:t>
            </a:r>
            <a:r>
              <a:rPr sz="2800" spc="-15" dirty="0">
                <a:solidFill>
                  <a:srgbClr val="402000"/>
                </a:solidFill>
                <a:latin typeface="Times New Roman"/>
                <a:cs typeface="Times New Roman"/>
              </a:rPr>
              <a:t>o</a:t>
            </a:r>
            <a:r>
              <a:rPr sz="2800" spc="-20" dirty="0">
                <a:solidFill>
                  <a:srgbClr val="402000"/>
                </a:solidFill>
                <a:latin typeface="Times New Roman"/>
                <a:cs typeface="Times New Roman"/>
              </a:rPr>
              <a:t>e</a:t>
            </a:r>
            <a:r>
              <a:rPr sz="2800" spc="-15" dirty="0">
                <a:solidFill>
                  <a:srgbClr val="402000"/>
                </a:solidFill>
                <a:latin typeface="Times New Roman"/>
                <a:cs typeface="Times New Roman"/>
              </a:rPr>
              <a:t>xi</a:t>
            </a:r>
            <a:r>
              <a:rPr sz="2800" dirty="0">
                <a:solidFill>
                  <a:srgbClr val="402000"/>
                </a:solidFill>
                <a:latin typeface="Times New Roman"/>
                <a:cs typeface="Times New Roman"/>
              </a:rPr>
              <a:t>s</a:t>
            </a:r>
            <a:r>
              <a:rPr sz="2800" spc="-10" dirty="0">
                <a:solidFill>
                  <a:srgbClr val="402000"/>
                </a:solidFill>
                <a:latin typeface="Times New Roman"/>
                <a:cs typeface="Times New Roman"/>
              </a:rPr>
              <a:t>t</a:t>
            </a:r>
            <a:r>
              <a:rPr sz="2800" spc="-20" dirty="0">
                <a:solidFill>
                  <a:srgbClr val="402000"/>
                </a:solidFill>
                <a:latin typeface="Times New Roman"/>
                <a:cs typeface="Times New Roman"/>
              </a:rPr>
              <a:t>e</a:t>
            </a:r>
            <a:r>
              <a:rPr sz="2800" spc="-15" dirty="0">
                <a:solidFill>
                  <a:srgbClr val="402000"/>
                </a:solidFill>
                <a:latin typeface="Times New Roman"/>
                <a:cs typeface="Times New Roman"/>
              </a:rPr>
              <a:t>n</a:t>
            </a:r>
            <a:r>
              <a:rPr sz="2800" spc="-20" dirty="0">
                <a:solidFill>
                  <a:srgbClr val="402000"/>
                </a:solidFill>
                <a:latin typeface="Times New Roman"/>
                <a:cs typeface="Times New Roman"/>
              </a:rPr>
              <a:t>c</a:t>
            </a:r>
            <a:r>
              <a:rPr sz="2800" spc="-15" dirty="0">
                <a:solidFill>
                  <a:srgbClr val="402000"/>
                </a:solidFill>
                <a:latin typeface="Times New Roman"/>
                <a:cs typeface="Times New Roman"/>
              </a:rPr>
              <a:t>e</a:t>
            </a:r>
            <a:endParaRPr sz="2800" dirty="0">
              <a:latin typeface="Times New Roman"/>
              <a:cs typeface="Times New Roman"/>
            </a:endParaRPr>
          </a:p>
        </p:txBody>
      </p:sp>
      <p:sp>
        <p:nvSpPr>
          <p:cNvPr id="10" name="Rectangle 9">
            <a:extLst>
              <a:ext uri="{FF2B5EF4-FFF2-40B4-BE49-F238E27FC236}">
                <a16:creationId xmlns:a16="http://schemas.microsoft.com/office/drawing/2014/main" id="{BB09F252-BF0E-7E10-95A0-6B1E7D5E01D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BDFD5599-B78A-18A0-BE37-39F96F20254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Slide Number Placeholder 8">
            <a:extLst>
              <a:ext uri="{FF2B5EF4-FFF2-40B4-BE49-F238E27FC236}">
                <a16:creationId xmlns:a16="http://schemas.microsoft.com/office/drawing/2014/main" id="{02B6A67C-D5BA-2D8A-B35B-4E9EB614E86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43</a:t>
            </a:fld>
            <a:r>
              <a:rPr lang="en-US" sz="2000" dirty="0">
                <a:solidFill>
                  <a:prstClr val="black"/>
                </a:solidFill>
                <a:latin typeface="Comic Sans MS"/>
                <a:sym typeface="Comic Sans MS"/>
              </a:rPr>
              <a:t>/59</a:t>
            </a:r>
          </a:p>
        </p:txBody>
      </p:sp>
      <p:sp>
        <p:nvSpPr>
          <p:cNvPr id="13" name="Footer Placeholder 9">
            <a:extLst>
              <a:ext uri="{FF2B5EF4-FFF2-40B4-BE49-F238E27FC236}">
                <a16:creationId xmlns:a16="http://schemas.microsoft.com/office/drawing/2014/main" id="{D07A7519-7EA3-0443-920D-08181FA0EACE}"/>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4" name="Rectangle 13">
            <a:extLst>
              <a:ext uri="{FF2B5EF4-FFF2-40B4-BE49-F238E27FC236}">
                <a16:creationId xmlns:a16="http://schemas.microsoft.com/office/drawing/2014/main" id="{4A5D36D1-6952-2C84-AA00-A35E7E87539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152400"/>
            <a:ext cx="8243918" cy="1138000"/>
          </a:xfrm>
          <a:prstGeom prst="rect">
            <a:avLst/>
          </a:prstGeom>
        </p:spPr>
        <p:txBody>
          <a:bodyPr vert="horz" wrap="square" lIns="0" tIns="151634" rIns="0" bIns="0" rtlCol="0">
            <a:spAutoFit/>
          </a:bodyPr>
          <a:lstStyle/>
          <a:p>
            <a:pPr marL="23495">
              <a:lnSpc>
                <a:spcPct val="100000"/>
              </a:lnSpc>
            </a:pPr>
            <a:r>
              <a:rPr lang="en-US" dirty="0">
                <a:solidFill>
                  <a:srgbClr val="FF0000"/>
                </a:solidFill>
              </a:rPr>
              <a:t>Self Study</a:t>
            </a:r>
            <a:r>
              <a:rPr lang="en-US" dirty="0"/>
              <a:t>: </a:t>
            </a:r>
            <a:r>
              <a:rPr dirty="0"/>
              <a:t>Example</a:t>
            </a:r>
            <a:r>
              <a:rPr spc="-5" dirty="0"/>
              <a:t> </a:t>
            </a:r>
            <a:r>
              <a:rPr dirty="0"/>
              <a:t>coexi</a:t>
            </a:r>
            <a:r>
              <a:rPr spc="-20" dirty="0"/>
              <a:t>s</a:t>
            </a:r>
            <a:r>
              <a:rPr spc="-15" dirty="0"/>
              <a:t>t</a:t>
            </a:r>
            <a:r>
              <a:rPr dirty="0"/>
              <a:t>ence</a:t>
            </a:r>
            <a:r>
              <a:rPr spc="-10" dirty="0"/>
              <a:t>:</a:t>
            </a:r>
            <a:r>
              <a:rPr spc="-5" dirty="0"/>
              <a:t> </a:t>
            </a:r>
            <a:r>
              <a:rPr dirty="0"/>
              <a:t>Hawk-Dove</a:t>
            </a:r>
            <a:r>
              <a:rPr spc="-5" dirty="0"/>
              <a:t> </a:t>
            </a:r>
            <a:r>
              <a:rPr spc="-30" dirty="0"/>
              <a:t>G</a:t>
            </a:r>
            <a:r>
              <a:rPr dirty="0"/>
              <a:t>ame</a:t>
            </a:r>
          </a:p>
        </p:txBody>
      </p:sp>
      <p:sp>
        <p:nvSpPr>
          <p:cNvPr id="6" name="object 6"/>
          <p:cNvSpPr txBox="1"/>
          <p:nvPr/>
        </p:nvSpPr>
        <p:spPr>
          <a:xfrm>
            <a:off x="542379" y="1600212"/>
            <a:ext cx="6562090" cy="1381760"/>
          </a:xfrm>
          <a:prstGeom prst="rect">
            <a:avLst/>
          </a:prstGeom>
        </p:spPr>
        <p:txBody>
          <a:bodyPr vert="horz" wrap="square" lIns="0" tIns="0" rIns="0" bIns="0" rtlCol="0">
            <a:spAutoFit/>
          </a:bodyPr>
          <a:lstStyle/>
          <a:p>
            <a:pPr marL="22860">
              <a:lnSpc>
                <a:spcPct val="100000"/>
              </a:lnSpc>
              <a:tabLst>
                <a:tab pos="2262505" algn="l"/>
                <a:tab pos="3006090" algn="l"/>
              </a:tabLst>
            </a:pPr>
            <a:r>
              <a:rPr sz="2600" dirty="0">
                <a:latin typeface="Times New Roman"/>
                <a:cs typeface="Times New Roman"/>
              </a:rPr>
              <a:t>Hawk</a:t>
            </a:r>
            <a:r>
              <a:rPr sz="2600" spc="-200" dirty="0">
                <a:latin typeface="Times New Roman"/>
                <a:cs typeface="Times New Roman"/>
              </a:rPr>
              <a:t> </a:t>
            </a:r>
            <a:r>
              <a:rPr sz="2600" spc="-10" dirty="0">
                <a:latin typeface="Times New Roman"/>
                <a:cs typeface="Times New Roman"/>
              </a:rPr>
              <a:t>:</a:t>
            </a:r>
            <a:r>
              <a:rPr sz="2600" spc="290" dirty="0">
                <a:latin typeface="Times New Roman"/>
                <a:cs typeface="Times New Roman"/>
              </a:rPr>
              <a:t> </a:t>
            </a:r>
            <a:r>
              <a:rPr sz="2600" dirty="0">
                <a:latin typeface="Times New Roman"/>
                <a:cs typeface="Times New Roman"/>
              </a:rPr>
              <a:t>esca</a:t>
            </a:r>
            <a:r>
              <a:rPr sz="2600" spc="-10" dirty="0">
                <a:latin typeface="Times New Roman"/>
                <a:cs typeface="Times New Roman"/>
              </a:rPr>
              <a:t>l</a:t>
            </a:r>
            <a:r>
              <a:rPr sz="2600" dirty="0">
                <a:latin typeface="Times New Roman"/>
                <a:cs typeface="Times New Roman"/>
              </a:rPr>
              <a:t>a</a:t>
            </a:r>
            <a:r>
              <a:rPr sz="2600" spc="-10" dirty="0">
                <a:latin typeface="Times New Roman"/>
                <a:cs typeface="Times New Roman"/>
              </a:rPr>
              <a:t>t</a:t>
            </a:r>
            <a:r>
              <a:rPr sz="2600" dirty="0">
                <a:latin typeface="Times New Roman"/>
                <a:cs typeface="Times New Roman"/>
              </a:rPr>
              <a:t>e	un</a:t>
            </a:r>
            <a:r>
              <a:rPr sz="2600" spc="-10" dirty="0">
                <a:latin typeface="Times New Roman"/>
                <a:cs typeface="Times New Roman"/>
              </a:rPr>
              <a:t>til</a:t>
            </a:r>
            <a:r>
              <a:rPr sz="2600" dirty="0">
                <a:latin typeface="Times New Roman"/>
                <a:cs typeface="Times New Roman"/>
              </a:rPr>
              <a:t>	</a:t>
            </a:r>
            <a:r>
              <a:rPr sz="2600" spc="-10" dirty="0">
                <a:latin typeface="Times New Roman"/>
                <a:cs typeface="Times New Roman"/>
              </a:rPr>
              <a:t>i</a:t>
            </a:r>
            <a:r>
              <a:rPr sz="2600" dirty="0">
                <a:latin typeface="Times New Roman"/>
                <a:cs typeface="Times New Roman"/>
              </a:rPr>
              <a:t>n</a:t>
            </a:r>
            <a:r>
              <a:rPr sz="2600" spc="-10" dirty="0">
                <a:latin typeface="Times New Roman"/>
                <a:cs typeface="Times New Roman"/>
              </a:rPr>
              <a:t>j</a:t>
            </a:r>
            <a:r>
              <a:rPr sz="2600" dirty="0">
                <a:latin typeface="Times New Roman"/>
                <a:cs typeface="Times New Roman"/>
              </a:rPr>
              <a:t>ury</a:t>
            </a:r>
          </a:p>
          <a:p>
            <a:pPr marL="22860">
              <a:lnSpc>
                <a:spcPct val="100000"/>
              </a:lnSpc>
              <a:spcBef>
                <a:spcPts val="780"/>
              </a:spcBef>
              <a:tabLst>
                <a:tab pos="2077085" algn="l"/>
                <a:tab pos="2670175" algn="l"/>
                <a:tab pos="3501390" algn="l"/>
                <a:tab pos="3893820" algn="l"/>
                <a:tab pos="5375275" algn="l"/>
              </a:tabLst>
            </a:pPr>
            <a:r>
              <a:rPr sz="2600" dirty="0">
                <a:latin typeface="Times New Roman"/>
                <a:cs typeface="Times New Roman"/>
              </a:rPr>
              <a:t>Dove</a:t>
            </a:r>
            <a:r>
              <a:rPr sz="2600" spc="-310" dirty="0">
                <a:latin typeface="Times New Roman"/>
                <a:cs typeface="Times New Roman"/>
              </a:rPr>
              <a:t> </a:t>
            </a:r>
            <a:r>
              <a:rPr sz="2600" spc="-10" dirty="0">
                <a:latin typeface="Times New Roman"/>
                <a:cs typeface="Times New Roman"/>
              </a:rPr>
              <a:t>:</a:t>
            </a:r>
            <a:r>
              <a:rPr sz="2600" spc="-360" dirty="0">
                <a:latin typeface="Times New Roman"/>
                <a:cs typeface="Times New Roman"/>
              </a:rPr>
              <a:t> </a:t>
            </a:r>
            <a:r>
              <a:rPr sz="2600" dirty="0">
                <a:latin typeface="Times New Roman"/>
                <a:cs typeface="Times New Roman"/>
              </a:rPr>
              <a:t>d</a:t>
            </a:r>
            <a:r>
              <a:rPr sz="2600" spc="-10" dirty="0">
                <a:latin typeface="Times New Roman"/>
                <a:cs typeface="Times New Roman"/>
              </a:rPr>
              <a:t>i</a:t>
            </a:r>
            <a:r>
              <a:rPr sz="2600" dirty="0">
                <a:latin typeface="Times New Roman"/>
                <a:cs typeface="Times New Roman"/>
              </a:rPr>
              <a:t>sp</a:t>
            </a:r>
            <a:r>
              <a:rPr sz="2600" spc="-10" dirty="0">
                <a:latin typeface="Times New Roman"/>
                <a:cs typeface="Times New Roman"/>
              </a:rPr>
              <a:t>l</a:t>
            </a:r>
            <a:r>
              <a:rPr sz="2600" dirty="0">
                <a:latin typeface="Times New Roman"/>
                <a:cs typeface="Times New Roman"/>
              </a:rPr>
              <a:t>ay,	run	away	</a:t>
            </a:r>
            <a:r>
              <a:rPr sz="2600" spc="-10" dirty="0">
                <a:latin typeface="Times New Roman"/>
                <a:cs typeface="Times New Roman"/>
              </a:rPr>
              <a:t>i</a:t>
            </a:r>
            <a:r>
              <a:rPr sz="2600" dirty="0">
                <a:latin typeface="Times New Roman"/>
                <a:cs typeface="Times New Roman"/>
              </a:rPr>
              <a:t>f	co</a:t>
            </a:r>
            <a:r>
              <a:rPr sz="2600" spc="-265" dirty="0">
                <a:latin typeface="Times New Roman"/>
                <a:cs typeface="Times New Roman"/>
              </a:rPr>
              <a:t> </a:t>
            </a:r>
            <a:r>
              <a:rPr sz="2600" dirty="0">
                <a:latin typeface="Times New Roman"/>
                <a:cs typeface="Times New Roman"/>
              </a:rPr>
              <a:t>-</a:t>
            </a:r>
            <a:r>
              <a:rPr sz="2600" spc="-260" dirty="0">
                <a:latin typeface="Times New Roman"/>
                <a:cs typeface="Times New Roman"/>
              </a:rPr>
              <a:t> </a:t>
            </a:r>
            <a:r>
              <a:rPr sz="2600" dirty="0">
                <a:latin typeface="Times New Roman"/>
                <a:cs typeface="Times New Roman"/>
              </a:rPr>
              <a:t>p</a:t>
            </a:r>
            <a:r>
              <a:rPr sz="2600" spc="-10" dirty="0">
                <a:latin typeface="Times New Roman"/>
                <a:cs typeface="Times New Roman"/>
              </a:rPr>
              <a:t>l</a:t>
            </a:r>
            <a:r>
              <a:rPr sz="2600" dirty="0">
                <a:latin typeface="Times New Roman"/>
                <a:cs typeface="Times New Roman"/>
              </a:rPr>
              <a:t>ayer	esca</a:t>
            </a:r>
            <a:r>
              <a:rPr sz="2600" spc="-10" dirty="0">
                <a:latin typeface="Times New Roman"/>
                <a:cs typeface="Times New Roman"/>
              </a:rPr>
              <a:t>l</a:t>
            </a:r>
            <a:r>
              <a:rPr sz="2600" dirty="0">
                <a:latin typeface="Times New Roman"/>
                <a:cs typeface="Times New Roman"/>
              </a:rPr>
              <a:t>a</a:t>
            </a:r>
            <a:r>
              <a:rPr sz="2600" spc="-10" dirty="0">
                <a:latin typeface="Times New Roman"/>
                <a:cs typeface="Times New Roman"/>
              </a:rPr>
              <a:t>t</a:t>
            </a:r>
            <a:r>
              <a:rPr sz="2600" dirty="0">
                <a:latin typeface="Times New Roman"/>
                <a:cs typeface="Times New Roman"/>
              </a:rPr>
              <a:t>es</a:t>
            </a:r>
          </a:p>
          <a:p>
            <a:pPr marL="12700">
              <a:lnSpc>
                <a:spcPct val="100000"/>
              </a:lnSpc>
              <a:spcBef>
                <a:spcPts val="780"/>
              </a:spcBef>
              <a:tabLst>
                <a:tab pos="404495" algn="l"/>
                <a:tab pos="1127125" algn="l"/>
                <a:tab pos="1591945" algn="l"/>
                <a:tab pos="4121150" algn="l"/>
              </a:tabLst>
            </a:pPr>
            <a:r>
              <a:rPr sz="2600" i="1" dirty="0">
                <a:latin typeface="Times New Roman"/>
                <a:cs typeface="Times New Roman"/>
              </a:rPr>
              <a:t>G	</a:t>
            </a:r>
            <a:r>
              <a:rPr sz="2600" dirty="0">
                <a:latin typeface="Times New Roman"/>
                <a:cs typeface="Times New Roman"/>
              </a:rPr>
              <a:t>ga</a:t>
            </a:r>
            <a:r>
              <a:rPr sz="2600" spc="-10" dirty="0">
                <a:latin typeface="Times New Roman"/>
                <a:cs typeface="Times New Roman"/>
              </a:rPr>
              <a:t>in	of	contest,</a:t>
            </a:r>
            <a:r>
              <a:rPr sz="2600" spc="-215" dirty="0">
                <a:latin typeface="Times New Roman"/>
                <a:cs typeface="Times New Roman"/>
              </a:rPr>
              <a:t> </a:t>
            </a:r>
            <a:r>
              <a:rPr sz="2600" dirty="0">
                <a:latin typeface="Times New Roman"/>
                <a:cs typeface="Times New Roman"/>
              </a:rPr>
              <a:t>-</a:t>
            </a:r>
            <a:r>
              <a:rPr sz="2600" spc="-340" dirty="0">
                <a:latin typeface="Times New Roman"/>
                <a:cs typeface="Times New Roman"/>
              </a:rPr>
              <a:t> </a:t>
            </a:r>
            <a:r>
              <a:rPr sz="2600" i="1" dirty="0">
                <a:latin typeface="Times New Roman"/>
                <a:cs typeface="Times New Roman"/>
              </a:rPr>
              <a:t>C</a:t>
            </a:r>
            <a:r>
              <a:rPr sz="2600" i="1" spc="-30" dirty="0">
                <a:latin typeface="Times New Roman"/>
                <a:cs typeface="Times New Roman"/>
              </a:rPr>
              <a:t> </a:t>
            </a:r>
            <a:r>
              <a:rPr sz="2600" dirty="0">
                <a:latin typeface="Times New Roman"/>
                <a:cs typeface="Times New Roman"/>
              </a:rPr>
              <a:t>f</a:t>
            </a:r>
            <a:r>
              <a:rPr sz="2600" spc="-10" dirty="0">
                <a:latin typeface="Times New Roman"/>
                <a:cs typeface="Times New Roman"/>
              </a:rPr>
              <a:t>it</a:t>
            </a:r>
            <a:r>
              <a:rPr sz="2600" dirty="0">
                <a:latin typeface="Times New Roman"/>
                <a:cs typeface="Times New Roman"/>
              </a:rPr>
              <a:t>ness	cos</a:t>
            </a:r>
            <a:r>
              <a:rPr sz="2600" spc="-10" dirty="0">
                <a:latin typeface="Times New Roman"/>
                <a:cs typeface="Times New Roman"/>
              </a:rPr>
              <a:t>t</a:t>
            </a:r>
            <a:r>
              <a:rPr sz="2600" dirty="0">
                <a:latin typeface="Times New Roman"/>
                <a:cs typeface="Times New Roman"/>
              </a:rPr>
              <a:t>,</a:t>
            </a:r>
            <a:r>
              <a:rPr sz="2600" spc="-250" dirty="0">
                <a:latin typeface="Times New Roman"/>
                <a:cs typeface="Times New Roman"/>
              </a:rPr>
              <a:t> </a:t>
            </a:r>
            <a:r>
              <a:rPr sz="2600" i="1" dirty="0">
                <a:latin typeface="Times New Roman"/>
                <a:cs typeface="Times New Roman"/>
              </a:rPr>
              <a:t>C</a:t>
            </a:r>
            <a:r>
              <a:rPr sz="2600" i="1" spc="90" dirty="0">
                <a:latin typeface="Times New Roman"/>
                <a:cs typeface="Times New Roman"/>
              </a:rPr>
              <a:t> </a:t>
            </a:r>
            <a:r>
              <a:rPr sz="2600" dirty="0">
                <a:latin typeface="Symbol"/>
                <a:cs typeface="Symbol"/>
              </a:rPr>
              <a:t></a:t>
            </a:r>
            <a:r>
              <a:rPr sz="2600" spc="-130" dirty="0">
                <a:latin typeface="Times New Roman"/>
                <a:cs typeface="Times New Roman"/>
              </a:rPr>
              <a:t> </a:t>
            </a:r>
            <a:r>
              <a:rPr sz="2600" i="1" dirty="0">
                <a:latin typeface="Times New Roman"/>
                <a:cs typeface="Times New Roman"/>
              </a:rPr>
              <a:t>G</a:t>
            </a:r>
            <a:endParaRPr sz="2600" dirty="0">
              <a:latin typeface="Times New Roman"/>
              <a:cs typeface="Times New Roman"/>
            </a:endParaRPr>
          </a:p>
        </p:txBody>
      </p:sp>
      <p:sp>
        <p:nvSpPr>
          <p:cNvPr id="7" name="object 7"/>
          <p:cNvSpPr txBox="1"/>
          <p:nvPr/>
        </p:nvSpPr>
        <p:spPr>
          <a:xfrm>
            <a:off x="3869914" y="5248227"/>
            <a:ext cx="3701415" cy="356235"/>
          </a:xfrm>
          <a:prstGeom prst="rect">
            <a:avLst/>
          </a:prstGeom>
        </p:spPr>
        <p:txBody>
          <a:bodyPr vert="horz" wrap="square" lIns="0" tIns="0" rIns="0" bIns="0" rtlCol="0">
            <a:spAutoFit/>
          </a:bodyPr>
          <a:lstStyle/>
          <a:p>
            <a:pPr marL="12700">
              <a:lnSpc>
                <a:spcPct val="100000"/>
              </a:lnSpc>
            </a:pPr>
            <a:r>
              <a:rPr sz="2600" dirty="0">
                <a:latin typeface="Times New Roman"/>
                <a:cs typeface="Times New Roman"/>
              </a:rPr>
              <a:t>preva</a:t>
            </a:r>
            <a:r>
              <a:rPr sz="2600" spc="-10" dirty="0">
                <a:latin typeface="Times New Roman"/>
                <a:cs typeface="Times New Roman"/>
              </a:rPr>
              <a:t>lenc</a:t>
            </a:r>
            <a:r>
              <a:rPr sz="2600" spc="320" dirty="0">
                <a:latin typeface="Times New Roman"/>
                <a:cs typeface="Times New Roman"/>
              </a:rPr>
              <a:t>e</a:t>
            </a:r>
            <a:r>
              <a:rPr sz="2600" dirty="0">
                <a:latin typeface="Times New Roman"/>
                <a:cs typeface="Times New Roman"/>
              </a:rPr>
              <a:t>of</a:t>
            </a:r>
            <a:r>
              <a:rPr sz="2600" spc="229" dirty="0">
                <a:latin typeface="Times New Roman"/>
                <a:cs typeface="Times New Roman"/>
              </a:rPr>
              <a:t> </a:t>
            </a:r>
            <a:r>
              <a:rPr sz="2600" dirty="0">
                <a:latin typeface="Times New Roman"/>
                <a:cs typeface="Times New Roman"/>
              </a:rPr>
              <a:t>r</a:t>
            </a:r>
            <a:r>
              <a:rPr sz="2600" spc="-10" dirty="0">
                <a:latin typeface="Times New Roman"/>
                <a:cs typeface="Times New Roman"/>
              </a:rPr>
              <a:t>it</a:t>
            </a:r>
            <a:r>
              <a:rPr sz="2600" dirty="0">
                <a:latin typeface="Times New Roman"/>
                <a:cs typeface="Times New Roman"/>
              </a:rPr>
              <a:t>ua</a:t>
            </a:r>
            <a:r>
              <a:rPr sz="2600" spc="-10" dirty="0">
                <a:latin typeface="Times New Roman"/>
                <a:cs typeface="Times New Roman"/>
              </a:rPr>
              <a:t>l</a:t>
            </a:r>
            <a:r>
              <a:rPr sz="2600" spc="-210" dirty="0">
                <a:latin typeface="Times New Roman"/>
                <a:cs typeface="Times New Roman"/>
              </a:rPr>
              <a:t> </a:t>
            </a:r>
            <a:r>
              <a:rPr sz="2600" dirty="0">
                <a:latin typeface="Times New Roman"/>
                <a:cs typeface="Times New Roman"/>
              </a:rPr>
              <a:t>con</a:t>
            </a:r>
            <a:r>
              <a:rPr sz="2600" spc="-10" dirty="0">
                <a:latin typeface="Times New Roman"/>
                <a:cs typeface="Times New Roman"/>
              </a:rPr>
              <a:t>t</a:t>
            </a:r>
            <a:r>
              <a:rPr sz="2600" dirty="0">
                <a:latin typeface="Times New Roman"/>
                <a:cs typeface="Times New Roman"/>
              </a:rPr>
              <a:t>es</a:t>
            </a:r>
            <a:r>
              <a:rPr sz="2600" spc="-10" dirty="0">
                <a:latin typeface="Times New Roman"/>
                <a:cs typeface="Times New Roman"/>
              </a:rPr>
              <a:t>t</a:t>
            </a:r>
            <a:r>
              <a:rPr sz="2600" dirty="0">
                <a:latin typeface="Times New Roman"/>
                <a:cs typeface="Times New Roman"/>
              </a:rPr>
              <a:t>s</a:t>
            </a:r>
          </a:p>
        </p:txBody>
      </p:sp>
      <p:sp>
        <p:nvSpPr>
          <p:cNvPr id="8" name="object 8"/>
          <p:cNvSpPr/>
          <p:nvPr/>
        </p:nvSpPr>
        <p:spPr>
          <a:xfrm>
            <a:off x="601662" y="3019055"/>
            <a:ext cx="2870200" cy="200659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4722799" y="3019055"/>
            <a:ext cx="2856453" cy="2006599"/>
          </a:xfrm>
          <a:prstGeom prst="rect">
            <a:avLst/>
          </a:prstGeom>
          <a:blipFill>
            <a:blip r:embed="rId4" cstate="print"/>
            <a:stretch>
              <a:fillRect/>
            </a:stretch>
          </a:blipFill>
        </p:spPr>
        <p:txBody>
          <a:bodyPr wrap="square" lIns="0" tIns="0" rIns="0" bIns="0" rtlCol="0"/>
          <a:lstStyle/>
          <a:p>
            <a:endParaRPr/>
          </a:p>
        </p:txBody>
      </p:sp>
      <p:sp>
        <p:nvSpPr>
          <p:cNvPr id="10" name="object 10"/>
          <p:cNvSpPr txBox="1"/>
          <p:nvPr/>
        </p:nvSpPr>
        <p:spPr>
          <a:xfrm>
            <a:off x="706177" y="5293751"/>
            <a:ext cx="1732223" cy="400110"/>
          </a:xfrm>
          <a:prstGeom prst="rect">
            <a:avLst/>
          </a:prstGeom>
        </p:spPr>
        <p:txBody>
          <a:bodyPr vert="horz" wrap="square" lIns="0" tIns="0" rIns="0" bIns="0" rtlCol="0">
            <a:spAutoFit/>
          </a:bodyPr>
          <a:lstStyle/>
          <a:p>
            <a:pPr marL="12700">
              <a:lnSpc>
                <a:spcPct val="100000"/>
              </a:lnSpc>
            </a:pPr>
            <a:r>
              <a:rPr sz="2600" i="1" dirty="0">
                <a:latin typeface="Times New Roman"/>
                <a:cs typeface="Times New Roman"/>
              </a:rPr>
              <a:t>x</a:t>
            </a:r>
            <a:r>
              <a:rPr sz="2600" i="1" spc="-60" dirty="0">
                <a:latin typeface="Times New Roman"/>
                <a:cs typeface="Times New Roman"/>
              </a:rPr>
              <a:t> </a:t>
            </a:r>
            <a:r>
              <a:rPr sz="2600" dirty="0">
                <a:latin typeface="Symbol"/>
                <a:cs typeface="Symbol"/>
              </a:rPr>
              <a:t></a:t>
            </a:r>
            <a:r>
              <a:rPr sz="2600" spc="-170" dirty="0">
                <a:latin typeface="Times New Roman"/>
                <a:cs typeface="Times New Roman"/>
              </a:rPr>
              <a:t> </a:t>
            </a:r>
            <a:r>
              <a:rPr sz="2600" i="1" dirty="0">
                <a:latin typeface="Times New Roman"/>
                <a:cs typeface="Times New Roman"/>
              </a:rPr>
              <a:t>G</a:t>
            </a:r>
            <a:r>
              <a:rPr sz="2600" i="1" spc="-175" dirty="0">
                <a:latin typeface="Times New Roman"/>
                <a:cs typeface="Times New Roman"/>
              </a:rPr>
              <a:t> </a:t>
            </a:r>
            <a:r>
              <a:rPr sz="2600" spc="-10" dirty="0">
                <a:latin typeface="Times New Roman"/>
                <a:cs typeface="Times New Roman"/>
              </a:rPr>
              <a:t>/</a:t>
            </a:r>
            <a:r>
              <a:rPr sz="2600" spc="-280" dirty="0">
                <a:latin typeface="Times New Roman"/>
                <a:cs typeface="Times New Roman"/>
              </a:rPr>
              <a:t> </a:t>
            </a:r>
            <a:r>
              <a:rPr sz="2600" i="1" dirty="0">
                <a:latin typeface="Times New Roman"/>
                <a:cs typeface="Times New Roman"/>
              </a:rPr>
              <a:t>C</a:t>
            </a:r>
            <a:endParaRPr sz="2600" dirty="0">
              <a:latin typeface="Times New Roman"/>
              <a:cs typeface="Times New Roman"/>
            </a:endParaRPr>
          </a:p>
        </p:txBody>
      </p:sp>
      <p:sp>
        <p:nvSpPr>
          <p:cNvPr id="11" name="Rectangle 10">
            <a:extLst>
              <a:ext uri="{FF2B5EF4-FFF2-40B4-BE49-F238E27FC236}">
                <a16:creationId xmlns:a16="http://schemas.microsoft.com/office/drawing/2014/main" id="{88A16B8B-5F62-5C76-91B3-B007C98E713F}"/>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5FBD16ED-8E27-F4EF-E6B5-10284226B4B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Slide Number Placeholder 8">
            <a:extLst>
              <a:ext uri="{FF2B5EF4-FFF2-40B4-BE49-F238E27FC236}">
                <a16:creationId xmlns:a16="http://schemas.microsoft.com/office/drawing/2014/main" id="{BA204B05-2F4E-27E6-96AE-858450A22D80}"/>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44</a:t>
            </a:fld>
            <a:r>
              <a:rPr lang="en-US" sz="2000" dirty="0">
                <a:solidFill>
                  <a:prstClr val="black"/>
                </a:solidFill>
                <a:latin typeface="Comic Sans MS"/>
                <a:sym typeface="Comic Sans MS"/>
              </a:rPr>
              <a:t>/59</a:t>
            </a:r>
          </a:p>
        </p:txBody>
      </p:sp>
      <p:sp>
        <p:nvSpPr>
          <p:cNvPr id="14" name="Footer Placeholder 9">
            <a:extLst>
              <a:ext uri="{FF2B5EF4-FFF2-40B4-BE49-F238E27FC236}">
                <a16:creationId xmlns:a16="http://schemas.microsoft.com/office/drawing/2014/main" id="{E1C5A3DC-4824-DDEC-2994-E0CB103E479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C7FC8015-8DE2-4282-2D65-1401DD5C7E8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45557"/>
          </a:xfrm>
          <a:prstGeom prst="rect">
            <a:avLst/>
          </a:prstGeom>
        </p:spPr>
        <p:txBody>
          <a:bodyPr vert="horz" wrap="square" lIns="0" tIns="151634" rIns="0" bIns="0" rtlCol="0">
            <a:spAutoFit/>
          </a:bodyPr>
          <a:lstStyle/>
          <a:p>
            <a:pPr marL="23495">
              <a:lnSpc>
                <a:spcPct val="100000"/>
              </a:lnSpc>
            </a:pPr>
            <a:r>
              <a:rPr lang="en-US" dirty="0">
                <a:solidFill>
                  <a:srgbClr val="FF0000"/>
                </a:solidFill>
              </a:rPr>
              <a:t>Self Study</a:t>
            </a:r>
            <a:r>
              <a:rPr lang="en-US" dirty="0"/>
              <a:t>: </a:t>
            </a:r>
            <a:r>
              <a:rPr spc="-25" dirty="0"/>
              <a:t>S</a:t>
            </a:r>
            <a:r>
              <a:rPr spc="-15" dirty="0"/>
              <a:t>t</a:t>
            </a:r>
            <a:r>
              <a:rPr dirty="0"/>
              <a:t>able</a:t>
            </a:r>
            <a:r>
              <a:rPr spc="-5" dirty="0"/>
              <a:t> </a:t>
            </a:r>
            <a:r>
              <a:rPr dirty="0"/>
              <a:t>Polymorphic</a:t>
            </a:r>
            <a:r>
              <a:rPr spc="-5" dirty="0"/>
              <a:t> </a:t>
            </a:r>
            <a:r>
              <a:rPr spc="-25" dirty="0"/>
              <a:t>S</a:t>
            </a:r>
            <a:r>
              <a:rPr spc="-15" dirty="0"/>
              <a:t>t</a:t>
            </a:r>
            <a:r>
              <a:rPr dirty="0"/>
              <a:t>a</a:t>
            </a:r>
            <a:r>
              <a:rPr spc="-15" dirty="0"/>
              <a:t>t</a:t>
            </a:r>
            <a:r>
              <a:rPr dirty="0"/>
              <a:t>e</a:t>
            </a:r>
          </a:p>
        </p:txBody>
      </p:sp>
      <p:sp>
        <p:nvSpPr>
          <p:cNvPr id="6" name="object 6"/>
          <p:cNvSpPr/>
          <p:nvPr/>
        </p:nvSpPr>
        <p:spPr>
          <a:xfrm>
            <a:off x="375056" y="1634331"/>
            <a:ext cx="4183062" cy="41148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973445" y="2090625"/>
            <a:ext cx="3268644" cy="3202209"/>
          </a:xfrm>
          <a:prstGeom prst="rect">
            <a:avLst/>
          </a:prstGeom>
          <a:blipFill>
            <a:blip r:embed="rId4" cstate="print"/>
            <a:stretch>
              <a:fillRect/>
            </a:stretch>
          </a:blipFill>
        </p:spPr>
        <p:txBody>
          <a:bodyPr wrap="square" lIns="0" tIns="0" rIns="0" bIns="0" rtlCol="0"/>
          <a:lstStyle/>
          <a:p>
            <a:endParaRPr/>
          </a:p>
        </p:txBody>
      </p:sp>
      <p:sp>
        <p:nvSpPr>
          <p:cNvPr id="8" name="Rectangle 7">
            <a:extLst>
              <a:ext uri="{FF2B5EF4-FFF2-40B4-BE49-F238E27FC236}">
                <a16:creationId xmlns:a16="http://schemas.microsoft.com/office/drawing/2014/main" id="{535871CB-D248-F0D7-4053-123257E882B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46E5B958-940C-E853-E73D-03DA042DC82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8">
            <a:extLst>
              <a:ext uri="{FF2B5EF4-FFF2-40B4-BE49-F238E27FC236}">
                <a16:creationId xmlns:a16="http://schemas.microsoft.com/office/drawing/2014/main" id="{0786F36E-59C8-FE3A-7F75-CD025C7C301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45</a:t>
            </a:fld>
            <a:r>
              <a:rPr lang="en-US" sz="2000" dirty="0">
                <a:solidFill>
                  <a:prstClr val="black"/>
                </a:solidFill>
                <a:latin typeface="Comic Sans MS"/>
                <a:sym typeface="Comic Sans MS"/>
              </a:rPr>
              <a:t>/59</a:t>
            </a:r>
          </a:p>
        </p:txBody>
      </p:sp>
      <p:sp>
        <p:nvSpPr>
          <p:cNvPr id="11" name="Footer Placeholder 9">
            <a:extLst>
              <a:ext uri="{FF2B5EF4-FFF2-40B4-BE49-F238E27FC236}">
                <a16:creationId xmlns:a16="http://schemas.microsoft.com/office/drawing/2014/main" id="{67439BA6-27D5-D87F-52F1-3E2F532B597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2" name="Rectangle 11">
            <a:extLst>
              <a:ext uri="{FF2B5EF4-FFF2-40B4-BE49-F238E27FC236}">
                <a16:creationId xmlns:a16="http://schemas.microsoft.com/office/drawing/2014/main" id="{F9380EA9-C0E5-625C-AD37-7BE6833836E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a:spLocks noGrp="1"/>
          </p:cNvSpPr>
          <p:nvPr>
            <p:ph type="title"/>
          </p:nvPr>
        </p:nvSpPr>
        <p:spPr>
          <a:xfrm>
            <a:off x="427013" y="25035"/>
            <a:ext cx="8243918" cy="984885"/>
          </a:xfrm>
          <a:prstGeom prst="rect">
            <a:avLst/>
          </a:prstGeom>
        </p:spPr>
        <p:txBody>
          <a:bodyPr vert="horz" wrap="square" lIns="0" tIns="0" rIns="0" bIns="0" rtlCol="0">
            <a:spAutoFit/>
          </a:bodyPr>
          <a:lstStyle/>
          <a:p>
            <a:pPr marL="23495">
              <a:lnSpc>
                <a:spcPct val="100000"/>
              </a:lnSpc>
            </a:pPr>
            <a:r>
              <a:rPr lang="en-US" dirty="0">
                <a:solidFill>
                  <a:srgbClr val="FF0000"/>
                </a:solidFill>
              </a:rPr>
              <a:t>Self Study</a:t>
            </a:r>
            <a:r>
              <a:rPr lang="en-US" dirty="0"/>
              <a:t>: </a:t>
            </a:r>
            <a:r>
              <a:rPr dirty="0"/>
              <a:t>Example</a:t>
            </a:r>
            <a:r>
              <a:rPr spc="-5" dirty="0"/>
              <a:t> </a:t>
            </a:r>
            <a:r>
              <a:rPr dirty="0"/>
              <a:t>dominance</a:t>
            </a:r>
            <a:r>
              <a:rPr spc="-10" dirty="0"/>
              <a:t>:</a:t>
            </a:r>
            <a:r>
              <a:rPr spc="-5" dirty="0"/>
              <a:t> </a:t>
            </a:r>
            <a:r>
              <a:rPr dirty="0"/>
              <a:t>Prisone</a:t>
            </a:r>
            <a:r>
              <a:rPr spc="114" dirty="0"/>
              <a:t>r</a:t>
            </a:r>
            <a:r>
              <a:rPr spc="-60" dirty="0"/>
              <a:t>’</a:t>
            </a:r>
            <a:r>
              <a:rPr dirty="0"/>
              <a:t>s</a:t>
            </a:r>
            <a:r>
              <a:rPr spc="-5" dirty="0"/>
              <a:t> </a:t>
            </a:r>
            <a:r>
              <a:rPr dirty="0"/>
              <a:t>Dilemma</a:t>
            </a:r>
          </a:p>
        </p:txBody>
      </p:sp>
      <p:sp>
        <p:nvSpPr>
          <p:cNvPr id="7" name="object 7"/>
          <p:cNvSpPr txBox="1"/>
          <p:nvPr/>
        </p:nvSpPr>
        <p:spPr>
          <a:xfrm>
            <a:off x="573949" y="4754839"/>
            <a:ext cx="4946015" cy="1508105"/>
          </a:xfrm>
          <a:prstGeom prst="rect">
            <a:avLst/>
          </a:prstGeom>
        </p:spPr>
        <p:txBody>
          <a:bodyPr vert="horz" wrap="square" lIns="0" tIns="0" rIns="0" bIns="0" rtlCol="0">
            <a:spAutoFit/>
          </a:bodyPr>
          <a:lstStyle/>
          <a:p>
            <a:pPr marL="18415" indent="-6350">
              <a:lnSpc>
                <a:spcPct val="100000"/>
              </a:lnSpc>
              <a:tabLst>
                <a:tab pos="1231265" algn="l"/>
              </a:tabLst>
            </a:pPr>
            <a:r>
              <a:rPr sz="2900" i="1" dirty="0">
                <a:latin typeface="Times New Roman"/>
                <a:cs typeface="Times New Roman"/>
              </a:rPr>
              <a:t>x</a:t>
            </a:r>
            <a:r>
              <a:rPr sz="2900" i="1" spc="-60" dirty="0">
                <a:latin typeface="Times New Roman"/>
                <a:cs typeface="Times New Roman"/>
              </a:rPr>
              <a:t> </a:t>
            </a:r>
            <a:r>
              <a:rPr sz="2900" dirty="0">
                <a:latin typeface="Symbol"/>
                <a:cs typeface="Symbol"/>
              </a:rPr>
              <a:t></a:t>
            </a:r>
            <a:r>
              <a:rPr sz="2900" spc="-140" dirty="0">
                <a:latin typeface="Times New Roman"/>
                <a:cs typeface="Times New Roman"/>
              </a:rPr>
              <a:t> </a:t>
            </a:r>
            <a:r>
              <a:rPr sz="2900" dirty="0">
                <a:latin typeface="Times New Roman"/>
                <a:cs typeface="Times New Roman"/>
              </a:rPr>
              <a:t>0	(freq.</a:t>
            </a:r>
            <a:r>
              <a:rPr sz="2900" spc="-425" dirty="0">
                <a:latin typeface="Times New Roman"/>
                <a:cs typeface="Times New Roman"/>
              </a:rPr>
              <a:t> </a:t>
            </a:r>
            <a:r>
              <a:rPr sz="2900" dirty="0">
                <a:latin typeface="Times New Roman"/>
                <a:cs typeface="Times New Roman"/>
              </a:rPr>
              <a:t>of</a:t>
            </a:r>
            <a:r>
              <a:rPr sz="2900" spc="220" dirty="0">
                <a:latin typeface="Times New Roman"/>
                <a:cs typeface="Times New Roman"/>
              </a:rPr>
              <a:t> </a:t>
            </a:r>
            <a:r>
              <a:rPr sz="2900" dirty="0">
                <a:latin typeface="Times New Roman"/>
                <a:cs typeface="Times New Roman"/>
              </a:rPr>
              <a:t>cooperato</a:t>
            </a:r>
            <a:r>
              <a:rPr sz="2900" spc="-75" dirty="0">
                <a:latin typeface="Times New Roman"/>
                <a:cs typeface="Times New Roman"/>
              </a:rPr>
              <a:t>r</a:t>
            </a:r>
            <a:r>
              <a:rPr sz="2900" dirty="0">
                <a:latin typeface="Times New Roman"/>
                <a:cs typeface="Times New Roman"/>
              </a:rPr>
              <a:t>s)</a:t>
            </a:r>
          </a:p>
          <a:p>
            <a:pPr>
              <a:lnSpc>
                <a:spcPct val="100000"/>
              </a:lnSpc>
            </a:pPr>
            <a:endParaRPr sz="1600" dirty="0">
              <a:latin typeface="Times New Roman"/>
              <a:cs typeface="Times New Roman"/>
            </a:endParaRPr>
          </a:p>
          <a:p>
            <a:pPr>
              <a:lnSpc>
                <a:spcPct val="100000"/>
              </a:lnSpc>
              <a:spcBef>
                <a:spcPts val="41"/>
              </a:spcBef>
            </a:pPr>
            <a:endParaRPr sz="2700" dirty="0">
              <a:latin typeface="Times New Roman"/>
              <a:cs typeface="Times New Roman"/>
            </a:endParaRPr>
          </a:p>
          <a:p>
            <a:pPr marL="18415">
              <a:lnSpc>
                <a:spcPct val="100000"/>
              </a:lnSpc>
            </a:pPr>
            <a:r>
              <a:rPr sz="2600" i="1" spc="-5" dirty="0">
                <a:latin typeface="Gill Sans MT"/>
                <a:cs typeface="Gill Sans MT"/>
              </a:rPr>
              <a:t>Ho</a:t>
            </a:r>
            <a:r>
              <a:rPr sz="2600" i="1" dirty="0">
                <a:latin typeface="Gill Sans MT"/>
                <a:cs typeface="Gill Sans MT"/>
              </a:rPr>
              <a:t>m</a:t>
            </a:r>
            <a:r>
              <a:rPr sz="2600" i="1" spc="-45" dirty="0">
                <a:latin typeface="Gill Sans MT"/>
                <a:cs typeface="Gill Sans MT"/>
              </a:rPr>
              <a:t>e</a:t>
            </a:r>
            <a:r>
              <a:rPr sz="2600" i="1" dirty="0">
                <a:latin typeface="Gill Sans MT"/>
                <a:cs typeface="Gill Sans MT"/>
              </a:rPr>
              <a:t>w</a:t>
            </a:r>
            <a:r>
              <a:rPr sz="2600" i="1" spc="-5" dirty="0">
                <a:latin typeface="Gill Sans MT"/>
                <a:cs typeface="Gill Sans MT"/>
              </a:rPr>
              <a:t>o</a:t>
            </a:r>
            <a:r>
              <a:rPr sz="2600" i="1" dirty="0">
                <a:latin typeface="Gill Sans MT"/>
                <a:cs typeface="Gill Sans MT"/>
              </a:rPr>
              <a:t>rk:</a:t>
            </a:r>
            <a:r>
              <a:rPr sz="2600" i="1" spc="-265" dirty="0">
                <a:latin typeface="Gill Sans MT"/>
                <a:cs typeface="Gill Sans MT"/>
              </a:rPr>
              <a:t> </a:t>
            </a:r>
            <a:r>
              <a:rPr sz="2600" i="1" spc="40" dirty="0">
                <a:latin typeface="Gill Sans MT"/>
                <a:cs typeface="Gill Sans MT"/>
              </a:rPr>
              <a:t>c</a:t>
            </a:r>
            <a:r>
              <a:rPr sz="2600" i="1" dirty="0">
                <a:latin typeface="Gill Sans MT"/>
                <a:cs typeface="Gill Sans MT"/>
              </a:rPr>
              <a:t>h</a:t>
            </a:r>
            <a:r>
              <a:rPr sz="2600" i="1" spc="-15" dirty="0">
                <a:latin typeface="Gill Sans MT"/>
                <a:cs typeface="Gill Sans MT"/>
              </a:rPr>
              <a:t>e</a:t>
            </a:r>
            <a:r>
              <a:rPr sz="2600" i="1" spc="40" dirty="0">
                <a:latin typeface="Gill Sans MT"/>
                <a:cs typeface="Gill Sans MT"/>
              </a:rPr>
              <a:t>c</a:t>
            </a:r>
            <a:r>
              <a:rPr sz="2600" i="1" dirty="0">
                <a:latin typeface="Gill Sans MT"/>
                <a:cs typeface="Gill Sans MT"/>
              </a:rPr>
              <a:t>k</a:t>
            </a:r>
            <a:r>
              <a:rPr sz="2600" i="1" spc="-5" dirty="0">
                <a:latin typeface="Gill Sans MT"/>
                <a:cs typeface="Gill Sans MT"/>
              </a:rPr>
              <a:t> </a:t>
            </a:r>
            <a:r>
              <a:rPr sz="2600" i="1" spc="-10" dirty="0">
                <a:latin typeface="Gill Sans MT"/>
                <a:cs typeface="Gill Sans MT"/>
              </a:rPr>
              <a:t>t</a:t>
            </a:r>
            <a:r>
              <a:rPr sz="2600" i="1" dirty="0">
                <a:latin typeface="Gill Sans MT"/>
                <a:cs typeface="Gill Sans MT"/>
              </a:rPr>
              <a:t>h</a:t>
            </a:r>
            <a:r>
              <a:rPr sz="2600" i="1" spc="-10" dirty="0">
                <a:latin typeface="Gill Sans MT"/>
                <a:cs typeface="Gill Sans MT"/>
              </a:rPr>
              <a:t>is</a:t>
            </a:r>
            <a:r>
              <a:rPr sz="2600" i="1" spc="-5" dirty="0">
                <a:latin typeface="Gill Sans MT"/>
                <a:cs typeface="Gill Sans MT"/>
              </a:rPr>
              <a:t> </a:t>
            </a:r>
            <a:r>
              <a:rPr sz="2600" i="1" spc="-40" dirty="0">
                <a:latin typeface="Gill Sans MT"/>
                <a:cs typeface="Gill Sans MT"/>
              </a:rPr>
              <a:t>b</a:t>
            </a:r>
            <a:r>
              <a:rPr sz="2600" i="1" dirty="0">
                <a:latin typeface="Gill Sans MT"/>
                <a:cs typeface="Gill Sans MT"/>
              </a:rPr>
              <a:t>y</a:t>
            </a:r>
            <a:r>
              <a:rPr sz="2600" i="1" spc="-5" dirty="0">
                <a:latin typeface="Gill Sans MT"/>
                <a:cs typeface="Gill Sans MT"/>
              </a:rPr>
              <a:t> </a:t>
            </a:r>
            <a:r>
              <a:rPr sz="2600" i="1" dirty="0">
                <a:latin typeface="Gill Sans MT"/>
                <a:cs typeface="Gill Sans MT"/>
              </a:rPr>
              <a:t>si</a:t>
            </a:r>
            <a:r>
              <a:rPr sz="2600" i="1" spc="-30" dirty="0">
                <a:latin typeface="Gill Sans MT"/>
                <a:cs typeface="Gill Sans MT"/>
              </a:rPr>
              <a:t>m</a:t>
            </a:r>
            <a:r>
              <a:rPr sz="2600" i="1" dirty="0">
                <a:latin typeface="Gill Sans MT"/>
                <a:cs typeface="Gill Sans MT"/>
              </a:rPr>
              <a:t>ula</a:t>
            </a:r>
            <a:r>
              <a:rPr sz="2600" i="1" spc="-10" dirty="0">
                <a:latin typeface="Gill Sans MT"/>
                <a:cs typeface="Gill Sans MT"/>
              </a:rPr>
              <a:t>t</a:t>
            </a:r>
            <a:r>
              <a:rPr sz="2600" i="1" dirty="0">
                <a:latin typeface="Gill Sans MT"/>
                <a:cs typeface="Gill Sans MT"/>
              </a:rPr>
              <a:t>in</a:t>
            </a:r>
            <a:r>
              <a:rPr sz="2600" i="1" spc="-15" dirty="0">
                <a:latin typeface="Gill Sans MT"/>
                <a:cs typeface="Gill Sans MT"/>
              </a:rPr>
              <a:t>g</a:t>
            </a:r>
            <a:r>
              <a:rPr sz="2600" i="1" spc="-5" dirty="0">
                <a:latin typeface="Gill Sans MT"/>
                <a:cs typeface="Gill Sans MT"/>
              </a:rPr>
              <a:t> </a:t>
            </a:r>
            <a:r>
              <a:rPr sz="2600" i="1" spc="-20" dirty="0">
                <a:latin typeface="Gill Sans MT"/>
                <a:cs typeface="Gill Sans MT"/>
              </a:rPr>
              <a:t>RD</a:t>
            </a:r>
            <a:endParaRPr sz="2600" dirty="0">
              <a:latin typeface="Gill Sans MT"/>
              <a:cs typeface="Gill Sans MT"/>
            </a:endParaRPr>
          </a:p>
        </p:txBody>
      </p:sp>
      <p:sp>
        <p:nvSpPr>
          <p:cNvPr id="9" name="object 9"/>
          <p:cNvSpPr txBox="1"/>
          <p:nvPr/>
        </p:nvSpPr>
        <p:spPr>
          <a:xfrm>
            <a:off x="550736" y="3021289"/>
            <a:ext cx="2506980" cy="446276"/>
          </a:xfrm>
          <a:prstGeom prst="rect">
            <a:avLst/>
          </a:prstGeom>
        </p:spPr>
        <p:txBody>
          <a:bodyPr vert="horz" wrap="square" lIns="0" tIns="0" rIns="0" bIns="0" rtlCol="0">
            <a:spAutoFit/>
          </a:bodyPr>
          <a:lstStyle/>
          <a:p>
            <a:pPr marL="12700">
              <a:lnSpc>
                <a:spcPct val="100000"/>
              </a:lnSpc>
            </a:pPr>
            <a:r>
              <a:rPr sz="2900" dirty="0">
                <a:latin typeface="Times New Roman"/>
                <a:cs typeface="Times New Roman"/>
              </a:rPr>
              <a:t>or</a:t>
            </a:r>
            <a:r>
              <a:rPr sz="2900" spc="-100" dirty="0">
                <a:latin typeface="Times New Roman"/>
                <a:cs typeface="Times New Roman"/>
              </a:rPr>
              <a:t> </a:t>
            </a:r>
            <a:r>
              <a:rPr sz="2900" dirty="0">
                <a:latin typeface="Times New Roman"/>
                <a:cs typeface="Times New Roman"/>
              </a:rPr>
              <a:t>equivalen</a:t>
            </a:r>
            <a:r>
              <a:rPr sz="2900" spc="-120" dirty="0">
                <a:latin typeface="Times New Roman"/>
                <a:cs typeface="Times New Roman"/>
              </a:rPr>
              <a:t>t</a:t>
            </a:r>
            <a:r>
              <a:rPr sz="2900" dirty="0">
                <a:latin typeface="Times New Roman"/>
                <a:cs typeface="Times New Roman"/>
              </a:rPr>
              <a:t>ly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182DAFD-0864-972A-D8F9-191FBA0C73E1}"/>
                  </a:ext>
                </a:extLst>
              </p:cNvPr>
              <p:cNvSpPr txBox="1"/>
              <p:nvPr/>
            </p:nvSpPr>
            <p:spPr>
              <a:xfrm>
                <a:off x="589189" y="1602552"/>
                <a:ext cx="1775999" cy="12098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b="0" i="1" smtClean="0">
                              <a:latin typeface="Cambria Math" panose="02040503050406030204" pitchFamily="18" charset="0"/>
                            </a:rPr>
                          </m:ctrlPr>
                        </m:dPr>
                        <m:e>
                          <m:m>
                            <m:mPr>
                              <m:mcs>
                                <m:mc>
                                  <m:mcPr>
                                    <m:count m:val="2"/>
                                    <m:mcJc m:val="center"/>
                                  </m:mcPr>
                                </m:mc>
                              </m:mcs>
                              <m:ctrlPr>
                                <a:rPr lang="en-US" sz="2800" b="0" i="1" smtClean="0">
                                  <a:latin typeface="Cambria Math" panose="02040503050406030204" pitchFamily="18" charset="0"/>
                                </a:rPr>
                              </m:ctrlPr>
                            </m:mPr>
                            <m:mr>
                              <m:e>
                                <m:eqArr>
                                  <m:eqArrPr>
                                    <m:ctrlPr>
                                      <a:rPr lang="en-US" sz="2800" b="0" i="1" smtClean="0">
                                        <a:latin typeface="Cambria Math" panose="02040503050406030204" pitchFamily="18" charset="0"/>
                                      </a:rPr>
                                    </m:ctrlPr>
                                  </m:eqArrPr>
                                  <m:e>
                                    <m:r>
                                      <m:rPr>
                                        <m:brk m:alnAt="7"/>
                                      </m:rPr>
                                      <a:rPr lang="en-US" sz="2800" b="0" i="1" smtClean="0">
                                        <a:latin typeface="Cambria Math" panose="02040503050406030204" pitchFamily="18" charset="0"/>
                                      </a:rPr>
                                      <m:t>1</m:t>
                                    </m:r>
                                    <m:r>
                                      <a:rPr lang="en-US" sz="2800" b="0" i="1" smtClean="0">
                                        <a:latin typeface="Cambria Math" panose="02040503050406030204" pitchFamily="18" charset="0"/>
                                      </a:rPr>
                                      <m:t>0</m:t>
                                    </m:r>
                                  </m:e>
                                  <m:e>
                                    <m:r>
                                      <a:rPr lang="en-US" sz="2800" b="0" i="1" smtClean="0">
                                        <a:latin typeface="Cambria Math" panose="02040503050406030204" pitchFamily="18" charset="0"/>
                                      </a:rPr>
                                      <m:t> </m:t>
                                    </m:r>
                                  </m:e>
                                </m:eqArr>
                              </m:e>
                              <m:e>
                                <m:eqArr>
                                  <m:eqArrPr>
                                    <m:ctrlPr>
                                      <a:rPr lang="en-US" sz="2800" b="0" i="1" smtClean="0">
                                        <a:latin typeface="Cambria Math" panose="02040503050406030204" pitchFamily="18" charset="0"/>
                                      </a:rPr>
                                    </m:ctrlPr>
                                  </m:eqArrPr>
                                  <m:e>
                                    <m:r>
                                      <a:rPr lang="en-US" sz="2800" b="0" i="1" smtClean="0">
                                        <a:latin typeface="Cambria Math" panose="02040503050406030204" pitchFamily="18" charset="0"/>
                                      </a:rPr>
                                      <m:t>−</m:t>
                                    </m:r>
                                    <m:r>
                                      <a:rPr lang="en-US" sz="2800" b="0" i="1" smtClean="0">
                                        <a:latin typeface="Cambria Math" panose="02040503050406030204" pitchFamily="18" charset="0"/>
                                      </a:rPr>
                                      <m:t>5</m:t>
                                    </m:r>
                                  </m:e>
                                  <m:e>
                                    <m:r>
                                      <a:rPr lang="en-US" sz="2800" b="0" i="1" smtClean="0">
                                        <a:latin typeface="Cambria Math" panose="02040503050406030204" pitchFamily="18" charset="0"/>
                                      </a:rPr>
                                      <m:t> </m:t>
                                    </m:r>
                                  </m:e>
                                </m:eqArr>
                              </m:e>
                            </m:mr>
                            <m:mr>
                              <m:e>
                                <m:r>
                                  <a:rPr lang="en-US" sz="2800" b="0" i="1" smtClean="0">
                                    <a:latin typeface="Cambria Math" panose="02040503050406030204" pitchFamily="18" charset="0"/>
                                  </a:rPr>
                                  <m:t>15</m:t>
                                </m:r>
                              </m:e>
                              <m:e>
                                <m:r>
                                  <a:rPr lang="en-US" sz="2800" b="0" i="1" smtClean="0">
                                    <a:latin typeface="Cambria Math" panose="02040503050406030204" pitchFamily="18" charset="0"/>
                                  </a:rPr>
                                  <m:t>0</m:t>
                                </m:r>
                              </m:e>
                            </m:mr>
                          </m:m>
                        </m:e>
                      </m:d>
                    </m:oMath>
                  </m:oMathPara>
                </a14:m>
                <a:endParaRPr lang="en-US" sz="2800" dirty="0"/>
              </a:p>
            </p:txBody>
          </p:sp>
        </mc:Choice>
        <mc:Fallback xmlns="">
          <p:sp>
            <p:nvSpPr>
              <p:cNvPr id="16" name="TextBox 15">
                <a:extLst>
                  <a:ext uri="{FF2B5EF4-FFF2-40B4-BE49-F238E27FC236}">
                    <a16:creationId xmlns:a16="http://schemas.microsoft.com/office/drawing/2014/main" id="{5182DAFD-0864-972A-D8F9-191FBA0C73E1}"/>
                  </a:ext>
                </a:extLst>
              </p:cNvPr>
              <p:cNvSpPr txBox="1">
                <a:spLocks noRot="1" noChangeAspect="1" noMove="1" noResize="1" noEditPoints="1" noAdjustHandles="1" noChangeArrowheads="1" noChangeShapeType="1" noTextEdit="1"/>
              </p:cNvSpPr>
              <p:nvPr/>
            </p:nvSpPr>
            <p:spPr>
              <a:xfrm>
                <a:off x="589189" y="1602552"/>
                <a:ext cx="1775999" cy="120988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F005BAC-9E32-0D99-FBD5-DF1528E60F04}"/>
                  </a:ext>
                </a:extLst>
              </p:cNvPr>
              <p:cNvSpPr txBox="1"/>
              <p:nvPr/>
            </p:nvSpPr>
            <p:spPr>
              <a:xfrm>
                <a:off x="600573" y="3456242"/>
                <a:ext cx="1812868" cy="12098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b="0" i="1" smtClean="0">
                              <a:latin typeface="Cambria Math" panose="02040503050406030204" pitchFamily="18" charset="0"/>
                            </a:rPr>
                          </m:ctrlPr>
                        </m:dPr>
                        <m:e>
                          <m:m>
                            <m:mPr>
                              <m:mcs>
                                <m:mc>
                                  <m:mcPr>
                                    <m:count m:val="2"/>
                                    <m:mcJc m:val="center"/>
                                  </m:mcPr>
                                </m:mc>
                              </m:mcs>
                              <m:ctrlPr>
                                <a:rPr lang="en-US" sz="2800" b="0" i="1" smtClean="0">
                                  <a:latin typeface="Cambria Math" panose="02040503050406030204" pitchFamily="18" charset="0"/>
                                </a:rPr>
                              </m:ctrlPr>
                            </m:mPr>
                            <m:mr>
                              <m:e>
                                <m:eqArr>
                                  <m:eqArrPr>
                                    <m:ctrlPr>
                                      <a:rPr lang="en-US" sz="2800" b="0" i="1" smtClean="0">
                                        <a:latin typeface="Cambria Math" panose="02040503050406030204" pitchFamily="18" charset="0"/>
                                      </a:rPr>
                                    </m:ctrlPr>
                                  </m:eqArrPr>
                                  <m:e>
                                    <m:r>
                                      <m:rPr>
                                        <m:brk m:alnAt="7"/>
                                      </m:rPr>
                                      <a:rPr lang="en-US" sz="2800" b="0" i="1" smtClean="0">
                                        <a:latin typeface="Cambria Math" panose="02040503050406030204" pitchFamily="18" charset="0"/>
                                      </a:rPr>
                                      <m:t>0</m:t>
                                    </m:r>
                                  </m:e>
                                  <m:e>
                                    <m:r>
                                      <a:rPr lang="en-US" sz="2800" b="0" i="1" smtClean="0">
                                        <a:latin typeface="Cambria Math" panose="02040503050406030204" pitchFamily="18" charset="0"/>
                                      </a:rPr>
                                      <m:t> </m:t>
                                    </m:r>
                                  </m:e>
                                </m:eqArr>
                              </m:e>
                              <m:e>
                                <m:r>
                                  <a:rPr lang="en-US" sz="2800" b="0" i="1" smtClean="0">
                                    <a:latin typeface="Cambria Math" panose="02040503050406030204" pitchFamily="18" charset="0"/>
                                  </a:rPr>
                                  <m:t>   </m:t>
                                </m:r>
                                <m:eqArr>
                                  <m:eqArrPr>
                                    <m:ctrlPr>
                                      <a:rPr lang="en-US" sz="2800" b="0" i="1" smtClean="0">
                                        <a:latin typeface="Cambria Math" panose="02040503050406030204" pitchFamily="18" charset="0"/>
                                      </a:rPr>
                                    </m:ctrlPr>
                                  </m:eqArrPr>
                                  <m:e>
                                    <m:r>
                                      <a:rPr lang="en-US" sz="2800" b="0" i="1" smtClean="0">
                                        <a:latin typeface="Cambria Math" panose="02040503050406030204" pitchFamily="18" charset="0"/>
                                      </a:rPr>
                                      <m:t>−</m:t>
                                    </m:r>
                                    <m:r>
                                      <a:rPr lang="en-US" sz="2800" b="0" i="1" smtClean="0">
                                        <a:latin typeface="Cambria Math" panose="02040503050406030204" pitchFamily="18" charset="0"/>
                                      </a:rPr>
                                      <m:t>5</m:t>
                                    </m:r>
                                  </m:e>
                                  <m:e>
                                    <m:r>
                                      <a:rPr lang="en-US" sz="2800" b="0" i="1" smtClean="0">
                                        <a:latin typeface="Cambria Math" panose="02040503050406030204" pitchFamily="18" charset="0"/>
                                      </a:rPr>
                                      <m:t> </m:t>
                                    </m:r>
                                  </m:e>
                                </m:eqArr>
                              </m:e>
                            </m:mr>
                            <m:mr>
                              <m:e>
                                <m:r>
                                  <a:rPr lang="en-US" sz="2800" b="0" i="1" smtClean="0">
                                    <a:latin typeface="Cambria Math" panose="02040503050406030204" pitchFamily="18" charset="0"/>
                                  </a:rPr>
                                  <m:t>5</m:t>
                                </m:r>
                              </m:e>
                              <m:e>
                                <m:r>
                                  <a:rPr lang="en-US" sz="2800" b="0" i="1" smtClean="0">
                                    <a:latin typeface="Cambria Math" panose="02040503050406030204" pitchFamily="18" charset="0"/>
                                  </a:rPr>
                                  <m:t>      </m:t>
                                </m:r>
                                <m:r>
                                  <a:rPr lang="en-US" sz="2800" b="0" i="1" smtClean="0">
                                    <a:latin typeface="Cambria Math" panose="02040503050406030204" pitchFamily="18" charset="0"/>
                                  </a:rPr>
                                  <m:t>0</m:t>
                                </m:r>
                              </m:e>
                            </m:mr>
                          </m:m>
                        </m:e>
                      </m:d>
                    </m:oMath>
                  </m:oMathPara>
                </a14:m>
                <a:endParaRPr lang="en-US" sz="2800" dirty="0"/>
              </a:p>
            </p:txBody>
          </p:sp>
        </mc:Choice>
        <mc:Fallback xmlns="">
          <p:sp>
            <p:nvSpPr>
              <p:cNvPr id="17" name="TextBox 16">
                <a:extLst>
                  <a:ext uri="{FF2B5EF4-FFF2-40B4-BE49-F238E27FC236}">
                    <a16:creationId xmlns:a16="http://schemas.microsoft.com/office/drawing/2014/main" id="{AF005BAC-9E32-0D99-FBD5-DF1528E60F04}"/>
                  </a:ext>
                </a:extLst>
              </p:cNvPr>
              <p:cNvSpPr txBox="1">
                <a:spLocks noRot="1" noChangeAspect="1" noMove="1" noResize="1" noEditPoints="1" noAdjustHandles="1" noChangeArrowheads="1" noChangeShapeType="1" noTextEdit="1"/>
              </p:cNvSpPr>
              <p:nvPr/>
            </p:nvSpPr>
            <p:spPr>
              <a:xfrm>
                <a:off x="600573" y="3456242"/>
                <a:ext cx="1812868" cy="1209883"/>
              </a:xfrm>
              <a:prstGeom prst="rect">
                <a:avLst/>
              </a:prstGeom>
              <a:blipFill>
                <a:blip r:embed="rId4"/>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774529DB-53F9-43DD-D792-83C81353CC8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6B73B057-8E1F-D63C-23AF-EC3B170F6D6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Slide Number Placeholder 8">
            <a:extLst>
              <a:ext uri="{FF2B5EF4-FFF2-40B4-BE49-F238E27FC236}">
                <a16:creationId xmlns:a16="http://schemas.microsoft.com/office/drawing/2014/main" id="{BBE83FAA-90A6-13D2-CCD7-F7A0FED65580}"/>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46</a:t>
            </a:fld>
            <a:r>
              <a:rPr lang="en-US" sz="2000" dirty="0">
                <a:solidFill>
                  <a:prstClr val="black"/>
                </a:solidFill>
                <a:latin typeface="Comic Sans MS"/>
                <a:sym typeface="Comic Sans MS"/>
              </a:rPr>
              <a:t>/59</a:t>
            </a:r>
          </a:p>
        </p:txBody>
      </p:sp>
      <p:sp>
        <p:nvSpPr>
          <p:cNvPr id="21" name="Footer Placeholder 9">
            <a:extLst>
              <a:ext uri="{FF2B5EF4-FFF2-40B4-BE49-F238E27FC236}">
                <a16:creationId xmlns:a16="http://schemas.microsoft.com/office/drawing/2014/main" id="{B5F8D1AB-9E22-CB7F-28F1-C8422EE69A1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22" name="Rectangle 21">
            <a:extLst>
              <a:ext uri="{FF2B5EF4-FFF2-40B4-BE49-F238E27FC236}">
                <a16:creationId xmlns:a16="http://schemas.microsoft.com/office/drawing/2014/main" id="{21291227-713B-FA4B-C196-9F76039364A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7"/>
            <a:ext cx="9144000" cy="5016500"/>
          </a:xfrm>
          <a:custGeom>
            <a:avLst/>
            <a:gdLst/>
            <a:ahLst/>
            <a:cxnLst/>
            <a:rect l="l" t="t" r="r" b="b"/>
            <a:pathLst>
              <a:path w="9144000" h="5016500">
                <a:moveTo>
                  <a:pt x="0" y="0"/>
                </a:moveTo>
                <a:lnTo>
                  <a:pt x="0" y="5015981"/>
                </a:lnTo>
                <a:lnTo>
                  <a:pt x="9143999"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2"/>
                </a:lnTo>
                <a:lnTo>
                  <a:pt x="107903" y="2102528"/>
                </a:lnTo>
                <a:lnTo>
                  <a:pt x="150829" y="2139351"/>
                </a:lnTo>
                <a:lnTo>
                  <a:pt x="199101" y="2169311"/>
                </a:lnTo>
                <a:lnTo>
                  <a:pt x="201644"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6" name="object 6"/>
          <p:cNvSpPr txBox="1"/>
          <p:nvPr/>
        </p:nvSpPr>
        <p:spPr>
          <a:xfrm>
            <a:off x="423227" y="320571"/>
            <a:ext cx="8492173" cy="492443"/>
          </a:xfrm>
          <a:prstGeom prst="rect">
            <a:avLst/>
          </a:prstGeom>
        </p:spPr>
        <p:txBody>
          <a:bodyPr vert="horz" wrap="square" lIns="0" tIns="0" rIns="0" bIns="0" rtlCol="0">
            <a:spAutoFit/>
          </a:bodyPr>
          <a:lstStyle/>
          <a:p>
            <a:pPr marL="12700">
              <a:lnSpc>
                <a:spcPct val="100000"/>
              </a:lnSpc>
            </a:pPr>
            <a:r>
              <a:rPr sz="3200" dirty="0">
                <a:latin typeface="Arial"/>
                <a:cs typeface="Arial"/>
              </a:rPr>
              <a:t>Link</a:t>
            </a:r>
            <a:r>
              <a:rPr sz="3200" spc="-5" dirty="0">
                <a:latin typeface="Arial"/>
                <a:cs typeface="Arial"/>
              </a:rPr>
              <a:t> </a:t>
            </a:r>
            <a:r>
              <a:rPr sz="3200" spc="-15" dirty="0">
                <a:latin typeface="Arial"/>
                <a:cs typeface="Arial"/>
              </a:rPr>
              <a:t>t</a:t>
            </a:r>
            <a:r>
              <a:rPr sz="3200" dirty="0">
                <a:latin typeface="Arial"/>
                <a:cs typeface="Arial"/>
              </a:rPr>
              <a:t>o</a:t>
            </a:r>
            <a:r>
              <a:rPr sz="3200" spc="-5" dirty="0">
                <a:latin typeface="Arial"/>
                <a:cs typeface="Arial"/>
              </a:rPr>
              <a:t> </a:t>
            </a:r>
            <a:r>
              <a:rPr sz="3200" dirty="0">
                <a:latin typeface="Arial"/>
                <a:cs typeface="Arial"/>
              </a:rPr>
              <a:t>Rein</a:t>
            </a:r>
            <a:r>
              <a:rPr sz="3200" spc="-15" dirty="0">
                <a:latin typeface="Arial"/>
                <a:cs typeface="Arial"/>
              </a:rPr>
              <a:t>f</a:t>
            </a:r>
            <a:r>
              <a:rPr sz="3200" dirty="0">
                <a:latin typeface="Arial"/>
                <a:cs typeface="Arial"/>
              </a:rPr>
              <a:t>orcemen</a:t>
            </a:r>
            <a:r>
              <a:rPr sz="3200" spc="-10" dirty="0">
                <a:latin typeface="Arial"/>
                <a:cs typeface="Arial"/>
              </a:rPr>
              <a:t>t</a:t>
            </a:r>
            <a:r>
              <a:rPr sz="3200" spc="-5" dirty="0">
                <a:latin typeface="Arial"/>
                <a:cs typeface="Arial"/>
              </a:rPr>
              <a:t> </a:t>
            </a:r>
            <a:r>
              <a:rPr sz="3200" dirty="0">
                <a:latin typeface="Arial"/>
                <a:cs typeface="Arial"/>
              </a:rPr>
              <a:t>Learning</a:t>
            </a:r>
          </a:p>
        </p:txBody>
      </p:sp>
      <p:sp>
        <p:nvSpPr>
          <p:cNvPr id="7" name="object 7"/>
          <p:cNvSpPr txBox="1"/>
          <p:nvPr/>
        </p:nvSpPr>
        <p:spPr>
          <a:xfrm>
            <a:off x="410872" y="1815826"/>
            <a:ext cx="4747260" cy="381000"/>
          </a:xfrm>
          <a:prstGeom prst="rect">
            <a:avLst/>
          </a:prstGeom>
        </p:spPr>
        <p:txBody>
          <a:bodyPr vert="horz" wrap="square" lIns="0" tIns="0" rIns="0" bIns="0" rtlCol="0">
            <a:spAutoFit/>
          </a:bodyPr>
          <a:lstStyle/>
          <a:p>
            <a:pPr marL="12700">
              <a:lnSpc>
                <a:spcPct val="100000"/>
              </a:lnSpc>
            </a:pPr>
            <a:r>
              <a:rPr sz="2800" dirty="0">
                <a:solidFill>
                  <a:srgbClr val="C82506"/>
                </a:solidFill>
                <a:latin typeface="Gill Sans MT"/>
                <a:cs typeface="Gill Sans MT"/>
              </a:rPr>
              <a:t>C</a:t>
            </a:r>
            <a:r>
              <a:rPr sz="2800" spc="-70" dirty="0">
                <a:solidFill>
                  <a:srgbClr val="C82506"/>
                </a:solidFill>
                <a:latin typeface="Gill Sans MT"/>
                <a:cs typeface="Gill Sans MT"/>
              </a:rPr>
              <a:t>r</a:t>
            </a:r>
            <a:r>
              <a:rPr sz="2800" spc="-15" dirty="0">
                <a:solidFill>
                  <a:srgbClr val="C82506"/>
                </a:solidFill>
                <a:latin typeface="Gill Sans MT"/>
                <a:cs typeface="Gill Sans MT"/>
              </a:rPr>
              <a:t>oss</a:t>
            </a:r>
            <a:r>
              <a:rPr sz="2800" spc="-5" dirty="0">
                <a:solidFill>
                  <a:srgbClr val="C82506"/>
                </a:solidFill>
                <a:latin typeface="Gill Sans MT"/>
                <a:cs typeface="Gill Sans MT"/>
              </a:rPr>
              <a:t>-</a:t>
            </a:r>
            <a:r>
              <a:rPr sz="2800" dirty="0">
                <a:solidFill>
                  <a:srgbClr val="C82506"/>
                </a:solidFill>
                <a:latin typeface="Gill Sans MT"/>
                <a:cs typeface="Gill Sans MT"/>
              </a:rPr>
              <a:t>L</a:t>
            </a:r>
            <a:r>
              <a:rPr sz="2800" spc="-15" dirty="0">
                <a:solidFill>
                  <a:srgbClr val="C82506"/>
                </a:solidFill>
                <a:latin typeface="Gill Sans MT"/>
                <a:cs typeface="Gill Sans MT"/>
              </a:rPr>
              <a:t>ea</a:t>
            </a:r>
            <a:r>
              <a:rPr sz="2800" dirty="0">
                <a:solidFill>
                  <a:srgbClr val="C82506"/>
                </a:solidFill>
                <a:latin typeface="Gill Sans MT"/>
                <a:cs typeface="Gill Sans MT"/>
              </a:rPr>
              <a:t>rn</a:t>
            </a:r>
            <a:r>
              <a:rPr sz="2800" spc="-5" dirty="0">
                <a:solidFill>
                  <a:srgbClr val="C82506"/>
                </a:solidFill>
                <a:latin typeface="Gill Sans MT"/>
                <a:cs typeface="Gill Sans MT"/>
              </a:rPr>
              <a:t>i</a:t>
            </a:r>
            <a:r>
              <a:rPr sz="2800" spc="-15" dirty="0">
                <a:solidFill>
                  <a:srgbClr val="C82506"/>
                </a:solidFill>
                <a:latin typeface="Gill Sans MT"/>
                <a:cs typeface="Gill Sans MT"/>
              </a:rPr>
              <a:t>ng</a:t>
            </a:r>
            <a:r>
              <a:rPr sz="2800" spc="-5" dirty="0">
                <a:solidFill>
                  <a:srgbClr val="C82506"/>
                </a:solidFill>
                <a:latin typeface="Gill Sans MT"/>
                <a:cs typeface="Gill Sans MT"/>
              </a:rPr>
              <a:t> </a:t>
            </a:r>
            <a:r>
              <a:rPr sz="2800" spc="-15" dirty="0">
                <a:solidFill>
                  <a:srgbClr val="C82506"/>
                </a:solidFill>
                <a:latin typeface="Gill Sans MT"/>
                <a:cs typeface="Gill Sans MT"/>
              </a:rPr>
              <a:t>p</a:t>
            </a:r>
            <a:r>
              <a:rPr sz="2800" spc="-85" dirty="0">
                <a:solidFill>
                  <a:srgbClr val="C82506"/>
                </a:solidFill>
                <a:latin typeface="Gill Sans MT"/>
                <a:cs typeface="Gill Sans MT"/>
              </a:rPr>
              <a:t>r</a:t>
            </a:r>
            <a:r>
              <a:rPr sz="2800" spc="-50" dirty="0">
                <a:solidFill>
                  <a:srgbClr val="C82506"/>
                </a:solidFill>
                <a:latin typeface="Gill Sans MT"/>
                <a:cs typeface="Gill Sans MT"/>
              </a:rPr>
              <a:t>o</a:t>
            </a:r>
            <a:r>
              <a:rPr sz="2800" spc="-15" dirty="0">
                <a:solidFill>
                  <a:srgbClr val="C82506"/>
                </a:solidFill>
                <a:latin typeface="Gill Sans MT"/>
                <a:cs typeface="Gill Sans MT"/>
              </a:rPr>
              <a:t>va</a:t>
            </a:r>
            <a:r>
              <a:rPr sz="2800" dirty="0">
                <a:solidFill>
                  <a:srgbClr val="C82506"/>
                </a:solidFill>
                <a:latin typeface="Gill Sans MT"/>
                <a:cs typeface="Gill Sans MT"/>
              </a:rPr>
              <a:t>b</a:t>
            </a:r>
            <a:r>
              <a:rPr sz="2800" spc="-30" dirty="0">
                <a:solidFill>
                  <a:srgbClr val="C82506"/>
                </a:solidFill>
                <a:latin typeface="Gill Sans MT"/>
                <a:cs typeface="Gill Sans MT"/>
              </a:rPr>
              <a:t>l</a:t>
            </a:r>
            <a:r>
              <a:rPr sz="2800" spc="-15" dirty="0">
                <a:solidFill>
                  <a:srgbClr val="C82506"/>
                </a:solidFill>
                <a:latin typeface="Gill Sans MT"/>
                <a:cs typeface="Gill Sans MT"/>
              </a:rPr>
              <a:t>y</a:t>
            </a:r>
            <a:r>
              <a:rPr sz="2800" spc="-5" dirty="0">
                <a:solidFill>
                  <a:srgbClr val="C82506"/>
                </a:solidFill>
                <a:latin typeface="Gill Sans MT"/>
                <a:cs typeface="Gill Sans MT"/>
              </a:rPr>
              <a:t> </a:t>
            </a:r>
            <a:r>
              <a:rPr sz="2800" dirty="0">
                <a:solidFill>
                  <a:srgbClr val="C82506"/>
                </a:solidFill>
                <a:latin typeface="Gill Sans MT"/>
                <a:cs typeface="Gill Sans MT"/>
              </a:rPr>
              <a:t>exhib</a:t>
            </a:r>
            <a:r>
              <a:rPr sz="2800" spc="-5" dirty="0">
                <a:solidFill>
                  <a:srgbClr val="C82506"/>
                </a:solidFill>
                <a:latin typeface="Gill Sans MT"/>
                <a:cs typeface="Gill Sans MT"/>
              </a:rPr>
              <a:t>i</a:t>
            </a:r>
            <a:r>
              <a:rPr sz="2800" spc="-10" dirty="0">
                <a:solidFill>
                  <a:srgbClr val="C82506"/>
                </a:solidFill>
                <a:latin typeface="Gill Sans MT"/>
                <a:cs typeface="Gill Sans MT"/>
              </a:rPr>
              <a:t>ts</a:t>
            </a:r>
            <a:endParaRPr sz="2800" dirty="0">
              <a:latin typeface="Gill Sans MT"/>
              <a:cs typeface="Gill Sans MT"/>
            </a:endParaRPr>
          </a:p>
        </p:txBody>
      </p:sp>
      <p:sp>
        <p:nvSpPr>
          <p:cNvPr id="8" name="object 8"/>
          <p:cNvSpPr txBox="1"/>
          <p:nvPr/>
        </p:nvSpPr>
        <p:spPr>
          <a:xfrm>
            <a:off x="410872" y="2222226"/>
            <a:ext cx="2914650" cy="381000"/>
          </a:xfrm>
          <a:prstGeom prst="rect">
            <a:avLst/>
          </a:prstGeom>
        </p:spPr>
        <p:txBody>
          <a:bodyPr vert="horz" wrap="square" lIns="0" tIns="0" rIns="0" bIns="0" rtlCol="0">
            <a:spAutoFit/>
          </a:bodyPr>
          <a:lstStyle/>
          <a:p>
            <a:pPr marL="12700">
              <a:lnSpc>
                <a:spcPct val="100000"/>
              </a:lnSpc>
            </a:pPr>
            <a:r>
              <a:rPr sz="2800" spc="-75" dirty="0">
                <a:solidFill>
                  <a:srgbClr val="C82506"/>
                </a:solidFill>
                <a:latin typeface="Gill Sans MT"/>
                <a:cs typeface="Gill Sans MT"/>
              </a:rPr>
              <a:t>r</a:t>
            </a:r>
            <a:r>
              <a:rPr sz="2800" dirty="0">
                <a:solidFill>
                  <a:srgbClr val="C82506"/>
                </a:solidFill>
                <a:latin typeface="Gill Sans MT"/>
                <a:cs typeface="Gill Sans MT"/>
              </a:rPr>
              <a:t>epl</a:t>
            </a:r>
            <a:r>
              <a:rPr sz="2800" spc="-5" dirty="0">
                <a:solidFill>
                  <a:srgbClr val="C82506"/>
                </a:solidFill>
                <a:latin typeface="Gill Sans MT"/>
                <a:cs typeface="Gill Sans MT"/>
              </a:rPr>
              <a:t>i</a:t>
            </a:r>
            <a:r>
              <a:rPr sz="2800" spc="-15" dirty="0">
                <a:solidFill>
                  <a:srgbClr val="C82506"/>
                </a:solidFill>
                <a:latin typeface="Gill Sans MT"/>
                <a:cs typeface="Gill Sans MT"/>
              </a:rPr>
              <a:t>cator</a:t>
            </a:r>
            <a:r>
              <a:rPr sz="2800" spc="-5" dirty="0">
                <a:solidFill>
                  <a:srgbClr val="C82506"/>
                </a:solidFill>
                <a:latin typeface="Gill Sans MT"/>
                <a:cs typeface="Gill Sans MT"/>
              </a:rPr>
              <a:t> </a:t>
            </a:r>
            <a:r>
              <a:rPr sz="2800" spc="-15" dirty="0">
                <a:solidFill>
                  <a:srgbClr val="C82506"/>
                </a:solidFill>
                <a:latin typeface="Gill Sans MT"/>
                <a:cs typeface="Gill Sans MT"/>
              </a:rPr>
              <a:t>dyna</a:t>
            </a:r>
            <a:r>
              <a:rPr sz="2800" dirty="0">
                <a:solidFill>
                  <a:srgbClr val="C82506"/>
                </a:solidFill>
                <a:latin typeface="Gill Sans MT"/>
                <a:cs typeface="Gill Sans MT"/>
              </a:rPr>
              <a:t>m</a:t>
            </a:r>
            <a:r>
              <a:rPr sz="2800" spc="-5" dirty="0">
                <a:solidFill>
                  <a:srgbClr val="C82506"/>
                </a:solidFill>
                <a:latin typeface="Gill Sans MT"/>
                <a:cs typeface="Gill Sans MT"/>
              </a:rPr>
              <a:t>i</a:t>
            </a:r>
            <a:r>
              <a:rPr sz="2800" spc="-15" dirty="0">
                <a:solidFill>
                  <a:srgbClr val="C82506"/>
                </a:solidFill>
                <a:latin typeface="Gill Sans MT"/>
                <a:cs typeface="Gill Sans MT"/>
              </a:rPr>
              <a:t>cs</a:t>
            </a:r>
            <a:r>
              <a:rPr sz="2800" dirty="0">
                <a:solidFill>
                  <a:srgbClr val="C82506"/>
                </a:solidFill>
                <a:latin typeface="Gill Sans MT"/>
                <a:cs typeface="Gill Sans MT"/>
              </a:rPr>
              <a:t>.</a:t>
            </a:r>
            <a:endParaRPr sz="2800" dirty="0">
              <a:latin typeface="Gill Sans MT"/>
              <a:cs typeface="Gill Sans MT"/>
            </a:endParaRPr>
          </a:p>
        </p:txBody>
      </p:sp>
      <p:sp>
        <p:nvSpPr>
          <p:cNvPr id="9" name="object 9"/>
          <p:cNvSpPr txBox="1"/>
          <p:nvPr/>
        </p:nvSpPr>
        <p:spPr>
          <a:xfrm>
            <a:off x="3461600" y="2354193"/>
            <a:ext cx="3863340" cy="215900"/>
          </a:xfrm>
          <a:prstGeom prst="rect">
            <a:avLst/>
          </a:prstGeom>
        </p:spPr>
        <p:txBody>
          <a:bodyPr vert="horz" wrap="square" lIns="0" tIns="0" rIns="0" bIns="0" rtlCol="0">
            <a:spAutoFit/>
          </a:bodyPr>
          <a:lstStyle/>
          <a:p>
            <a:pPr marL="12700">
              <a:lnSpc>
                <a:spcPct val="100000"/>
              </a:lnSpc>
            </a:pPr>
            <a:r>
              <a:rPr sz="1500" dirty="0">
                <a:latin typeface="Gill Sans MT"/>
                <a:cs typeface="Gill Sans MT"/>
              </a:rPr>
              <a:t>[</a:t>
            </a:r>
            <a:r>
              <a:rPr sz="1500" spc="-5" dirty="0">
                <a:latin typeface="Gill Sans MT"/>
                <a:cs typeface="Gill Sans MT"/>
              </a:rPr>
              <a:t> </a:t>
            </a:r>
            <a:r>
              <a:rPr sz="1500" dirty="0">
                <a:latin typeface="Gill Sans MT"/>
                <a:cs typeface="Gill Sans MT"/>
              </a:rPr>
              <a:t>in</a:t>
            </a:r>
            <a:r>
              <a:rPr sz="1500" spc="-5" dirty="0">
                <a:latin typeface="Gill Sans MT"/>
                <a:cs typeface="Gill Sans MT"/>
              </a:rPr>
              <a:t> </a:t>
            </a:r>
            <a:r>
              <a:rPr sz="1500" spc="-10" dirty="0">
                <a:latin typeface="Gill Sans MT"/>
                <a:cs typeface="Gill Sans MT"/>
              </a:rPr>
              <a:t>expecta</a:t>
            </a:r>
            <a:r>
              <a:rPr sz="1500" dirty="0">
                <a:latin typeface="Gill Sans MT"/>
                <a:cs typeface="Gill Sans MT"/>
              </a:rPr>
              <a:t>ti</a:t>
            </a:r>
            <a:r>
              <a:rPr sz="1500" spc="-10" dirty="0">
                <a:latin typeface="Gill Sans MT"/>
                <a:cs typeface="Gill Sans MT"/>
              </a:rPr>
              <a:t>o</a:t>
            </a:r>
            <a:r>
              <a:rPr sz="1500" dirty="0">
                <a:latin typeface="Gill Sans MT"/>
                <a:cs typeface="Gill Sans MT"/>
              </a:rPr>
              <a:t>n</a:t>
            </a:r>
            <a:r>
              <a:rPr sz="1500" spc="-5" dirty="0">
                <a:latin typeface="Gill Sans MT"/>
                <a:cs typeface="Gill Sans MT"/>
              </a:rPr>
              <a:t> </a:t>
            </a:r>
            <a:r>
              <a:rPr sz="1500" spc="-10" dirty="0">
                <a:latin typeface="Gill Sans MT"/>
                <a:cs typeface="Gill Sans MT"/>
              </a:rPr>
              <a:t>and</a:t>
            </a:r>
            <a:r>
              <a:rPr sz="1500" spc="-5" dirty="0">
                <a:latin typeface="Gill Sans MT"/>
                <a:cs typeface="Gill Sans MT"/>
              </a:rPr>
              <a:t> </a:t>
            </a:r>
            <a:r>
              <a:rPr sz="1500" dirty="0">
                <a:latin typeface="Gill Sans MT"/>
                <a:cs typeface="Gill Sans MT"/>
              </a:rPr>
              <a:t>in</a:t>
            </a:r>
            <a:r>
              <a:rPr sz="1500" spc="-5" dirty="0">
                <a:latin typeface="Gill Sans MT"/>
                <a:cs typeface="Gill Sans MT"/>
              </a:rPr>
              <a:t> </a:t>
            </a:r>
            <a:r>
              <a:rPr sz="1500" dirty="0">
                <a:latin typeface="Gill Sans MT"/>
                <a:cs typeface="Gill Sans MT"/>
              </a:rPr>
              <a:t>the</a:t>
            </a:r>
            <a:r>
              <a:rPr sz="1500" spc="-5" dirty="0">
                <a:latin typeface="Gill Sans MT"/>
                <a:cs typeface="Gill Sans MT"/>
              </a:rPr>
              <a:t> </a:t>
            </a:r>
            <a:r>
              <a:rPr sz="1500" spc="-10" dirty="0">
                <a:latin typeface="Gill Sans MT"/>
                <a:cs typeface="Gill Sans MT"/>
              </a:rPr>
              <a:t>co</a:t>
            </a:r>
            <a:r>
              <a:rPr sz="1500" dirty="0">
                <a:latin typeface="Gill Sans MT"/>
                <a:cs typeface="Gill Sans MT"/>
              </a:rPr>
              <a:t>nti</a:t>
            </a:r>
            <a:r>
              <a:rPr sz="1500" spc="-15" dirty="0">
                <a:latin typeface="Gill Sans MT"/>
                <a:cs typeface="Gill Sans MT"/>
              </a:rPr>
              <a:t>n</a:t>
            </a:r>
            <a:r>
              <a:rPr sz="1500" spc="-10" dirty="0">
                <a:latin typeface="Gill Sans MT"/>
                <a:cs typeface="Gill Sans MT"/>
              </a:rPr>
              <a:t>uous</a:t>
            </a:r>
            <a:r>
              <a:rPr sz="1500" spc="-5" dirty="0">
                <a:latin typeface="Gill Sans MT"/>
                <a:cs typeface="Gill Sans MT"/>
              </a:rPr>
              <a:t> </a:t>
            </a:r>
            <a:r>
              <a:rPr sz="1500" dirty="0">
                <a:latin typeface="Gill Sans MT"/>
                <a:cs typeface="Gill Sans MT"/>
              </a:rPr>
              <a:t>time</a:t>
            </a:r>
            <a:r>
              <a:rPr sz="1500" spc="-5" dirty="0">
                <a:latin typeface="Gill Sans MT"/>
                <a:cs typeface="Gill Sans MT"/>
              </a:rPr>
              <a:t> </a:t>
            </a:r>
            <a:r>
              <a:rPr sz="1500" dirty="0">
                <a:latin typeface="Gill Sans MT"/>
                <a:cs typeface="Gill Sans MT"/>
              </a:rPr>
              <a:t>limit</a:t>
            </a:r>
            <a:r>
              <a:rPr sz="1500" spc="-5" dirty="0">
                <a:latin typeface="Gill Sans MT"/>
                <a:cs typeface="Gill Sans MT"/>
              </a:rPr>
              <a:t> </a:t>
            </a:r>
            <a:r>
              <a:rPr sz="1500" dirty="0">
                <a:latin typeface="Gill Sans MT"/>
                <a:cs typeface="Gill Sans MT"/>
              </a:rPr>
              <a:t>]</a:t>
            </a:r>
          </a:p>
        </p:txBody>
      </p:sp>
      <p:sp>
        <p:nvSpPr>
          <p:cNvPr id="10" name="object 10"/>
          <p:cNvSpPr txBox="1"/>
          <p:nvPr/>
        </p:nvSpPr>
        <p:spPr>
          <a:xfrm>
            <a:off x="410872" y="3238226"/>
            <a:ext cx="7179945" cy="3169073"/>
          </a:xfrm>
          <a:prstGeom prst="rect">
            <a:avLst/>
          </a:prstGeom>
        </p:spPr>
        <p:txBody>
          <a:bodyPr vert="horz" wrap="square" lIns="0" tIns="0" rIns="0" bIns="0" rtlCol="0">
            <a:spAutoFit/>
          </a:bodyPr>
          <a:lstStyle/>
          <a:p>
            <a:pPr marL="12700" marR="5080">
              <a:lnSpc>
                <a:spcPct val="98100"/>
              </a:lnSpc>
            </a:pPr>
            <a:r>
              <a:rPr sz="2800" dirty="0">
                <a:latin typeface="Gill Sans MT"/>
                <a:cs typeface="Gill Sans MT"/>
              </a:rPr>
              <a:t>Thi</a:t>
            </a:r>
            <a:r>
              <a:rPr sz="2800" spc="-15" dirty="0">
                <a:latin typeface="Gill Sans MT"/>
                <a:cs typeface="Gill Sans MT"/>
              </a:rPr>
              <a:t>s</a:t>
            </a:r>
            <a:r>
              <a:rPr sz="2800" spc="-5" dirty="0">
                <a:latin typeface="Gill Sans MT"/>
                <a:cs typeface="Gill Sans MT"/>
              </a:rPr>
              <a:t> i</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no</a:t>
            </a:r>
            <a:r>
              <a:rPr sz="2800" dirty="0">
                <a:latin typeface="Gill Sans MT"/>
                <a:cs typeface="Gill Sans MT"/>
              </a:rPr>
              <a:t>n</a:t>
            </a:r>
            <a:r>
              <a:rPr sz="2800" spc="-5" dirty="0">
                <a:latin typeface="Gill Sans MT"/>
                <a:cs typeface="Gill Sans MT"/>
              </a:rPr>
              <a:t>-</a:t>
            </a:r>
            <a:r>
              <a:rPr sz="2800" dirty="0">
                <a:latin typeface="Gill Sans MT"/>
                <a:cs typeface="Gill Sans MT"/>
              </a:rPr>
              <a:t>triv</a:t>
            </a:r>
            <a:r>
              <a:rPr sz="2800" spc="-5" dirty="0">
                <a:latin typeface="Gill Sans MT"/>
                <a:cs typeface="Gill Sans MT"/>
              </a:rPr>
              <a:t>i</a:t>
            </a:r>
            <a:r>
              <a:rPr sz="2800" spc="-15" dirty="0">
                <a:latin typeface="Gill Sans MT"/>
                <a:cs typeface="Gill Sans MT"/>
              </a:rPr>
              <a:t>a</a:t>
            </a:r>
            <a:r>
              <a:rPr sz="2800" spc="-5" dirty="0">
                <a:latin typeface="Gill Sans MT"/>
                <a:cs typeface="Gill Sans MT"/>
              </a:rPr>
              <a:t>l</a:t>
            </a:r>
            <a:r>
              <a:rPr sz="2800" dirty="0">
                <a:latin typeface="Gill Sans MT"/>
                <a:cs typeface="Gill Sans MT"/>
              </a:rPr>
              <a:t>:</a:t>
            </a:r>
            <a:r>
              <a:rPr sz="2800" spc="-285" dirty="0">
                <a:latin typeface="Gill Sans MT"/>
                <a:cs typeface="Gill Sans MT"/>
              </a:rPr>
              <a:t> </a:t>
            </a:r>
            <a:r>
              <a:rPr sz="2800" spc="-60" dirty="0">
                <a:latin typeface="Gill Sans MT"/>
                <a:cs typeface="Gill Sans MT"/>
              </a:rPr>
              <a:t>w</a:t>
            </a:r>
            <a:r>
              <a:rPr sz="2800" dirty="0">
                <a:latin typeface="Gill Sans MT"/>
                <a:cs typeface="Gill Sans MT"/>
              </a:rPr>
              <a:t>e</a:t>
            </a:r>
            <a:r>
              <a:rPr sz="2800" spc="-5" dirty="0">
                <a:latin typeface="Gill Sans MT"/>
                <a:cs typeface="Gill Sans MT"/>
              </a:rPr>
              <a:t> </a:t>
            </a:r>
            <a:r>
              <a:rPr sz="2800" spc="-15" dirty="0">
                <a:latin typeface="Gill Sans MT"/>
                <a:cs typeface="Gill Sans MT"/>
              </a:rPr>
              <a:t>n</a:t>
            </a:r>
            <a:r>
              <a:rPr sz="2800" spc="-50" dirty="0">
                <a:latin typeface="Gill Sans MT"/>
                <a:cs typeface="Gill Sans MT"/>
              </a:rPr>
              <a:t>o</a:t>
            </a:r>
            <a:r>
              <a:rPr sz="2800" dirty="0">
                <a:latin typeface="Gill Sans MT"/>
                <a:cs typeface="Gill Sans MT"/>
              </a:rPr>
              <a:t>w</a:t>
            </a:r>
            <a:r>
              <a:rPr sz="2800" spc="-5" dirty="0">
                <a:latin typeface="Gill Sans MT"/>
                <a:cs typeface="Gill Sans MT"/>
              </a:rPr>
              <a:t> </a:t>
            </a:r>
            <a:r>
              <a:rPr sz="2800" spc="-15" dirty="0">
                <a:latin typeface="Gill Sans MT"/>
                <a:cs typeface="Gill Sans MT"/>
              </a:rPr>
              <a:t>h</a:t>
            </a:r>
            <a:r>
              <a:rPr sz="2800" spc="-114" dirty="0">
                <a:latin typeface="Gill Sans MT"/>
                <a:cs typeface="Gill Sans MT"/>
              </a:rPr>
              <a:t>a</a:t>
            </a:r>
            <a:r>
              <a:rPr sz="2800" spc="-75" dirty="0">
                <a:latin typeface="Gill Sans MT"/>
                <a:cs typeface="Gill Sans MT"/>
              </a:rPr>
              <a:t>v</a:t>
            </a:r>
            <a:r>
              <a:rPr sz="2800" dirty="0">
                <a:latin typeface="Gill Sans MT"/>
                <a:cs typeface="Gill Sans MT"/>
              </a:rPr>
              <a:t>e</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latin typeface="Gill Sans MT"/>
                <a:cs typeface="Gill Sans MT"/>
              </a:rPr>
              <a:t>s</a:t>
            </a:r>
            <a:r>
              <a:rPr sz="2800" spc="-5" dirty="0">
                <a:latin typeface="Gill Sans MT"/>
                <a:cs typeface="Gill Sans MT"/>
              </a:rPr>
              <a:t>i</a:t>
            </a:r>
            <a:r>
              <a:rPr sz="2800" dirty="0">
                <a:latin typeface="Gill Sans MT"/>
                <a:cs typeface="Gill Sans MT"/>
              </a:rPr>
              <a:t>mp</a:t>
            </a:r>
            <a:r>
              <a:rPr sz="2800" spc="-5" dirty="0">
                <a:latin typeface="Gill Sans MT"/>
                <a:cs typeface="Gill Sans MT"/>
              </a:rPr>
              <a:t>l</a:t>
            </a:r>
            <a:r>
              <a:rPr sz="2800" dirty="0">
                <a:latin typeface="Gill Sans MT"/>
                <a:cs typeface="Gill Sans MT"/>
              </a:rPr>
              <a:t>e</a:t>
            </a:r>
            <a:r>
              <a:rPr sz="2800" spc="-5" dirty="0">
                <a:latin typeface="Gill Sans MT"/>
                <a:cs typeface="Gill Sans MT"/>
              </a:rPr>
              <a:t> </a:t>
            </a:r>
            <a:r>
              <a:rPr sz="2800" spc="-20" dirty="0">
                <a:latin typeface="Gill Sans MT"/>
                <a:cs typeface="Gill Sans MT"/>
              </a:rPr>
              <a:t>mod</a:t>
            </a:r>
            <a:r>
              <a:rPr sz="2800" dirty="0">
                <a:latin typeface="Gill Sans MT"/>
                <a:cs typeface="Gill Sans MT"/>
              </a:rPr>
              <a:t>el</a:t>
            </a:r>
            <a:r>
              <a:rPr sz="2800" spc="-5" dirty="0">
                <a:latin typeface="Gill Sans MT"/>
                <a:cs typeface="Gill Sans MT"/>
              </a:rPr>
              <a:t> </a:t>
            </a:r>
            <a:r>
              <a:rPr sz="2800" spc="-20" dirty="0">
                <a:latin typeface="Gill Sans MT"/>
                <a:cs typeface="Gill Sans MT"/>
              </a:rPr>
              <a:t>o</a:t>
            </a:r>
            <a:r>
              <a:rPr sz="2800" dirty="0">
                <a:latin typeface="Gill Sans MT"/>
                <a:cs typeface="Gill Sans MT"/>
              </a:rPr>
              <a:t>f </a:t>
            </a:r>
            <a:r>
              <a:rPr sz="2800" b="1" spc="90" dirty="0">
                <a:latin typeface="Gill Sans MT"/>
                <a:cs typeface="Gill Sans MT"/>
              </a:rPr>
              <a:t>i</a:t>
            </a:r>
            <a:r>
              <a:rPr sz="2800" b="1" spc="145" dirty="0">
                <a:latin typeface="Gill Sans MT"/>
                <a:cs typeface="Gill Sans MT"/>
              </a:rPr>
              <a:t>nd</a:t>
            </a:r>
            <a:r>
              <a:rPr sz="2800" b="1" spc="90" dirty="0">
                <a:latin typeface="Gill Sans MT"/>
                <a:cs typeface="Gill Sans MT"/>
              </a:rPr>
              <a:t>i</a:t>
            </a:r>
            <a:r>
              <a:rPr sz="2800" b="1" spc="140" dirty="0">
                <a:latin typeface="Gill Sans MT"/>
                <a:cs typeface="Gill Sans MT"/>
              </a:rPr>
              <a:t>vi</a:t>
            </a:r>
            <a:r>
              <a:rPr sz="2800" b="1" spc="145" dirty="0">
                <a:latin typeface="Gill Sans MT"/>
                <a:cs typeface="Gill Sans MT"/>
              </a:rPr>
              <a:t>du</a:t>
            </a:r>
            <a:r>
              <a:rPr sz="2800" b="1" spc="100" dirty="0">
                <a:latin typeface="Gill Sans MT"/>
                <a:cs typeface="Gill Sans MT"/>
              </a:rPr>
              <a:t>a</a:t>
            </a:r>
            <a:r>
              <a:rPr sz="2800" b="1" spc="90" dirty="0">
                <a:latin typeface="Gill Sans MT"/>
                <a:cs typeface="Gill Sans MT"/>
              </a:rPr>
              <a:t>l</a:t>
            </a:r>
            <a:r>
              <a:rPr sz="2800" b="1" spc="-5" dirty="0">
                <a:latin typeface="Gill Sans MT"/>
                <a:cs typeface="Gill Sans MT"/>
              </a:rPr>
              <a:t> </a:t>
            </a:r>
            <a:r>
              <a:rPr sz="2800" b="1" spc="90" dirty="0">
                <a:latin typeface="Gill Sans MT"/>
                <a:cs typeface="Gill Sans MT"/>
              </a:rPr>
              <a:t>le</a:t>
            </a:r>
            <a:r>
              <a:rPr sz="2800" b="1" spc="150" dirty="0">
                <a:latin typeface="Gill Sans MT"/>
                <a:cs typeface="Gill Sans MT"/>
              </a:rPr>
              <a:t>a</a:t>
            </a:r>
            <a:r>
              <a:rPr sz="2800" b="1" spc="105" dirty="0">
                <a:latin typeface="Gill Sans MT"/>
                <a:cs typeface="Gill Sans MT"/>
              </a:rPr>
              <a:t>rning</a:t>
            </a:r>
            <a:r>
              <a:rPr sz="2800" b="1" spc="-5" dirty="0">
                <a:latin typeface="Gill Sans MT"/>
                <a:cs typeface="Gill Sans MT"/>
              </a:rPr>
              <a:t> </a:t>
            </a:r>
            <a:r>
              <a:rPr sz="2800" spc="-5" dirty="0">
                <a:latin typeface="Gill Sans MT"/>
                <a:cs typeface="Gill Sans MT"/>
              </a:rPr>
              <a:t>(</a:t>
            </a:r>
            <a:r>
              <a:rPr sz="2800" spc="-15" dirty="0">
                <a:latin typeface="Gill Sans MT"/>
                <a:cs typeface="Gill Sans MT"/>
              </a:rPr>
              <a:t>based</a:t>
            </a:r>
            <a:r>
              <a:rPr sz="2800" spc="-5" dirty="0">
                <a:latin typeface="Gill Sans MT"/>
                <a:cs typeface="Gill Sans MT"/>
              </a:rPr>
              <a:t> </a:t>
            </a:r>
            <a:r>
              <a:rPr sz="2800" spc="-20" dirty="0">
                <a:latin typeface="Gill Sans MT"/>
                <a:cs typeface="Gill Sans MT"/>
              </a:rPr>
              <a:t>o</a:t>
            </a:r>
            <a:r>
              <a:rPr sz="2800" dirty="0">
                <a:latin typeface="Gill Sans MT"/>
                <a:cs typeface="Gill Sans MT"/>
              </a:rPr>
              <a:t>n</a:t>
            </a:r>
            <a:r>
              <a:rPr sz="2800" spc="-5" dirty="0">
                <a:latin typeface="Gill Sans MT"/>
                <a:cs typeface="Gill Sans MT"/>
              </a:rPr>
              <a:t> </a:t>
            </a:r>
            <a:r>
              <a:rPr sz="2800" spc="-75" dirty="0">
                <a:latin typeface="Gill Sans MT"/>
                <a:cs typeface="Gill Sans MT"/>
              </a:rPr>
              <a:t>r</a:t>
            </a:r>
            <a:r>
              <a:rPr sz="2800" dirty="0">
                <a:latin typeface="Gill Sans MT"/>
                <a:cs typeface="Gill Sans MT"/>
              </a:rPr>
              <a:t>e</a:t>
            </a:r>
            <a:r>
              <a:rPr sz="2800" spc="-5" dirty="0">
                <a:latin typeface="Gill Sans MT"/>
                <a:cs typeface="Gill Sans MT"/>
              </a:rPr>
              <a:t>i</a:t>
            </a:r>
            <a:r>
              <a:rPr sz="2800" dirty="0">
                <a:latin typeface="Gill Sans MT"/>
                <a:cs typeface="Gill Sans MT"/>
              </a:rPr>
              <a:t>n</a:t>
            </a:r>
            <a:r>
              <a:rPr sz="2800" spc="-30" dirty="0">
                <a:latin typeface="Gill Sans MT"/>
                <a:cs typeface="Gill Sans MT"/>
              </a:rPr>
              <a:t>f</a:t>
            </a:r>
            <a:r>
              <a:rPr sz="2800" spc="-20" dirty="0">
                <a:latin typeface="Gill Sans MT"/>
                <a:cs typeface="Gill Sans MT"/>
              </a:rPr>
              <a:t>o</a:t>
            </a:r>
            <a:r>
              <a:rPr sz="2800" spc="-85" dirty="0">
                <a:latin typeface="Gill Sans MT"/>
                <a:cs typeface="Gill Sans MT"/>
              </a:rPr>
              <a:t>r</a:t>
            </a:r>
            <a:r>
              <a:rPr sz="2800" dirty="0">
                <a:latin typeface="Gill Sans MT"/>
                <a:cs typeface="Gill Sans MT"/>
              </a:rPr>
              <a:t>cement) </a:t>
            </a:r>
            <a:r>
              <a:rPr sz="2800" spc="-15" dirty="0">
                <a:latin typeface="Gill Sans MT"/>
                <a:cs typeface="Gill Sans MT"/>
              </a:rPr>
              <a:t>tha</a:t>
            </a:r>
            <a:r>
              <a:rPr sz="2800" dirty="0">
                <a:latin typeface="Gill Sans MT"/>
                <a:cs typeface="Gill Sans MT"/>
              </a:rPr>
              <a:t>t</a:t>
            </a:r>
            <a:r>
              <a:rPr sz="2800" spc="-5" dirty="0">
                <a:latin typeface="Gill Sans MT"/>
                <a:cs typeface="Gill Sans MT"/>
              </a:rPr>
              <a:t> wil</a:t>
            </a:r>
            <a:r>
              <a:rPr sz="2800" dirty="0">
                <a:latin typeface="Gill Sans MT"/>
                <a:cs typeface="Gill Sans MT"/>
              </a:rPr>
              <a:t>l</a:t>
            </a:r>
            <a:r>
              <a:rPr sz="2800" spc="-5" dirty="0">
                <a:latin typeface="Gill Sans MT"/>
                <a:cs typeface="Gill Sans MT"/>
              </a:rPr>
              <a:t> </a:t>
            </a:r>
            <a:r>
              <a:rPr sz="2800" spc="-30" dirty="0">
                <a:latin typeface="Gill Sans MT"/>
                <a:cs typeface="Gill Sans MT"/>
              </a:rPr>
              <a:t>f</a:t>
            </a:r>
            <a:r>
              <a:rPr sz="2800" spc="-20" dirty="0">
                <a:latin typeface="Gill Sans MT"/>
                <a:cs typeface="Gill Sans MT"/>
              </a:rPr>
              <a:t>o</a:t>
            </a:r>
            <a:r>
              <a:rPr sz="2800" spc="-5" dirty="0">
                <a:latin typeface="Gill Sans MT"/>
                <a:cs typeface="Gill Sans MT"/>
              </a:rPr>
              <a:t>ll</a:t>
            </a:r>
            <a:r>
              <a:rPr sz="2800" spc="-50" dirty="0">
                <a:latin typeface="Gill Sans MT"/>
                <a:cs typeface="Gill Sans MT"/>
              </a:rPr>
              <a:t>o</a:t>
            </a:r>
            <a:r>
              <a:rPr sz="2800" dirty="0">
                <a:latin typeface="Gill Sans MT"/>
                <a:cs typeface="Gill Sans MT"/>
              </a:rPr>
              <a:t>w</a:t>
            </a:r>
            <a:r>
              <a:rPr sz="2800" spc="-5" dirty="0">
                <a:latin typeface="Gill Sans MT"/>
                <a:cs typeface="Gill Sans MT"/>
              </a:rPr>
              <a:t> </a:t>
            </a:r>
            <a:r>
              <a:rPr sz="2800" dirty="0">
                <a:latin typeface="Gill Sans MT"/>
                <a:cs typeface="Gill Sans MT"/>
              </a:rPr>
              <a:t>the</a:t>
            </a:r>
            <a:r>
              <a:rPr sz="2800" spc="-5" dirty="0">
                <a:latin typeface="Gill Sans MT"/>
                <a:cs typeface="Gill Sans MT"/>
              </a:rPr>
              <a:t> </a:t>
            </a:r>
            <a:r>
              <a:rPr sz="2800" spc="-15" dirty="0">
                <a:latin typeface="Gill Sans MT"/>
                <a:cs typeface="Gill Sans MT"/>
              </a:rPr>
              <a:t>sa</a:t>
            </a:r>
            <a:r>
              <a:rPr sz="2800" dirty="0">
                <a:latin typeface="Gill Sans MT"/>
                <a:cs typeface="Gill Sans MT"/>
              </a:rPr>
              <a:t>me</a:t>
            </a:r>
            <a:r>
              <a:rPr sz="2800" spc="-5" dirty="0">
                <a:latin typeface="Gill Sans MT"/>
                <a:cs typeface="Gill Sans MT"/>
              </a:rPr>
              <a:t> </a:t>
            </a:r>
            <a:r>
              <a:rPr sz="2800" spc="-15" dirty="0">
                <a:latin typeface="Gill Sans MT"/>
                <a:cs typeface="Gill Sans MT"/>
              </a:rPr>
              <a:t>dyna</a:t>
            </a:r>
            <a:r>
              <a:rPr sz="2800" dirty="0">
                <a:latin typeface="Gill Sans MT"/>
                <a:cs typeface="Gill Sans MT"/>
              </a:rPr>
              <a:t>m</a:t>
            </a:r>
            <a:r>
              <a:rPr sz="2800" spc="-5" dirty="0">
                <a:latin typeface="Gill Sans MT"/>
                <a:cs typeface="Gill Sans MT"/>
              </a:rPr>
              <a:t>i</a:t>
            </a:r>
            <a:r>
              <a:rPr sz="2800" spc="-15" dirty="0">
                <a:latin typeface="Gill Sans MT"/>
                <a:cs typeface="Gill Sans MT"/>
              </a:rPr>
              <a:t>cs</a:t>
            </a:r>
            <a:r>
              <a:rPr sz="2800" spc="-5" dirty="0">
                <a:latin typeface="Gill Sans MT"/>
                <a:cs typeface="Gill Sans MT"/>
              </a:rPr>
              <a:t> </a:t>
            </a:r>
            <a:r>
              <a:rPr sz="2800" spc="-15" dirty="0">
                <a:latin typeface="Gill Sans MT"/>
                <a:cs typeface="Gill Sans MT"/>
              </a:rPr>
              <a:t>as</a:t>
            </a:r>
            <a:r>
              <a:rPr sz="2800" dirty="0">
                <a:latin typeface="Gill Sans MT"/>
                <a:cs typeface="Gill Sans MT"/>
              </a:rPr>
              <a:t> </a:t>
            </a:r>
            <a:r>
              <a:rPr sz="2800" b="1" spc="90" dirty="0">
                <a:latin typeface="Gill Sans MT"/>
                <a:cs typeface="Gill Sans MT"/>
              </a:rPr>
              <a:t>social l</a:t>
            </a:r>
            <a:r>
              <a:rPr sz="2800" b="1" spc="120" dirty="0">
                <a:latin typeface="Gill Sans MT"/>
                <a:cs typeface="Gill Sans MT"/>
              </a:rPr>
              <a:t>e</a:t>
            </a:r>
            <a:r>
              <a:rPr sz="2800" b="1" spc="135" dirty="0">
                <a:latin typeface="Gill Sans MT"/>
                <a:cs typeface="Gill Sans MT"/>
              </a:rPr>
              <a:t>a</a:t>
            </a:r>
            <a:r>
              <a:rPr sz="2800" b="1" spc="125" dirty="0">
                <a:latin typeface="Gill Sans MT"/>
                <a:cs typeface="Gill Sans MT"/>
              </a:rPr>
              <a:t>r</a:t>
            </a:r>
            <a:r>
              <a:rPr sz="2800" b="1" spc="145" dirty="0">
                <a:latin typeface="Gill Sans MT"/>
                <a:cs typeface="Gill Sans MT"/>
              </a:rPr>
              <a:t>n</a:t>
            </a:r>
            <a:r>
              <a:rPr sz="2800" b="1" spc="90" dirty="0">
                <a:latin typeface="Gill Sans MT"/>
                <a:cs typeface="Gill Sans MT"/>
              </a:rPr>
              <a:t>i</a:t>
            </a:r>
            <a:r>
              <a:rPr sz="2800" b="1" spc="145" dirty="0">
                <a:latin typeface="Gill Sans MT"/>
                <a:cs typeface="Gill Sans MT"/>
              </a:rPr>
              <a:t>n</a:t>
            </a:r>
            <a:r>
              <a:rPr sz="2800" b="1" spc="45" dirty="0">
                <a:latin typeface="Gill Sans MT"/>
                <a:cs typeface="Gill Sans MT"/>
              </a:rPr>
              <a:t>g</a:t>
            </a:r>
            <a:r>
              <a:rPr sz="2800" b="1" spc="50" dirty="0">
                <a:latin typeface="Gill Sans MT"/>
                <a:cs typeface="Gill Sans MT"/>
              </a:rPr>
              <a:t> </a:t>
            </a:r>
            <a:r>
              <a:rPr sz="2800" spc="-5" dirty="0">
                <a:latin typeface="Gill Sans MT"/>
                <a:cs typeface="Gill Sans MT"/>
              </a:rPr>
              <a:t>(</a:t>
            </a:r>
            <a:r>
              <a:rPr sz="2800" spc="-15" dirty="0">
                <a:latin typeface="Gill Sans MT"/>
                <a:cs typeface="Gill Sans MT"/>
              </a:rPr>
              <a:t>based</a:t>
            </a:r>
            <a:r>
              <a:rPr sz="2800" spc="-5" dirty="0">
                <a:latin typeface="Gill Sans MT"/>
                <a:cs typeface="Gill Sans MT"/>
              </a:rPr>
              <a:t> </a:t>
            </a:r>
            <a:r>
              <a:rPr sz="2800" spc="-20" dirty="0">
                <a:latin typeface="Gill Sans MT"/>
                <a:cs typeface="Gill Sans MT"/>
              </a:rPr>
              <a:t>o</a:t>
            </a:r>
            <a:r>
              <a:rPr sz="2800" dirty="0">
                <a:latin typeface="Gill Sans MT"/>
                <a:cs typeface="Gill Sans MT"/>
              </a:rPr>
              <a:t>n</a:t>
            </a:r>
            <a:r>
              <a:rPr sz="2800" spc="-5" dirty="0">
                <a:latin typeface="Gill Sans MT"/>
                <a:cs typeface="Gill Sans MT"/>
              </a:rPr>
              <a:t> i</a:t>
            </a:r>
            <a:r>
              <a:rPr sz="2800" dirty="0">
                <a:latin typeface="Gill Sans MT"/>
                <a:cs typeface="Gill Sans MT"/>
              </a:rPr>
              <a:t>m</a:t>
            </a:r>
            <a:r>
              <a:rPr sz="2800" spc="-5" dirty="0">
                <a:latin typeface="Gill Sans MT"/>
                <a:cs typeface="Gill Sans MT"/>
              </a:rPr>
              <a:t>i</a:t>
            </a:r>
            <a:r>
              <a:rPr sz="2800" spc="-15" dirty="0">
                <a:latin typeface="Gill Sans MT"/>
                <a:cs typeface="Gill Sans MT"/>
              </a:rPr>
              <a:t>ta</a:t>
            </a:r>
            <a:r>
              <a:rPr sz="2800" dirty="0">
                <a:latin typeface="Gill Sans MT"/>
                <a:cs typeface="Gill Sans MT"/>
              </a:rPr>
              <a:t>t</a:t>
            </a:r>
            <a:r>
              <a:rPr sz="2800" spc="-5" dirty="0">
                <a:latin typeface="Gill Sans MT"/>
                <a:cs typeface="Gill Sans MT"/>
              </a:rPr>
              <a:t>i</a:t>
            </a:r>
            <a:r>
              <a:rPr sz="2800" spc="-20" dirty="0">
                <a:latin typeface="Gill Sans MT"/>
                <a:cs typeface="Gill Sans MT"/>
              </a:rPr>
              <a:t>o</a:t>
            </a:r>
            <a:r>
              <a:rPr sz="2800" dirty="0">
                <a:latin typeface="Gill Sans MT"/>
                <a:cs typeface="Gill Sans MT"/>
              </a:rPr>
              <a:t>n</a:t>
            </a:r>
            <a:r>
              <a:rPr sz="2800" spc="-5" dirty="0">
                <a:latin typeface="Gill Sans MT"/>
                <a:cs typeface="Gill Sans MT"/>
              </a:rPr>
              <a:t>)</a:t>
            </a:r>
            <a:r>
              <a:rPr sz="2800" dirty="0">
                <a:latin typeface="Gill Sans MT"/>
                <a:cs typeface="Gill Sans MT"/>
              </a:rPr>
              <a:t>.</a:t>
            </a:r>
          </a:p>
          <a:p>
            <a:pPr>
              <a:lnSpc>
                <a:spcPct val="100000"/>
              </a:lnSpc>
            </a:pPr>
            <a:endParaRPr sz="2800" dirty="0">
              <a:latin typeface="Times New Roman"/>
              <a:cs typeface="Times New Roman"/>
            </a:endParaRPr>
          </a:p>
          <a:p>
            <a:pPr>
              <a:lnSpc>
                <a:spcPct val="100000"/>
              </a:lnSpc>
              <a:spcBef>
                <a:spcPts val="52"/>
              </a:spcBef>
            </a:pPr>
            <a:endParaRPr sz="1200" dirty="0">
              <a:latin typeface="Times New Roman"/>
              <a:cs typeface="Times New Roman"/>
            </a:endParaRPr>
          </a:p>
          <a:p>
            <a:pPr marL="12700" marR="541020">
              <a:lnSpc>
                <a:spcPts val="3200"/>
              </a:lnSpc>
            </a:pPr>
            <a:r>
              <a:rPr sz="2800" dirty="0">
                <a:latin typeface="Gill Sans MT"/>
                <a:cs typeface="Gill Sans MT"/>
              </a:rPr>
              <a:t>Thi</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means</a:t>
            </a:r>
            <a:r>
              <a:rPr sz="2800" dirty="0">
                <a:latin typeface="Gill Sans MT"/>
                <a:cs typeface="Gill Sans MT"/>
              </a:rPr>
              <a:t>,</a:t>
            </a:r>
            <a:r>
              <a:rPr sz="2800" spc="-285" dirty="0">
                <a:latin typeface="Gill Sans MT"/>
                <a:cs typeface="Gill Sans MT"/>
              </a:rPr>
              <a:t> </a:t>
            </a:r>
            <a:r>
              <a:rPr sz="2800" spc="-5" dirty="0">
                <a:latin typeface="Gill Sans MT"/>
                <a:cs typeface="Gill Sans MT"/>
              </a:rPr>
              <a:t>i</a:t>
            </a:r>
            <a:r>
              <a:rPr sz="2800" dirty="0">
                <a:latin typeface="Gill Sans MT"/>
                <a:cs typeface="Gill Sans MT"/>
              </a:rPr>
              <a:t>t</a:t>
            </a:r>
            <a:r>
              <a:rPr sz="2800" spc="-5" dirty="0">
                <a:latin typeface="Gill Sans MT"/>
                <a:cs typeface="Gill Sans MT"/>
              </a:rPr>
              <a:t> wil</a:t>
            </a:r>
            <a:r>
              <a:rPr sz="2800" dirty="0">
                <a:latin typeface="Gill Sans MT"/>
                <a:cs typeface="Gill Sans MT"/>
              </a:rPr>
              <a:t>l</a:t>
            </a:r>
            <a:r>
              <a:rPr sz="2800" spc="-5" dirty="0">
                <a:latin typeface="Gill Sans MT"/>
                <a:cs typeface="Gill Sans MT"/>
              </a:rPr>
              <a:t> </a:t>
            </a:r>
            <a:r>
              <a:rPr sz="2800" spc="-75" dirty="0">
                <a:latin typeface="Gill Sans MT"/>
                <a:cs typeface="Gill Sans MT"/>
              </a:rPr>
              <a:t>r</a:t>
            </a:r>
            <a:r>
              <a:rPr sz="2800" spc="-15" dirty="0">
                <a:latin typeface="Gill Sans MT"/>
                <a:cs typeface="Gill Sans MT"/>
              </a:rPr>
              <a:t>each</a:t>
            </a:r>
            <a:r>
              <a:rPr sz="2800" spc="-5" dirty="0">
                <a:latin typeface="Gill Sans MT"/>
                <a:cs typeface="Gill Sans MT"/>
              </a:rPr>
              <a:t> </a:t>
            </a:r>
            <a:r>
              <a:rPr sz="2800" spc="-15" dirty="0">
                <a:latin typeface="Gill Sans MT"/>
                <a:cs typeface="Gill Sans MT"/>
              </a:rPr>
              <a:t>Nas</a:t>
            </a:r>
            <a:r>
              <a:rPr sz="2800" dirty="0">
                <a:latin typeface="Gill Sans MT"/>
                <a:cs typeface="Gill Sans MT"/>
              </a:rPr>
              <a:t>h</a:t>
            </a:r>
            <a:r>
              <a:rPr sz="2800" spc="-5" dirty="0">
                <a:latin typeface="Gill Sans MT"/>
                <a:cs typeface="Gill Sans MT"/>
              </a:rPr>
              <a:t> </a:t>
            </a:r>
            <a:r>
              <a:rPr sz="2800" spc="-15" dirty="0">
                <a:latin typeface="Gill Sans MT"/>
                <a:cs typeface="Gill Sans MT"/>
              </a:rPr>
              <a:t>und</a:t>
            </a:r>
            <a:r>
              <a:rPr sz="2800" dirty="0">
                <a:latin typeface="Gill Sans MT"/>
                <a:cs typeface="Gill Sans MT"/>
              </a:rPr>
              <a:t>er</a:t>
            </a:r>
            <a:r>
              <a:rPr sz="2800" spc="-5" dirty="0">
                <a:latin typeface="Gill Sans MT"/>
                <a:cs typeface="Gill Sans MT"/>
              </a:rPr>
              <a:t> </a:t>
            </a:r>
            <a:r>
              <a:rPr sz="2800" dirty="0">
                <a:latin typeface="Gill Sans MT"/>
                <a:cs typeface="Gill Sans MT"/>
              </a:rPr>
              <a:t>the</a:t>
            </a:r>
            <a:r>
              <a:rPr sz="2800" spc="-5" dirty="0">
                <a:latin typeface="Gill Sans MT"/>
                <a:cs typeface="Gill Sans MT"/>
              </a:rPr>
              <a:t> </a:t>
            </a:r>
            <a:r>
              <a:rPr sz="2800" spc="-15" dirty="0">
                <a:latin typeface="Gill Sans MT"/>
                <a:cs typeface="Gill Sans MT"/>
              </a:rPr>
              <a:t>sa</a:t>
            </a:r>
            <a:r>
              <a:rPr sz="2800" dirty="0">
                <a:latin typeface="Gill Sans MT"/>
                <a:cs typeface="Gill Sans MT"/>
              </a:rPr>
              <a:t>me </a:t>
            </a:r>
            <a:r>
              <a:rPr sz="2800" spc="-15" dirty="0">
                <a:latin typeface="Gill Sans MT"/>
                <a:cs typeface="Gill Sans MT"/>
              </a:rPr>
              <a:t>cond</a:t>
            </a:r>
            <a:r>
              <a:rPr sz="2800" spc="-5" dirty="0">
                <a:latin typeface="Gill Sans MT"/>
                <a:cs typeface="Gill Sans MT"/>
              </a:rPr>
              <a:t>i</a:t>
            </a:r>
            <a:r>
              <a:rPr sz="2800" dirty="0">
                <a:latin typeface="Gill Sans MT"/>
                <a:cs typeface="Gill Sans MT"/>
              </a:rPr>
              <a:t>t</a:t>
            </a:r>
            <a:r>
              <a:rPr sz="2800" spc="-5" dirty="0">
                <a:latin typeface="Gill Sans MT"/>
                <a:cs typeface="Gill Sans MT"/>
              </a:rPr>
              <a:t>i</a:t>
            </a:r>
            <a:r>
              <a:rPr sz="2800" spc="-15" dirty="0">
                <a:latin typeface="Gill Sans MT"/>
                <a:cs typeface="Gill Sans MT"/>
              </a:rPr>
              <a:t>ons</a:t>
            </a:r>
            <a:r>
              <a:rPr sz="2800" spc="-5" dirty="0">
                <a:latin typeface="Gill Sans MT"/>
                <a:cs typeface="Gill Sans MT"/>
              </a:rPr>
              <a:t> </a:t>
            </a:r>
            <a:r>
              <a:rPr sz="2800" dirty="0">
                <a:latin typeface="Gill Sans MT"/>
                <a:cs typeface="Gill Sans MT"/>
              </a:rPr>
              <a:t>et</a:t>
            </a:r>
            <a:r>
              <a:rPr sz="2800" spc="55" dirty="0">
                <a:latin typeface="Gill Sans MT"/>
                <a:cs typeface="Gill Sans MT"/>
              </a:rPr>
              <a:t>c</a:t>
            </a:r>
            <a:r>
              <a:rPr sz="2800" dirty="0">
                <a:latin typeface="Gill Sans MT"/>
                <a:cs typeface="Gill Sans MT"/>
              </a:rPr>
              <a:t>.</a:t>
            </a:r>
          </a:p>
        </p:txBody>
      </p:sp>
      <p:sp>
        <p:nvSpPr>
          <p:cNvPr id="11" name="Rectangle 10">
            <a:extLst>
              <a:ext uri="{FF2B5EF4-FFF2-40B4-BE49-F238E27FC236}">
                <a16:creationId xmlns:a16="http://schemas.microsoft.com/office/drawing/2014/main" id="{CE83925C-5A01-9F8A-0C0A-F5352CF109EE}"/>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4AAACDC-5086-03D1-96EC-D5786D41E02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Slide Number Placeholder 8">
            <a:extLst>
              <a:ext uri="{FF2B5EF4-FFF2-40B4-BE49-F238E27FC236}">
                <a16:creationId xmlns:a16="http://schemas.microsoft.com/office/drawing/2014/main" id="{1D838CC2-CBF4-0043-D52A-8C53C69F5630}"/>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47</a:t>
            </a:fld>
            <a:r>
              <a:rPr lang="en-US" sz="2000" dirty="0">
                <a:solidFill>
                  <a:prstClr val="black"/>
                </a:solidFill>
                <a:latin typeface="Comic Sans MS"/>
                <a:sym typeface="Comic Sans MS"/>
              </a:rPr>
              <a:t>/59</a:t>
            </a:r>
          </a:p>
        </p:txBody>
      </p:sp>
      <p:sp>
        <p:nvSpPr>
          <p:cNvPr id="14" name="Footer Placeholder 9">
            <a:extLst>
              <a:ext uri="{FF2B5EF4-FFF2-40B4-BE49-F238E27FC236}">
                <a16:creationId xmlns:a16="http://schemas.microsoft.com/office/drawing/2014/main" id="{528A3ECF-BEDB-C478-2F40-F5F3BC595A97}"/>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3CF0394D-BA9A-09D0-926B-CFD0EF8BD13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78646"/>
          </a:xfrm>
          <a:prstGeom prst="rect">
            <a:avLst/>
          </a:prstGeom>
        </p:spPr>
        <p:txBody>
          <a:bodyPr vert="horz" wrap="square" lIns="0" tIns="123443" rIns="0" bIns="0" rtlCol="0">
            <a:spAutoFit/>
          </a:bodyPr>
          <a:lstStyle/>
          <a:p>
            <a:pPr marL="23495">
              <a:lnSpc>
                <a:spcPct val="100000"/>
              </a:lnSpc>
            </a:pPr>
            <a:r>
              <a:rPr sz="3600" dirty="0"/>
              <a:t>Replica</a:t>
            </a:r>
            <a:r>
              <a:rPr sz="3600" spc="-15" dirty="0"/>
              <a:t>t</a:t>
            </a:r>
            <a:r>
              <a:rPr sz="3600" dirty="0"/>
              <a:t>or</a:t>
            </a:r>
            <a:r>
              <a:rPr sz="3600" spc="-5" dirty="0"/>
              <a:t> </a:t>
            </a:r>
            <a:r>
              <a:rPr sz="3600" dirty="0"/>
              <a:t>equa</a:t>
            </a:r>
            <a:r>
              <a:rPr sz="3600" spc="-15" dirty="0"/>
              <a:t>t</a:t>
            </a:r>
            <a:r>
              <a:rPr sz="3600" dirty="0"/>
              <a:t>ions</a:t>
            </a:r>
            <a:r>
              <a:rPr sz="3600" spc="-5" dirty="0"/>
              <a:t> </a:t>
            </a:r>
            <a:r>
              <a:rPr sz="3600" spc="-15" dirty="0"/>
              <a:t>f</a:t>
            </a:r>
            <a:r>
              <a:rPr sz="3600" dirty="0"/>
              <a:t>or</a:t>
            </a:r>
            <a:r>
              <a:rPr sz="3600" spc="-5" dirty="0"/>
              <a:t> </a:t>
            </a:r>
            <a:r>
              <a:rPr sz="3600" dirty="0"/>
              <a:t>n=3</a:t>
            </a:r>
            <a:r>
              <a:rPr sz="3600" spc="-10" dirty="0"/>
              <a:t>:</a:t>
            </a:r>
            <a:endParaRPr sz="3600" dirty="0"/>
          </a:p>
        </p:txBody>
      </p:sp>
      <p:sp>
        <p:nvSpPr>
          <p:cNvPr id="6" name="object 6"/>
          <p:cNvSpPr/>
          <p:nvPr/>
        </p:nvSpPr>
        <p:spPr>
          <a:xfrm>
            <a:off x="551229" y="1828800"/>
            <a:ext cx="3810000" cy="2998787"/>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5252508" y="1892433"/>
            <a:ext cx="3027045" cy="2348230"/>
          </a:xfrm>
          <a:prstGeom prst="rect">
            <a:avLst/>
          </a:prstGeom>
        </p:spPr>
        <p:txBody>
          <a:bodyPr vert="horz" wrap="square" lIns="0" tIns="0" rIns="0" bIns="0" rtlCol="0">
            <a:spAutoFit/>
          </a:bodyPr>
          <a:lstStyle/>
          <a:p>
            <a:pPr marL="12700">
              <a:lnSpc>
                <a:spcPct val="100000"/>
              </a:lnSpc>
            </a:pPr>
            <a:r>
              <a:rPr sz="2800" dirty="0">
                <a:solidFill>
                  <a:srgbClr val="402000"/>
                </a:solidFill>
                <a:latin typeface="Times New Roman"/>
                <a:cs typeface="Times New Roman"/>
              </a:rPr>
              <a:t>Poss</a:t>
            </a:r>
            <a:r>
              <a:rPr sz="2800" spc="-10" dirty="0">
                <a:solidFill>
                  <a:srgbClr val="402000"/>
                </a:solidFill>
                <a:latin typeface="Times New Roman"/>
                <a:cs typeface="Times New Roman"/>
              </a:rPr>
              <a:t>ibility of</a:t>
            </a:r>
            <a:endParaRPr sz="2800" dirty="0">
              <a:latin typeface="Times New Roman"/>
              <a:cs typeface="Times New Roman"/>
            </a:endParaRPr>
          </a:p>
          <a:p>
            <a:pPr marL="12700" marR="5080">
              <a:lnSpc>
                <a:spcPct val="230500"/>
              </a:lnSpc>
            </a:pPr>
            <a:r>
              <a:rPr sz="2800" spc="-15" dirty="0">
                <a:solidFill>
                  <a:srgbClr val="402000"/>
                </a:solidFill>
                <a:latin typeface="Times New Roman"/>
                <a:cs typeface="Times New Roman"/>
              </a:rPr>
              <a:t>h</a:t>
            </a:r>
            <a:r>
              <a:rPr sz="2800" spc="-20" dirty="0">
                <a:solidFill>
                  <a:srgbClr val="402000"/>
                </a:solidFill>
                <a:latin typeface="Times New Roman"/>
                <a:cs typeface="Times New Roman"/>
              </a:rPr>
              <a:t>e</a:t>
            </a:r>
            <a:r>
              <a:rPr sz="2800" spc="-10" dirty="0">
                <a:solidFill>
                  <a:srgbClr val="402000"/>
                </a:solidFill>
                <a:latin typeface="Times New Roman"/>
                <a:cs typeface="Times New Roman"/>
              </a:rPr>
              <a:t>t</a:t>
            </a:r>
            <a:r>
              <a:rPr sz="2800" spc="-20" dirty="0">
                <a:solidFill>
                  <a:srgbClr val="402000"/>
                </a:solidFill>
                <a:latin typeface="Times New Roman"/>
                <a:cs typeface="Times New Roman"/>
              </a:rPr>
              <a:t>e</a:t>
            </a:r>
            <a:r>
              <a:rPr sz="2800" spc="-15" dirty="0">
                <a:solidFill>
                  <a:srgbClr val="402000"/>
                </a:solidFill>
                <a:latin typeface="Times New Roman"/>
                <a:cs typeface="Times New Roman"/>
              </a:rPr>
              <a:t>ro</a:t>
            </a:r>
            <a:r>
              <a:rPr sz="2800" spc="-20" dirty="0">
                <a:solidFill>
                  <a:srgbClr val="402000"/>
                </a:solidFill>
                <a:latin typeface="Times New Roman"/>
                <a:cs typeface="Times New Roman"/>
              </a:rPr>
              <a:t>c</a:t>
            </a:r>
            <a:r>
              <a:rPr sz="2800" spc="-10" dirty="0">
                <a:solidFill>
                  <a:srgbClr val="402000"/>
                </a:solidFill>
                <a:latin typeface="Times New Roman"/>
                <a:cs typeface="Times New Roman"/>
              </a:rPr>
              <a:t>linic</a:t>
            </a:r>
            <a:r>
              <a:rPr sz="2800" spc="-5" dirty="0">
                <a:solidFill>
                  <a:srgbClr val="402000"/>
                </a:solidFill>
                <a:latin typeface="Times New Roman"/>
                <a:cs typeface="Times New Roman"/>
              </a:rPr>
              <a:t> </a:t>
            </a:r>
            <a:r>
              <a:rPr sz="2800" spc="-20" dirty="0">
                <a:solidFill>
                  <a:srgbClr val="402000"/>
                </a:solidFill>
                <a:latin typeface="Times New Roman"/>
                <a:cs typeface="Times New Roman"/>
              </a:rPr>
              <a:t>c</a:t>
            </a:r>
            <a:r>
              <a:rPr sz="2800" spc="-15" dirty="0">
                <a:solidFill>
                  <a:srgbClr val="402000"/>
                </a:solidFill>
                <a:latin typeface="Times New Roman"/>
                <a:cs typeface="Times New Roman"/>
              </a:rPr>
              <a:t>y</a:t>
            </a:r>
            <a:r>
              <a:rPr sz="2800" spc="-20" dirty="0">
                <a:solidFill>
                  <a:srgbClr val="402000"/>
                </a:solidFill>
                <a:latin typeface="Times New Roman"/>
                <a:cs typeface="Times New Roman"/>
              </a:rPr>
              <a:t>c</a:t>
            </a:r>
            <a:r>
              <a:rPr sz="2800" spc="-10" dirty="0">
                <a:solidFill>
                  <a:srgbClr val="402000"/>
                </a:solidFill>
                <a:latin typeface="Times New Roman"/>
                <a:cs typeface="Times New Roman"/>
              </a:rPr>
              <a:t>l</a:t>
            </a:r>
            <a:r>
              <a:rPr sz="2800" spc="-20" dirty="0">
                <a:solidFill>
                  <a:srgbClr val="402000"/>
                </a:solidFill>
                <a:latin typeface="Times New Roman"/>
                <a:cs typeface="Times New Roman"/>
              </a:rPr>
              <a:t>e</a:t>
            </a:r>
            <a:r>
              <a:rPr sz="2800" dirty="0">
                <a:solidFill>
                  <a:srgbClr val="402000"/>
                </a:solidFill>
                <a:latin typeface="Times New Roman"/>
                <a:cs typeface="Times New Roman"/>
              </a:rPr>
              <a:t>s </a:t>
            </a:r>
            <a:r>
              <a:rPr sz="2800" spc="-15" dirty="0">
                <a:solidFill>
                  <a:srgbClr val="402000"/>
                </a:solidFill>
                <a:latin typeface="Times New Roman"/>
                <a:cs typeface="Times New Roman"/>
              </a:rPr>
              <a:t>(ro</a:t>
            </a:r>
            <a:r>
              <a:rPr sz="2800" spc="-20" dirty="0">
                <a:solidFill>
                  <a:srgbClr val="402000"/>
                </a:solidFill>
                <a:latin typeface="Times New Roman"/>
                <a:cs typeface="Times New Roman"/>
              </a:rPr>
              <a:t>c</a:t>
            </a:r>
            <a:r>
              <a:rPr sz="2800" dirty="0">
                <a:solidFill>
                  <a:srgbClr val="402000"/>
                </a:solidFill>
                <a:latin typeface="Times New Roman"/>
                <a:cs typeface="Times New Roman"/>
              </a:rPr>
              <a:t>k-s</a:t>
            </a:r>
            <a:r>
              <a:rPr sz="2800" spc="-20" dirty="0">
                <a:solidFill>
                  <a:srgbClr val="402000"/>
                </a:solidFill>
                <a:latin typeface="Times New Roman"/>
                <a:cs typeface="Times New Roman"/>
              </a:rPr>
              <a:t>c</a:t>
            </a:r>
            <a:r>
              <a:rPr sz="2800" spc="-10" dirty="0">
                <a:solidFill>
                  <a:srgbClr val="402000"/>
                </a:solidFill>
                <a:latin typeface="Times New Roman"/>
                <a:cs typeface="Times New Roman"/>
              </a:rPr>
              <a:t>i</a:t>
            </a:r>
            <a:r>
              <a:rPr sz="2800" dirty="0">
                <a:solidFill>
                  <a:srgbClr val="402000"/>
                </a:solidFill>
                <a:latin typeface="Times New Roman"/>
                <a:cs typeface="Times New Roman"/>
              </a:rPr>
              <a:t>ssors</a:t>
            </a:r>
            <a:r>
              <a:rPr sz="2800" spc="-15" dirty="0">
                <a:solidFill>
                  <a:srgbClr val="402000"/>
                </a:solidFill>
                <a:latin typeface="Times New Roman"/>
                <a:cs typeface="Times New Roman"/>
              </a:rPr>
              <a:t>-p</a:t>
            </a:r>
            <a:r>
              <a:rPr sz="2800" spc="-20" dirty="0">
                <a:solidFill>
                  <a:srgbClr val="402000"/>
                </a:solidFill>
                <a:latin typeface="Times New Roman"/>
                <a:cs typeface="Times New Roman"/>
              </a:rPr>
              <a:t>a</a:t>
            </a:r>
            <a:r>
              <a:rPr sz="2800" spc="-15" dirty="0">
                <a:solidFill>
                  <a:srgbClr val="402000"/>
                </a:solidFill>
                <a:latin typeface="Times New Roman"/>
                <a:cs typeface="Times New Roman"/>
              </a:rPr>
              <a:t>p</a:t>
            </a:r>
            <a:r>
              <a:rPr sz="2800" spc="-20" dirty="0">
                <a:solidFill>
                  <a:srgbClr val="402000"/>
                </a:solidFill>
                <a:latin typeface="Times New Roman"/>
                <a:cs typeface="Times New Roman"/>
              </a:rPr>
              <a:t>e</a:t>
            </a:r>
            <a:r>
              <a:rPr sz="2800" dirty="0">
                <a:solidFill>
                  <a:srgbClr val="402000"/>
                </a:solidFill>
                <a:latin typeface="Times New Roman"/>
                <a:cs typeface="Times New Roman"/>
              </a:rPr>
              <a:t>r)</a:t>
            </a:r>
            <a:endParaRPr sz="2800" dirty="0">
              <a:latin typeface="Times New Roman"/>
              <a:cs typeface="Times New Roman"/>
            </a:endParaRPr>
          </a:p>
        </p:txBody>
      </p:sp>
      <p:sp>
        <p:nvSpPr>
          <p:cNvPr id="8" name="Rectangle 7">
            <a:extLst>
              <a:ext uri="{FF2B5EF4-FFF2-40B4-BE49-F238E27FC236}">
                <a16:creationId xmlns:a16="http://schemas.microsoft.com/office/drawing/2014/main" id="{ED16B6FE-A562-BF98-2993-3C43DA925E9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60B34082-FEDE-BA60-D203-7123C2AD8FC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8">
            <a:extLst>
              <a:ext uri="{FF2B5EF4-FFF2-40B4-BE49-F238E27FC236}">
                <a16:creationId xmlns:a16="http://schemas.microsoft.com/office/drawing/2014/main" id="{D0586907-B579-4FFD-6DC8-8730039F2A5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48</a:t>
            </a:fld>
            <a:r>
              <a:rPr lang="en-US" sz="2000" dirty="0">
                <a:solidFill>
                  <a:prstClr val="black"/>
                </a:solidFill>
                <a:latin typeface="Comic Sans MS"/>
                <a:sym typeface="Comic Sans MS"/>
              </a:rPr>
              <a:t>/59</a:t>
            </a:r>
          </a:p>
        </p:txBody>
      </p:sp>
      <p:sp>
        <p:nvSpPr>
          <p:cNvPr id="11" name="Footer Placeholder 9">
            <a:extLst>
              <a:ext uri="{FF2B5EF4-FFF2-40B4-BE49-F238E27FC236}">
                <a16:creationId xmlns:a16="http://schemas.microsoft.com/office/drawing/2014/main" id="{E33280C5-80D8-B19F-70D8-44E49C2FE40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2" name="Rectangle 11">
            <a:extLst>
              <a:ext uri="{FF2B5EF4-FFF2-40B4-BE49-F238E27FC236}">
                <a16:creationId xmlns:a16="http://schemas.microsoft.com/office/drawing/2014/main" id="{E02517F0-28F2-0115-043E-A11E59B1584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50040" y="422936"/>
            <a:ext cx="8243918" cy="645557"/>
          </a:xfrm>
          <a:prstGeom prst="rect">
            <a:avLst/>
          </a:prstGeom>
        </p:spPr>
        <p:txBody>
          <a:bodyPr vert="horz" wrap="square" lIns="0" tIns="151634" rIns="0" bIns="0" rtlCol="0">
            <a:spAutoFit/>
          </a:bodyPr>
          <a:lstStyle/>
          <a:p>
            <a:pPr marL="23495">
              <a:lnSpc>
                <a:spcPct val="100000"/>
              </a:lnSpc>
            </a:pPr>
            <a:r>
              <a:rPr dirty="0"/>
              <a:t>Rock-Scissors-Paper</a:t>
            </a:r>
            <a:r>
              <a:rPr spc="-5" dirty="0"/>
              <a:t> </a:t>
            </a:r>
            <a:r>
              <a:rPr dirty="0"/>
              <a:t>in</a:t>
            </a:r>
            <a:r>
              <a:rPr spc="-5" dirty="0"/>
              <a:t> </a:t>
            </a:r>
            <a:r>
              <a:rPr dirty="0"/>
              <a:t>na</a:t>
            </a:r>
            <a:r>
              <a:rPr spc="-15" dirty="0"/>
              <a:t>t</a:t>
            </a:r>
            <a:r>
              <a:rPr dirty="0"/>
              <a:t>ure</a:t>
            </a:r>
          </a:p>
        </p:txBody>
      </p:sp>
      <p:sp>
        <p:nvSpPr>
          <p:cNvPr id="6" name="object 6"/>
          <p:cNvSpPr txBox="1"/>
          <p:nvPr/>
        </p:nvSpPr>
        <p:spPr>
          <a:xfrm>
            <a:off x="901064" y="1914037"/>
            <a:ext cx="7402195" cy="2738120"/>
          </a:xfrm>
          <a:prstGeom prst="rect">
            <a:avLst/>
          </a:prstGeom>
        </p:spPr>
        <p:txBody>
          <a:bodyPr vert="horz" wrap="square" lIns="0" tIns="0" rIns="0" bIns="0" rtlCol="0">
            <a:spAutoFit/>
          </a:bodyPr>
          <a:lstStyle/>
          <a:p>
            <a:pPr marL="12700" marR="2421255">
              <a:lnSpc>
                <a:spcPct val="114300"/>
              </a:lnSpc>
              <a:tabLst>
                <a:tab pos="3094990" algn="l"/>
              </a:tabLst>
            </a:pPr>
            <a:r>
              <a:rPr sz="2800" b="1" i="1" dirty="0">
                <a:solidFill>
                  <a:srgbClr val="00669D"/>
                </a:solidFill>
                <a:latin typeface="Arial"/>
                <a:cs typeface="Arial"/>
              </a:rPr>
              <a:t>Uta</a:t>
            </a:r>
            <a:r>
              <a:rPr sz="2800" b="1" i="1" spc="-5" dirty="0">
                <a:solidFill>
                  <a:srgbClr val="00669D"/>
                </a:solidFill>
                <a:latin typeface="Arial"/>
                <a:cs typeface="Arial"/>
              </a:rPr>
              <a:t> </a:t>
            </a:r>
            <a:r>
              <a:rPr sz="2800" b="1" i="1" dirty="0">
                <a:solidFill>
                  <a:srgbClr val="00669D"/>
                </a:solidFill>
                <a:latin typeface="Arial"/>
                <a:cs typeface="Arial"/>
              </a:rPr>
              <a:t>sta</a:t>
            </a:r>
            <a:r>
              <a:rPr sz="2800" b="1" i="1" spc="-25" dirty="0">
                <a:solidFill>
                  <a:srgbClr val="00669D"/>
                </a:solidFill>
                <a:latin typeface="Arial"/>
                <a:cs typeface="Arial"/>
              </a:rPr>
              <a:t>n</a:t>
            </a:r>
            <a:r>
              <a:rPr sz="2800" b="1" i="1" dirty="0">
                <a:solidFill>
                  <a:srgbClr val="00669D"/>
                </a:solidFill>
                <a:latin typeface="Arial"/>
                <a:cs typeface="Arial"/>
              </a:rPr>
              <a:t>s</a:t>
            </a:r>
            <a:r>
              <a:rPr sz="2800" b="1" i="1" spc="-25" dirty="0">
                <a:solidFill>
                  <a:srgbClr val="00669D"/>
                </a:solidFill>
                <a:latin typeface="Arial"/>
                <a:cs typeface="Arial"/>
              </a:rPr>
              <a:t>bu</a:t>
            </a:r>
            <a:r>
              <a:rPr sz="2800" b="1" i="1" dirty="0">
                <a:solidFill>
                  <a:srgbClr val="00669D"/>
                </a:solidFill>
                <a:latin typeface="Arial"/>
                <a:cs typeface="Arial"/>
              </a:rPr>
              <a:t>r</a:t>
            </a:r>
            <a:r>
              <a:rPr sz="2800" b="1" i="1" spc="-10" dirty="0">
                <a:solidFill>
                  <a:srgbClr val="00669D"/>
                </a:solidFill>
                <a:latin typeface="Arial"/>
                <a:cs typeface="Arial"/>
              </a:rPr>
              <a:t>i</a:t>
            </a:r>
            <a:r>
              <a:rPr sz="2800" b="1" i="1" dirty="0">
                <a:solidFill>
                  <a:srgbClr val="00669D"/>
                </a:solidFill>
                <a:latin typeface="Arial"/>
                <a:cs typeface="Arial"/>
              </a:rPr>
              <a:t>a</a:t>
            </a:r>
            <a:r>
              <a:rPr sz="2800" b="1" i="1" spc="-25" dirty="0">
                <a:solidFill>
                  <a:srgbClr val="00669D"/>
                </a:solidFill>
                <a:latin typeface="Arial"/>
                <a:cs typeface="Arial"/>
              </a:rPr>
              <a:t>n</a:t>
            </a:r>
            <a:r>
              <a:rPr sz="2800" b="1" i="1" dirty="0">
                <a:solidFill>
                  <a:srgbClr val="00669D"/>
                </a:solidFill>
                <a:latin typeface="Arial"/>
                <a:cs typeface="Arial"/>
              </a:rPr>
              <a:t>a	</a:t>
            </a:r>
            <a:r>
              <a:rPr sz="2800" b="1" spc="-10" dirty="0">
                <a:solidFill>
                  <a:srgbClr val="00669D"/>
                </a:solidFill>
                <a:latin typeface="Arial"/>
                <a:cs typeface="Arial"/>
              </a:rPr>
              <a:t>(li</a:t>
            </a:r>
            <a:r>
              <a:rPr sz="2800" b="1" dirty="0">
                <a:solidFill>
                  <a:srgbClr val="00669D"/>
                </a:solidFill>
                <a:latin typeface="Arial"/>
                <a:cs typeface="Arial"/>
              </a:rPr>
              <a:t>zar</a:t>
            </a:r>
            <a:r>
              <a:rPr sz="2800" b="1" spc="-25" dirty="0">
                <a:solidFill>
                  <a:srgbClr val="00669D"/>
                </a:solidFill>
                <a:latin typeface="Arial"/>
                <a:cs typeface="Arial"/>
              </a:rPr>
              <a:t>d</a:t>
            </a:r>
            <a:r>
              <a:rPr sz="2800" b="1" dirty="0">
                <a:solidFill>
                  <a:srgbClr val="00669D"/>
                </a:solidFill>
                <a:latin typeface="Arial"/>
                <a:cs typeface="Arial"/>
              </a:rPr>
              <a:t>s) ma</a:t>
            </a:r>
            <a:r>
              <a:rPr sz="2800" b="1" spc="-10" dirty="0">
                <a:solidFill>
                  <a:srgbClr val="00669D"/>
                </a:solidFill>
                <a:latin typeface="Arial"/>
                <a:cs typeface="Arial"/>
              </a:rPr>
              <a:t>l</a:t>
            </a:r>
            <a:r>
              <a:rPr sz="2800" b="1" dirty="0">
                <a:solidFill>
                  <a:srgbClr val="00669D"/>
                </a:solidFill>
                <a:latin typeface="Arial"/>
                <a:cs typeface="Arial"/>
              </a:rPr>
              <a:t>es:</a:t>
            </a:r>
            <a:r>
              <a:rPr sz="2800" b="1" spc="-5" dirty="0">
                <a:solidFill>
                  <a:srgbClr val="00669D"/>
                </a:solidFill>
                <a:latin typeface="Arial"/>
                <a:cs typeface="Arial"/>
              </a:rPr>
              <a:t> </a:t>
            </a:r>
            <a:r>
              <a:rPr sz="2800" b="1" dirty="0">
                <a:solidFill>
                  <a:srgbClr val="00669D"/>
                </a:solidFill>
                <a:latin typeface="Arial"/>
                <a:cs typeface="Arial"/>
              </a:rPr>
              <a:t>3</a:t>
            </a:r>
            <a:r>
              <a:rPr sz="2800" b="1" spc="-5" dirty="0">
                <a:solidFill>
                  <a:srgbClr val="00669D"/>
                </a:solidFill>
                <a:latin typeface="Arial"/>
                <a:cs typeface="Arial"/>
              </a:rPr>
              <a:t> </a:t>
            </a:r>
            <a:r>
              <a:rPr sz="2800" b="1" dirty="0">
                <a:solidFill>
                  <a:srgbClr val="00669D"/>
                </a:solidFill>
                <a:latin typeface="Arial"/>
                <a:cs typeface="Arial"/>
              </a:rPr>
              <a:t>m</a:t>
            </a:r>
            <a:r>
              <a:rPr sz="2800" b="1" spc="-25" dirty="0">
                <a:solidFill>
                  <a:srgbClr val="00669D"/>
                </a:solidFill>
                <a:latin typeface="Arial"/>
                <a:cs typeface="Arial"/>
              </a:rPr>
              <a:t>o</a:t>
            </a:r>
            <a:r>
              <a:rPr sz="2800" b="1" dirty="0">
                <a:solidFill>
                  <a:srgbClr val="00669D"/>
                </a:solidFill>
                <a:latin typeface="Arial"/>
                <a:cs typeface="Arial"/>
              </a:rPr>
              <a:t>r</a:t>
            </a:r>
            <a:r>
              <a:rPr sz="2800" b="1" spc="-25" dirty="0">
                <a:solidFill>
                  <a:srgbClr val="00669D"/>
                </a:solidFill>
                <a:latin typeface="Arial"/>
                <a:cs typeface="Arial"/>
              </a:rPr>
              <a:t>ph</a:t>
            </a:r>
            <a:r>
              <a:rPr sz="2800" b="1" dirty="0">
                <a:solidFill>
                  <a:srgbClr val="00669D"/>
                </a:solidFill>
                <a:latin typeface="Arial"/>
                <a:cs typeface="Arial"/>
              </a:rPr>
              <a:t>s</a:t>
            </a:r>
            <a:r>
              <a:rPr sz="2800" b="1" spc="-5" dirty="0">
                <a:solidFill>
                  <a:srgbClr val="00669D"/>
                </a:solidFill>
                <a:latin typeface="Arial"/>
                <a:cs typeface="Arial"/>
              </a:rPr>
              <a:t> </a:t>
            </a:r>
            <a:r>
              <a:rPr sz="2800" b="1" spc="-10" dirty="0">
                <a:solidFill>
                  <a:srgbClr val="00669D"/>
                </a:solidFill>
                <a:latin typeface="Arial"/>
                <a:cs typeface="Arial"/>
              </a:rPr>
              <a:t>(i</a:t>
            </a:r>
            <a:r>
              <a:rPr sz="2800" b="1" spc="-25" dirty="0">
                <a:solidFill>
                  <a:srgbClr val="00669D"/>
                </a:solidFill>
                <a:latin typeface="Arial"/>
                <a:cs typeface="Arial"/>
              </a:rPr>
              <a:t>nh</a:t>
            </a:r>
            <a:r>
              <a:rPr sz="2800" b="1" dirty="0">
                <a:solidFill>
                  <a:srgbClr val="00669D"/>
                </a:solidFill>
                <a:latin typeface="Arial"/>
                <a:cs typeface="Arial"/>
              </a:rPr>
              <a:t>er</a:t>
            </a:r>
            <a:r>
              <a:rPr sz="2800" b="1" spc="-10" dirty="0">
                <a:solidFill>
                  <a:srgbClr val="00669D"/>
                </a:solidFill>
                <a:latin typeface="Arial"/>
                <a:cs typeface="Arial"/>
              </a:rPr>
              <a:t>i</a:t>
            </a:r>
            <a:r>
              <a:rPr sz="2800" b="1" dirty="0">
                <a:solidFill>
                  <a:srgbClr val="00669D"/>
                </a:solidFill>
                <a:latin typeface="Arial"/>
                <a:cs typeface="Arial"/>
              </a:rPr>
              <a:t>ta</a:t>
            </a:r>
            <a:r>
              <a:rPr sz="2800" b="1" spc="-25" dirty="0">
                <a:solidFill>
                  <a:srgbClr val="00669D"/>
                </a:solidFill>
                <a:latin typeface="Arial"/>
                <a:cs typeface="Arial"/>
              </a:rPr>
              <a:t>b</a:t>
            </a:r>
            <a:r>
              <a:rPr sz="2800" b="1" spc="-10" dirty="0">
                <a:solidFill>
                  <a:srgbClr val="00669D"/>
                </a:solidFill>
                <a:latin typeface="Arial"/>
                <a:cs typeface="Arial"/>
              </a:rPr>
              <a:t>l</a:t>
            </a:r>
            <a:r>
              <a:rPr sz="2800" b="1" dirty="0">
                <a:solidFill>
                  <a:srgbClr val="00669D"/>
                </a:solidFill>
                <a:latin typeface="Arial"/>
                <a:cs typeface="Arial"/>
              </a:rPr>
              <a:t>e)</a:t>
            </a:r>
            <a:endParaRPr sz="2800" dirty="0">
              <a:latin typeface="Arial"/>
              <a:cs typeface="Arial"/>
            </a:endParaRPr>
          </a:p>
          <a:p>
            <a:pPr>
              <a:lnSpc>
                <a:spcPct val="100000"/>
              </a:lnSpc>
              <a:spcBef>
                <a:spcPts val="0"/>
              </a:spcBef>
            </a:pPr>
            <a:endParaRPr sz="3200" dirty="0">
              <a:latin typeface="Times New Roman"/>
              <a:cs typeface="Times New Roman"/>
            </a:endParaRPr>
          </a:p>
          <a:p>
            <a:pPr marL="433705" indent="-394970">
              <a:lnSpc>
                <a:spcPct val="100000"/>
              </a:lnSpc>
              <a:buClr>
                <a:srgbClr val="00669D"/>
              </a:buClr>
              <a:buFont typeface="Arial"/>
              <a:buAutoNum type="arabicPeriod"/>
              <a:tabLst>
                <a:tab pos="434340" algn="l"/>
              </a:tabLst>
            </a:pPr>
            <a:r>
              <a:rPr sz="2800" b="1" dirty="0">
                <a:solidFill>
                  <a:srgbClr val="00669D"/>
                </a:solidFill>
                <a:latin typeface="Arial"/>
                <a:cs typeface="Arial"/>
              </a:rPr>
              <a:t>m</a:t>
            </a:r>
            <a:r>
              <a:rPr sz="2800" b="1" spc="-25" dirty="0">
                <a:solidFill>
                  <a:srgbClr val="00669D"/>
                </a:solidFill>
                <a:latin typeface="Arial"/>
                <a:cs typeface="Arial"/>
              </a:rPr>
              <a:t>onog</a:t>
            </a:r>
            <a:r>
              <a:rPr sz="2800" b="1" dirty="0">
                <a:solidFill>
                  <a:srgbClr val="00669D"/>
                </a:solidFill>
                <a:latin typeface="Arial"/>
                <a:cs typeface="Arial"/>
              </a:rPr>
              <a:t>am</a:t>
            </a:r>
            <a:r>
              <a:rPr sz="2800" b="1" spc="-25" dirty="0">
                <a:solidFill>
                  <a:srgbClr val="00669D"/>
                </a:solidFill>
                <a:latin typeface="Arial"/>
                <a:cs typeface="Arial"/>
              </a:rPr>
              <a:t>ou</a:t>
            </a:r>
            <a:r>
              <a:rPr sz="2800" b="1" dirty="0">
                <a:solidFill>
                  <a:srgbClr val="00669D"/>
                </a:solidFill>
                <a:latin typeface="Arial"/>
                <a:cs typeface="Arial"/>
              </a:rPr>
              <a:t>s</a:t>
            </a:r>
            <a:r>
              <a:rPr sz="2800" b="1" spc="-10" dirty="0">
                <a:solidFill>
                  <a:srgbClr val="00669D"/>
                </a:solidFill>
                <a:latin typeface="Arial"/>
                <a:cs typeface="Arial"/>
              </a:rPr>
              <a:t>,</a:t>
            </a:r>
            <a:r>
              <a:rPr sz="2800" b="1" spc="-5" dirty="0">
                <a:solidFill>
                  <a:srgbClr val="00669D"/>
                </a:solidFill>
                <a:latin typeface="Arial"/>
                <a:cs typeface="Arial"/>
              </a:rPr>
              <a:t> </a:t>
            </a:r>
            <a:r>
              <a:rPr sz="2800" b="1" spc="-25" dirty="0">
                <a:solidFill>
                  <a:srgbClr val="00669D"/>
                </a:solidFill>
                <a:latin typeface="Arial"/>
                <a:cs typeface="Arial"/>
              </a:rPr>
              <a:t>gu</a:t>
            </a:r>
            <a:r>
              <a:rPr sz="2800" b="1" dirty="0">
                <a:solidFill>
                  <a:srgbClr val="00669D"/>
                </a:solidFill>
                <a:latin typeface="Arial"/>
                <a:cs typeface="Arial"/>
              </a:rPr>
              <a:t>ar</a:t>
            </a:r>
            <a:r>
              <a:rPr sz="2800" b="1" spc="-25" dirty="0">
                <a:solidFill>
                  <a:srgbClr val="00669D"/>
                </a:solidFill>
                <a:latin typeface="Arial"/>
                <a:cs typeface="Arial"/>
              </a:rPr>
              <a:t>d</a:t>
            </a:r>
            <a:r>
              <a:rPr sz="2800" b="1" dirty="0">
                <a:solidFill>
                  <a:srgbClr val="00669D"/>
                </a:solidFill>
                <a:latin typeface="Arial"/>
                <a:cs typeface="Arial"/>
              </a:rPr>
              <a:t>s</a:t>
            </a:r>
            <a:r>
              <a:rPr sz="2800" b="1" spc="-5" dirty="0">
                <a:solidFill>
                  <a:srgbClr val="00669D"/>
                </a:solidFill>
                <a:latin typeface="Arial"/>
                <a:cs typeface="Arial"/>
              </a:rPr>
              <a:t> </a:t>
            </a:r>
            <a:r>
              <a:rPr sz="2800" b="1" dirty="0">
                <a:solidFill>
                  <a:srgbClr val="00669D"/>
                </a:solidFill>
                <a:latin typeface="Arial"/>
                <a:cs typeface="Arial"/>
              </a:rPr>
              <a:t>fema</a:t>
            </a:r>
            <a:r>
              <a:rPr sz="2800" b="1" spc="-10" dirty="0">
                <a:solidFill>
                  <a:srgbClr val="00669D"/>
                </a:solidFill>
                <a:latin typeface="Arial"/>
                <a:cs typeface="Arial"/>
              </a:rPr>
              <a:t>l</a:t>
            </a:r>
            <a:r>
              <a:rPr sz="2800" b="1" dirty="0">
                <a:solidFill>
                  <a:srgbClr val="00669D"/>
                </a:solidFill>
                <a:latin typeface="Arial"/>
                <a:cs typeface="Arial"/>
              </a:rPr>
              <a:t>e</a:t>
            </a:r>
            <a:endParaRPr sz="2800" dirty="0">
              <a:latin typeface="Arial"/>
              <a:cs typeface="Arial"/>
            </a:endParaRPr>
          </a:p>
          <a:p>
            <a:pPr marL="433705" indent="-394970">
              <a:lnSpc>
                <a:spcPct val="100000"/>
              </a:lnSpc>
              <a:spcBef>
                <a:spcPts val="480"/>
              </a:spcBef>
              <a:buClr>
                <a:srgbClr val="00669D"/>
              </a:buClr>
              <a:buFont typeface="Arial"/>
              <a:buAutoNum type="arabicPeriod"/>
              <a:tabLst>
                <a:tab pos="434340" algn="l"/>
              </a:tabLst>
            </a:pPr>
            <a:r>
              <a:rPr sz="2800" b="1" spc="-25" dirty="0">
                <a:solidFill>
                  <a:srgbClr val="00669D"/>
                </a:solidFill>
                <a:latin typeface="Arial"/>
                <a:cs typeface="Arial"/>
              </a:rPr>
              <a:t>po</a:t>
            </a:r>
            <a:r>
              <a:rPr sz="2800" b="1" spc="-10" dirty="0">
                <a:solidFill>
                  <a:srgbClr val="00669D"/>
                </a:solidFill>
                <a:latin typeface="Arial"/>
                <a:cs typeface="Arial"/>
              </a:rPr>
              <a:t>l</a:t>
            </a:r>
            <a:r>
              <a:rPr sz="2800" b="1" dirty="0">
                <a:solidFill>
                  <a:srgbClr val="00669D"/>
                </a:solidFill>
                <a:latin typeface="Arial"/>
                <a:cs typeface="Arial"/>
              </a:rPr>
              <a:t>y</a:t>
            </a:r>
            <a:r>
              <a:rPr sz="2800" b="1" spc="-25" dirty="0">
                <a:solidFill>
                  <a:srgbClr val="00669D"/>
                </a:solidFill>
                <a:latin typeface="Arial"/>
                <a:cs typeface="Arial"/>
              </a:rPr>
              <a:t>g</a:t>
            </a:r>
            <a:r>
              <a:rPr sz="2800" b="1" dirty="0">
                <a:solidFill>
                  <a:srgbClr val="00669D"/>
                </a:solidFill>
                <a:latin typeface="Arial"/>
                <a:cs typeface="Arial"/>
              </a:rPr>
              <a:t>am</a:t>
            </a:r>
            <a:r>
              <a:rPr sz="2800" b="1" spc="-25" dirty="0">
                <a:solidFill>
                  <a:srgbClr val="00669D"/>
                </a:solidFill>
                <a:latin typeface="Arial"/>
                <a:cs typeface="Arial"/>
              </a:rPr>
              <a:t>ou</a:t>
            </a:r>
            <a:r>
              <a:rPr sz="2800" b="1" dirty="0">
                <a:solidFill>
                  <a:srgbClr val="00669D"/>
                </a:solidFill>
                <a:latin typeface="Arial"/>
                <a:cs typeface="Arial"/>
              </a:rPr>
              <a:t>s</a:t>
            </a:r>
            <a:r>
              <a:rPr sz="2800" b="1" spc="-10" dirty="0">
                <a:solidFill>
                  <a:srgbClr val="00669D"/>
                </a:solidFill>
                <a:latin typeface="Arial"/>
                <a:cs typeface="Arial"/>
              </a:rPr>
              <a:t>,</a:t>
            </a:r>
            <a:r>
              <a:rPr sz="2800" b="1" spc="-5" dirty="0">
                <a:solidFill>
                  <a:srgbClr val="00669D"/>
                </a:solidFill>
                <a:latin typeface="Arial"/>
                <a:cs typeface="Arial"/>
              </a:rPr>
              <a:t> </a:t>
            </a:r>
            <a:r>
              <a:rPr sz="2800" b="1" spc="-25" dirty="0">
                <a:solidFill>
                  <a:srgbClr val="00669D"/>
                </a:solidFill>
                <a:latin typeface="Arial"/>
                <a:cs typeface="Arial"/>
              </a:rPr>
              <a:t>gu</a:t>
            </a:r>
            <a:r>
              <a:rPr sz="2800" b="1" dirty="0">
                <a:solidFill>
                  <a:srgbClr val="00669D"/>
                </a:solidFill>
                <a:latin typeface="Arial"/>
                <a:cs typeface="Arial"/>
              </a:rPr>
              <a:t>ar</a:t>
            </a:r>
            <a:r>
              <a:rPr sz="2800" b="1" spc="-25" dirty="0">
                <a:solidFill>
                  <a:srgbClr val="00669D"/>
                </a:solidFill>
                <a:latin typeface="Arial"/>
                <a:cs typeface="Arial"/>
              </a:rPr>
              <a:t>d</a:t>
            </a:r>
            <a:r>
              <a:rPr sz="2800" b="1" dirty="0">
                <a:solidFill>
                  <a:srgbClr val="00669D"/>
                </a:solidFill>
                <a:latin typeface="Arial"/>
                <a:cs typeface="Arial"/>
              </a:rPr>
              <a:t>s</a:t>
            </a:r>
            <a:r>
              <a:rPr sz="2800" b="1" spc="-5" dirty="0">
                <a:solidFill>
                  <a:srgbClr val="00669D"/>
                </a:solidFill>
                <a:latin typeface="Arial"/>
                <a:cs typeface="Arial"/>
              </a:rPr>
              <a:t> </a:t>
            </a:r>
            <a:r>
              <a:rPr sz="2800" b="1" spc="-25" dirty="0">
                <a:solidFill>
                  <a:srgbClr val="00669D"/>
                </a:solidFill>
                <a:latin typeface="Arial"/>
                <a:cs typeface="Arial"/>
              </a:rPr>
              <a:t>h</a:t>
            </a:r>
            <a:r>
              <a:rPr sz="2800" b="1" dirty="0">
                <a:solidFill>
                  <a:srgbClr val="00669D"/>
                </a:solidFill>
                <a:latin typeface="Arial"/>
                <a:cs typeface="Arial"/>
              </a:rPr>
              <a:t>arem</a:t>
            </a:r>
            <a:r>
              <a:rPr sz="2800" b="1" spc="-5" dirty="0">
                <a:solidFill>
                  <a:srgbClr val="00669D"/>
                </a:solidFill>
                <a:latin typeface="Arial"/>
                <a:cs typeface="Arial"/>
              </a:rPr>
              <a:t> </a:t>
            </a:r>
            <a:r>
              <a:rPr sz="2800" b="1" spc="-10" dirty="0">
                <a:solidFill>
                  <a:srgbClr val="00669D"/>
                </a:solidFill>
                <a:latin typeface="Arial"/>
                <a:cs typeface="Arial"/>
              </a:rPr>
              <a:t>(i</a:t>
            </a:r>
            <a:r>
              <a:rPr sz="2800" b="1" spc="-25" dirty="0">
                <a:solidFill>
                  <a:srgbClr val="00669D"/>
                </a:solidFill>
                <a:latin typeface="Arial"/>
                <a:cs typeface="Arial"/>
              </a:rPr>
              <a:t>n</a:t>
            </a:r>
            <a:r>
              <a:rPr sz="2800" b="1" dirty="0">
                <a:solidFill>
                  <a:srgbClr val="00669D"/>
                </a:solidFill>
                <a:latin typeface="Arial"/>
                <a:cs typeface="Arial"/>
              </a:rPr>
              <a:t>e</a:t>
            </a:r>
            <a:r>
              <a:rPr sz="2800" b="1" spc="-10" dirty="0">
                <a:solidFill>
                  <a:srgbClr val="00669D"/>
                </a:solidFill>
                <a:latin typeface="Arial"/>
                <a:cs typeface="Arial"/>
              </a:rPr>
              <a:t>ffi</a:t>
            </a:r>
            <a:r>
              <a:rPr sz="2800" b="1" dirty="0">
                <a:solidFill>
                  <a:srgbClr val="00669D"/>
                </a:solidFill>
                <a:latin typeface="Arial"/>
                <a:cs typeface="Arial"/>
              </a:rPr>
              <a:t>c</a:t>
            </a:r>
            <a:r>
              <a:rPr sz="2800" b="1" spc="-10" dirty="0">
                <a:solidFill>
                  <a:srgbClr val="00669D"/>
                </a:solidFill>
                <a:latin typeface="Arial"/>
                <a:cs typeface="Arial"/>
              </a:rPr>
              <a:t>i</a:t>
            </a:r>
            <a:r>
              <a:rPr sz="2800" b="1" dirty="0">
                <a:solidFill>
                  <a:srgbClr val="00669D"/>
                </a:solidFill>
                <a:latin typeface="Arial"/>
                <a:cs typeface="Arial"/>
              </a:rPr>
              <a:t>e</a:t>
            </a:r>
            <a:r>
              <a:rPr sz="2800" b="1" spc="-25" dirty="0">
                <a:solidFill>
                  <a:srgbClr val="00669D"/>
                </a:solidFill>
                <a:latin typeface="Arial"/>
                <a:cs typeface="Arial"/>
              </a:rPr>
              <a:t>n</a:t>
            </a:r>
            <a:r>
              <a:rPr sz="2800" b="1" spc="-10" dirty="0">
                <a:solidFill>
                  <a:srgbClr val="00669D"/>
                </a:solidFill>
                <a:latin typeface="Arial"/>
                <a:cs typeface="Arial"/>
              </a:rPr>
              <a:t>tl</a:t>
            </a:r>
            <a:r>
              <a:rPr sz="2800" b="1" dirty="0">
                <a:solidFill>
                  <a:srgbClr val="00669D"/>
                </a:solidFill>
                <a:latin typeface="Arial"/>
                <a:cs typeface="Arial"/>
              </a:rPr>
              <a:t>y)</a:t>
            </a:r>
            <a:endParaRPr sz="2800" dirty="0">
              <a:latin typeface="Arial"/>
              <a:cs typeface="Arial"/>
            </a:endParaRPr>
          </a:p>
          <a:p>
            <a:pPr marL="433705" indent="-394970">
              <a:lnSpc>
                <a:spcPct val="100000"/>
              </a:lnSpc>
              <a:spcBef>
                <a:spcPts val="480"/>
              </a:spcBef>
              <a:buClr>
                <a:srgbClr val="00669D"/>
              </a:buClr>
              <a:buFont typeface="Arial"/>
              <a:buAutoNum type="arabicPeriod"/>
              <a:tabLst>
                <a:tab pos="434340" algn="l"/>
              </a:tabLst>
            </a:pPr>
            <a:r>
              <a:rPr sz="2800" b="1" spc="-10" dirty="0">
                <a:solidFill>
                  <a:srgbClr val="00669D"/>
                </a:solidFill>
                <a:latin typeface="Arial"/>
                <a:cs typeface="Arial"/>
              </a:rPr>
              <a:t>l</a:t>
            </a:r>
            <a:r>
              <a:rPr sz="2800" b="1" spc="-25" dirty="0">
                <a:solidFill>
                  <a:srgbClr val="00669D"/>
                </a:solidFill>
                <a:latin typeface="Arial"/>
                <a:cs typeface="Arial"/>
              </a:rPr>
              <a:t>oo</a:t>
            </a:r>
            <a:r>
              <a:rPr sz="2800" b="1" dirty="0">
                <a:solidFill>
                  <a:srgbClr val="00669D"/>
                </a:solidFill>
                <a:latin typeface="Arial"/>
                <a:cs typeface="Arial"/>
              </a:rPr>
              <a:t>se</a:t>
            </a:r>
            <a:r>
              <a:rPr sz="2800" b="1" spc="-5" dirty="0">
                <a:solidFill>
                  <a:srgbClr val="00669D"/>
                </a:solidFill>
                <a:latin typeface="Arial"/>
                <a:cs typeface="Arial"/>
              </a:rPr>
              <a:t> </a:t>
            </a:r>
            <a:r>
              <a:rPr sz="2800" b="1" dirty="0">
                <a:solidFill>
                  <a:srgbClr val="00669D"/>
                </a:solidFill>
                <a:latin typeface="Arial"/>
                <a:cs typeface="Arial"/>
              </a:rPr>
              <a:t>ma</a:t>
            </a:r>
            <a:r>
              <a:rPr sz="2800" b="1" spc="-10" dirty="0">
                <a:solidFill>
                  <a:srgbClr val="00669D"/>
                </a:solidFill>
                <a:latin typeface="Arial"/>
                <a:cs typeface="Arial"/>
              </a:rPr>
              <a:t>l</a:t>
            </a:r>
            <a:r>
              <a:rPr sz="2800" b="1" dirty="0">
                <a:solidFill>
                  <a:srgbClr val="00669D"/>
                </a:solidFill>
                <a:latin typeface="Arial"/>
                <a:cs typeface="Arial"/>
              </a:rPr>
              <a:t>es</a:t>
            </a:r>
            <a:r>
              <a:rPr sz="2800" b="1" spc="-10" dirty="0">
                <a:solidFill>
                  <a:srgbClr val="00669D"/>
                </a:solidFill>
                <a:latin typeface="Arial"/>
                <a:cs typeface="Arial"/>
              </a:rPr>
              <a:t>,</a:t>
            </a:r>
            <a:r>
              <a:rPr sz="2800" b="1" spc="-5" dirty="0">
                <a:solidFill>
                  <a:srgbClr val="00669D"/>
                </a:solidFill>
                <a:latin typeface="Arial"/>
                <a:cs typeface="Arial"/>
              </a:rPr>
              <a:t> </a:t>
            </a:r>
            <a:r>
              <a:rPr sz="2800" b="1" dirty="0">
                <a:solidFill>
                  <a:srgbClr val="00669D"/>
                </a:solidFill>
                <a:latin typeface="Arial"/>
                <a:cs typeface="Arial"/>
              </a:rPr>
              <a:t>s</a:t>
            </a:r>
            <a:r>
              <a:rPr sz="2800" b="1" spc="-25" dirty="0">
                <a:solidFill>
                  <a:srgbClr val="00669D"/>
                </a:solidFill>
                <a:latin typeface="Arial"/>
                <a:cs typeface="Arial"/>
              </a:rPr>
              <a:t>n</a:t>
            </a:r>
            <a:r>
              <a:rPr sz="2800" b="1" dirty="0">
                <a:solidFill>
                  <a:srgbClr val="00669D"/>
                </a:solidFill>
                <a:latin typeface="Arial"/>
                <a:cs typeface="Arial"/>
              </a:rPr>
              <a:t>eaky</a:t>
            </a:r>
            <a:r>
              <a:rPr sz="2800" b="1" spc="-5" dirty="0">
                <a:solidFill>
                  <a:srgbClr val="00669D"/>
                </a:solidFill>
                <a:latin typeface="Arial"/>
                <a:cs typeface="Arial"/>
              </a:rPr>
              <a:t> </a:t>
            </a:r>
            <a:r>
              <a:rPr sz="2800" b="1" dirty="0">
                <a:solidFill>
                  <a:srgbClr val="00669D"/>
                </a:solidFill>
                <a:latin typeface="Arial"/>
                <a:cs typeface="Arial"/>
              </a:rPr>
              <a:t>ma</a:t>
            </a:r>
            <a:r>
              <a:rPr sz="2800" b="1" spc="-10" dirty="0">
                <a:solidFill>
                  <a:srgbClr val="00669D"/>
                </a:solidFill>
                <a:latin typeface="Arial"/>
                <a:cs typeface="Arial"/>
              </a:rPr>
              <a:t>ti</a:t>
            </a:r>
            <a:r>
              <a:rPr sz="2800" b="1" spc="-25" dirty="0">
                <a:solidFill>
                  <a:srgbClr val="00669D"/>
                </a:solidFill>
                <a:latin typeface="Arial"/>
                <a:cs typeface="Arial"/>
              </a:rPr>
              <a:t>ng</a:t>
            </a:r>
            <a:r>
              <a:rPr sz="2800" b="1" dirty="0">
                <a:solidFill>
                  <a:srgbClr val="00669D"/>
                </a:solidFill>
                <a:latin typeface="Arial"/>
                <a:cs typeface="Arial"/>
              </a:rPr>
              <a:t>s</a:t>
            </a:r>
            <a:endParaRPr sz="2800" dirty="0">
              <a:latin typeface="Arial"/>
              <a:cs typeface="Arial"/>
            </a:endParaRPr>
          </a:p>
        </p:txBody>
      </p:sp>
      <p:sp>
        <p:nvSpPr>
          <p:cNvPr id="7" name="Rectangle 6">
            <a:extLst>
              <a:ext uri="{FF2B5EF4-FFF2-40B4-BE49-F238E27FC236}">
                <a16:creationId xmlns:a16="http://schemas.microsoft.com/office/drawing/2014/main" id="{A40CB1FC-D5C6-1C66-FB29-191CD1375DF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474146B0-4E77-0E08-1EC4-2939CFF383A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500FFFAD-055A-FE33-CD5B-0D880BD8AFBA}"/>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49</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E7C2705F-CA21-4947-14D2-EBE93B43443B}"/>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436FB881-EE32-8EEA-AF1F-AFDF8EC6C34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60412"/>
            <a:ext cx="9144000" cy="6069330"/>
          </a:xfrm>
          <a:prstGeom prst="rect">
            <a:avLst/>
          </a:prstGeom>
        </p:spPr>
        <p:txBody>
          <a:bodyPr vert="horz" wrap="square" lIns="0" tIns="0" rIns="0" bIns="0" rtlCol="0">
            <a:spAutoFit/>
          </a:bodyPr>
          <a:lstStyle/>
          <a:p>
            <a:pPr marR="581025" algn="r">
              <a:lnSpc>
                <a:spcPct val="100000"/>
              </a:lnSpc>
            </a:pPr>
            <a:r>
              <a:rPr sz="1400" dirty="0">
                <a:latin typeface="Arial"/>
                <a:cs typeface="Arial"/>
                <a:hlinkClick r:id="rId3"/>
              </a:rPr>
              <a:t>ww</a:t>
            </a:r>
            <a:r>
              <a:rPr sz="1400" spc="-80" dirty="0">
                <a:latin typeface="Arial"/>
                <a:cs typeface="Arial"/>
                <a:hlinkClick r:id="rId3"/>
              </a:rPr>
              <a:t>w</a:t>
            </a:r>
            <a:r>
              <a:rPr sz="1400" spc="-5" dirty="0">
                <a:latin typeface="Arial"/>
                <a:cs typeface="Arial"/>
                <a:hlinkClick r:id="rId3"/>
              </a:rPr>
              <a:t>.</a:t>
            </a:r>
            <a:r>
              <a:rPr sz="1400" dirty="0">
                <a:latin typeface="Arial"/>
                <a:cs typeface="Arial"/>
                <a:hlinkClick r:id="rId3"/>
              </a:rPr>
              <a:t>monash</a:t>
            </a:r>
            <a:r>
              <a:rPr sz="1400" spc="-5" dirty="0">
                <a:latin typeface="Arial"/>
                <a:cs typeface="Arial"/>
                <a:hlinkClick r:id="rId3"/>
              </a:rPr>
              <a:t>.</a:t>
            </a:r>
            <a:r>
              <a:rPr sz="1400" dirty="0">
                <a:latin typeface="Arial"/>
                <a:cs typeface="Arial"/>
                <a:hlinkClick r:id="rId3"/>
              </a:rPr>
              <a:t>edu</a:t>
            </a:r>
            <a:r>
              <a:rPr sz="1400" spc="-5" dirty="0">
                <a:latin typeface="Arial"/>
                <a:cs typeface="Arial"/>
                <a:hlinkClick r:id="rId3"/>
              </a:rPr>
              <a:t>.</a:t>
            </a:r>
            <a:r>
              <a:rPr sz="1400" dirty="0">
                <a:latin typeface="Arial"/>
                <a:cs typeface="Arial"/>
                <a:hlinkClick r:id="rId3"/>
              </a:rPr>
              <a:t>au</a:t>
            </a:r>
            <a:endParaRPr sz="1400">
              <a:latin typeface="Arial"/>
              <a:cs typeface="Arial"/>
            </a:endParaRPr>
          </a:p>
        </p:txBody>
      </p:sp>
      <p:sp>
        <p:nvSpPr>
          <p:cNvPr id="3" name="object 3"/>
          <p:cNvSpPr/>
          <p:nvPr/>
        </p:nvSpPr>
        <p:spPr>
          <a:xfrm>
            <a:off x="6904737" y="6319787"/>
            <a:ext cx="1651000" cy="0"/>
          </a:xfrm>
          <a:custGeom>
            <a:avLst/>
            <a:gdLst/>
            <a:ahLst/>
            <a:cxnLst/>
            <a:rect l="l" t="t" r="r" b="b"/>
            <a:pathLst>
              <a:path w="1651000">
                <a:moveTo>
                  <a:pt x="0" y="0"/>
                </a:moveTo>
                <a:lnTo>
                  <a:pt x="1650552" y="0"/>
                </a:lnTo>
              </a:path>
            </a:pathLst>
          </a:custGeom>
          <a:ln w="13022">
            <a:solidFill>
              <a:srgbClr val="000000"/>
            </a:solidFill>
          </a:ln>
        </p:spPr>
        <p:txBody>
          <a:bodyPr wrap="square" lIns="0" tIns="0" rIns="0" bIns="0" rtlCol="0"/>
          <a:lstStyle/>
          <a:p>
            <a:endParaRPr/>
          </a:p>
        </p:txBody>
      </p:sp>
      <p:sp>
        <p:nvSpPr>
          <p:cNvPr id="4" name="object 4"/>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p:nvPr/>
        </p:nvSpPr>
        <p:spPr>
          <a:xfrm>
            <a:off x="568325" y="6203950"/>
            <a:ext cx="2936875" cy="46037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0" y="760412"/>
            <a:ext cx="9143999" cy="6069012"/>
          </a:xfrm>
          <a:prstGeom prst="rect">
            <a:avLst/>
          </a:prstGeom>
          <a:blipFill>
            <a:blip r:embed="rId5" cstate="print"/>
            <a:stretch>
              <a:fillRect/>
            </a:stretch>
          </a:blipFill>
        </p:spPr>
        <p:txBody>
          <a:bodyPr wrap="square" lIns="0" tIns="0" rIns="0" bIns="0" rtlCol="0"/>
          <a:lstStyle/>
          <a:p>
            <a:endParaRPr/>
          </a:p>
        </p:txBody>
      </p:sp>
      <p:sp>
        <p:nvSpPr>
          <p:cNvPr id="7" name="object 7"/>
          <p:cNvSpPr txBox="1"/>
          <p:nvPr/>
        </p:nvSpPr>
        <p:spPr>
          <a:xfrm>
            <a:off x="685800" y="3195637"/>
            <a:ext cx="1524000" cy="486409"/>
          </a:xfrm>
          <a:prstGeom prst="rect">
            <a:avLst/>
          </a:prstGeom>
          <a:solidFill>
            <a:srgbClr val="1C1C1C"/>
          </a:solidFill>
        </p:spPr>
        <p:txBody>
          <a:bodyPr vert="horz" wrap="square" lIns="0" tIns="0" rIns="0" bIns="0" rtlCol="0">
            <a:spAutoFit/>
          </a:bodyPr>
          <a:lstStyle/>
          <a:p>
            <a:pPr marL="208279">
              <a:lnSpc>
                <a:spcPct val="100000"/>
              </a:lnSpc>
            </a:pPr>
            <a:r>
              <a:rPr sz="2800" dirty="0">
                <a:solidFill>
                  <a:srgbClr val="FFFFFF"/>
                </a:solidFill>
                <a:latin typeface="Arial"/>
                <a:cs typeface="Arial"/>
              </a:rPr>
              <a:t>orange</a:t>
            </a:r>
            <a:endParaRPr sz="2800">
              <a:latin typeface="Arial"/>
              <a:cs typeface="Arial"/>
            </a:endParaRPr>
          </a:p>
        </p:txBody>
      </p:sp>
      <p:sp>
        <p:nvSpPr>
          <p:cNvPr id="8" name="object 8"/>
          <p:cNvSpPr txBox="1"/>
          <p:nvPr/>
        </p:nvSpPr>
        <p:spPr>
          <a:xfrm>
            <a:off x="6924675" y="3209925"/>
            <a:ext cx="1524000" cy="486409"/>
          </a:xfrm>
          <a:prstGeom prst="rect">
            <a:avLst/>
          </a:prstGeom>
          <a:solidFill>
            <a:srgbClr val="1C1C1C"/>
          </a:solidFill>
        </p:spPr>
        <p:txBody>
          <a:bodyPr vert="horz" wrap="square" lIns="0" tIns="0" rIns="0" bIns="0" rtlCol="0">
            <a:spAutoFit/>
          </a:bodyPr>
          <a:lstStyle/>
          <a:p>
            <a:pPr marL="267335">
              <a:lnSpc>
                <a:spcPct val="100000"/>
              </a:lnSpc>
            </a:pPr>
            <a:r>
              <a:rPr sz="2800" dirty="0">
                <a:solidFill>
                  <a:srgbClr val="FFFFFF"/>
                </a:solidFill>
                <a:latin typeface="Arial"/>
                <a:cs typeface="Arial"/>
              </a:rPr>
              <a:t>yellow</a:t>
            </a:r>
            <a:endParaRPr sz="2800">
              <a:latin typeface="Arial"/>
              <a:cs typeface="Arial"/>
            </a:endParaRPr>
          </a:p>
        </p:txBody>
      </p:sp>
      <p:sp>
        <p:nvSpPr>
          <p:cNvPr id="9" name="object 9"/>
          <p:cNvSpPr txBox="1"/>
          <p:nvPr/>
        </p:nvSpPr>
        <p:spPr>
          <a:xfrm>
            <a:off x="3886200" y="3209925"/>
            <a:ext cx="1524000" cy="486409"/>
          </a:xfrm>
          <a:prstGeom prst="rect">
            <a:avLst/>
          </a:prstGeom>
          <a:solidFill>
            <a:srgbClr val="1C1C1C"/>
          </a:solidFill>
        </p:spPr>
        <p:txBody>
          <a:bodyPr vert="horz" wrap="square" lIns="0" tIns="0" rIns="0" bIns="0" rtlCol="0">
            <a:spAutoFit/>
          </a:bodyPr>
          <a:lstStyle/>
          <a:p>
            <a:pPr marL="425450">
              <a:lnSpc>
                <a:spcPct val="100000"/>
              </a:lnSpc>
            </a:pPr>
            <a:r>
              <a:rPr sz="2800" dirty="0">
                <a:solidFill>
                  <a:srgbClr val="FFFFFF"/>
                </a:solidFill>
                <a:latin typeface="Arial"/>
                <a:cs typeface="Arial"/>
              </a:rPr>
              <a:t>blue</a:t>
            </a:r>
            <a:endParaRPr sz="2800">
              <a:latin typeface="Arial"/>
              <a:cs typeface="Arial"/>
            </a:endParaRPr>
          </a:p>
        </p:txBody>
      </p:sp>
      <p:sp>
        <p:nvSpPr>
          <p:cNvPr id="10" name="object 10"/>
          <p:cNvSpPr txBox="1"/>
          <p:nvPr/>
        </p:nvSpPr>
        <p:spPr>
          <a:xfrm>
            <a:off x="180975" y="191477"/>
            <a:ext cx="8884920" cy="492443"/>
          </a:xfrm>
          <a:prstGeom prst="rect">
            <a:avLst/>
          </a:prstGeom>
        </p:spPr>
        <p:txBody>
          <a:bodyPr vert="horz" wrap="square" lIns="0" tIns="0" rIns="0" bIns="0" rtlCol="0">
            <a:spAutoFit/>
          </a:bodyPr>
          <a:lstStyle/>
          <a:p>
            <a:pPr marL="12700">
              <a:lnSpc>
                <a:spcPct val="100000"/>
              </a:lnSpc>
            </a:pPr>
            <a:r>
              <a:rPr sz="3200" b="1" dirty="0">
                <a:solidFill>
                  <a:srgbClr val="330066"/>
                </a:solidFill>
                <a:latin typeface="Arial"/>
                <a:cs typeface="Arial"/>
              </a:rPr>
              <a:t>Ma</a:t>
            </a:r>
            <a:r>
              <a:rPr sz="3200" b="1" spc="-15" dirty="0">
                <a:solidFill>
                  <a:srgbClr val="330066"/>
                </a:solidFill>
                <a:latin typeface="Arial"/>
                <a:cs typeface="Arial"/>
              </a:rPr>
              <a:t>l</a:t>
            </a:r>
            <a:r>
              <a:rPr sz="3200" b="1" dirty="0">
                <a:solidFill>
                  <a:srgbClr val="330066"/>
                </a:solidFill>
                <a:latin typeface="Arial"/>
                <a:cs typeface="Arial"/>
              </a:rPr>
              <a:t>e</a:t>
            </a:r>
            <a:r>
              <a:rPr sz="3200" b="1" spc="-5" dirty="0">
                <a:solidFill>
                  <a:srgbClr val="330066"/>
                </a:solidFill>
                <a:latin typeface="Arial"/>
                <a:cs typeface="Arial"/>
              </a:rPr>
              <a:t> </a:t>
            </a:r>
            <a:r>
              <a:rPr sz="3200" b="1" dirty="0">
                <a:solidFill>
                  <a:srgbClr val="330066"/>
                </a:solidFill>
                <a:latin typeface="Arial"/>
                <a:cs typeface="Arial"/>
              </a:rPr>
              <a:t>m</a:t>
            </a:r>
            <a:r>
              <a:rPr sz="3200" b="1" spc="-30" dirty="0">
                <a:solidFill>
                  <a:srgbClr val="330066"/>
                </a:solidFill>
                <a:latin typeface="Arial"/>
                <a:cs typeface="Arial"/>
              </a:rPr>
              <a:t>o</a:t>
            </a:r>
            <a:r>
              <a:rPr sz="3200" b="1" dirty="0">
                <a:solidFill>
                  <a:srgbClr val="330066"/>
                </a:solidFill>
                <a:latin typeface="Arial"/>
                <a:cs typeface="Arial"/>
              </a:rPr>
              <a:t>r</a:t>
            </a:r>
            <a:r>
              <a:rPr sz="3200" b="1" spc="-30" dirty="0">
                <a:solidFill>
                  <a:srgbClr val="330066"/>
                </a:solidFill>
                <a:latin typeface="Arial"/>
                <a:cs typeface="Arial"/>
              </a:rPr>
              <a:t>ph</a:t>
            </a:r>
            <a:r>
              <a:rPr sz="3200" b="1" dirty="0">
                <a:solidFill>
                  <a:srgbClr val="330066"/>
                </a:solidFill>
                <a:latin typeface="Arial"/>
                <a:cs typeface="Arial"/>
              </a:rPr>
              <a:t>s</a:t>
            </a:r>
            <a:r>
              <a:rPr sz="3200" b="1" spc="-5" dirty="0">
                <a:solidFill>
                  <a:srgbClr val="330066"/>
                </a:solidFill>
                <a:latin typeface="Arial"/>
                <a:cs typeface="Arial"/>
              </a:rPr>
              <a:t> </a:t>
            </a:r>
            <a:r>
              <a:rPr sz="3200" b="1" spc="-15" dirty="0">
                <a:solidFill>
                  <a:srgbClr val="330066"/>
                </a:solidFill>
                <a:latin typeface="Arial"/>
                <a:cs typeface="Arial"/>
              </a:rPr>
              <a:t>i</a:t>
            </a:r>
            <a:r>
              <a:rPr sz="3200" b="1" spc="-25" dirty="0">
                <a:solidFill>
                  <a:srgbClr val="330066"/>
                </a:solidFill>
                <a:latin typeface="Arial"/>
                <a:cs typeface="Arial"/>
              </a:rPr>
              <a:t>n</a:t>
            </a:r>
            <a:r>
              <a:rPr sz="3200" b="1" spc="-5" dirty="0">
                <a:solidFill>
                  <a:srgbClr val="330066"/>
                </a:solidFill>
                <a:latin typeface="Arial"/>
                <a:cs typeface="Arial"/>
              </a:rPr>
              <a:t> </a:t>
            </a:r>
            <a:r>
              <a:rPr sz="3200" b="1" dirty="0">
                <a:solidFill>
                  <a:srgbClr val="330066"/>
                </a:solidFill>
                <a:latin typeface="Arial"/>
                <a:cs typeface="Arial"/>
              </a:rPr>
              <a:t>s</a:t>
            </a:r>
            <a:r>
              <a:rPr sz="3200" b="1" spc="-25" dirty="0">
                <a:solidFill>
                  <a:srgbClr val="330066"/>
                </a:solidFill>
                <a:latin typeface="Arial"/>
                <a:cs typeface="Arial"/>
              </a:rPr>
              <a:t>id</a:t>
            </a:r>
            <a:r>
              <a:rPr sz="3200" b="1" dirty="0">
                <a:solidFill>
                  <a:srgbClr val="330066"/>
                </a:solidFill>
                <a:latin typeface="Arial"/>
                <a:cs typeface="Arial"/>
              </a:rPr>
              <a:t>e</a:t>
            </a:r>
            <a:r>
              <a:rPr sz="3200" b="1" spc="-15" dirty="0">
                <a:solidFill>
                  <a:srgbClr val="330066"/>
                </a:solidFill>
                <a:latin typeface="Arial"/>
                <a:cs typeface="Arial"/>
              </a:rPr>
              <a:t>-</a:t>
            </a:r>
            <a:r>
              <a:rPr sz="3200" b="1" spc="-25" dirty="0">
                <a:solidFill>
                  <a:srgbClr val="330066"/>
                </a:solidFill>
                <a:latin typeface="Arial"/>
                <a:cs typeface="Arial"/>
              </a:rPr>
              <a:t>blo</a:t>
            </a:r>
            <a:r>
              <a:rPr sz="3200" b="1" dirty="0">
                <a:solidFill>
                  <a:srgbClr val="330066"/>
                </a:solidFill>
                <a:latin typeface="Arial"/>
                <a:cs typeface="Arial"/>
              </a:rPr>
              <a:t>tc</a:t>
            </a:r>
            <a:r>
              <a:rPr sz="3200" b="1" spc="-30" dirty="0">
                <a:solidFill>
                  <a:srgbClr val="330066"/>
                </a:solidFill>
                <a:latin typeface="Arial"/>
                <a:cs typeface="Arial"/>
              </a:rPr>
              <a:t>h</a:t>
            </a:r>
            <a:r>
              <a:rPr sz="3200" b="1" dirty="0">
                <a:solidFill>
                  <a:srgbClr val="330066"/>
                </a:solidFill>
                <a:latin typeface="Arial"/>
                <a:cs typeface="Arial"/>
              </a:rPr>
              <a:t>e</a:t>
            </a:r>
            <a:r>
              <a:rPr sz="3200" b="1" spc="-25" dirty="0">
                <a:solidFill>
                  <a:srgbClr val="330066"/>
                </a:solidFill>
                <a:latin typeface="Arial"/>
                <a:cs typeface="Arial"/>
              </a:rPr>
              <a:t>d</a:t>
            </a:r>
            <a:r>
              <a:rPr sz="3200" b="1" spc="-5" dirty="0">
                <a:solidFill>
                  <a:srgbClr val="330066"/>
                </a:solidFill>
                <a:latin typeface="Arial"/>
                <a:cs typeface="Arial"/>
              </a:rPr>
              <a:t> </a:t>
            </a:r>
            <a:r>
              <a:rPr sz="3200" b="1" spc="-15" dirty="0">
                <a:solidFill>
                  <a:srgbClr val="330066"/>
                </a:solidFill>
                <a:latin typeface="Arial"/>
                <a:cs typeface="Arial"/>
              </a:rPr>
              <a:t>li</a:t>
            </a:r>
            <a:r>
              <a:rPr sz="3200" b="1" dirty="0">
                <a:solidFill>
                  <a:srgbClr val="330066"/>
                </a:solidFill>
                <a:latin typeface="Arial"/>
                <a:cs typeface="Arial"/>
              </a:rPr>
              <a:t>zar</a:t>
            </a:r>
            <a:r>
              <a:rPr sz="3200" b="1" spc="-25" dirty="0">
                <a:solidFill>
                  <a:srgbClr val="330066"/>
                </a:solidFill>
                <a:latin typeface="Arial"/>
                <a:cs typeface="Arial"/>
              </a:rPr>
              <a:t>d</a:t>
            </a:r>
            <a:endParaRPr sz="3200" dirty="0">
              <a:latin typeface="Arial"/>
              <a:cs typeface="Arial"/>
            </a:endParaRPr>
          </a:p>
        </p:txBody>
      </p:sp>
      <p:sp>
        <p:nvSpPr>
          <p:cNvPr id="11" name="object 11"/>
          <p:cNvSpPr txBox="1"/>
          <p:nvPr/>
        </p:nvSpPr>
        <p:spPr>
          <a:xfrm>
            <a:off x="6000750" y="6457322"/>
            <a:ext cx="3065145" cy="383540"/>
          </a:xfrm>
          <a:prstGeom prst="rect">
            <a:avLst/>
          </a:prstGeom>
        </p:spPr>
        <p:txBody>
          <a:bodyPr vert="horz" wrap="square" lIns="0" tIns="0" rIns="0" bIns="0" rtlCol="0">
            <a:spAutoFit/>
          </a:bodyPr>
          <a:lstStyle/>
          <a:p>
            <a:pPr marL="6350" algn="ctr">
              <a:lnSpc>
                <a:spcPct val="100000"/>
              </a:lnSpc>
            </a:pPr>
            <a:r>
              <a:rPr sz="1000" dirty="0">
                <a:latin typeface="Arial"/>
                <a:cs typeface="Arial"/>
              </a:rPr>
              <a:t>50</a:t>
            </a:r>
            <a:endParaRPr sz="1000">
              <a:latin typeface="Arial"/>
              <a:cs typeface="Arial"/>
            </a:endParaRPr>
          </a:p>
        </p:txBody>
      </p:sp>
      <p:sp>
        <p:nvSpPr>
          <p:cNvPr id="12" name="object 12"/>
          <p:cNvSpPr/>
          <p:nvPr/>
        </p:nvSpPr>
        <p:spPr>
          <a:xfrm>
            <a:off x="6000750" y="6489700"/>
            <a:ext cx="3065145" cy="351155"/>
          </a:xfrm>
          <a:custGeom>
            <a:avLst/>
            <a:gdLst/>
            <a:ahLst/>
            <a:cxnLst/>
            <a:rect l="l" t="t" r="r" b="b"/>
            <a:pathLst>
              <a:path w="3065145" h="351154">
                <a:moveTo>
                  <a:pt x="0" y="350661"/>
                </a:moveTo>
                <a:lnTo>
                  <a:pt x="3064889" y="350661"/>
                </a:lnTo>
                <a:lnTo>
                  <a:pt x="3064889" y="0"/>
                </a:lnTo>
                <a:lnTo>
                  <a:pt x="0" y="0"/>
                </a:lnTo>
                <a:lnTo>
                  <a:pt x="0" y="350661"/>
                </a:lnTo>
                <a:close/>
              </a:path>
            </a:pathLst>
          </a:custGeom>
          <a:solidFill>
            <a:srgbClr val="333333"/>
          </a:solidFill>
        </p:spPr>
        <p:txBody>
          <a:bodyPr wrap="square" lIns="0" tIns="0" rIns="0" bIns="0" rtlCol="0"/>
          <a:lstStyle/>
          <a:p>
            <a:endParaRPr/>
          </a:p>
        </p:txBody>
      </p:sp>
      <p:sp>
        <p:nvSpPr>
          <p:cNvPr id="13" name="object 13"/>
          <p:cNvSpPr txBox="1"/>
          <p:nvPr/>
        </p:nvSpPr>
        <p:spPr>
          <a:xfrm>
            <a:off x="6033770" y="6548259"/>
            <a:ext cx="2986405" cy="254000"/>
          </a:xfrm>
          <a:prstGeom prst="rect">
            <a:avLst/>
          </a:prstGeom>
        </p:spPr>
        <p:txBody>
          <a:bodyPr vert="horz" wrap="square" lIns="0" tIns="0" rIns="0" bIns="0" rtlCol="0">
            <a:spAutoFit/>
          </a:bodyPr>
          <a:lstStyle/>
          <a:p>
            <a:pPr marL="12700">
              <a:lnSpc>
                <a:spcPct val="100000"/>
              </a:lnSpc>
            </a:pPr>
            <a:r>
              <a:rPr sz="1800" dirty="0">
                <a:solidFill>
                  <a:srgbClr val="FFFFFF"/>
                </a:solidFill>
                <a:latin typeface="Arial"/>
                <a:cs typeface="Arial"/>
              </a:rPr>
              <a:t>Sinervo</a:t>
            </a:r>
            <a:r>
              <a:rPr sz="1800" spc="-5" dirty="0">
                <a:solidFill>
                  <a:srgbClr val="FFFFFF"/>
                </a:solidFill>
                <a:latin typeface="Arial"/>
                <a:cs typeface="Arial"/>
              </a:rPr>
              <a:t> </a:t>
            </a:r>
            <a:r>
              <a:rPr sz="1800" spc="-15" dirty="0">
                <a:solidFill>
                  <a:srgbClr val="FFFFFF"/>
                </a:solidFill>
                <a:latin typeface="Arial"/>
                <a:cs typeface="Arial"/>
              </a:rPr>
              <a:t>&amp;</a:t>
            </a:r>
            <a:r>
              <a:rPr sz="1800" spc="-5" dirty="0">
                <a:solidFill>
                  <a:srgbClr val="FFFFFF"/>
                </a:solidFill>
                <a:latin typeface="Arial"/>
                <a:cs typeface="Arial"/>
              </a:rPr>
              <a:t> </a:t>
            </a:r>
            <a:r>
              <a:rPr sz="1800" dirty="0">
                <a:solidFill>
                  <a:srgbClr val="FFFFFF"/>
                </a:solidFill>
                <a:latin typeface="Arial"/>
                <a:cs typeface="Arial"/>
              </a:rPr>
              <a:t>Lively</a:t>
            </a:r>
            <a:r>
              <a:rPr sz="1800" spc="-5" dirty="0">
                <a:solidFill>
                  <a:srgbClr val="FFFFFF"/>
                </a:solidFill>
                <a:latin typeface="Arial"/>
                <a:cs typeface="Arial"/>
              </a:rPr>
              <a:t> </a:t>
            </a:r>
            <a:r>
              <a:rPr sz="1800" i="1" dirty="0">
                <a:solidFill>
                  <a:srgbClr val="FFFFFF"/>
                </a:solidFill>
                <a:latin typeface="Arial"/>
                <a:cs typeface="Arial"/>
              </a:rPr>
              <a:t>Na</a:t>
            </a:r>
            <a:r>
              <a:rPr sz="1800" i="1" spc="-5" dirty="0">
                <a:solidFill>
                  <a:srgbClr val="FFFFFF"/>
                </a:solidFill>
                <a:latin typeface="Arial"/>
                <a:cs typeface="Arial"/>
              </a:rPr>
              <a:t>t</a:t>
            </a:r>
            <a:r>
              <a:rPr sz="1800" i="1" dirty="0">
                <a:solidFill>
                  <a:srgbClr val="FFFFFF"/>
                </a:solidFill>
                <a:latin typeface="Arial"/>
                <a:cs typeface="Arial"/>
              </a:rPr>
              <a:t>ure</a:t>
            </a:r>
            <a:r>
              <a:rPr sz="1800" i="1" spc="-5" dirty="0">
                <a:solidFill>
                  <a:srgbClr val="FFFFFF"/>
                </a:solidFill>
                <a:latin typeface="Arial"/>
                <a:cs typeface="Arial"/>
              </a:rPr>
              <a:t> </a:t>
            </a:r>
            <a:r>
              <a:rPr sz="1800" spc="-5" dirty="0">
                <a:solidFill>
                  <a:srgbClr val="FFFFFF"/>
                </a:solidFill>
                <a:latin typeface="Arial"/>
                <a:cs typeface="Arial"/>
              </a:rPr>
              <a:t>1996</a:t>
            </a:r>
            <a:endParaRPr sz="180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Evolu</a:t>
            </a:r>
            <a:r>
              <a:rPr spc="-15" dirty="0"/>
              <a:t>t</a:t>
            </a:r>
            <a:r>
              <a:rPr dirty="0"/>
              <a:t>ionary</a:t>
            </a:r>
            <a:r>
              <a:rPr spc="-5" dirty="0"/>
              <a:t> </a:t>
            </a:r>
            <a:r>
              <a:rPr spc="-30" dirty="0"/>
              <a:t>G</a:t>
            </a:r>
            <a:r>
              <a:rPr dirty="0"/>
              <a:t>ame</a:t>
            </a:r>
          </a:p>
        </p:txBody>
      </p:sp>
      <p:sp>
        <p:nvSpPr>
          <p:cNvPr id="6" name="object 6"/>
          <p:cNvSpPr/>
          <p:nvPr/>
        </p:nvSpPr>
        <p:spPr>
          <a:xfrm>
            <a:off x="5016908" y="3330985"/>
            <a:ext cx="2664460" cy="1981200"/>
          </a:xfrm>
          <a:custGeom>
            <a:avLst/>
            <a:gdLst/>
            <a:ahLst/>
            <a:cxnLst/>
            <a:rect l="l" t="t" r="r" b="b"/>
            <a:pathLst>
              <a:path w="2664459" h="1981200">
                <a:moveTo>
                  <a:pt x="1332099" y="0"/>
                </a:moveTo>
                <a:lnTo>
                  <a:pt x="2664198" y="1981070"/>
                </a:lnTo>
                <a:lnTo>
                  <a:pt x="0" y="1981070"/>
                </a:lnTo>
                <a:lnTo>
                  <a:pt x="1332099" y="0"/>
                </a:lnTo>
                <a:close/>
              </a:path>
            </a:pathLst>
          </a:custGeom>
          <a:ln w="38100">
            <a:solidFill>
              <a:srgbClr val="000000"/>
            </a:solidFill>
          </a:ln>
        </p:spPr>
        <p:txBody>
          <a:bodyPr wrap="square" lIns="0" tIns="0" rIns="0" bIns="0" rtlCol="0"/>
          <a:lstStyle/>
          <a:p>
            <a:endParaRPr/>
          </a:p>
        </p:txBody>
      </p:sp>
      <p:sp>
        <p:nvSpPr>
          <p:cNvPr id="7" name="object 7"/>
          <p:cNvSpPr txBox="1"/>
          <p:nvPr/>
        </p:nvSpPr>
        <p:spPr>
          <a:xfrm>
            <a:off x="4777813" y="2852796"/>
            <a:ext cx="3142615" cy="336550"/>
          </a:xfrm>
          <a:prstGeom prst="rect">
            <a:avLst/>
          </a:prstGeom>
          <a:solidFill>
            <a:srgbClr val="000000"/>
          </a:solidFill>
        </p:spPr>
        <p:txBody>
          <a:bodyPr vert="horz" wrap="square" lIns="0" tIns="0" rIns="0" bIns="0" rtlCol="0">
            <a:spAutoFit/>
          </a:bodyPr>
          <a:lstStyle/>
          <a:p>
            <a:pPr marL="168910">
              <a:lnSpc>
                <a:spcPct val="100000"/>
              </a:lnSpc>
            </a:pPr>
            <a:r>
              <a:rPr sz="2000" b="1" spc="-15" dirty="0">
                <a:solidFill>
                  <a:srgbClr val="FF9900"/>
                </a:solidFill>
                <a:latin typeface="Arial"/>
                <a:cs typeface="Arial"/>
              </a:rPr>
              <a:t>Large</a:t>
            </a:r>
            <a:r>
              <a:rPr sz="2000" b="1" spc="-5" dirty="0">
                <a:solidFill>
                  <a:srgbClr val="FF9900"/>
                </a:solidFill>
                <a:latin typeface="Arial"/>
                <a:cs typeface="Arial"/>
              </a:rPr>
              <a:t> </a:t>
            </a:r>
            <a:r>
              <a:rPr sz="2000" b="1" spc="-165" dirty="0">
                <a:solidFill>
                  <a:srgbClr val="FF9900"/>
                </a:solidFill>
                <a:latin typeface="Arial"/>
                <a:cs typeface="Arial"/>
              </a:rPr>
              <a:t>T</a:t>
            </a:r>
            <a:r>
              <a:rPr sz="2000" b="1" dirty="0">
                <a:solidFill>
                  <a:srgbClr val="FF9900"/>
                </a:solidFill>
                <a:latin typeface="Arial"/>
                <a:cs typeface="Arial"/>
              </a:rPr>
              <a:t>err</a:t>
            </a:r>
            <a:r>
              <a:rPr sz="2000" b="1" spc="-10" dirty="0">
                <a:solidFill>
                  <a:srgbClr val="FF9900"/>
                </a:solidFill>
                <a:latin typeface="Arial"/>
                <a:cs typeface="Arial"/>
              </a:rPr>
              <a:t>ito</a:t>
            </a:r>
            <a:r>
              <a:rPr sz="2000" b="1" dirty="0">
                <a:solidFill>
                  <a:srgbClr val="FF9900"/>
                </a:solidFill>
                <a:latin typeface="Arial"/>
                <a:cs typeface="Arial"/>
              </a:rPr>
              <a:t>ry</a:t>
            </a:r>
            <a:r>
              <a:rPr sz="2000" b="1" spc="-5" dirty="0">
                <a:solidFill>
                  <a:srgbClr val="FF9900"/>
                </a:solidFill>
                <a:latin typeface="Arial"/>
                <a:cs typeface="Arial"/>
              </a:rPr>
              <a:t> </a:t>
            </a:r>
            <a:r>
              <a:rPr sz="2000" b="1" dirty="0">
                <a:solidFill>
                  <a:srgbClr val="FF9900"/>
                </a:solidFill>
                <a:latin typeface="Arial"/>
                <a:cs typeface="Arial"/>
              </a:rPr>
              <a:t>H</a:t>
            </a:r>
            <a:r>
              <a:rPr sz="2000" b="1" spc="-10" dirty="0">
                <a:solidFill>
                  <a:srgbClr val="FF9900"/>
                </a:solidFill>
                <a:latin typeface="Arial"/>
                <a:cs typeface="Arial"/>
              </a:rPr>
              <a:t>old</a:t>
            </a:r>
            <a:r>
              <a:rPr sz="2000" b="1" dirty="0">
                <a:solidFill>
                  <a:srgbClr val="FF9900"/>
                </a:solidFill>
                <a:latin typeface="Arial"/>
                <a:cs typeface="Arial"/>
              </a:rPr>
              <a:t>ers</a:t>
            </a:r>
            <a:endParaRPr sz="2000">
              <a:latin typeface="Arial"/>
              <a:cs typeface="Arial"/>
            </a:endParaRPr>
          </a:p>
        </p:txBody>
      </p:sp>
      <p:sp>
        <p:nvSpPr>
          <p:cNvPr id="8" name="object 8"/>
          <p:cNvSpPr txBox="1"/>
          <p:nvPr/>
        </p:nvSpPr>
        <p:spPr>
          <a:xfrm>
            <a:off x="6929666" y="5448682"/>
            <a:ext cx="1503045" cy="336550"/>
          </a:xfrm>
          <a:prstGeom prst="rect">
            <a:avLst/>
          </a:prstGeom>
          <a:solidFill>
            <a:srgbClr val="000000"/>
          </a:solidFill>
        </p:spPr>
        <p:txBody>
          <a:bodyPr vert="horz" wrap="square" lIns="0" tIns="0" rIns="0" bIns="0" rtlCol="0">
            <a:spAutoFit/>
          </a:bodyPr>
          <a:lstStyle/>
          <a:p>
            <a:pPr marL="186055">
              <a:lnSpc>
                <a:spcPct val="100000"/>
              </a:lnSpc>
            </a:pPr>
            <a:r>
              <a:rPr sz="2000" b="1" spc="-15" dirty="0">
                <a:solidFill>
                  <a:srgbClr val="FFFF00"/>
                </a:solidFill>
                <a:latin typeface="Arial"/>
                <a:cs typeface="Arial"/>
              </a:rPr>
              <a:t>Sneakers</a:t>
            </a:r>
            <a:endParaRPr sz="2000">
              <a:latin typeface="Arial"/>
              <a:cs typeface="Arial"/>
            </a:endParaRPr>
          </a:p>
        </p:txBody>
      </p:sp>
      <p:sp>
        <p:nvSpPr>
          <p:cNvPr id="9" name="object 9"/>
          <p:cNvSpPr txBox="1"/>
          <p:nvPr/>
        </p:nvSpPr>
        <p:spPr>
          <a:xfrm>
            <a:off x="4197155" y="5448682"/>
            <a:ext cx="1571625" cy="336550"/>
          </a:xfrm>
          <a:prstGeom prst="rect">
            <a:avLst/>
          </a:prstGeom>
          <a:solidFill>
            <a:srgbClr val="000000"/>
          </a:solidFill>
        </p:spPr>
        <p:txBody>
          <a:bodyPr vert="horz" wrap="square" lIns="0" tIns="0" rIns="0" bIns="0" rtlCol="0">
            <a:spAutoFit/>
          </a:bodyPr>
          <a:lstStyle/>
          <a:p>
            <a:pPr marL="164465">
              <a:lnSpc>
                <a:spcPct val="100000"/>
              </a:lnSpc>
            </a:pPr>
            <a:r>
              <a:rPr sz="2000" b="1" dirty="0">
                <a:solidFill>
                  <a:srgbClr val="669999"/>
                </a:solidFill>
                <a:latin typeface="Arial"/>
                <a:cs typeface="Arial"/>
              </a:rPr>
              <a:t>Defe</a:t>
            </a:r>
            <a:r>
              <a:rPr sz="2000" b="1" spc="-15" dirty="0">
                <a:solidFill>
                  <a:srgbClr val="669999"/>
                </a:solidFill>
                <a:latin typeface="Arial"/>
                <a:cs typeface="Arial"/>
              </a:rPr>
              <a:t>nders</a:t>
            </a:r>
            <a:endParaRPr sz="2000">
              <a:latin typeface="Arial"/>
              <a:cs typeface="Arial"/>
            </a:endParaRPr>
          </a:p>
        </p:txBody>
      </p:sp>
      <p:sp>
        <p:nvSpPr>
          <p:cNvPr id="10" name="object 10"/>
          <p:cNvSpPr/>
          <p:nvPr/>
        </p:nvSpPr>
        <p:spPr>
          <a:xfrm>
            <a:off x="6793040" y="4060026"/>
            <a:ext cx="137160" cy="0"/>
          </a:xfrm>
          <a:custGeom>
            <a:avLst/>
            <a:gdLst/>
            <a:ahLst/>
            <a:cxnLst/>
            <a:rect l="l" t="t" r="r" b="b"/>
            <a:pathLst>
              <a:path w="137159">
                <a:moveTo>
                  <a:pt x="0" y="0"/>
                </a:moveTo>
                <a:lnTo>
                  <a:pt x="137070" y="0"/>
                </a:lnTo>
              </a:path>
            </a:pathLst>
          </a:custGeom>
          <a:ln w="228451">
            <a:solidFill>
              <a:srgbClr val="000000"/>
            </a:solidFill>
          </a:ln>
        </p:spPr>
        <p:txBody>
          <a:bodyPr wrap="square" lIns="0" tIns="0" rIns="0" bIns="0" rtlCol="0"/>
          <a:lstStyle/>
          <a:p>
            <a:endParaRPr/>
          </a:p>
        </p:txBody>
      </p:sp>
      <p:sp>
        <p:nvSpPr>
          <p:cNvPr id="11" name="object 11"/>
          <p:cNvSpPr/>
          <p:nvPr/>
        </p:nvSpPr>
        <p:spPr>
          <a:xfrm>
            <a:off x="6877547" y="4145037"/>
            <a:ext cx="120650" cy="142875"/>
          </a:xfrm>
          <a:custGeom>
            <a:avLst/>
            <a:gdLst/>
            <a:ahLst/>
            <a:cxnLst/>
            <a:rect l="l" t="t" r="r" b="b"/>
            <a:pathLst>
              <a:path w="120650" h="142875">
                <a:moveTo>
                  <a:pt x="109482" y="0"/>
                </a:moveTo>
                <a:lnTo>
                  <a:pt x="0" y="65689"/>
                </a:lnTo>
                <a:lnTo>
                  <a:pt x="120431" y="142327"/>
                </a:lnTo>
                <a:lnTo>
                  <a:pt x="109482" y="0"/>
                </a:lnTo>
                <a:close/>
              </a:path>
            </a:pathLst>
          </a:custGeom>
          <a:solidFill>
            <a:srgbClr val="000000"/>
          </a:solidFill>
        </p:spPr>
        <p:txBody>
          <a:bodyPr wrap="square" lIns="0" tIns="0" rIns="0" bIns="0" rtlCol="0"/>
          <a:lstStyle/>
          <a:p>
            <a:endParaRPr/>
          </a:p>
        </p:txBody>
      </p:sp>
      <p:sp>
        <p:nvSpPr>
          <p:cNvPr id="12" name="object 12"/>
          <p:cNvSpPr/>
          <p:nvPr/>
        </p:nvSpPr>
        <p:spPr>
          <a:xfrm>
            <a:off x="6446761" y="5312056"/>
            <a:ext cx="278130" cy="0"/>
          </a:xfrm>
          <a:custGeom>
            <a:avLst/>
            <a:gdLst/>
            <a:ahLst/>
            <a:cxnLst/>
            <a:rect l="l" t="t" r="r" b="b"/>
            <a:pathLst>
              <a:path w="278129">
                <a:moveTo>
                  <a:pt x="277965" y="0"/>
                </a:moveTo>
                <a:lnTo>
                  <a:pt x="9525" y="0"/>
                </a:lnTo>
                <a:lnTo>
                  <a:pt x="0" y="0"/>
                </a:lnTo>
              </a:path>
            </a:pathLst>
          </a:custGeom>
          <a:ln w="19050">
            <a:solidFill>
              <a:srgbClr val="000000"/>
            </a:solidFill>
          </a:ln>
        </p:spPr>
        <p:txBody>
          <a:bodyPr wrap="square" lIns="0" tIns="0" rIns="0" bIns="0" rtlCol="0"/>
          <a:lstStyle/>
          <a:p>
            <a:endParaRPr/>
          </a:p>
        </p:txBody>
      </p:sp>
      <p:sp>
        <p:nvSpPr>
          <p:cNvPr id="13" name="object 13"/>
          <p:cNvSpPr/>
          <p:nvPr/>
        </p:nvSpPr>
        <p:spPr>
          <a:xfrm>
            <a:off x="6314851" y="5248218"/>
            <a:ext cx="128270" cy="128270"/>
          </a:xfrm>
          <a:custGeom>
            <a:avLst/>
            <a:gdLst/>
            <a:ahLst/>
            <a:cxnLst/>
            <a:rect l="l" t="t" r="r" b="b"/>
            <a:pathLst>
              <a:path w="128270" h="128270">
                <a:moveTo>
                  <a:pt x="127676" y="0"/>
                </a:moveTo>
                <a:lnTo>
                  <a:pt x="0" y="63839"/>
                </a:lnTo>
                <a:lnTo>
                  <a:pt x="127676" y="127676"/>
                </a:lnTo>
                <a:lnTo>
                  <a:pt x="127676" y="0"/>
                </a:lnTo>
                <a:close/>
              </a:path>
            </a:pathLst>
          </a:custGeom>
          <a:solidFill>
            <a:srgbClr val="000000"/>
          </a:solidFill>
        </p:spPr>
        <p:txBody>
          <a:bodyPr wrap="square" lIns="0" tIns="0" rIns="0" bIns="0" rtlCol="0"/>
          <a:lstStyle/>
          <a:p>
            <a:endParaRPr/>
          </a:p>
        </p:txBody>
      </p:sp>
      <p:sp>
        <p:nvSpPr>
          <p:cNvPr id="14" name="object 14"/>
          <p:cNvSpPr/>
          <p:nvPr/>
        </p:nvSpPr>
        <p:spPr>
          <a:xfrm>
            <a:off x="5563410" y="4373022"/>
            <a:ext cx="191135" cy="0"/>
          </a:xfrm>
          <a:custGeom>
            <a:avLst/>
            <a:gdLst/>
            <a:ahLst/>
            <a:cxnLst/>
            <a:rect l="l" t="t" r="r" b="b"/>
            <a:pathLst>
              <a:path w="191135">
                <a:moveTo>
                  <a:pt x="0" y="0"/>
                </a:moveTo>
                <a:lnTo>
                  <a:pt x="190847" y="0"/>
                </a:lnTo>
              </a:path>
            </a:pathLst>
          </a:custGeom>
          <a:ln w="238558">
            <a:solidFill>
              <a:srgbClr val="000000"/>
            </a:solidFill>
          </a:ln>
        </p:spPr>
        <p:txBody>
          <a:bodyPr wrap="square" lIns="0" tIns="0" rIns="0" bIns="0" rtlCol="0"/>
          <a:lstStyle/>
          <a:p>
            <a:endParaRPr/>
          </a:p>
        </p:txBody>
      </p:sp>
      <p:sp>
        <p:nvSpPr>
          <p:cNvPr id="15" name="object 15"/>
          <p:cNvSpPr/>
          <p:nvPr/>
        </p:nvSpPr>
        <p:spPr>
          <a:xfrm>
            <a:off x="5707052" y="4150739"/>
            <a:ext cx="130175" cy="139700"/>
          </a:xfrm>
          <a:custGeom>
            <a:avLst/>
            <a:gdLst/>
            <a:ahLst/>
            <a:cxnLst/>
            <a:rect l="l" t="t" r="r" b="b"/>
            <a:pathLst>
              <a:path w="130175" h="139700">
                <a:moveTo>
                  <a:pt x="129609" y="0"/>
                </a:moveTo>
                <a:lnTo>
                  <a:pt x="0" y="59819"/>
                </a:lnTo>
                <a:lnTo>
                  <a:pt x="99700" y="139578"/>
                </a:lnTo>
                <a:lnTo>
                  <a:pt x="129609" y="0"/>
                </a:lnTo>
                <a:close/>
              </a:path>
            </a:pathLst>
          </a:custGeom>
          <a:solidFill>
            <a:srgbClr val="000000"/>
          </a:solidFill>
        </p:spPr>
        <p:txBody>
          <a:bodyPr wrap="square" lIns="0" tIns="0" rIns="0" bIns="0" rtlCol="0"/>
          <a:lstStyle/>
          <a:p>
            <a:endParaRPr/>
          </a:p>
        </p:txBody>
      </p:sp>
      <p:sp>
        <p:nvSpPr>
          <p:cNvPr id="16" name="object 16"/>
          <p:cNvSpPr/>
          <p:nvPr/>
        </p:nvSpPr>
        <p:spPr>
          <a:xfrm>
            <a:off x="5904974" y="4150739"/>
            <a:ext cx="956944" cy="888365"/>
          </a:xfrm>
          <a:custGeom>
            <a:avLst/>
            <a:gdLst/>
            <a:ahLst/>
            <a:cxnLst/>
            <a:rect l="l" t="t" r="r" b="b"/>
            <a:pathLst>
              <a:path w="956945" h="888364">
                <a:moveTo>
                  <a:pt x="816320" y="130054"/>
                </a:moveTo>
                <a:lnTo>
                  <a:pt x="866741" y="185092"/>
                </a:lnTo>
                <a:lnTo>
                  <a:pt x="905957" y="245302"/>
                </a:lnTo>
                <a:lnTo>
                  <a:pt x="933969" y="309391"/>
                </a:lnTo>
                <a:lnTo>
                  <a:pt x="950776" y="376065"/>
                </a:lnTo>
                <a:lnTo>
                  <a:pt x="956378" y="444033"/>
                </a:lnTo>
                <a:lnTo>
                  <a:pt x="954978" y="478097"/>
                </a:lnTo>
                <a:lnTo>
                  <a:pt x="943773" y="545579"/>
                </a:lnTo>
                <a:lnTo>
                  <a:pt x="921364" y="611123"/>
                </a:lnTo>
                <a:lnTo>
                  <a:pt x="887750" y="673434"/>
                </a:lnTo>
                <a:lnTo>
                  <a:pt x="842931" y="731219"/>
                </a:lnTo>
                <a:lnTo>
                  <a:pt x="787467" y="782722"/>
                </a:lnTo>
                <a:lnTo>
                  <a:pt x="725236" y="824339"/>
                </a:lnTo>
                <a:lnTo>
                  <a:pt x="658132" y="855552"/>
                </a:lnTo>
                <a:lnTo>
                  <a:pt x="587547" y="876361"/>
                </a:lnTo>
                <a:lnTo>
                  <a:pt x="514874" y="886765"/>
                </a:lnTo>
                <a:lnTo>
                  <a:pt x="478189" y="888066"/>
                </a:lnTo>
                <a:lnTo>
                  <a:pt x="441504" y="886765"/>
                </a:lnTo>
                <a:lnTo>
                  <a:pt x="368831" y="876361"/>
                </a:lnTo>
                <a:lnTo>
                  <a:pt x="298246" y="855552"/>
                </a:lnTo>
                <a:lnTo>
                  <a:pt x="231142" y="824339"/>
                </a:lnTo>
                <a:lnTo>
                  <a:pt x="168911" y="782722"/>
                </a:lnTo>
                <a:lnTo>
                  <a:pt x="113447" y="731219"/>
                </a:lnTo>
                <a:lnTo>
                  <a:pt x="68628" y="673434"/>
                </a:lnTo>
                <a:lnTo>
                  <a:pt x="35014" y="611123"/>
                </a:lnTo>
                <a:lnTo>
                  <a:pt x="12605" y="545579"/>
                </a:lnTo>
                <a:lnTo>
                  <a:pt x="1400" y="478097"/>
                </a:lnTo>
                <a:lnTo>
                  <a:pt x="0" y="444033"/>
                </a:lnTo>
                <a:lnTo>
                  <a:pt x="1400" y="409968"/>
                </a:lnTo>
                <a:lnTo>
                  <a:pt x="12605" y="342486"/>
                </a:lnTo>
                <a:lnTo>
                  <a:pt x="35014" y="276942"/>
                </a:lnTo>
                <a:lnTo>
                  <a:pt x="68628" y="214632"/>
                </a:lnTo>
                <a:lnTo>
                  <a:pt x="113447" y="156846"/>
                </a:lnTo>
                <a:lnTo>
                  <a:pt x="168911" y="105343"/>
                </a:lnTo>
                <a:lnTo>
                  <a:pt x="231142" y="63726"/>
                </a:lnTo>
                <a:lnTo>
                  <a:pt x="298246" y="32513"/>
                </a:lnTo>
                <a:lnTo>
                  <a:pt x="368831" y="11704"/>
                </a:lnTo>
                <a:lnTo>
                  <a:pt x="441504" y="1300"/>
                </a:lnTo>
                <a:lnTo>
                  <a:pt x="478189" y="0"/>
                </a:lnTo>
                <a:lnTo>
                  <a:pt x="514874" y="1300"/>
                </a:lnTo>
                <a:lnTo>
                  <a:pt x="587547" y="11704"/>
                </a:lnTo>
                <a:lnTo>
                  <a:pt x="658132" y="32513"/>
                </a:lnTo>
                <a:lnTo>
                  <a:pt x="725236" y="63726"/>
                </a:lnTo>
                <a:lnTo>
                  <a:pt x="787467" y="105343"/>
                </a:lnTo>
                <a:lnTo>
                  <a:pt x="816320" y="130054"/>
                </a:lnTo>
                <a:close/>
              </a:path>
            </a:pathLst>
          </a:custGeom>
          <a:ln w="19050">
            <a:solidFill>
              <a:srgbClr val="000000"/>
            </a:solidFill>
          </a:ln>
        </p:spPr>
        <p:txBody>
          <a:bodyPr wrap="square" lIns="0" tIns="0" rIns="0" bIns="0" rtlCol="0"/>
          <a:lstStyle/>
          <a:p>
            <a:endParaRPr/>
          </a:p>
        </p:txBody>
      </p:sp>
      <p:sp>
        <p:nvSpPr>
          <p:cNvPr id="17" name="object 17"/>
          <p:cNvSpPr/>
          <p:nvPr/>
        </p:nvSpPr>
        <p:spPr>
          <a:xfrm>
            <a:off x="6246538" y="5038804"/>
            <a:ext cx="137160" cy="0"/>
          </a:xfrm>
          <a:custGeom>
            <a:avLst/>
            <a:gdLst/>
            <a:ahLst/>
            <a:cxnLst/>
            <a:rect l="l" t="t" r="r" b="b"/>
            <a:pathLst>
              <a:path w="137160">
                <a:moveTo>
                  <a:pt x="136625" y="0"/>
                </a:moveTo>
                <a:lnTo>
                  <a:pt x="0" y="0"/>
                </a:lnTo>
                <a:lnTo>
                  <a:pt x="131910" y="0"/>
                </a:lnTo>
              </a:path>
            </a:pathLst>
          </a:custGeom>
          <a:ln w="19050">
            <a:solidFill>
              <a:srgbClr val="000000"/>
            </a:solidFill>
          </a:ln>
        </p:spPr>
        <p:txBody>
          <a:bodyPr wrap="square" lIns="0" tIns="0" rIns="0" bIns="0" rtlCol="0"/>
          <a:lstStyle/>
          <a:p>
            <a:endParaRPr/>
          </a:p>
        </p:txBody>
      </p:sp>
      <p:sp>
        <p:nvSpPr>
          <p:cNvPr id="18" name="object 18"/>
          <p:cNvSpPr/>
          <p:nvPr/>
        </p:nvSpPr>
        <p:spPr>
          <a:xfrm>
            <a:off x="6246538" y="4974967"/>
            <a:ext cx="128270" cy="128270"/>
          </a:xfrm>
          <a:custGeom>
            <a:avLst/>
            <a:gdLst/>
            <a:ahLst/>
            <a:cxnLst/>
            <a:rect l="l" t="t" r="r" b="b"/>
            <a:pathLst>
              <a:path w="128270" h="128270">
                <a:moveTo>
                  <a:pt x="127678" y="0"/>
                </a:moveTo>
                <a:lnTo>
                  <a:pt x="0" y="63837"/>
                </a:lnTo>
                <a:lnTo>
                  <a:pt x="127678" y="127676"/>
                </a:lnTo>
                <a:lnTo>
                  <a:pt x="127678" y="0"/>
                </a:lnTo>
                <a:close/>
              </a:path>
            </a:pathLst>
          </a:custGeom>
          <a:solidFill>
            <a:srgbClr val="000000"/>
          </a:solidFill>
        </p:spPr>
        <p:txBody>
          <a:bodyPr wrap="square" lIns="0" tIns="0" rIns="0" bIns="0" rtlCol="0"/>
          <a:lstStyle/>
          <a:p>
            <a:endParaRPr/>
          </a:p>
        </p:txBody>
      </p:sp>
      <p:sp>
        <p:nvSpPr>
          <p:cNvPr id="19" name="object 19"/>
          <p:cNvSpPr/>
          <p:nvPr/>
        </p:nvSpPr>
        <p:spPr>
          <a:xfrm>
            <a:off x="6310041" y="4150739"/>
            <a:ext cx="9525" cy="0"/>
          </a:xfrm>
          <a:custGeom>
            <a:avLst/>
            <a:gdLst/>
            <a:ahLst/>
            <a:cxnLst/>
            <a:rect l="l" t="t" r="r" b="b"/>
            <a:pathLst>
              <a:path w="9525">
                <a:moveTo>
                  <a:pt x="9524" y="0"/>
                </a:moveTo>
                <a:lnTo>
                  <a:pt x="0" y="0"/>
                </a:lnTo>
              </a:path>
            </a:pathLst>
          </a:custGeom>
          <a:ln w="19050">
            <a:solidFill>
              <a:srgbClr val="000000"/>
            </a:solidFill>
          </a:ln>
        </p:spPr>
        <p:txBody>
          <a:bodyPr wrap="square" lIns="0" tIns="0" rIns="0" bIns="0" rtlCol="0"/>
          <a:lstStyle/>
          <a:p>
            <a:endParaRPr/>
          </a:p>
        </p:txBody>
      </p:sp>
      <p:sp>
        <p:nvSpPr>
          <p:cNvPr id="20" name="object 20"/>
          <p:cNvSpPr/>
          <p:nvPr/>
        </p:nvSpPr>
        <p:spPr>
          <a:xfrm>
            <a:off x="6314851" y="4150739"/>
            <a:ext cx="137160" cy="0"/>
          </a:xfrm>
          <a:custGeom>
            <a:avLst/>
            <a:gdLst/>
            <a:ahLst/>
            <a:cxnLst/>
            <a:rect l="l" t="t" r="r" b="b"/>
            <a:pathLst>
              <a:path w="137160">
                <a:moveTo>
                  <a:pt x="136625" y="0"/>
                </a:moveTo>
                <a:lnTo>
                  <a:pt x="0" y="0"/>
                </a:lnTo>
              </a:path>
            </a:pathLst>
          </a:custGeom>
          <a:ln w="19050">
            <a:solidFill>
              <a:srgbClr val="000000"/>
            </a:solidFill>
          </a:ln>
        </p:spPr>
        <p:txBody>
          <a:bodyPr wrap="square" lIns="0" tIns="0" rIns="0" bIns="0" rtlCol="0"/>
          <a:lstStyle/>
          <a:p>
            <a:endParaRPr/>
          </a:p>
        </p:txBody>
      </p:sp>
      <p:sp>
        <p:nvSpPr>
          <p:cNvPr id="21" name="object 21"/>
          <p:cNvSpPr/>
          <p:nvPr/>
        </p:nvSpPr>
        <p:spPr>
          <a:xfrm>
            <a:off x="6323800" y="4086900"/>
            <a:ext cx="128270" cy="128270"/>
          </a:xfrm>
          <a:custGeom>
            <a:avLst/>
            <a:gdLst/>
            <a:ahLst/>
            <a:cxnLst/>
            <a:rect l="l" t="t" r="r" b="b"/>
            <a:pathLst>
              <a:path w="128270" h="128270">
                <a:moveTo>
                  <a:pt x="0" y="0"/>
                </a:moveTo>
                <a:lnTo>
                  <a:pt x="0" y="127676"/>
                </a:lnTo>
                <a:lnTo>
                  <a:pt x="127676" y="63839"/>
                </a:lnTo>
                <a:lnTo>
                  <a:pt x="0" y="0"/>
                </a:lnTo>
                <a:close/>
              </a:path>
            </a:pathLst>
          </a:custGeom>
          <a:solidFill>
            <a:srgbClr val="000000"/>
          </a:solidFill>
        </p:spPr>
        <p:txBody>
          <a:bodyPr wrap="square" lIns="0" tIns="0" rIns="0" bIns="0" rtlCol="0"/>
          <a:lstStyle/>
          <a:p>
            <a:endParaRPr/>
          </a:p>
        </p:txBody>
      </p:sp>
      <p:sp>
        <p:nvSpPr>
          <p:cNvPr id="22" name="object 22"/>
          <p:cNvSpPr txBox="1"/>
          <p:nvPr/>
        </p:nvSpPr>
        <p:spPr>
          <a:xfrm>
            <a:off x="395977" y="1526462"/>
            <a:ext cx="8086090" cy="1104900"/>
          </a:xfrm>
          <a:prstGeom prst="rect">
            <a:avLst/>
          </a:prstGeom>
        </p:spPr>
        <p:txBody>
          <a:bodyPr vert="horz" wrap="square" lIns="0" tIns="0" rIns="0" bIns="0" rtlCol="0">
            <a:spAutoFit/>
          </a:bodyPr>
          <a:lstStyle/>
          <a:p>
            <a:pPr marL="12700">
              <a:lnSpc>
                <a:spcPts val="2240"/>
              </a:lnSpc>
            </a:pPr>
            <a:r>
              <a:rPr sz="1900" b="1" spc="-15" dirty="0">
                <a:latin typeface="Arial"/>
                <a:cs typeface="Arial"/>
              </a:rPr>
              <a:t>Orange</a:t>
            </a:r>
            <a:r>
              <a:rPr sz="1900" b="1" spc="-5" dirty="0">
                <a:latin typeface="Arial"/>
                <a:cs typeface="Arial"/>
              </a:rPr>
              <a:t> </a:t>
            </a:r>
            <a:r>
              <a:rPr sz="1900" b="1" spc="-10" dirty="0">
                <a:latin typeface="Arial"/>
                <a:cs typeface="Arial"/>
              </a:rPr>
              <a:t>th</a:t>
            </a:r>
            <a:r>
              <a:rPr sz="1900" b="1" dirty="0">
                <a:latin typeface="Arial"/>
                <a:cs typeface="Arial"/>
              </a:rPr>
              <a:t>r</a:t>
            </a:r>
            <a:r>
              <a:rPr sz="1900" b="1" spc="-15" dirty="0">
                <a:latin typeface="Arial"/>
                <a:cs typeface="Arial"/>
              </a:rPr>
              <a:t>o</a:t>
            </a:r>
            <a:r>
              <a:rPr sz="1900" b="1" dirty="0">
                <a:latin typeface="Arial"/>
                <a:cs typeface="Arial"/>
              </a:rPr>
              <a:t>ate</a:t>
            </a:r>
            <a:r>
              <a:rPr sz="1900" b="1" spc="-15" dirty="0">
                <a:latin typeface="Arial"/>
                <a:cs typeface="Arial"/>
              </a:rPr>
              <a:t>d</a:t>
            </a:r>
            <a:r>
              <a:rPr sz="1900" b="1" spc="-5" dirty="0">
                <a:latin typeface="Arial"/>
                <a:cs typeface="Arial"/>
              </a:rPr>
              <a:t> </a:t>
            </a:r>
            <a:r>
              <a:rPr sz="1900" b="1" dirty="0">
                <a:latin typeface="Arial"/>
                <a:cs typeface="Arial"/>
              </a:rPr>
              <a:t>ma</a:t>
            </a:r>
            <a:r>
              <a:rPr sz="1900" b="1" spc="-10" dirty="0">
                <a:latin typeface="Arial"/>
                <a:cs typeface="Arial"/>
              </a:rPr>
              <a:t>l</a:t>
            </a:r>
            <a:r>
              <a:rPr sz="1900" b="1" dirty="0">
                <a:latin typeface="Arial"/>
                <a:cs typeface="Arial"/>
              </a:rPr>
              <a:t>e</a:t>
            </a:r>
            <a:r>
              <a:rPr sz="1900" b="1" spc="-5" dirty="0">
                <a:latin typeface="Arial"/>
                <a:cs typeface="Arial"/>
              </a:rPr>
              <a:t>s</a:t>
            </a:r>
            <a:r>
              <a:rPr sz="1900" spc="-10" dirty="0">
                <a:latin typeface="Arial"/>
                <a:cs typeface="Arial"/>
              </a:rPr>
              <a:t>:</a:t>
            </a:r>
            <a:r>
              <a:rPr sz="1900" spc="-5" dirty="0">
                <a:latin typeface="Arial"/>
                <a:cs typeface="Arial"/>
              </a:rPr>
              <a:t> </a:t>
            </a:r>
            <a:r>
              <a:rPr sz="1900" dirty="0">
                <a:latin typeface="Arial"/>
                <a:cs typeface="Arial"/>
              </a:rPr>
              <a:t>loosely</a:t>
            </a:r>
            <a:r>
              <a:rPr sz="1900" spc="-5" dirty="0">
                <a:latin typeface="Arial"/>
                <a:cs typeface="Arial"/>
              </a:rPr>
              <a:t> </a:t>
            </a:r>
            <a:r>
              <a:rPr sz="1900" dirty="0">
                <a:latin typeface="Arial"/>
                <a:cs typeface="Arial"/>
              </a:rPr>
              <a:t>de</a:t>
            </a:r>
            <a:r>
              <a:rPr sz="1900" spc="-10" dirty="0">
                <a:latin typeface="Arial"/>
                <a:cs typeface="Arial"/>
              </a:rPr>
              <a:t>f</a:t>
            </a:r>
            <a:r>
              <a:rPr sz="1900" dirty="0">
                <a:latin typeface="Arial"/>
                <a:cs typeface="Arial"/>
              </a:rPr>
              <a:t>end</a:t>
            </a:r>
            <a:r>
              <a:rPr sz="1900" spc="-5" dirty="0">
                <a:latin typeface="Arial"/>
                <a:cs typeface="Arial"/>
              </a:rPr>
              <a:t> </a:t>
            </a:r>
            <a:r>
              <a:rPr sz="1900" dirty="0">
                <a:latin typeface="Arial"/>
                <a:cs typeface="Arial"/>
              </a:rPr>
              <a:t>large</a:t>
            </a:r>
            <a:r>
              <a:rPr sz="1900" spc="-5" dirty="0">
                <a:latin typeface="Arial"/>
                <a:cs typeface="Arial"/>
              </a:rPr>
              <a:t> </a:t>
            </a:r>
            <a:r>
              <a:rPr sz="1900" spc="-10" dirty="0">
                <a:latin typeface="Arial"/>
                <a:cs typeface="Arial"/>
              </a:rPr>
              <a:t>t</a:t>
            </a:r>
            <a:r>
              <a:rPr sz="1900" dirty="0">
                <a:latin typeface="Arial"/>
                <a:cs typeface="Arial"/>
              </a:rPr>
              <a:t>erri</a:t>
            </a:r>
            <a:r>
              <a:rPr sz="1900" spc="-10" dirty="0">
                <a:latin typeface="Arial"/>
                <a:cs typeface="Arial"/>
              </a:rPr>
              <a:t>t</a:t>
            </a:r>
            <a:r>
              <a:rPr sz="1900" dirty="0">
                <a:latin typeface="Arial"/>
                <a:cs typeface="Arial"/>
              </a:rPr>
              <a:t>ory</a:t>
            </a:r>
            <a:r>
              <a:rPr sz="1900" spc="-5" dirty="0">
                <a:latin typeface="Arial"/>
                <a:cs typeface="Arial"/>
              </a:rPr>
              <a:t> </a:t>
            </a:r>
            <a:r>
              <a:rPr sz="1900" dirty="0">
                <a:latin typeface="Arial"/>
                <a:cs typeface="Arial"/>
              </a:rPr>
              <a:t>wi</a:t>
            </a:r>
            <a:r>
              <a:rPr sz="1900" spc="-10" dirty="0">
                <a:latin typeface="Arial"/>
                <a:cs typeface="Arial"/>
              </a:rPr>
              <a:t>t</a:t>
            </a:r>
            <a:r>
              <a:rPr sz="1900" dirty="0">
                <a:latin typeface="Arial"/>
                <a:cs typeface="Arial"/>
              </a:rPr>
              <a:t>h</a:t>
            </a:r>
            <a:r>
              <a:rPr sz="1900" spc="-5" dirty="0">
                <a:latin typeface="Arial"/>
                <a:cs typeface="Arial"/>
              </a:rPr>
              <a:t> </a:t>
            </a:r>
            <a:r>
              <a:rPr sz="1900" dirty="0">
                <a:latin typeface="Arial"/>
                <a:cs typeface="Arial"/>
              </a:rPr>
              <a:t>several</a:t>
            </a:r>
            <a:r>
              <a:rPr sz="1900" spc="-5" dirty="0">
                <a:latin typeface="Arial"/>
                <a:cs typeface="Arial"/>
              </a:rPr>
              <a:t> </a:t>
            </a:r>
            <a:r>
              <a:rPr sz="1900" spc="-10" dirty="0">
                <a:latin typeface="Arial"/>
                <a:cs typeface="Arial"/>
              </a:rPr>
              <a:t>f</a:t>
            </a:r>
            <a:r>
              <a:rPr sz="1900" dirty="0">
                <a:latin typeface="Arial"/>
                <a:cs typeface="Arial"/>
              </a:rPr>
              <a:t>emales</a:t>
            </a:r>
          </a:p>
          <a:p>
            <a:pPr marL="12700">
              <a:lnSpc>
                <a:spcPts val="2200"/>
              </a:lnSpc>
            </a:pPr>
            <a:r>
              <a:rPr sz="1900" b="1" spc="-120" dirty="0">
                <a:latin typeface="Arial"/>
                <a:cs typeface="Arial"/>
              </a:rPr>
              <a:t>Y</a:t>
            </a:r>
            <a:r>
              <a:rPr sz="1900" b="1" dirty="0">
                <a:latin typeface="Arial"/>
                <a:cs typeface="Arial"/>
              </a:rPr>
              <a:t>e</a:t>
            </a:r>
            <a:r>
              <a:rPr sz="1900" b="1" spc="-10" dirty="0">
                <a:latin typeface="Arial"/>
                <a:cs typeface="Arial"/>
              </a:rPr>
              <a:t>llow</a:t>
            </a:r>
            <a:r>
              <a:rPr sz="1900" b="1" spc="-5" dirty="0">
                <a:latin typeface="Arial"/>
                <a:cs typeface="Arial"/>
              </a:rPr>
              <a:t> </a:t>
            </a:r>
            <a:r>
              <a:rPr sz="1900" b="1" dirty="0">
                <a:latin typeface="Arial"/>
                <a:cs typeface="Arial"/>
              </a:rPr>
              <a:t>str</a:t>
            </a:r>
            <a:r>
              <a:rPr sz="1900" b="1" spc="-10" dirty="0">
                <a:latin typeface="Arial"/>
                <a:cs typeface="Arial"/>
              </a:rPr>
              <a:t>ip</a:t>
            </a:r>
            <a:r>
              <a:rPr sz="1900" b="1" dirty="0">
                <a:latin typeface="Arial"/>
                <a:cs typeface="Arial"/>
              </a:rPr>
              <a:t>e</a:t>
            </a:r>
            <a:r>
              <a:rPr sz="1900" b="1" spc="-15" dirty="0">
                <a:latin typeface="Arial"/>
                <a:cs typeface="Arial"/>
              </a:rPr>
              <a:t>d</a:t>
            </a:r>
            <a:r>
              <a:rPr sz="1900" b="1" spc="-5" dirty="0">
                <a:latin typeface="Arial"/>
                <a:cs typeface="Arial"/>
              </a:rPr>
              <a:t> </a:t>
            </a:r>
            <a:r>
              <a:rPr sz="1900" b="1" dirty="0">
                <a:latin typeface="Arial"/>
                <a:cs typeface="Arial"/>
              </a:rPr>
              <a:t>ma</a:t>
            </a:r>
            <a:r>
              <a:rPr sz="1900" b="1" spc="-10" dirty="0">
                <a:latin typeface="Arial"/>
                <a:cs typeface="Arial"/>
              </a:rPr>
              <a:t>l</a:t>
            </a:r>
            <a:r>
              <a:rPr sz="1900" b="1" dirty="0">
                <a:latin typeface="Arial"/>
                <a:cs typeface="Arial"/>
              </a:rPr>
              <a:t>es</a:t>
            </a:r>
            <a:r>
              <a:rPr sz="1900" spc="-10" dirty="0">
                <a:latin typeface="Arial"/>
                <a:cs typeface="Arial"/>
              </a:rPr>
              <a:t>:</a:t>
            </a:r>
            <a:r>
              <a:rPr sz="1900" spc="-5" dirty="0">
                <a:latin typeface="Arial"/>
                <a:cs typeface="Arial"/>
              </a:rPr>
              <a:t> </a:t>
            </a:r>
            <a:r>
              <a:rPr sz="1900" dirty="0">
                <a:latin typeface="Arial"/>
                <a:cs typeface="Arial"/>
              </a:rPr>
              <a:t>mimic</a:t>
            </a:r>
            <a:r>
              <a:rPr sz="1900" spc="-5" dirty="0">
                <a:latin typeface="Arial"/>
                <a:cs typeface="Arial"/>
              </a:rPr>
              <a:t> </a:t>
            </a:r>
            <a:r>
              <a:rPr sz="1900" spc="-10" dirty="0">
                <a:latin typeface="Arial"/>
                <a:cs typeface="Arial"/>
              </a:rPr>
              <a:t>f</a:t>
            </a:r>
            <a:r>
              <a:rPr sz="1900" dirty="0">
                <a:latin typeface="Arial"/>
                <a:cs typeface="Arial"/>
              </a:rPr>
              <a:t>emale</a:t>
            </a:r>
            <a:r>
              <a:rPr sz="1900" spc="-10" dirty="0">
                <a:latin typeface="Arial"/>
                <a:cs typeface="Arial"/>
              </a:rPr>
              <a:t>s,</a:t>
            </a:r>
            <a:r>
              <a:rPr sz="1900" spc="-5" dirty="0">
                <a:latin typeface="Arial"/>
                <a:cs typeface="Arial"/>
              </a:rPr>
              <a:t> </a:t>
            </a:r>
            <a:r>
              <a:rPr sz="1900" dirty="0">
                <a:latin typeface="Arial"/>
                <a:cs typeface="Arial"/>
              </a:rPr>
              <a:t>can</a:t>
            </a:r>
            <a:r>
              <a:rPr sz="1900" spc="-5" dirty="0">
                <a:latin typeface="Arial"/>
                <a:cs typeface="Arial"/>
              </a:rPr>
              <a:t> </a:t>
            </a:r>
            <a:r>
              <a:rPr sz="1900" dirty="0">
                <a:latin typeface="Arial"/>
                <a:cs typeface="Arial"/>
              </a:rPr>
              <a:t>sneak</a:t>
            </a:r>
            <a:r>
              <a:rPr sz="1900" spc="-5" dirty="0">
                <a:latin typeface="Arial"/>
                <a:cs typeface="Arial"/>
              </a:rPr>
              <a:t> </a:t>
            </a:r>
            <a:r>
              <a:rPr sz="1900" dirty="0">
                <a:latin typeface="Arial"/>
                <a:cs typeface="Arial"/>
              </a:rPr>
              <a:t>in</a:t>
            </a:r>
            <a:r>
              <a:rPr sz="1900" spc="-10" dirty="0">
                <a:latin typeface="Arial"/>
                <a:cs typeface="Arial"/>
              </a:rPr>
              <a:t>t</a:t>
            </a:r>
            <a:r>
              <a:rPr sz="1900" dirty="0">
                <a:latin typeface="Arial"/>
                <a:cs typeface="Arial"/>
              </a:rPr>
              <a:t>o</a:t>
            </a:r>
            <a:r>
              <a:rPr sz="1900" spc="-5" dirty="0">
                <a:latin typeface="Arial"/>
                <a:cs typeface="Arial"/>
              </a:rPr>
              <a:t> </a:t>
            </a:r>
            <a:r>
              <a:rPr sz="1900" dirty="0">
                <a:latin typeface="Arial"/>
                <a:cs typeface="Arial"/>
              </a:rPr>
              <a:t>large</a:t>
            </a:r>
            <a:r>
              <a:rPr sz="1900" spc="-5" dirty="0">
                <a:latin typeface="Arial"/>
                <a:cs typeface="Arial"/>
              </a:rPr>
              <a:t> </a:t>
            </a:r>
            <a:r>
              <a:rPr sz="1900" spc="-10" dirty="0">
                <a:latin typeface="Arial"/>
                <a:cs typeface="Arial"/>
              </a:rPr>
              <a:t>t</a:t>
            </a:r>
            <a:r>
              <a:rPr sz="1900" dirty="0">
                <a:latin typeface="Arial"/>
                <a:cs typeface="Arial"/>
              </a:rPr>
              <a:t>erri</a:t>
            </a:r>
            <a:r>
              <a:rPr sz="1900" spc="-10" dirty="0">
                <a:latin typeface="Arial"/>
                <a:cs typeface="Arial"/>
              </a:rPr>
              <a:t>t</a:t>
            </a:r>
            <a:r>
              <a:rPr sz="1900" dirty="0">
                <a:latin typeface="Arial"/>
                <a:cs typeface="Arial"/>
              </a:rPr>
              <a:t>ories</a:t>
            </a:r>
          </a:p>
          <a:p>
            <a:pPr marL="2492375" marR="904240" indent="-2480310">
              <a:lnSpc>
                <a:spcPts val="2200"/>
              </a:lnSpc>
              <a:spcBef>
                <a:spcPts val="100"/>
              </a:spcBef>
            </a:pPr>
            <a:r>
              <a:rPr sz="1900" b="1" dirty="0">
                <a:latin typeface="Arial"/>
                <a:cs typeface="Arial"/>
              </a:rPr>
              <a:t>B</a:t>
            </a:r>
            <a:r>
              <a:rPr sz="1900" b="1" spc="-10" dirty="0">
                <a:latin typeface="Arial"/>
                <a:cs typeface="Arial"/>
              </a:rPr>
              <a:t>lue</a:t>
            </a:r>
            <a:r>
              <a:rPr sz="1900" b="1" spc="-5" dirty="0">
                <a:latin typeface="Arial"/>
                <a:cs typeface="Arial"/>
              </a:rPr>
              <a:t> </a:t>
            </a:r>
            <a:r>
              <a:rPr sz="1900" b="1" spc="-10" dirty="0">
                <a:latin typeface="Arial"/>
                <a:cs typeface="Arial"/>
              </a:rPr>
              <a:t>th</a:t>
            </a:r>
            <a:r>
              <a:rPr sz="1900" b="1" dirty="0">
                <a:latin typeface="Arial"/>
                <a:cs typeface="Arial"/>
              </a:rPr>
              <a:t>r</a:t>
            </a:r>
            <a:r>
              <a:rPr sz="1900" b="1" spc="-15" dirty="0">
                <a:latin typeface="Arial"/>
                <a:cs typeface="Arial"/>
              </a:rPr>
              <a:t>o</a:t>
            </a:r>
            <a:r>
              <a:rPr sz="1900" b="1" dirty="0">
                <a:latin typeface="Arial"/>
                <a:cs typeface="Arial"/>
              </a:rPr>
              <a:t>ate</a:t>
            </a:r>
            <a:r>
              <a:rPr sz="1900" b="1" spc="-15" dirty="0">
                <a:latin typeface="Arial"/>
                <a:cs typeface="Arial"/>
              </a:rPr>
              <a:t>d</a:t>
            </a:r>
            <a:r>
              <a:rPr sz="1900" b="1" spc="-5" dirty="0">
                <a:latin typeface="Arial"/>
                <a:cs typeface="Arial"/>
              </a:rPr>
              <a:t> </a:t>
            </a:r>
            <a:r>
              <a:rPr sz="1900" b="1" dirty="0">
                <a:latin typeface="Arial"/>
                <a:cs typeface="Arial"/>
              </a:rPr>
              <a:t>ma</a:t>
            </a:r>
            <a:r>
              <a:rPr sz="1900" b="1" spc="-10" dirty="0">
                <a:latin typeface="Arial"/>
                <a:cs typeface="Arial"/>
              </a:rPr>
              <a:t>l</a:t>
            </a:r>
            <a:r>
              <a:rPr sz="1900" b="1" dirty="0">
                <a:latin typeface="Arial"/>
                <a:cs typeface="Arial"/>
              </a:rPr>
              <a:t>es</a:t>
            </a:r>
            <a:r>
              <a:rPr sz="1900" spc="-10" dirty="0">
                <a:latin typeface="Arial"/>
                <a:cs typeface="Arial"/>
              </a:rPr>
              <a:t>:</a:t>
            </a:r>
            <a:r>
              <a:rPr sz="1900" spc="-5" dirty="0">
                <a:latin typeface="Arial"/>
                <a:cs typeface="Arial"/>
              </a:rPr>
              <a:t> </a:t>
            </a:r>
            <a:r>
              <a:rPr sz="1900" spc="-10" dirty="0">
                <a:latin typeface="Arial"/>
                <a:cs typeface="Arial"/>
              </a:rPr>
              <a:t>f</a:t>
            </a:r>
            <a:r>
              <a:rPr sz="1900" dirty="0">
                <a:latin typeface="Arial"/>
                <a:cs typeface="Arial"/>
              </a:rPr>
              <a:t>irmly</a:t>
            </a:r>
            <a:r>
              <a:rPr sz="1900" spc="-5" dirty="0">
                <a:latin typeface="Arial"/>
                <a:cs typeface="Arial"/>
              </a:rPr>
              <a:t> </a:t>
            </a:r>
            <a:r>
              <a:rPr sz="1900" dirty="0">
                <a:latin typeface="Arial"/>
                <a:cs typeface="Arial"/>
              </a:rPr>
              <a:t>de</a:t>
            </a:r>
            <a:r>
              <a:rPr sz="1900" spc="-10" dirty="0">
                <a:latin typeface="Arial"/>
                <a:cs typeface="Arial"/>
              </a:rPr>
              <a:t>f</a:t>
            </a:r>
            <a:r>
              <a:rPr sz="1900" dirty="0">
                <a:latin typeface="Arial"/>
                <a:cs typeface="Arial"/>
              </a:rPr>
              <a:t>end</a:t>
            </a:r>
            <a:r>
              <a:rPr sz="1900" spc="-5" dirty="0">
                <a:latin typeface="Arial"/>
                <a:cs typeface="Arial"/>
              </a:rPr>
              <a:t> </a:t>
            </a:r>
            <a:r>
              <a:rPr sz="1900" dirty="0">
                <a:latin typeface="Arial"/>
                <a:cs typeface="Arial"/>
              </a:rPr>
              <a:t>small</a:t>
            </a:r>
            <a:r>
              <a:rPr sz="1900" spc="-5" dirty="0">
                <a:latin typeface="Arial"/>
                <a:cs typeface="Arial"/>
              </a:rPr>
              <a:t> </a:t>
            </a:r>
            <a:r>
              <a:rPr sz="1900" spc="-10" dirty="0">
                <a:latin typeface="Arial"/>
                <a:cs typeface="Arial"/>
              </a:rPr>
              <a:t>t</a:t>
            </a:r>
            <a:r>
              <a:rPr sz="1900" dirty="0">
                <a:latin typeface="Arial"/>
                <a:cs typeface="Arial"/>
              </a:rPr>
              <a:t>erri</a:t>
            </a:r>
            <a:r>
              <a:rPr sz="1900" spc="-10" dirty="0">
                <a:latin typeface="Arial"/>
                <a:cs typeface="Arial"/>
              </a:rPr>
              <a:t>t</a:t>
            </a:r>
            <a:r>
              <a:rPr sz="1900" dirty="0">
                <a:latin typeface="Arial"/>
                <a:cs typeface="Arial"/>
              </a:rPr>
              <a:t>ory</a:t>
            </a:r>
            <a:r>
              <a:rPr sz="1900" spc="-5" dirty="0">
                <a:latin typeface="Arial"/>
                <a:cs typeface="Arial"/>
              </a:rPr>
              <a:t> </a:t>
            </a:r>
            <a:r>
              <a:rPr sz="1900" dirty="0">
                <a:latin typeface="Arial"/>
                <a:cs typeface="Arial"/>
              </a:rPr>
              <a:t>wi</a:t>
            </a:r>
            <a:r>
              <a:rPr sz="1900" spc="-10" dirty="0">
                <a:latin typeface="Arial"/>
                <a:cs typeface="Arial"/>
              </a:rPr>
              <a:t>t</a:t>
            </a:r>
            <a:r>
              <a:rPr sz="1900" dirty="0">
                <a:latin typeface="Arial"/>
                <a:cs typeface="Arial"/>
              </a:rPr>
              <a:t>h</a:t>
            </a:r>
            <a:r>
              <a:rPr sz="1900" spc="-5" dirty="0">
                <a:latin typeface="Arial"/>
                <a:cs typeface="Arial"/>
              </a:rPr>
              <a:t> </a:t>
            </a:r>
            <a:r>
              <a:rPr sz="1900" dirty="0">
                <a:latin typeface="Arial"/>
                <a:cs typeface="Arial"/>
              </a:rPr>
              <a:t>one</a:t>
            </a:r>
            <a:r>
              <a:rPr sz="1900" spc="-5" dirty="0">
                <a:latin typeface="Arial"/>
                <a:cs typeface="Arial"/>
              </a:rPr>
              <a:t> </a:t>
            </a:r>
            <a:r>
              <a:rPr sz="1900" spc="-10" dirty="0">
                <a:latin typeface="Arial"/>
                <a:cs typeface="Arial"/>
              </a:rPr>
              <a:t>f</a:t>
            </a:r>
            <a:r>
              <a:rPr sz="1900" dirty="0">
                <a:latin typeface="Arial"/>
                <a:cs typeface="Arial"/>
              </a:rPr>
              <a:t>emale</a:t>
            </a:r>
            <a:r>
              <a:rPr sz="1900" spc="-10" dirty="0">
                <a:latin typeface="Arial"/>
                <a:cs typeface="Arial"/>
              </a:rPr>
              <a:t>, </a:t>
            </a:r>
            <a:r>
              <a:rPr sz="1900" dirty="0">
                <a:latin typeface="Arial"/>
                <a:cs typeface="Arial"/>
              </a:rPr>
              <a:t>no</a:t>
            </a:r>
            <a:r>
              <a:rPr sz="1900" spc="-10" dirty="0">
                <a:latin typeface="Arial"/>
                <a:cs typeface="Arial"/>
              </a:rPr>
              <a:t>t</a:t>
            </a:r>
            <a:r>
              <a:rPr sz="1900" spc="-5" dirty="0">
                <a:latin typeface="Arial"/>
                <a:cs typeface="Arial"/>
              </a:rPr>
              <a:t> </a:t>
            </a:r>
            <a:r>
              <a:rPr sz="1900" spc="-10" dirty="0">
                <a:latin typeface="Arial"/>
                <a:cs typeface="Arial"/>
              </a:rPr>
              <a:t>f</a:t>
            </a:r>
            <a:r>
              <a:rPr sz="1900" dirty="0">
                <a:latin typeface="Arial"/>
                <a:cs typeface="Arial"/>
              </a:rPr>
              <a:t>ooled</a:t>
            </a:r>
            <a:r>
              <a:rPr sz="1900" spc="-5" dirty="0">
                <a:latin typeface="Arial"/>
                <a:cs typeface="Arial"/>
              </a:rPr>
              <a:t> </a:t>
            </a:r>
            <a:r>
              <a:rPr sz="1900" dirty="0">
                <a:latin typeface="Arial"/>
                <a:cs typeface="Arial"/>
              </a:rPr>
              <a:t>by</a:t>
            </a:r>
            <a:r>
              <a:rPr sz="1900" spc="-5" dirty="0">
                <a:latin typeface="Arial"/>
                <a:cs typeface="Arial"/>
              </a:rPr>
              <a:t> </a:t>
            </a:r>
            <a:r>
              <a:rPr sz="1900" dirty="0">
                <a:latin typeface="Arial"/>
                <a:cs typeface="Arial"/>
              </a:rPr>
              <a:t>yellows</a:t>
            </a:r>
          </a:p>
        </p:txBody>
      </p:sp>
      <p:sp>
        <p:nvSpPr>
          <p:cNvPr id="23" name="object 23"/>
          <p:cNvSpPr txBox="1"/>
          <p:nvPr/>
        </p:nvSpPr>
        <p:spPr>
          <a:xfrm>
            <a:off x="395977" y="2923462"/>
            <a:ext cx="2801620" cy="1384300"/>
          </a:xfrm>
          <a:prstGeom prst="rect">
            <a:avLst/>
          </a:prstGeom>
        </p:spPr>
        <p:txBody>
          <a:bodyPr vert="horz" wrap="square" lIns="0" tIns="0" rIns="0" bIns="0" rtlCol="0">
            <a:spAutoFit/>
          </a:bodyPr>
          <a:lstStyle/>
          <a:p>
            <a:pPr marL="347345" marR="232410" indent="-335280">
              <a:lnSpc>
                <a:spcPts val="2200"/>
              </a:lnSpc>
            </a:pPr>
            <a:r>
              <a:rPr sz="1900" b="1" dirty="0">
                <a:latin typeface="Arial"/>
                <a:cs typeface="Arial"/>
              </a:rPr>
              <a:t>Ev</a:t>
            </a:r>
            <a:r>
              <a:rPr sz="1900" b="1" spc="-10" dirty="0">
                <a:latin typeface="Arial"/>
                <a:cs typeface="Arial"/>
              </a:rPr>
              <a:t>olutionary</a:t>
            </a:r>
            <a:r>
              <a:rPr sz="1900" b="1" spc="-5" dirty="0">
                <a:latin typeface="Arial"/>
                <a:cs typeface="Arial"/>
              </a:rPr>
              <a:t> </a:t>
            </a:r>
            <a:r>
              <a:rPr sz="1900" b="1" spc="-15" dirty="0">
                <a:latin typeface="Arial"/>
                <a:cs typeface="Arial"/>
              </a:rPr>
              <a:t>g</a:t>
            </a:r>
            <a:r>
              <a:rPr sz="1900" b="1" dirty="0">
                <a:latin typeface="Arial"/>
                <a:cs typeface="Arial"/>
              </a:rPr>
              <a:t>ame</a:t>
            </a:r>
            <a:r>
              <a:rPr sz="1900" spc="-10" dirty="0">
                <a:latin typeface="Arial"/>
                <a:cs typeface="Arial"/>
              </a:rPr>
              <a:t>: </a:t>
            </a:r>
            <a:r>
              <a:rPr sz="1900" dirty="0">
                <a:latin typeface="Arial"/>
                <a:cs typeface="Arial"/>
              </a:rPr>
              <a:t>blue</a:t>
            </a:r>
            <a:r>
              <a:rPr sz="1900" spc="-5" dirty="0">
                <a:latin typeface="Arial"/>
                <a:cs typeface="Arial"/>
              </a:rPr>
              <a:t> </a:t>
            </a:r>
            <a:r>
              <a:rPr sz="1900" dirty="0">
                <a:latin typeface="Arial"/>
                <a:cs typeface="Arial"/>
              </a:rPr>
              <a:t>bea</a:t>
            </a:r>
            <a:r>
              <a:rPr sz="1900" spc="-10" dirty="0">
                <a:latin typeface="Arial"/>
                <a:cs typeface="Arial"/>
              </a:rPr>
              <a:t>t</a:t>
            </a:r>
            <a:r>
              <a:rPr sz="1900" dirty="0">
                <a:latin typeface="Arial"/>
                <a:cs typeface="Arial"/>
              </a:rPr>
              <a:t>s</a:t>
            </a:r>
            <a:r>
              <a:rPr sz="1900" spc="-5" dirty="0">
                <a:latin typeface="Arial"/>
                <a:cs typeface="Arial"/>
              </a:rPr>
              <a:t> </a:t>
            </a:r>
            <a:r>
              <a:rPr sz="1900" dirty="0">
                <a:latin typeface="Arial"/>
                <a:cs typeface="Arial"/>
              </a:rPr>
              <a:t>yello</a:t>
            </a:r>
            <a:r>
              <a:rPr sz="1900" spc="-105" dirty="0">
                <a:latin typeface="Arial"/>
                <a:cs typeface="Arial"/>
              </a:rPr>
              <a:t>w</a:t>
            </a:r>
            <a:r>
              <a:rPr sz="1900" spc="-10" dirty="0">
                <a:latin typeface="Arial"/>
                <a:cs typeface="Arial"/>
              </a:rPr>
              <a:t>, </a:t>
            </a:r>
            <a:r>
              <a:rPr sz="1900" dirty="0">
                <a:latin typeface="Arial"/>
                <a:cs typeface="Arial"/>
              </a:rPr>
              <a:t>yellow</a:t>
            </a:r>
            <a:r>
              <a:rPr sz="1900" spc="-5" dirty="0">
                <a:latin typeface="Arial"/>
                <a:cs typeface="Arial"/>
              </a:rPr>
              <a:t> </a:t>
            </a:r>
            <a:r>
              <a:rPr sz="1900" dirty="0">
                <a:latin typeface="Arial"/>
                <a:cs typeface="Arial"/>
              </a:rPr>
              <a:t>bea</a:t>
            </a:r>
            <a:r>
              <a:rPr sz="1900" spc="-10" dirty="0">
                <a:latin typeface="Arial"/>
                <a:cs typeface="Arial"/>
              </a:rPr>
              <a:t>t</a:t>
            </a:r>
            <a:r>
              <a:rPr sz="1900" dirty="0">
                <a:latin typeface="Arial"/>
                <a:cs typeface="Arial"/>
              </a:rPr>
              <a:t>s</a:t>
            </a:r>
            <a:r>
              <a:rPr sz="1900" spc="-5" dirty="0">
                <a:latin typeface="Arial"/>
                <a:cs typeface="Arial"/>
              </a:rPr>
              <a:t> </a:t>
            </a:r>
            <a:r>
              <a:rPr sz="1900" dirty="0">
                <a:latin typeface="Arial"/>
                <a:cs typeface="Arial"/>
              </a:rPr>
              <a:t>orange</a:t>
            </a:r>
            <a:r>
              <a:rPr sz="1900" spc="-10" dirty="0">
                <a:latin typeface="Arial"/>
                <a:cs typeface="Arial"/>
              </a:rPr>
              <a:t>, </a:t>
            </a:r>
            <a:r>
              <a:rPr sz="1900" dirty="0">
                <a:latin typeface="Arial"/>
                <a:cs typeface="Arial"/>
              </a:rPr>
              <a:t>orange</a:t>
            </a:r>
            <a:r>
              <a:rPr sz="1900" spc="-5" dirty="0">
                <a:latin typeface="Arial"/>
                <a:cs typeface="Arial"/>
              </a:rPr>
              <a:t> </a:t>
            </a:r>
            <a:r>
              <a:rPr sz="1900" dirty="0">
                <a:latin typeface="Arial"/>
                <a:cs typeface="Arial"/>
              </a:rPr>
              <a:t>bea</a:t>
            </a:r>
            <a:r>
              <a:rPr sz="1900" spc="-10" dirty="0">
                <a:latin typeface="Arial"/>
                <a:cs typeface="Arial"/>
              </a:rPr>
              <a:t>t</a:t>
            </a:r>
            <a:r>
              <a:rPr sz="1900" dirty="0">
                <a:latin typeface="Arial"/>
                <a:cs typeface="Arial"/>
              </a:rPr>
              <a:t>s</a:t>
            </a:r>
            <a:r>
              <a:rPr sz="1900" spc="-5" dirty="0">
                <a:latin typeface="Arial"/>
                <a:cs typeface="Arial"/>
              </a:rPr>
              <a:t> </a:t>
            </a:r>
            <a:r>
              <a:rPr sz="1900" dirty="0">
                <a:latin typeface="Arial"/>
                <a:cs typeface="Arial"/>
              </a:rPr>
              <a:t>blue</a:t>
            </a:r>
          </a:p>
          <a:p>
            <a:pPr marL="347345">
              <a:lnSpc>
                <a:spcPts val="2140"/>
              </a:lnSpc>
            </a:pPr>
            <a:r>
              <a:rPr sz="1900" dirty="0">
                <a:latin typeface="Arial"/>
                <a:cs typeface="Arial"/>
              </a:rPr>
              <a:t>resul</a:t>
            </a:r>
            <a:r>
              <a:rPr sz="1900" spc="-10" dirty="0">
                <a:latin typeface="Arial"/>
                <a:cs typeface="Arial"/>
              </a:rPr>
              <a:t>ts</a:t>
            </a:r>
            <a:r>
              <a:rPr sz="1900" spc="-5" dirty="0">
                <a:latin typeface="Arial"/>
                <a:cs typeface="Arial"/>
              </a:rPr>
              <a:t> </a:t>
            </a:r>
            <a:r>
              <a:rPr sz="1900" dirty="0">
                <a:latin typeface="Arial"/>
                <a:cs typeface="Arial"/>
              </a:rPr>
              <a:t>in</a:t>
            </a:r>
            <a:r>
              <a:rPr sz="1900" spc="-5" dirty="0">
                <a:latin typeface="Arial"/>
                <a:cs typeface="Arial"/>
              </a:rPr>
              <a:t> </a:t>
            </a:r>
            <a:r>
              <a:rPr sz="1900" dirty="0">
                <a:latin typeface="Arial"/>
                <a:cs typeface="Arial"/>
              </a:rPr>
              <a:t>5</a:t>
            </a:r>
            <a:r>
              <a:rPr sz="1900" spc="-5" dirty="0">
                <a:latin typeface="Arial"/>
                <a:cs typeface="Arial"/>
              </a:rPr>
              <a:t> </a:t>
            </a:r>
            <a:r>
              <a:rPr sz="1900" dirty="0">
                <a:latin typeface="Arial"/>
                <a:cs typeface="Arial"/>
              </a:rPr>
              <a:t>year</a:t>
            </a:r>
            <a:r>
              <a:rPr sz="1900" spc="-5" dirty="0">
                <a:latin typeface="Arial"/>
                <a:cs typeface="Arial"/>
              </a:rPr>
              <a:t> </a:t>
            </a:r>
            <a:r>
              <a:rPr sz="1900" dirty="0">
                <a:latin typeface="Arial"/>
                <a:cs typeface="Arial"/>
              </a:rPr>
              <a:t>cycles</a:t>
            </a:r>
          </a:p>
        </p:txBody>
      </p:sp>
      <p:sp>
        <p:nvSpPr>
          <p:cNvPr id="24" name="Rectangle 23">
            <a:extLst>
              <a:ext uri="{FF2B5EF4-FFF2-40B4-BE49-F238E27FC236}">
                <a16:creationId xmlns:a16="http://schemas.microsoft.com/office/drawing/2014/main" id="{D06F6A49-D4EC-C655-8094-EF3FDE264386}"/>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 name="Rectangle 24">
            <a:extLst>
              <a:ext uri="{FF2B5EF4-FFF2-40B4-BE49-F238E27FC236}">
                <a16:creationId xmlns:a16="http://schemas.microsoft.com/office/drawing/2014/main" id="{9A2A4097-DC23-1CC3-BF07-48482B900D6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 name="Slide Number Placeholder 8">
            <a:extLst>
              <a:ext uri="{FF2B5EF4-FFF2-40B4-BE49-F238E27FC236}">
                <a16:creationId xmlns:a16="http://schemas.microsoft.com/office/drawing/2014/main" id="{B10BDD67-D298-BE6E-9F67-5402D9E6F99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51</a:t>
            </a:fld>
            <a:r>
              <a:rPr lang="en-US" sz="2000" dirty="0">
                <a:solidFill>
                  <a:prstClr val="black"/>
                </a:solidFill>
                <a:latin typeface="Comic Sans MS"/>
                <a:sym typeface="Comic Sans MS"/>
              </a:rPr>
              <a:t>/59</a:t>
            </a:r>
          </a:p>
        </p:txBody>
      </p:sp>
      <p:sp>
        <p:nvSpPr>
          <p:cNvPr id="27" name="Footer Placeholder 9">
            <a:extLst>
              <a:ext uri="{FF2B5EF4-FFF2-40B4-BE49-F238E27FC236}">
                <a16:creationId xmlns:a16="http://schemas.microsoft.com/office/drawing/2014/main" id="{3880BF61-6ACB-4E5C-EB86-2B165082153E}"/>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28" name="Rectangle 27">
            <a:extLst>
              <a:ext uri="{FF2B5EF4-FFF2-40B4-BE49-F238E27FC236}">
                <a16:creationId xmlns:a16="http://schemas.microsoft.com/office/drawing/2014/main" id="{6B7D58A9-CE3B-152B-50C5-6BFFC663215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0" rIns="0" bIns="0" rtlCol="0">
            <a:spAutoFit/>
          </a:bodyPr>
          <a:lstStyle/>
          <a:p>
            <a:pPr marL="1905">
              <a:lnSpc>
                <a:spcPct val="100000"/>
              </a:lnSpc>
            </a:pPr>
            <a:r>
              <a:rPr spc="-15" dirty="0"/>
              <a:t>“</a:t>
            </a:r>
            <a:r>
              <a:rPr spc="-25" dirty="0"/>
              <a:t>F</a:t>
            </a:r>
            <a:r>
              <a:rPr dirty="0"/>
              <a:t>olk</a:t>
            </a:r>
            <a:r>
              <a:rPr spc="-5" dirty="0"/>
              <a:t> </a:t>
            </a:r>
            <a:r>
              <a:rPr spc="-15" dirty="0"/>
              <a:t>t</a:t>
            </a:r>
            <a:r>
              <a:rPr dirty="0"/>
              <a:t>heorem”</a:t>
            </a:r>
            <a:r>
              <a:rPr spc="-5" dirty="0"/>
              <a:t> </a:t>
            </a:r>
            <a:r>
              <a:rPr dirty="0"/>
              <a:t>o</a:t>
            </a:r>
            <a:r>
              <a:rPr spc="-10" dirty="0"/>
              <a:t>f</a:t>
            </a:r>
            <a:r>
              <a:rPr spc="-5" dirty="0"/>
              <a:t> </a:t>
            </a:r>
            <a:r>
              <a:rPr dirty="0"/>
              <a:t>evolu</a:t>
            </a:r>
            <a:r>
              <a:rPr spc="-15" dirty="0"/>
              <a:t>t</a:t>
            </a:r>
            <a:r>
              <a:rPr dirty="0"/>
              <a:t>ionary</a:t>
            </a:r>
            <a:r>
              <a:rPr spc="-5" dirty="0"/>
              <a:t> </a:t>
            </a:r>
            <a:r>
              <a:rPr dirty="0"/>
              <a:t>game</a:t>
            </a:r>
            <a:r>
              <a:rPr spc="-5" dirty="0"/>
              <a:t> </a:t>
            </a:r>
            <a:r>
              <a:rPr spc="-15" dirty="0"/>
              <a:t>t</a:t>
            </a:r>
            <a:r>
              <a:rPr dirty="0"/>
              <a:t>heory</a:t>
            </a:r>
          </a:p>
        </p:txBody>
      </p:sp>
      <p:sp>
        <p:nvSpPr>
          <p:cNvPr id="7" name="object 7"/>
          <p:cNvSpPr txBox="1"/>
          <p:nvPr/>
        </p:nvSpPr>
        <p:spPr>
          <a:xfrm>
            <a:off x="618490" y="2484486"/>
            <a:ext cx="7408545" cy="1977389"/>
          </a:xfrm>
          <a:prstGeom prst="rect">
            <a:avLst/>
          </a:prstGeom>
        </p:spPr>
        <p:txBody>
          <a:bodyPr vert="horz" wrap="square" lIns="0" tIns="0" rIns="0" bIns="0" rtlCol="0">
            <a:spAutoFit/>
          </a:bodyPr>
          <a:lstStyle/>
          <a:p>
            <a:pPr marL="12700">
              <a:lnSpc>
                <a:spcPct val="100000"/>
              </a:lnSpc>
            </a:pPr>
            <a:r>
              <a:rPr sz="3750" spc="-675" baseline="2222" dirty="0">
                <a:solidFill>
                  <a:srgbClr val="00669D"/>
                </a:solidFill>
                <a:latin typeface="MS Gothic"/>
                <a:cs typeface="MS Gothic"/>
              </a:rPr>
              <a:t>➡</a:t>
            </a:r>
            <a:r>
              <a:rPr sz="3750" spc="104" baseline="2222" dirty="0">
                <a:solidFill>
                  <a:srgbClr val="00669D"/>
                </a:solidFill>
                <a:latin typeface="MS Gothic"/>
                <a:cs typeface="MS Gothic"/>
              </a:rPr>
              <a:t> </a:t>
            </a:r>
            <a:r>
              <a:rPr sz="2500" b="1" spc="-10" dirty="0">
                <a:solidFill>
                  <a:srgbClr val="00669D"/>
                </a:solidFill>
                <a:latin typeface="Arial"/>
                <a:cs typeface="Arial"/>
              </a:rPr>
              <a:t>i</a:t>
            </a:r>
            <a:r>
              <a:rPr sz="2500" b="1" dirty="0">
                <a:solidFill>
                  <a:srgbClr val="00669D"/>
                </a:solidFill>
                <a:latin typeface="Arial"/>
                <a:cs typeface="Arial"/>
              </a:rPr>
              <a:t>f</a:t>
            </a:r>
            <a:r>
              <a:rPr sz="2500" b="1" spc="-5" dirty="0">
                <a:solidFill>
                  <a:srgbClr val="00669D"/>
                </a:solidFill>
                <a:latin typeface="Arial"/>
                <a:cs typeface="Arial"/>
              </a:rPr>
              <a:t> </a:t>
            </a:r>
            <a:r>
              <a:rPr sz="2500" b="1" spc="-15" dirty="0">
                <a:solidFill>
                  <a:srgbClr val="00669D"/>
                </a:solidFill>
                <a:latin typeface="Arial"/>
                <a:cs typeface="Arial"/>
              </a:rPr>
              <a:t>th</a:t>
            </a:r>
            <a:r>
              <a:rPr sz="2500" b="1" dirty="0">
                <a:solidFill>
                  <a:srgbClr val="00669D"/>
                </a:solidFill>
                <a:latin typeface="Arial"/>
                <a:cs typeface="Arial"/>
              </a:rPr>
              <a:t>e</a:t>
            </a:r>
            <a:r>
              <a:rPr sz="2500" b="1" spc="-5" dirty="0">
                <a:solidFill>
                  <a:srgbClr val="00669D"/>
                </a:solidFill>
                <a:latin typeface="Arial"/>
                <a:cs typeface="Arial"/>
              </a:rPr>
              <a:t> </a:t>
            </a:r>
            <a:r>
              <a:rPr sz="2500" b="1" spc="-20" dirty="0">
                <a:solidFill>
                  <a:srgbClr val="00669D"/>
                </a:solidFill>
                <a:latin typeface="Arial"/>
                <a:cs typeface="Arial"/>
              </a:rPr>
              <a:t>d</a:t>
            </a:r>
            <a:r>
              <a:rPr sz="2500" b="1" dirty="0">
                <a:solidFill>
                  <a:srgbClr val="00669D"/>
                </a:solidFill>
                <a:latin typeface="Arial"/>
                <a:cs typeface="Arial"/>
              </a:rPr>
              <a:t>y</a:t>
            </a:r>
            <a:r>
              <a:rPr sz="2500" b="1" spc="-20" dirty="0">
                <a:solidFill>
                  <a:srgbClr val="00669D"/>
                </a:solidFill>
                <a:latin typeface="Arial"/>
                <a:cs typeface="Arial"/>
              </a:rPr>
              <a:t>n</a:t>
            </a:r>
            <a:r>
              <a:rPr sz="2500" b="1" dirty="0">
                <a:solidFill>
                  <a:srgbClr val="00669D"/>
                </a:solidFill>
                <a:latin typeface="Arial"/>
                <a:cs typeface="Arial"/>
              </a:rPr>
              <a:t>am</a:t>
            </a:r>
            <a:r>
              <a:rPr sz="2500" b="1" spc="-10" dirty="0">
                <a:solidFill>
                  <a:srgbClr val="00669D"/>
                </a:solidFill>
                <a:latin typeface="Arial"/>
                <a:cs typeface="Arial"/>
              </a:rPr>
              <a:t>i</a:t>
            </a:r>
            <a:r>
              <a:rPr sz="2500" b="1" dirty="0">
                <a:solidFill>
                  <a:srgbClr val="00669D"/>
                </a:solidFill>
                <a:latin typeface="Arial"/>
                <a:cs typeface="Arial"/>
              </a:rPr>
              <a:t>cs</a:t>
            </a:r>
            <a:r>
              <a:rPr sz="2500" b="1" spc="-5" dirty="0">
                <a:solidFill>
                  <a:srgbClr val="00669D"/>
                </a:solidFill>
                <a:latin typeface="Arial"/>
                <a:cs typeface="Arial"/>
              </a:rPr>
              <a:t> </a:t>
            </a:r>
            <a:r>
              <a:rPr sz="2500" b="1" dirty="0">
                <a:solidFill>
                  <a:srgbClr val="00669D"/>
                </a:solidFill>
                <a:latin typeface="Arial"/>
                <a:cs typeface="Arial"/>
              </a:rPr>
              <a:t>c</a:t>
            </a:r>
            <a:r>
              <a:rPr sz="2500" b="1" spc="-20" dirty="0">
                <a:solidFill>
                  <a:srgbClr val="00669D"/>
                </a:solidFill>
                <a:latin typeface="Arial"/>
                <a:cs typeface="Arial"/>
              </a:rPr>
              <a:t>on</a:t>
            </a:r>
            <a:r>
              <a:rPr sz="2500" b="1" dirty="0">
                <a:solidFill>
                  <a:srgbClr val="00669D"/>
                </a:solidFill>
                <a:latin typeface="Arial"/>
                <a:cs typeface="Arial"/>
              </a:rPr>
              <a:t>ver</a:t>
            </a:r>
            <a:r>
              <a:rPr sz="2500" b="1" spc="-20" dirty="0">
                <a:solidFill>
                  <a:srgbClr val="00669D"/>
                </a:solidFill>
                <a:latin typeface="Arial"/>
                <a:cs typeface="Arial"/>
              </a:rPr>
              <a:t>g</a:t>
            </a:r>
            <a:r>
              <a:rPr sz="2500" b="1" dirty="0">
                <a:solidFill>
                  <a:srgbClr val="00669D"/>
                </a:solidFill>
                <a:latin typeface="Arial"/>
                <a:cs typeface="Arial"/>
              </a:rPr>
              <a:t>es</a:t>
            </a:r>
            <a:r>
              <a:rPr sz="2500" b="1" spc="-10" dirty="0">
                <a:solidFill>
                  <a:srgbClr val="00669D"/>
                </a:solidFill>
                <a:latin typeface="Arial"/>
                <a:cs typeface="Arial"/>
              </a:rPr>
              <a:t>,</a:t>
            </a:r>
            <a:r>
              <a:rPr sz="2500" b="1" spc="-5" dirty="0">
                <a:solidFill>
                  <a:srgbClr val="00669D"/>
                </a:solidFill>
                <a:latin typeface="Arial"/>
                <a:cs typeface="Arial"/>
              </a:rPr>
              <a:t> </a:t>
            </a:r>
            <a:r>
              <a:rPr sz="2500" b="1" spc="-10" dirty="0">
                <a:solidFill>
                  <a:srgbClr val="00669D"/>
                </a:solidFill>
                <a:latin typeface="Arial"/>
                <a:cs typeface="Arial"/>
              </a:rPr>
              <a:t>i</a:t>
            </a:r>
            <a:r>
              <a:rPr sz="2500" b="1" dirty="0">
                <a:solidFill>
                  <a:srgbClr val="00669D"/>
                </a:solidFill>
                <a:latin typeface="Arial"/>
                <a:cs typeface="Arial"/>
              </a:rPr>
              <a:t>t</a:t>
            </a:r>
            <a:r>
              <a:rPr sz="2500" b="1" spc="-5" dirty="0">
                <a:solidFill>
                  <a:srgbClr val="00669D"/>
                </a:solidFill>
                <a:latin typeface="Arial"/>
                <a:cs typeface="Arial"/>
              </a:rPr>
              <a:t> </a:t>
            </a:r>
            <a:r>
              <a:rPr sz="2500" b="1" dirty="0">
                <a:solidFill>
                  <a:srgbClr val="00669D"/>
                </a:solidFill>
                <a:latin typeface="Arial"/>
                <a:cs typeface="Arial"/>
              </a:rPr>
              <a:t>c</a:t>
            </a:r>
            <a:r>
              <a:rPr sz="2500" b="1" spc="-20" dirty="0">
                <a:solidFill>
                  <a:srgbClr val="00669D"/>
                </a:solidFill>
                <a:latin typeface="Arial"/>
                <a:cs typeface="Arial"/>
              </a:rPr>
              <a:t>on</a:t>
            </a:r>
            <a:r>
              <a:rPr sz="2500" b="1" dirty="0">
                <a:solidFill>
                  <a:srgbClr val="00669D"/>
                </a:solidFill>
                <a:latin typeface="Arial"/>
                <a:cs typeface="Arial"/>
              </a:rPr>
              <a:t>ver</a:t>
            </a:r>
            <a:r>
              <a:rPr sz="2500" b="1" spc="-20" dirty="0">
                <a:solidFill>
                  <a:srgbClr val="00669D"/>
                </a:solidFill>
                <a:latin typeface="Arial"/>
                <a:cs typeface="Arial"/>
              </a:rPr>
              <a:t>g</a:t>
            </a:r>
            <a:r>
              <a:rPr sz="2500" b="1" dirty="0">
                <a:solidFill>
                  <a:srgbClr val="00669D"/>
                </a:solidFill>
                <a:latin typeface="Arial"/>
                <a:cs typeface="Arial"/>
              </a:rPr>
              <a:t>es</a:t>
            </a:r>
            <a:r>
              <a:rPr sz="2500" b="1" spc="-5" dirty="0">
                <a:solidFill>
                  <a:srgbClr val="00669D"/>
                </a:solidFill>
                <a:latin typeface="Arial"/>
                <a:cs typeface="Arial"/>
              </a:rPr>
              <a:t> </a:t>
            </a:r>
            <a:r>
              <a:rPr sz="2500" b="1" spc="-15" dirty="0">
                <a:solidFill>
                  <a:srgbClr val="00669D"/>
                </a:solidFill>
                <a:latin typeface="Arial"/>
                <a:cs typeface="Arial"/>
              </a:rPr>
              <a:t>to</a:t>
            </a:r>
            <a:r>
              <a:rPr sz="2500" b="1" spc="-5" dirty="0">
                <a:solidFill>
                  <a:srgbClr val="00669D"/>
                </a:solidFill>
                <a:latin typeface="Arial"/>
                <a:cs typeface="Arial"/>
              </a:rPr>
              <a:t> </a:t>
            </a:r>
            <a:r>
              <a:rPr sz="2500" b="1" dirty="0">
                <a:solidFill>
                  <a:srgbClr val="00669D"/>
                </a:solidFill>
                <a:latin typeface="Arial"/>
                <a:cs typeface="Arial"/>
              </a:rPr>
              <a:t>N</a:t>
            </a:r>
            <a:r>
              <a:rPr sz="2500" b="1" spc="-20" dirty="0">
                <a:solidFill>
                  <a:srgbClr val="00669D"/>
                </a:solidFill>
                <a:latin typeface="Arial"/>
                <a:cs typeface="Arial"/>
              </a:rPr>
              <a:t>E</a:t>
            </a:r>
            <a:endParaRPr sz="2500" dirty="0">
              <a:latin typeface="Arial"/>
              <a:cs typeface="Arial"/>
            </a:endParaRPr>
          </a:p>
          <a:p>
            <a:pPr>
              <a:lnSpc>
                <a:spcPct val="100000"/>
              </a:lnSpc>
              <a:spcBef>
                <a:spcPts val="23"/>
              </a:spcBef>
            </a:pPr>
            <a:endParaRPr sz="2900" dirty="0">
              <a:latin typeface="Times New Roman"/>
              <a:cs typeface="Times New Roman"/>
            </a:endParaRPr>
          </a:p>
          <a:p>
            <a:pPr marL="12700">
              <a:lnSpc>
                <a:spcPct val="100000"/>
              </a:lnSpc>
            </a:pPr>
            <a:r>
              <a:rPr sz="3750" spc="-675" baseline="2222" dirty="0">
                <a:solidFill>
                  <a:srgbClr val="00669D"/>
                </a:solidFill>
                <a:latin typeface="MS Gothic"/>
                <a:cs typeface="MS Gothic"/>
              </a:rPr>
              <a:t>➡</a:t>
            </a:r>
            <a:r>
              <a:rPr sz="3750" spc="104" baseline="2222" dirty="0">
                <a:solidFill>
                  <a:srgbClr val="00669D"/>
                </a:solidFill>
                <a:latin typeface="MS Gothic"/>
                <a:cs typeface="MS Gothic"/>
              </a:rPr>
              <a:t> </a:t>
            </a:r>
            <a:r>
              <a:rPr sz="2500" b="1" dirty="0">
                <a:solidFill>
                  <a:srgbClr val="00669D"/>
                </a:solidFill>
                <a:latin typeface="Arial"/>
                <a:cs typeface="Arial"/>
              </a:rPr>
              <a:t>str</a:t>
            </a:r>
            <a:r>
              <a:rPr sz="2500" b="1" spc="-10" dirty="0">
                <a:solidFill>
                  <a:srgbClr val="00669D"/>
                </a:solidFill>
                <a:latin typeface="Arial"/>
                <a:cs typeface="Arial"/>
              </a:rPr>
              <a:t>i</a:t>
            </a:r>
            <a:r>
              <a:rPr sz="2500" b="1" dirty="0">
                <a:solidFill>
                  <a:srgbClr val="00669D"/>
                </a:solidFill>
                <a:latin typeface="Arial"/>
                <a:cs typeface="Arial"/>
              </a:rPr>
              <a:t>ct</a:t>
            </a:r>
            <a:r>
              <a:rPr sz="2500" b="1" spc="-5" dirty="0">
                <a:solidFill>
                  <a:srgbClr val="00669D"/>
                </a:solidFill>
                <a:latin typeface="Arial"/>
                <a:cs typeface="Arial"/>
              </a:rPr>
              <a:t> </a:t>
            </a:r>
            <a:r>
              <a:rPr sz="2500" b="1" dirty="0">
                <a:solidFill>
                  <a:srgbClr val="00669D"/>
                </a:solidFill>
                <a:latin typeface="Arial"/>
                <a:cs typeface="Arial"/>
              </a:rPr>
              <a:t>N</a:t>
            </a:r>
            <a:r>
              <a:rPr sz="2500" b="1" spc="-20" dirty="0">
                <a:solidFill>
                  <a:srgbClr val="00669D"/>
                </a:solidFill>
                <a:latin typeface="Arial"/>
                <a:cs typeface="Arial"/>
              </a:rPr>
              <a:t>E</a:t>
            </a:r>
            <a:r>
              <a:rPr sz="2500" b="1" spc="-5" dirty="0">
                <a:solidFill>
                  <a:srgbClr val="00669D"/>
                </a:solidFill>
                <a:latin typeface="Arial"/>
                <a:cs typeface="Arial"/>
              </a:rPr>
              <a:t> </a:t>
            </a:r>
            <a:r>
              <a:rPr sz="2500" b="1" dirty="0">
                <a:solidFill>
                  <a:srgbClr val="00669D"/>
                </a:solidFill>
                <a:latin typeface="Arial"/>
                <a:cs typeface="Arial"/>
              </a:rPr>
              <a:t>are</a:t>
            </a:r>
            <a:r>
              <a:rPr sz="2500" b="1" spc="-5" dirty="0">
                <a:solidFill>
                  <a:srgbClr val="00669D"/>
                </a:solidFill>
                <a:latin typeface="Arial"/>
                <a:cs typeface="Arial"/>
              </a:rPr>
              <a:t> </a:t>
            </a:r>
            <a:r>
              <a:rPr sz="2500" b="1" dirty="0">
                <a:solidFill>
                  <a:srgbClr val="00669D"/>
                </a:solidFill>
                <a:latin typeface="Arial"/>
                <a:cs typeface="Arial"/>
              </a:rPr>
              <a:t>attrac</a:t>
            </a:r>
            <a:r>
              <a:rPr sz="2500" b="1" spc="-15" dirty="0">
                <a:solidFill>
                  <a:srgbClr val="00669D"/>
                </a:solidFill>
                <a:latin typeface="Arial"/>
                <a:cs typeface="Arial"/>
              </a:rPr>
              <a:t>to</a:t>
            </a:r>
            <a:r>
              <a:rPr sz="2500" b="1" dirty="0">
                <a:solidFill>
                  <a:srgbClr val="00669D"/>
                </a:solidFill>
                <a:latin typeface="Arial"/>
                <a:cs typeface="Arial"/>
              </a:rPr>
              <a:t>rs</a:t>
            </a:r>
            <a:endParaRPr sz="2500" dirty="0">
              <a:latin typeface="Arial"/>
              <a:cs typeface="Arial"/>
            </a:endParaRPr>
          </a:p>
          <a:p>
            <a:pPr>
              <a:lnSpc>
                <a:spcPct val="100000"/>
              </a:lnSpc>
              <a:spcBef>
                <a:spcPts val="23"/>
              </a:spcBef>
            </a:pPr>
            <a:endParaRPr sz="2900" dirty="0">
              <a:latin typeface="Times New Roman"/>
              <a:cs typeface="Times New Roman"/>
            </a:endParaRPr>
          </a:p>
          <a:p>
            <a:pPr marL="12700">
              <a:lnSpc>
                <a:spcPct val="100000"/>
              </a:lnSpc>
            </a:pPr>
            <a:r>
              <a:rPr sz="3750" spc="-675" baseline="2222" dirty="0">
                <a:solidFill>
                  <a:srgbClr val="00669D"/>
                </a:solidFill>
                <a:latin typeface="MS Gothic"/>
                <a:cs typeface="MS Gothic"/>
              </a:rPr>
              <a:t>➡</a:t>
            </a:r>
            <a:r>
              <a:rPr sz="3750" spc="104" baseline="2222" dirty="0">
                <a:solidFill>
                  <a:srgbClr val="00669D"/>
                </a:solidFill>
                <a:latin typeface="MS Gothic"/>
                <a:cs typeface="MS Gothic"/>
              </a:rPr>
              <a:t> </a:t>
            </a:r>
            <a:r>
              <a:rPr sz="2500" b="1" dirty="0">
                <a:solidFill>
                  <a:srgbClr val="00669D"/>
                </a:solidFill>
                <a:latin typeface="Arial"/>
                <a:cs typeface="Arial"/>
              </a:rPr>
              <a:t>sta</a:t>
            </a:r>
            <a:r>
              <a:rPr sz="2500" b="1" spc="-15" dirty="0">
                <a:solidFill>
                  <a:srgbClr val="00669D"/>
                </a:solidFill>
                <a:latin typeface="Arial"/>
                <a:cs typeface="Arial"/>
              </a:rPr>
              <a:t>bl</a:t>
            </a:r>
            <a:r>
              <a:rPr sz="2500" b="1" dirty="0">
                <a:solidFill>
                  <a:srgbClr val="00669D"/>
                </a:solidFill>
                <a:latin typeface="Arial"/>
                <a:cs typeface="Arial"/>
              </a:rPr>
              <a:t>e</a:t>
            </a:r>
            <a:r>
              <a:rPr sz="2500" b="1" spc="-5" dirty="0">
                <a:solidFill>
                  <a:srgbClr val="00669D"/>
                </a:solidFill>
                <a:latin typeface="Arial"/>
                <a:cs typeface="Arial"/>
              </a:rPr>
              <a:t> </a:t>
            </a:r>
            <a:r>
              <a:rPr sz="2500" b="1" dirty="0">
                <a:solidFill>
                  <a:srgbClr val="00669D"/>
                </a:solidFill>
                <a:latin typeface="Arial"/>
                <a:cs typeface="Arial"/>
              </a:rPr>
              <a:t>rest</a:t>
            </a:r>
            <a:r>
              <a:rPr sz="2500" b="1" spc="-5" dirty="0">
                <a:solidFill>
                  <a:srgbClr val="00669D"/>
                </a:solidFill>
                <a:latin typeface="Arial"/>
                <a:cs typeface="Arial"/>
              </a:rPr>
              <a:t> </a:t>
            </a:r>
            <a:r>
              <a:rPr sz="2500" b="1" spc="-15" dirty="0">
                <a:solidFill>
                  <a:srgbClr val="00669D"/>
                </a:solidFill>
                <a:latin typeface="Arial"/>
                <a:cs typeface="Arial"/>
              </a:rPr>
              <a:t>poin</a:t>
            </a:r>
            <a:r>
              <a:rPr sz="2500" b="1" dirty="0">
                <a:solidFill>
                  <a:srgbClr val="00669D"/>
                </a:solidFill>
                <a:latin typeface="Arial"/>
                <a:cs typeface="Arial"/>
              </a:rPr>
              <a:t>ts</a:t>
            </a:r>
            <a:r>
              <a:rPr sz="2500" b="1" spc="-5" dirty="0">
                <a:solidFill>
                  <a:srgbClr val="00669D"/>
                </a:solidFill>
                <a:latin typeface="Arial"/>
                <a:cs typeface="Arial"/>
              </a:rPr>
              <a:t> </a:t>
            </a:r>
            <a:r>
              <a:rPr sz="2500" b="1" dirty="0">
                <a:solidFill>
                  <a:srgbClr val="00669D"/>
                </a:solidFill>
                <a:latin typeface="Arial"/>
                <a:cs typeface="Arial"/>
              </a:rPr>
              <a:t>are</a:t>
            </a:r>
            <a:r>
              <a:rPr sz="2500" b="1" spc="-5" dirty="0">
                <a:solidFill>
                  <a:srgbClr val="00669D"/>
                </a:solidFill>
                <a:latin typeface="Arial"/>
                <a:cs typeface="Arial"/>
              </a:rPr>
              <a:t> </a:t>
            </a:r>
            <a:r>
              <a:rPr sz="2500" b="1" dirty="0">
                <a:solidFill>
                  <a:srgbClr val="00669D"/>
                </a:solidFill>
                <a:latin typeface="Arial"/>
                <a:cs typeface="Arial"/>
              </a:rPr>
              <a:t>N</a:t>
            </a:r>
            <a:r>
              <a:rPr sz="2500" b="1" spc="-20" dirty="0">
                <a:solidFill>
                  <a:srgbClr val="00669D"/>
                </a:solidFill>
                <a:latin typeface="Arial"/>
                <a:cs typeface="Arial"/>
              </a:rPr>
              <a:t>E</a:t>
            </a:r>
            <a:endParaRPr sz="2500" dirty="0">
              <a:latin typeface="Arial"/>
              <a:cs typeface="Arial"/>
            </a:endParaRPr>
          </a:p>
        </p:txBody>
      </p:sp>
      <p:sp>
        <p:nvSpPr>
          <p:cNvPr id="8" name="object 8"/>
          <p:cNvSpPr txBox="1"/>
          <p:nvPr/>
        </p:nvSpPr>
        <p:spPr>
          <a:xfrm>
            <a:off x="3661235" y="5813764"/>
            <a:ext cx="4770120" cy="457200"/>
          </a:xfrm>
          <a:prstGeom prst="rect">
            <a:avLst/>
          </a:prstGeom>
        </p:spPr>
        <p:txBody>
          <a:bodyPr vert="horz" wrap="square" lIns="0" tIns="0" rIns="0" bIns="0" rtlCol="0">
            <a:spAutoFit/>
          </a:bodyPr>
          <a:lstStyle/>
          <a:p>
            <a:pPr marL="12700" marR="5080">
              <a:lnSpc>
                <a:spcPts val="1800"/>
              </a:lnSpc>
            </a:pPr>
            <a:r>
              <a:rPr sz="1600" i="1" spc="-10" dirty="0">
                <a:latin typeface="Arial"/>
                <a:cs typeface="Arial"/>
              </a:rPr>
              <a:t>The</a:t>
            </a:r>
            <a:r>
              <a:rPr sz="1600" i="1" spc="-5" dirty="0">
                <a:latin typeface="Arial"/>
                <a:cs typeface="Arial"/>
              </a:rPr>
              <a:t> </a:t>
            </a:r>
            <a:r>
              <a:rPr sz="1600" i="1" dirty="0">
                <a:latin typeface="Arial"/>
                <a:cs typeface="Arial"/>
              </a:rPr>
              <a:t>replica</a:t>
            </a:r>
            <a:r>
              <a:rPr sz="1600" i="1" spc="-5" dirty="0">
                <a:latin typeface="Arial"/>
                <a:cs typeface="Arial"/>
              </a:rPr>
              <a:t>t</a:t>
            </a:r>
            <a:r>
              <a:rPr sz="1600" i="1" dirty="0">
                <a:latin typeface="Arial"/>
                <a:cs typeface="Arial"/>
              </a:rPr>
              <a:t>or</a:t>
            </a:r>
            <a:r>
              <a:rPr sz="1600" i="1" spc="-5" dirty="0">
                <a:latin typeface="Arial"/>
                <a:cs typeface="Arial"/>
              </a:rPr>
              <a:t> </a:t>
            </a:r>
            <a:r>
              <a:rPr sz="1600" i="1" dirty="0">
                <a:latin typeface="Arial"/>
                <a:cs typeface="Arial"/>
              </a:rPr>
              <a:t>equa</a:t>
            </a:r>
            <a:r>
              <a:rPr sz="1600" i="1" spc="-5" dirty="0">
                <a:latin typeface="Arial"/>
                <a:cs typeface="Arial"/>
              </a:rPr>
              <a:t>t</a:t>
            </a:r>
            <a:r>
              <a:rPr sz="1600" i="1" dirty="0">
                <a:latin typeface="Arial"/>
                <a:cs typeface="Arial"/>
              </a:rPr>
              <a:t>ion</a:t>
            </a:r>
            <a:r>
              <a:rPr sz="1600" i="1" spc="-5" dirty="0">
                <a:latin typeface="Arial"/>
                <a:cs typeface="Arial"/>
              </a:rPr>
              <a:t> </a:t>
            </a:r>
            <a:r>
              <a:rPr sz="1600" i="1" dirty="0">
                <a:latin typeface="Arial"/>
                <a:cs typeface="Arial"/>
              </a:rPr>
              <a:t>and</a:t>
            </a:r>
            <a:r>
              <a:rPr sz="1600" i="1" spc="-5" dirty="0">
                <a:latin typeface="Arial"/>
                <a:cs typeface="Arial"/>
              </a:rPr>
              <a:t> </a:t>
            </a:r>
            <a:r>
              <a:rPr sz="1600" i="1" dirty="0">
                <a:latin typeface="Arial"/>
                <a:cs typeface="Arial"/>
              </a:rPr>
              <a:t>o</a:t>
            </a:r>
            <a:r>
              <a:rPr sz="1600" i="1" spc="-5" dirty="0">
                <a:latin typeface="Arial"/>
                <a:cs typeface="Arial"/>
              </a:rPr>
              <a:t>t</a:t>
            </a:r>
            <a:r>
              <a:rPr sz="1600" i="1" dirty="0">
                <a:latin typeface="Arial"/>
                <a:cs typeface="Arial"/>
              </a:rPr>
              <a:t>her</a:t>
            </a:r>
            <a:r>
              <a:rPr sz="1600" i="1" spc="-5" dirty="0">
                <a:latin typeface="Arial"/>
                <a:cs typeface="Arial"/>
              </a:rPr>
              <a:t> </a:t>
            </a:r>
            <a:r>
              <a:rPr sz="1600" i="1" dirty="0">
                <a:latin typeface="Arial"/>
                <a:cs typeface="Arial"/>
              </a:rPr>
              <a:t>game</a:t>
            </a:r>
            <a:r>
              <a:rPr sz="1600" i="1" spc="-5" dirty="0">
                <a:latin typeface="Arial"/>
                <a:cs typeface="Arial"/>
              </a:rPr>
              <a:t> </a:t>
            </a:r>
            <a:r>
              <a:rPr sz="1600" i="1" dirty="0">
                <a:latin typeface="Arial"/>
                <a:cs typeface="Arial"/>
              </a:rPr>
              <a:t>dynami</a:t>
            </a:r>
            <a:r>
              <a:rPr sz="1600" i="1" spc="-10" dirty="0">
                <a:latin typeface="Arial"/>
                <a:cs typeface="Arial"/>
              </a:rPr>
              <a:t>cs.</a:t>
            </a:r>
            <a:r>
              <a:rPr sz="1600" i="1" spc="-5" dirty="0">
                <a:latin typeface="Arial"/>
                <a:cs typeface="Arial"/>
              </a:rPr>
              <a:t> </a:t>
            </a:r>
            <a:r>
              <a:rPr sz="1600" i="1" dirty="0">
                <a:latin typeface="Arial"/>
                <a:cs typeface="Arial"/>
              </a:rPr>
              <a:t>Ross</a:t>
            </a:r>
            <a:r>
              <a:rPr sz="1600" i="1" spc="-5" dirty="0">
                <a:latin typeface="Arial"/>
                <a:cs typeface="Arial"/>
              </a:rPr>
              <a:t> </a:t>
            </a:r>
            <a:r>
              <a:rPr sz="1600" i="1" dirty="0">
                <a:latin typeface="Arial"/>
                <a:cs typeface="Arial"/>
              </a:rPr>
              <a:t>Cressman</a:t>
            </a:r>
            <a:r>
              <a:rPr sz="1600" i="1" spc="-5" dirty="0">
                <a:latin typeface="Arial"/>
                <a:cs typeface="Arial"/>
              </a:rPr>
              <a:t> </a:t>
            </a:r>
            <a:r>
              <a:rPr sz="1600" i="1" dirty="0">
                <a:latin typeface="Arial"/>
                <a:cs typeface="Arial"/>
              </a:rPr>
              <a:t>and</a:t>
            </a:r>
            <a:r>
              <a:rPr sz="1600" i="1" spc="-30" dirty="0">
                <a:latin typeface="Arial"/>
                <a:cs typeface="Arial"/>
              </a:rPr>
              <a:t> </a:t>
            </a:r>
            <a:r>
              <a:rPr sz="1600" i="1" spc="-45" dirty="0">
                <a:latin typeface="Arial"/>
                <a:cs typeface="Arial"/>
              </a:rPr>
              <a:t>Y</a:t>
            </a:r>
            <a:r>
              <a:rPr sz="1600" i="1" dirty="0">
                <a:latin typeface="Arial"/>
                <a:cs typeface="Arial"/>
              </a:rPr>
              <a:t>i</a:t>
            </a:r>
            <a:r>
              <a:rPr sz="1600" i="1" spc="-5" dirty="0">
                <a:latin typeface="Arial"/>
                <a:cs typeface="Arial"/>
              </a:rPr>
              <a:t> </a:t>
            </a:r>
            <a:r>
              <a:rPr sz="1600" i="1" spc="-160" dirty="0">
                <a:latin typeface="Arial"/>
                <a:cs typeface="Arial"/>
              </a:rPr>
              <a:t>T</a:t>
            </a:r>
            <a:r>
              <a:rPr sz="1600" i="1" dirty="0">
                <a:latin typeface="Arial"/>
                <a:cs typeface="Arial"/>
              </a:rPr>
              <a:t>ao</a:t>
            </a:r>
            <a:r>
              <a:rPr sz="1600" i="1" spc="-5" dirty="0">
                <a:latin typeface="Arial"/>
                <a:cs typeface="Arial"/>
              </a:rPr>
              <a:t>, </a:t>
            </a:r>
            <a:r>
              <a:rPr sz="1600" i="1" dirty="0">
                <a:latin typeface="Arial"/>
                <a:cs typeface="Arial"/>
              </a:rPr>
              <a:t>PN</a:t>
            </a:r>
            <a:r>
              <a:rPr sz="1600" i="1" spc="-15" dirty="0">
                <a:latin typeface="Arial"/>
                <a:cs typeface="Arial"/>
              </a:rPr>
              <a:t>AS</a:t>
            </a:r>
            <a:r>
              <a:rPr sz="1600" i="1" spc="-5" dirty="0">
                <a:latin typeface="Arial"/>
                <a:cs typeface="Arial"/>
              </a:rPr>
              <a:t> </a:t>
            </a:r>
            <a:r>
              <a:rPr sz="1600" i="1" spc="-120" dirty="0">
                <a:latin typeface="Arial"/>
                <a:cs typeface="Arial"/>
              </a:rPr>
              <a:t>11</a:t>
            </a:r>
            <a:r>
              <a:rPr sz="1600" i="1" dirty="0">
                <a:latin typeface="Arial"/>
                <a:cs typeface="Arial"/>
              </a:rPr>
              <a:t>1</a:t>
            </a:r>
            <a:r>
              <a:rPr sz="1600" i="1" spc="-5" dirty="0">
                <a:latin typeface="Arial"/>
                <a:cs typeface="Arial"/>
              </a:rPr>
              <a:t>:</a:t>
            </a:r>
            <a:r>
              <a:rPr sz="1600" i="1" dirty="0">
                <a:latin typeface="Arial"/>
                <a:cs typeface="Arial"/>
              </a:rPr>
              <a:t>10810-10817</a:t>
            </a:r>
            <a:endParaRPr sz="1600">
              <a:latin typeface="Arial"/>
              <a:cs typeface="Arial"/>
            </a:endParaRPr>
          </a:p>
        </p:txBody>
      </p:sp>
      <p:sp>
        <p:nvSpPr>
          <p:cNvPr id="9" name="Rectangle 8">
            <a:extLst>
              <a:ext uri="{FF2B5EF4-FFF2-40B4-BE49-F238E27FC236}">
                <a16:creationId xmlns:a16="http://schemas.microsoft.com/office/drawing/2014/main" id="{08815490-440F-B4AC-4C16-1161BA6B406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1049B693-12FA-0833-0F27-664034EF4E8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Slide Number Placeholder 8">
            <a:extLst>
              <a:ext uri="{FF2B5EF4-FFF2-40B4-BE49-F238E27FC236}">
                <a16:creationId xmlns:a16="http://schemas.microsoft.com/office/drawing/2014/main" id="{C55DB43C-1BBD-415A-11D6-9CE4EBDF6D6D}"/>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52</a:t>
            </a:fld>
            <a:r>
              <a:rPr lang="en-US" sz="2000" dirty="0">
                <a:solidFill>
                  <a:prstClr val="black"/>
                </a:solidFill>
                <a:latin typeface="Comic Sans MS"/>
                <a:sym typeface="Comic Sans MS"/>
              </a:rPr>
              <a:t>/59</a:t>
            </a:r>
          </a:p>
        </p:txBody>
      </p:sp>
      <p:sp>
        <p:nvSpPr>
          <p:cNvPr id="12" name="Footer Placeholder 9">
            <a:extLst>
              <a:ext uri="{FF2B5EF4-FFF2-40B4-BE49-F238E27FC236}">
                <a16:creationId xmlns:a16="http://schemas.microsoft.com/office/drawing/2014/main" id="{7927F7A7-1FC4-35F8-74AB-E9E57547D8D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3" name="Rectangle 12">
            <a:extLst>
              <a:ext uri="{FF2B5EF4-FFF2-40B4-BE49-F238E27FC236}">
                <a16:creationId xmlns:a16="http://schemas.microsoft.com/office/drawing/2014/main" id="{693755A9-630A-89D6-D962-B48B0CF5621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0325" rIns="0" bIns="0" rtlCol="0">
            <a:spAutoFit/>
          </a:bodyPr>
          <a:lstStyle/>
          <a:p>
            <a:pPr marL="104775">
              <a:lnSpc>
                <a:spcPct val="100000"/>
              </a:lnSpc>
            </a:pPr>
            <a:r>
              <a:rPr spc="15" dirty="0">
                <a:latin typeface="Arial"/>
                <a:cs typeface="Arial"/>
              </a:rPr>
              <a:t>Adaptive Dynamics: </a:t>
            </a:r>
            <a:r>
              <a:rPr spc="40" dirty="0">
                <a:latin typeface="Arial"/>
                <a:cs typeface="Arial"/>
              </a:rPr>
              <a:t>Snowdrift </a:t>
            </a:r>
            <a:r>
              <a:rPr spc="-20" dirty="0">
                <a:latin typeface="Arial"/>
                <a:cs typeface="Arial"/>
              </a:rPr>
              <a:t>Example</a:t>
            </a:r>
          </a:p>
        </p:txBody>
      </p:sp>
      <p:sp>
        <p:nvSpPr>
          <p:cNvPr id="6" name="object 6"/>
          <p:cNvSpPr/>
          <p:nvPr/>
        </p:nvSpPr>
        <p:spPr>
          <a:xfrm>
            <a:off x="1570978" y="2048955"/>
            <a:ext cx="4140132" cy="2760088"/>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4894775" y="5347478"/>
            <a:ext cx="2029460" cy="406400"/>
          </a:xfrm>
          <a:prstGeom prst="rect">
            <a:avLst/>
          </a:prstGeom>
        </p:spPr>
        <p:txBody>
          <a:bodyPr vert="horz" wrap="square" lIns="0" tIns="0" rIns="0" bIns="0" rtlCol="0">
            <a:spAutoFit/>
          </a:bodyPr>
          <a:lstStyle/>
          <a:p>
            <a:pPr marL="12700">
              <a:lnSpc>
                <a:spcPct val="100000"/>
              </a:lnSpc>
            </a:pPr>
            <a:r>
              <a:rPr sz="3000" spc="-75" dirty="0">
                <a:latin typeface="Arial"/>
                <a:cs typeface="Arial"/>
              </a:rPr>
              <a:t>F</a:t>
            </a:r>
            <a:r>
              <a:rPr sz="3000" spc="-95" dirty="0">
                <a:latin typeface="Arial"/>
                <a:cs typeface="Arial"/>
              </a:rPr>
              <a:t>r</a:t>
            </a:r>
            <a:r>
              <a:rPr sz="3000" spc="-15" dirty="0">
                <a:latin typeface="Arial"/>
                <a:cs typeface="Arial"/>
              </a:rPr>
              <a:t>eeloaders</a:t>
            </a:r>
            <a:endParaRPr sz="3000">
              <a:latin typeface="Arial"/>
              <a:cs typeface="Arial"/>
            </a:endParaRPr>
          </a:p>
        </p:txBody>
      </p:sp>
      <p:grpSp>
        <p:nvGrpSpPr>
          <p:cNvPr id="12" name="Group 11">
            <a:extLst>
              <a:ext uri="{FF2B5EF4-FFF2-40B4-BE49-F238E27FC236}">
                <a16:creationId xmlns:a16="http://schemas.microsoft.com/office/drawing/2014/main" id="{CFCE4B9C-01F8-0BA0-09C1-678C9A1F1791}"/>
              </a:ext>
            </a:extLst>
          </p:cNvPr>
          <p:cNvGrpSpPr/>
          <p:nvPr/>
        </p:nvGrpSpPr>
        <p:grpSpPr>
          <a:xfrm>
            <a:off x="4913868" y="3681764"/>
            <a:ext cx="610632" cy="1627614"/>
            <a:chOff x="4913868" y="3681764"/>
            <a:chExt cx="610632" cy="1627614"/>
          </a:xfrm>
        </p:grpSpPr>
        <p:sp>
          <p:nvSpPr>
            <p:cNvPr id="9" name="object 9"/>
            <p:cNvSpPr/>
            <p:nvPr/>
          </p:nvSpPr>
          <p:spPr>
            <a:xfrm>
              <a:off x="4913868" y="3681764"/>
              <a:ext cx="160655" cy="184785"/>
            </a:xfrm>
            <a:custGeom>
              <a:avLst/>
              <a:gdLst/>
              <a:ahLst/>
              <a:cxnLst/>
              <a:rect l="l" t="t" r="r" b="b"/>
              <a:pathLst>
                <a:path w="160654" h="184785">
                  <a:moveTo>
                    <a:pt x="31927" y="0"/>
                  </a:moveTo>
                  <a:lnTo>
                    <a:pt x="0" y="184687"/>
                  </a:lnTo>
                  <a:lnTo>
                    <a:pt x="160521" y="136354"/>
                  </a:lnTo>
                  <a:lnTo>
                    <a:pt x="31927" y="0"/>
                  </a:lnTo>
                  <a:close/>
                </a:path>
              </a:pathLst>
            </a:custGeom>
            <a:solidFill>
              <a:srgbClr val="ABABAB"/>
            </a:solidFill>
          </p:spPr>
          <p:txBody>
            <a:bodyPr wrap="square" lIns="0" tIns="0" rIns="0" bIns="0" rtlCol="0"/>
            <a:lstStyle/>
            <a:p>
              <a:endParaRPr/>
            </a:p>
          </p:txBody>
        </p:sp>
        <p:cxnSp>
          <p:nvCxnSpPr>
            <p:cNvPr id="11" name="Straight Connector 10">
              <a:extLst>
                <a:ext uri="{FF2B5EF4-FFF2-40B4-BE49-F238E27FC236}">
                  <a16:creationId xmlns:a16="http://schemas.microsoft.com/office/drawing/2014/main" id="{4296C589-70C5-D6C2-F3A1-659C476C7BA1}"/>
                </a:ext>
              </a:extLst>
            </p:cNvPr>
            <p:cNvCxnSpPr/>
            <p:nvPr/>
          </p:nvCxnSpPr>
          <p:spPr>
            <a:xfrm>
              <a:off x="4991100" y="3828449"/>
              <a:ext cx="533400" cy="1480929"/>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id="{D7FA2E02-24DF-04DF-1B9C-AD77A3CCA5D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BFA32901-9B7A-E494-3E85-3512E37FD4C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Slide Number Placeholder 8">
            <a:extLst>
              <a:ext uri="{FF2B5EF4-FFF2-40B4-BE49-F238E27FC236}">
                <a16:creationId xmlns:a16="http://schemas.microsoft.com/office/drawing/2014/main" id="{7A296459-8856-FAD1-D6E5-32819DF2188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53</a:t>
            </a:fld>
            <a:r>
              <a:rPr lang="en-US" sz="2000" dirty="0">
                <a:solidFill>
                  <a:prstClr val="black"/>
                </a:solidFill>
                <a:latin typeface="Comic Sans MS"/>
                <a:sym typeface="Comic Sans MS"/>
              </a:rPr>
              <a:t>/59</a:t>
            </a:r>
          </a:p>
        </p:txBody>
      </p:sp>
      <p:sp>
        <p:nvSpPr>
          <p:cNvPr id="16" name="Footer Placeholder 9">
            <a:extLst>
              <a:ext uri="{FF2B5EF4-FFF2-40B4-BE49-F238E27FC236}">
                <a16:creationId xmlns:a16="http://schemas.microsoft.com/office/drawing/2014/main" id="{6EC7C3EC-EFBD-3EF9-DC01-9D22E262BD58}"/>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7" name="Rectangle 16">
            <a:extLst>
              <a:ext uri="{FF2B5EF4-FFF2-40B4-BE49-F238E27FC236}">
                <a16:creationId xmlns:a16="http://schemas.microsoft.com/office/drawing/2014/main" id="{627FDDD1-A185-D48C-2EDA-E69D9F0164B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Snowdri</a:t>
            </a:r>
            <a:r>
              <a:rPr spc="-15" dirty="0"/>
              <a:t>f</a:t>
            </a:r>
            <a:r>
              <a:rPr spc="-10" dirty="0"/>
              <a:t>t</a:t>
            </a:r>
            <a:r>
              <a:rPr spc="-5" dirty="0"/>
              <a:t> </a:t>
            </a:r>
            <a:r>
              <a:rPr spc="-30" dirty="0"/>
              <a:t>G</a:t>
            </a:r>
            <a:r>
              <a:rPr dirty="0"/>
              <a:t>ames</a:t>
            </a:r>
          </a:p>
        </p:txBody>
      </p:sp>
      <p:sp>
        <p:nvSpPr>
          <p:cNvPr id="6" name="object 6"/>
          <p:cNvSpPr txBox="1"/>
          <p:nvPr/>
        </p:nvSpPr>
        <p:spPr>
          <a:xfrm>
            <a:off x="419791" y="1401811"/>
            <a:ext cx="7101840" cy="4084320"/>
          </a:xfrm>
          <a:prstGeom prst="rect">
            <a:avLst/>
          </a:prstGeom>
        </p:spPr>
        <p:txBody>
          <a:bodyPr vert="horz" wrap="square" lIns="0" tIns="0" rIns="0" bIns="0" rtlCol="0">
            <a:spAutoFit/>
          </a:bodyPr>
          <a:lstStyle/>
          <a:p>
            <a:pPr marL="12700">
              <a:lnSpc>
                <a:spcPts val="3354"/>
              </a:lnSpc>
            </a:pPr>
            <a:r>
              <a:rPr sz="2800" dirty="0">
                <a:latin typeface="Gill Sans MT"/>
                <a:cs typeface="Gill Sans MT"/>
              </a:rPr>
              <a:t>S</a:t>
            </a:r>
            <a:r>
              <a:rPr sz="2800" spc="-5" dirty="0">
                <a:latin typeface="Gill Sans MT"/>
                <a:cs typeface="Gill Sans MT"/>
              </a:rPr>
              <a:t>i</a:t>
            </a:r>
            <a:r>
              <a:rPr sz="2800" dirty="0">
                <a:latin typeface="Gill Sans MT"/>
                <a:cs typeface="Gill Sans MT"/>
              </a:rPr>
              <a:t>m</a:t>
            </a:r>
            <a:r>
              <a:rPr sz="2800" spc="-5" dirty="0">
                <a:latin typeface="Gill Sans MT"/>
                <a:cs typeface="Gill Sans MT"/>
              </a:rPr>
              <a:t>il</a:t>
            </a:r>
            <a:r>
              <a:rPr sz="2800" spc="-15" dirty="0">
                <a:latin typeface="Gill Sans MT"/>
                <a:cs typeface="Gill Sans MT"/>
              </a:rPr>
              <a:t>ar</a:t>
            </a:r>
            <a:r>
              <a:rPr sz="2800" spc="-5" dirty="0">
                <a:latin typeface="Gill Sans MT"/>
                <a:cs typeface="Gill Sans MT"/>
              </a:rPr>
              <a:t> </a:t>
            </a:r>
            <a:r>
              <a:rPr sz="2800" spc="-15" dirty="0">
                <a:latin typeface="Gill Sans MT"/>
                <a:cs typeface="Gill Sans MT"/>
              </a:rPr>
              <a:t>to</a:t>
            </a:r>
            <a:r>
              <a:rPr sz="2800" spc="-5" dirty="0">
                <a:latin typeface="Gill Sans MT"/>
                <a:cs typeface="Gill Sans MT"/>
              </a:rPr>
              <a:t> </a:t>
            </a:r>
            <a:r>
              <a:rPr sz="2800" dirty="0">
                <a:latin typeface="Gill Sans MT"/>
                <a:cs typeface="Gill Sans MT"/>
              </a:rPr>
              <a:t>pri</a:t>
            </a:r>
            <a:r>
              <a:rPr sz="2800" spc="-15" dirty="0">
                <a:latin typeface="Gill Sans MT"/>
                <a:cs typeface="Gill Sans MT"/>
              </a:rPr>
              <a:t>so</a:t>
            </a:r>
            <a:r>
              <a:rPr sz="2800" dirty="0">
                <a:latin typeface="Gill Sans MT"/>
                <a:cs typeface="Gill Sans MT"/>
              </a:rPr>
              <a:t>ner</a:t>
            </a:r>
            <a:r>
              <a:rPr sz="2800" spc="-225" dirty="0">
                <a:latin typeface="Gill Sans MT"/>
                <a:cs typeface="Gill Sans MT"/>
              </a:rPr>
              <a:t>’</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d</a:t>
            </a:r>
            <a:r>
              <a:rPr sz="2800" spc="-5" dirty="0">
                <a:latin typeface="Gill Sans MT"/>
                <a:cs typeface="Gill Sans MT"/>
              </a:rPr>
              <a:t>il</a:t>
            </a:r>
            <a:r>
              <a:rPr sz="2800" spc="-20" dirty="0">
                <a:latin typeface="Gill Sans MT"/>
                <a:cs typeface="Gill Sans MT"/>
              </a:rPr>
              <a:t>emma</a:t>
            </a:r>
            <a:endParaRPr sz="2800" dirty="0">
              <a:latin typeface="Gill Sans MT"/>
              <a:cs typeface="Gill Sans MT"/>
            </a:endParaRPr>
          </a:p>
          <a:p>
            <a:pPr marL="12700" marR="1901189">
              <a:lnSpc>
                <a:spcPts val="3229"/>
              </a:lnSpc>
              <a:spcBef>
                <a:spcPts val="204"/>
              </a:spcBef>
            </a:pPr>
            <a:r>
              <a:rPr sz="2800" dirty="0">
                <a:latin typeface="Gill Sans MT"/>
                <a:cs typeface="Gill Sans MT"/>
              </a:rPr>
              <a:t>but</a:t>
            </a:r>
            <a:r>
              <a:rPr sz="2800" spc="-5" dirty="0">
                <a:latin typeface="Gill Sans MT"/>
                <a:cs typeface="Gill Sans MT"/>
              </a:rPr>
              <a:t> </a:t>
            </a:r>
            <a:r>
              <a:rPr sz="2800" dirty="0">
                <a:latin typeface="Gill Sans MT"/>
                <a:cs typeface="Gill Sans MT"/>
              </a:rPr>
              <a:t>he</a:t>
            </a:r>
            <a:r>
              <a:rPr sz="2800" spc="-60" dirty="0">
                <a:latin typeface="Gill Sans MT"/>
                <a:cs typeface="Gill Sans MT"/>
              </a:rPr>
              <a:t>r</a:t>
            </a:r>
            <a:r>
              <a:rPr sz="2800" dirty="0">
                <a:latin typeface="Gill Sans MT"/>
                <a:cs typeface="Gill Sans MT"/>
              </a:rPr>
              <a:t>e</a:t>
            </a:r>
            <a:r>
              <a:rPr sz="2800" spc="-5" dirty="0">
                <a:latin typeface="Gill Sans MT"/>
                <a:cs typeface="Gill Sans MT"/>
              </a:rPr>
              <a:t> wi</a:t>
            </a:r>
            <a:r>
              <a:rPr sz="2800" dirty="0">
                <a:latin typeface="Gill Sans MT"/>
                <a:cs typeface="Gill Sans MT"/>
              </a:rPr>
              <a:t>th</a:t>
            </a:r>
            <a:r>
              <a:rPr sz="2800" spc="-5" dirty="0">
                <a:latin typeface="Gill Sans MT"/>
                <a:cs typeface="Gill Sans MT"/>
              </a:rPr>
              <a:t> </a:t>
            </a:r>
            <a:r>
              <a:rPr sz="2800" spc="-15" dirty="0">
                <a:latin typeface="Gill Sans MT"/>
                <a:cs typeface="Gill Sans MT"/>
              </a:rPr>
              <a:t>co</a:t>
            </a:r>
            <a:r>
              <a:rPr sz="2800" dirty="0">
                <a:latin typeface="Gill Sans MT"/>
                <a:cs typeface="Gill Sans MT"/>
              </a:rPr>
              <a:t>nt</a:t>
            </a:r>
            <a:r>
              <a:rPr sz="2800" spc="-5" dirty="0">
                <a:latin typeface="Gill Sans MT"/>
                <a:cs typeface="Gill Sans MT"/>
              </a:rPr>
              <a:t>i</a:t>
            </a:r>
            <a:r>
              <a:rPr sz="2800" spc="-30" dirty="0">
                <a:latin typeface="Gill Sans MT"/>
                <a:cs typeface="Gill Sans MT"/>
              </a:rPr>
              <a:t>n</a:t>
            </a:r>
            <a:r>
              <a:rPr sz="2800" spc="-15" dirty="0">
                <a:latin typeface="Gill Sans MT"/>
                <a:cs typeface="Gill Sans MT"/>
              </a:rPr>
              <a:t>uous</a:t>
            </a:r>
            <a:r>
              <a:rPr sz="2800" spc="-5" dirty="0">
                <a:latin typeface="Gill Sans MT"/>
                <a:cs typeface="Gill Sans MT"/>
              </a:rPr>
              <a:t> </a:t>
            </a:r>
            <a:r>
              <a:rPr sz="2800" spc="-15" dirty="0">
                <a:latin typeface="Gill Sans MT"/>
                <a:cs typeface="Gill Sans MT"/>
              </a:rPr>
              <a:t>tra</a:t>
            </a:r>
            <a:r>
              <a:rPr sz="2800" spc="-5" dirty="0">
                <a:latin typeface="Gill Sans MT"/>
                <a:cs typeface="Gill Sans MT"/>
              </a:rPr>
              <a:t>i</a:t>
            </a:r>
            <a:r>
              <a:rPr sz="2800" dirty="0">
                <a:latin typeface="Gill Sans MT"/>
                <a:cs typeface="Gill Sans MT"/>
              </a:rPr>
              <a:t>t</a:t>
            </a:r>
            <a:r>
              <a:rPr sz="2800" spc="-5" dirty="0">
                <a:latin typeface="Gill Sans MT"/>
                <a:cs typeface="Gill Sans MT"/>
              </a:rPr>
              <a:t> </a:t>
            </a:r>
            <a:r>
              <a:rPr sz="2800" spc="-15" dirty="0">
                <a:latin typeface="Gill Sans MT"/>
                <a:cs typeface="Gill Sans MT"/>
              </a:rPr>
              <a:t>va</a:t>
            </a:r>
            <a:r>
              <a:rPr sz="2800" spc="-5" dirty="0">
                <a:latin typeface="Gill Sans MT"/>
                <a:cs typeface="Gill Sans MT"/>
              </a:rPr>
              <a:t>l</a:t>
            </a:r>
            <a:r>
              <a:rPr sz="2800" dirty="0">
                <a:latin typeface="Gill Sans MT"/>
                <a:cs typeface="Gill Sans MT"/>
              </a:rPr>
              <a:t>ue </a:t>
            </a:r>
            <a:r>
              <a:rPr sz="2800" spc="-5" dirty="0">
                <a:latin typeface="Gill Sans MT"/>
                <a:cs typeface="Gill Sans MT"/>
              </a:rPr>
              <a:t>(i</a:t>
            </a:r>
            <a:r>
              <a:rPr sz="2800" spc="-45" dirty="0">
                <a:latin typeface="Gill Sans MT"/>
                <a:cs typeface="Gill Sans MT"/>
              </a:rPr>
              <a:t>n</a:t>
            </a:r>
            <a:r>
              <a:rPr sz="2800" spc="-75" dirty="0">
                <a:latin typeface="Gill Sans MT"/>
                <a:cs typeface="Gill Sans MT"/>
              </a:rPr>
              <a:t>v</a:t>
            </a:r>
            <a:r>
              <a:rPr sz="2800" spc="-15" dirty="0">
                <a:latin typeface="Gill Sans MT"/>
                <a:cs typeface="Gill Sans MT"/>
              </a:rPr>
              <a:t>es</a:t>
            </a:r>
            <a:r>
              <a:rPr sz="2800" dirty="0">
                <a:latin typeface="Gill Sans MT"/>
                <a:cs typeface="Gill Sans MT"/>
              </a:rPr>
              <a:t>tment</a:t>
            </a:r>
            <a:r>
              <a:rPr sz="2800" spc="-5" dirty="0">
                <a:latin typeface="Gill Sans MT"/>
                <a:cs typeface="Gill Sans MT"/>
              </a:rPr>
              <a:t> i</a:t>
            </a:r>
            <a:r>
              <a:rPr sz="2800" dirty="0">
                <a:latin typeface="Gill Sans MT"/>
                <a:cs typeface="Gill Sans MT"/>
              </a:rPr>
              <a:t>n</a:t>
            </a:r>
            <a:r>
              <a:rPr sz="2800" spc="-5" dirty="0">
                <a:latin typeface="Gill Sans MT"/>
                <a:cs typeface="Gill Sans MT"/>
              </a:rPr>
              <a:t> </a:t>
            </a:r>
            <a:r>
              <a:rPr sz="2800" dirty="0">
                <a:latin typeface="Gill Sans MT"/>
                <a:cs typeface="Gill Sans MT"/>
              </a:rPr>
              <a:t>the</a:t>
            </a:r>
            <a:r>
              <a:rPr sz="2800" spc="-5" dirty="0">
                <a:latin typeface="Gill Sans MT"/>
                <a:cs typeface="Gill Sans MT"/>
              </a:rPr>
              <a:t> </a:t>
            </a:r>
            <a:r>
              <a:rPr sz="2800" spc="-15" dirty="0">
                <a:latin typeface="Gill Sans MT"/>
                <a:cs typeface="Gill Sans MT"/>
              </a:rPr>
              <a:t>tas</a:t>
            </a:r>
            <a:r>
              <a:rPr sz="2800" dirty="0">
                <a:latin typeface="Gill Sans MT"/>
                <a:cs typeface="Gill Sans MT"/>
              </a:rPr>
              <a:t>k)</a:t>
            </a:r>
          </a:p>
          <a:p>
            <a:pPr marL="12700">
              <a:lnSpc>
                <a:spcPts val="3115"/>
              </a:lnSpc>
            </a:pPr>
            <a:r>
              <a:rPr sz="2800" spc="-15" dirty="0">
                <a:latin typeface="Gill Sans MT"/>
                <a:cs typeface="Gill Sans MT"/>
              </a:rPr>
              <a:t>and</a:t>
            </a:r>
            <a:r>
              <a:rPr sz="2800" spc="-5" dirty="0">
                <a:latin typeface="Gill Sans MT"/>
                <a:cs typeface="Gill Sans MT"/>
              </a:rPr>
              <a:t> </a:t>
            </a:r>
            <a:r>
              <a:rPr sz="2800" spc="-15" dirty="0">
                <a:latin typeface="Gill Sans MT"/>
                <a:cs typeface="Gill Sans MT"/>
              </a:rPr>
              <a:t>co</a:t>
            </a:r>
            <a:r>
              <a:rPr sz="2800" dirty="0">
                <a:latin typeface="Gill Sans MT"/>
                <a:cs typeface="Gill Sans MT"/>
              </a:rPr>
              <a:t>nt</a:t>
            </a:r>
            <a:r>
              <a:rPr sz="2800" spc="-5" dirty="0">
                <a:latin typeface="Gill Sans MT"/>
                <a:cs typeface="Gill Sans MT"/>
              </a:rPr>
              <a:t>i</a:t>
            </a:r>
            <a:r>
              <a:rPr sz="2800" spc="-30" dirty="0">
                <a:latin typeface="Gill Sans MT"/>
                <a:cs typeface="Gill Sans MT"/>
              </a:rPr>
              <a:t>n</a:t>
            </a:r>
            <a:r>
              <a:rPr sz="2800" spc="-15" dirty="0">
                <a:latin typeface="Gill Sans MT"/>
                <a:cs typeface="Gill Sans MT"/>
              </a:rPr>
              <a:t>uous</a:t>
            </a:r>
            <a:r>
              <a:rPr sz="2800" spc="-5" dirty="0">
                <a:latin typeface="Gill Sans MT"/>
                <a:cs typeface="Gill Sans MT"/>
              </a:rPr>
              <a:t> </a:t>
            </a:r>
            <a:r>
              <a:rPr sz="2800" dirty="0">
                <a:latin typeface="Gill Sans MT"/>
                <a:cs typeface="Gill Sans MT"/>
              </a:rPr>
              <a:t>p</a:t>
            </a:r>
            <a:r>
              <a:rPr sz="2800" spc="-130" dirty="0">
                <a:latin typeface="Gill Sans MT"/>
                <a:cs typeface="Gill Sans MT"/>
              </a:rPr>
              <a:t>a</a:t>
            </a:r>
            <a:r>
              <a:rPr sz="2800" spc="-75" dirty="0">
                <a:latin typeface="Gill Sans MT"/>
                <a:cs typeface="Gill Sans MT"/>
              </a:rPr>
              <a:t>y</a:t>
            </a:r>
            <a:r>
              <a:rPr sz="2800" spc="-20" dirty="0">
                <a:latin typeface="Gill Sans MT"/>
                <a:cs typeface="Gill Sans MT"/>
              </a:rPr>
              <a:t>o</a:t>
            </a:r>
            <a:r>
              <a:rPr sz="2800" dirty="0">
                <a:latin typeface="Gill Sans MT"/>
                <a:cs typeface="Gill Sans MT"/>
              </a:rPr>
              <a:t>ff</a:t>
            </a:r>
          </a:p>
          <a:p>
            <a:pPr>
              <a:lnSpc>
                <a:spcPct val="100000"/>
              </a:lnSpc>
              <a:spcBef>
                <a:spcPts val="46"/>
              </a:spcBef>
            </a:pPr>
            <a:endParaRPr sz="2600" dirty="0">
              <a:latin typeface="Times New Roman"/>
              <a:cs typeface="Times New Roman"/>
            </a:endParaRPr>
          </a:p>
          <a:p>
            <a:pPr marL="12700">
              <a:lnSpc>
                <a:spcPct val="100000"/>
              </a:lnSpc>
            </a:pPr>
            <a:r>
              <a:rPr sz="2950" spc="-135" dirty="0">
                <a:latin typeface="Lucida Sans Unicode"/>
                <a:cs typeface="Lucida Sans Unicode"/>
              </a:rPr>
              <a:t>Π</a:t>
            </a:r>
            <a:r>
              <a:rPr sz="2950" spc="-10" dirty="0">
                <a:latin typeface="Century"/>
                <a:cs typeface="Century"/>
              </a:rPr>
              <a:t>(</a:t>
            </a:r>
            <a:r>
              <a:rPr sz="2950" i="1" spc="-20" dirty="0">
                <a:latin typeface="Times New Roman"/>
                <a:cs typeface="Times New Roman"/>
              </a:rPr>
              <a:t>X</a:t>
            </a:r>
            <a:r>
              <a:rPr sz="2950" spc="-95" dirty="0">
                <a:latin typeface="Century"/>
                <a:cs typeface="Century"/>
              </a:rPr>
              <a:t>,</a:t>
            </a:r>
            <a:r>
              <a:rPr sz="2950" spc="-330" dirty="0">
                <a:latin typeface="Century"/>
                <a:cs typeface="Century"/>
              </a:rPr>
              <a:t> </a:t>
            </a:r>
            <a:r>
              <a:rPr sz="2950" i="1" spc="-20" dirty="0">
                <a:latin typeface="Times New Roman"/>
                <a:cs typeface="Times New Roman"/>
              </a:rPr>
              <a:t>Y</a:t>
            </a:r>
            <a:r>
              <a:rPr sz="2950" i="1" spc="-400" dirty="0">
                <a:latin typeface="Times New Roman"/>
                <a:cs typeface="Times New Roman"/>
              </a:rPr>
              <a:t> </a:t>
            </a:r>
            <a:r>
              <a:rPr sz="2950" spc="-10" dirty="0">
                <a:latin typeface="Century"/>
                <a:cs typeface="Century"/>
              </a:rPr>
              <a:t>)</a:t>
            </a:r>
            <a:r>
              <a:rPr sz="2950" spc="-5" dirty="0">
                <a:latin typeface="Century"/>
                <a:cs typeface="Century"/>
              </a:rPr>
              <a:t> </a:t>
            </a:r>
            <a:r>
              <a:rPr sz="2950" spc="210" dirty="0">
                <a:latin typeface="Century"/>
                <a:cs typeface="Century"/>
              </a:rPr>
              <a:t>=</a:t>
            </a:r>
            <a:r>
              <a:rPr sz="2950" spc="-5" dirty="0">
                <a:latin typeface="Century"/>
                <a:cs typeface="Century"/>
              </a:rPr>
              <a:t> </a:t>
            </a:r>
            <a:r>
              <a:rPr sz="2950" i="1" spc="-20" dirty="0">
                <a:latin typeface="Times New Roman"/>
                <a:cs typeface="Times New Roman"/>
              </a:rPr>
              <a:t>B</a:t>
            </a:r>
            <a:r>
              <a:rPr sz="2950" spc="-10" dirty="0">
                <a:latin typeface="Century"/>
                <a:cs typeface="Century"/>
              </a:rPr>
              <a:t>(</a:t>
            </a:r>
            <a:r>
              <a:rPr sz="2950" i="1" spc="-20" dirty="0">
                <a:latin typeface="Times New Roman"/>
                <a:cs typeface="Times New Roman"/>
              </a:rPr>
              <a:t>X</a:t>
            </a:r>
            <a:r>
              <a:rPr sz="2950" i="1" spc="-85" dirty="0">
                <a:latin typeface="Times New Roman"/>
                <a:cs typeface="Times New Roman"/>
              </a:rPr>
              <a:t> </a:t>
            </a:r>
            <a:r>
              <a:rPr sz="2950" spc="210" dirty="0">
                <a:latin typeface="Century"/>
                <a:cs typeface="Century"/>
              </a:rPr>
              <a:t>+</a:t>
            </a:r>
            <a:r>
              <a:rPr sz="2950" spc="-170" dirty="0">
                <a:latin typeface="Century"/>
                <a:cs typeface="Century"/>
              </a:rPr>
              <a:t> </a:t>
            </a:r>
            <a:r>
              <a:rPr sz="2950" i="1" spc="-20" dirty="0">
                <a:latin typeface="Times New Roman"/>
                <a:cs typeface="Times New Roman"/>
              </a:rPr>
              <a:t>Y</a:t>
            </a:r>
            <a:r>
              <a:rPr sz="2950" i="1" spc="-400" dirty="0">
                <a:latin typeface="Times New Roman"/>
                <a:cs typeface="Times New Roman"/>
              </a:rPr>
              <a:t> </a:t>
            </a:r>
            <a:r>
              <a:rPr sz="2950" spc="-10" dirty="0">
                <a:latin typeface="Century"/>
                <a:cs typeface="Century"/>
              </a:rPr>
              <a:t>)</a:t>
            </a:r>
            <a:r>
              <a:rPr sz="2950" spc="-170" dirty="0">
                <a:latin typeface="Century"/>
                <a:cs typeface="Century"/>
              </a:rPr>
              <a:t> </a:t>
            </a:r>
            <a:r>
              <a:rPr sz="2950" spc="-355" dirty="0">
                <a:latin typeface="Lucida Sans Unicode"/>
                <a:cs typeface="Lucida Sans Unicode"/>
              </a:rPr>
              <a:t>−</a:t>
            </a:r>
            <a:r>
              <a:rPr sz="2950" spc="-280" dirty="0">
                <a:latin typeface="Lucida Sans Unicode"/>
                <a:cs typeface="Lucida Sans Unicode"/>
              </a:rPr>
              <a:t> </a:t>
            </a:r>
            <a:r>
              <a:rPr sz="2950" i="1" spc="-20" dirty="0">
                <a:latin typeface="Times New Roman"/>
                <a:cs typeface="Times New Roman"/>
              </a:rPr>
              <a:t>C</a:t>
            </a:r>
            <a:r>
              <a:rPr sz="2950" spc="-10" dirty="0">
                <a:latin typeface="Century"/>
                <a:cs typeface="Century"/>
              </a:rPr>
              <a:t>(</a:t>
            </a:r>
            <a:r>
              <a:rPr sz="2950" i="1" spc="220" dirty="0">
                <a:latin typeface="Times New Roman"/>
                <a:cs typeface="Times New Roman"/>
              </a:rPr>
              <a:t>X</a:t>
            </a:r>
            <a:r>
              <a:rPr sz="2950" spc="-10" dirty="0">
                <a:latin typeface="Century"/>
                <a:cs typeface="Century"/>
              </a:rPr>
              <a:t>)</a:t>
            </a:r>
            <a:endParaRPr sz="2950" dirty="0">
              <a:latin typeface="Century"/>
              <a:cs typeface="Century"/>
            </a:endParaRPr>
          </a:p>
          <a:p>
            <a:pPr>
              <a:lnSpc>
                <a:spcPct val="100000"/>
              </a:lnSpc>
              <a:spcBef>
                <a:spcPts val="52"/>
              </a:spcBef>
            </a:pPr>
            <a:endParaRPr sz="2600" dirty="0">
              <a:latin typeface="Times New Roman"/>
              <a:cs typeface="Times New Roman"/>
            </a:endParaRPr>
          </a:p>
          <a:p>
            <a:pPr marL="12700">
              <a:lnSpc>
                <a:spcPct val="100000"/>
              </a:lnSpc>
            </a:pPr>
            <a:r>
              <a:rPr sz="2800" spc="-15" dirty="0">
                <a:latin typeface="Gill Sans MT"/>
                <a:cs typeface="Gill Sans MT"/>
              </a:rPr>
              <a:t>co</a:t>
            </a:r>
            <a:r>
              <a:rPr sz="2800" spc="-5" dirty="0">
                <a:latin typeface="Gill Sans MT"/>
                <a:cs typeface="Gill Sans MT"/>
              </a:rPr>
              <a:t>ll</a:t>
            </a:r>
            <a:r>
              <a:rPr sz="2800" dirty="0">
                <a:latin typeface="Gill Sans MT"/>
                <a:cs typeface="Gill Sans MT"/>
              </a:rPr>
              <a:t>ecti</a:t>
            </a:r>
            <a:r>
              <a:rPr sz="2800" spc="-75" dirty="0">
                <a:latin typeface="Gill Sans MT"/>
                <a:cs typeface="Gill Sans MT"/>
              </a:rPr>
              <a:t>v</a:t>
            </a:r>
            <a:r>
              <a:rPr sz="2800" dirty="0">
                <a:latin typeface="Gill Sans MT"/>
                <a:cs typeface="Gill Sans MT"/>
              </a:rPr>
              <a:t>e</a:t>
            </a:r>
            <a:r>
              <a:rPr sz="2800" spc="-5" dirty="0">
                <a:latin typeface="Gill Sans MT"/>
                <a:cs typeface="Gill Sans MT"/>
              </a:rPr>
              <a:t> </a:t>
            </a:r>
            <a:r>
              <a:rPr sz="2800" dirty="0">
                <a:latin typeface="Gill Sans MT"/>
                <a:cs typeface="Gill Sans MT"/>
              </a:rPr>
              <a:t>bene</a:t>
            </a:r>
            <a:r>
              <a:rPr sz="2800" spc="35" dirty="0">
                <a:latin typeface="Gill Sans MT"/>
                <a:cs typeface="Gill Sans MT"/>
              </a:rPr>
              <a:t>fi</a:t>
            </a:r>
            <a:r>
              <a:rPr sz="2800" dirty="0">
                <a:latin typeface="Gill Sans MT"/>
                <a:cs typeface="Gill Sans MT"/>
              </a:rPr>
              <a:t>t</a:t>
            </a:r>
            <a:r>
              <a:rPr sz="2800" spc="-5" dirty="0">
                <a:latin typeface="Gill Sans MT"/>
                <a:cs typeface="Gill Sans MT"/>
              </a:rPr>
              <a:t> </a:t>
            </a:r>
            <a:r>
              <a:rPr sz="2800" dirty="0">
                <a:latin typeface="Gill Sans MT"/>
                <a:cs typeface="Gill Sans MT"/>
              </a:rPr>
              <a:t>but</a:t>
            </a:r>
            <a:r>
              <a:rPr sz="2800" spc="-5" dirty="0">
                <a:latin typeface="Gill Sans MT"/>
                <a:cs typeface="Gill Sans MT"/>
              </a:rPr>
              <a:t> i</a:t>
            </a:r>
            <a:r>
              <a:rPr sz="2800" spc="-15" dirty="0">
                <a:latin typeface="Gill Sans MT"/>
                <a:cs typeface="Gill Sans MT"/>
              </a:rPr>
              <a:t>nd</a:t>
            </a:r>
            <a:r>
              <a:rPr sz="2800" spc="-5" dirty="0">
                <a:latin typeface="Gill Sans MT"/>
                <a:cs typeface="Gill Sans MT"/>
              </a:rPr>
              <a:t>i</a:t>
            </a:r>
            <a:r>
              <a:rPr sz="2800" dirty="0">
                <a:latin typeface="Gill Sans MT"/>
                <a:cs typeface="Gill Sans MT"/>
              </a:rPr>
              <a:t>v</a:t>
            </a:r>
            <a:r>
              <a:rPr sz="2800" spc="-5" dirty="0">
                <a:latin typeface="Gill Sans MT"/>
                <a:cs typeface="Gill Sans MT"/>
              </a:rPr>
              <a:t>i</a:t>
            </a:r>
            <a:r>
              <a:rPr sz="2800" spc="-15" dirty="0">
                <a:latin typeface="Gill Sans MT"/>
                <a:cs typeface="Gill Sans MT"/>
              </a:rPr>
              <a:t>dua</a:t>
            </a:r>
            <a:r>
              <a:rPr sz="2800" dirty="0">
                <a:latin typeface="Gill Sans MT"/>
                <a:cs typeface="Gill Sans MT"/>
              </a:rPr>
              <a:t>l</a:t>
            </a:r>
            <a:r>
              <a:rPr sz="2800" spc="-5" dirty="0">
                <a:latin typeface="Gill Sans MT"/>
                <a:cs typeface="Gill Sans MT"/>
              </a:rPr>
              <a:t> </a:t>
            </a:r>
            <a:r>
              <a:rPr sz="2800" spc="-15" dirty="0">
                <a:latin typeface="Gill Sans MT"/>
                <a:cs typeface="Gill Sans MT"/>
              </a:rPr>
              <a:t>cos</a:t>
            </a:r>
            <a:r>
              <a:rPr sz="2800" dirty="0">
                <a:latin typeface="Gill Sans MT"/>
                <a:cs typeface="Gill Sans MT"/>
              </a:rPr>
              <a:t>t</a:t>
            </a:r>
          </a:p>
          <a:p>
            <a:pPr>
              <a:lnSpc>
                <a:spcPct val="100000"/>
              </a:lnSpc>
              <a:spcBef>
                <a:spcPts val="50"/>
              </a:spcBef>
            </a:pPr>
            <a:endParaRPr sz="2600" dirty="0">
              <a:latin typeface="Times New Roman"/>
              <a:cs typeface="Times New Roman"/>
            </a:endParaRPr>
          </a:p>
          <a:p>
            <a:pPr marL="12700">
              <a:lnSpc>
                <a:spcPct val="100000"/>
              </a:lnSpc>
            </a:pPr>
            <a:r>
              <a:rPr sz="2800" spc="-60" dirty="0">
                <a:solidFill>
                  <a:srgbClr val="C82506"/>
                </a:solidFill>
                <a:latin typeface="Gill Sans MT"/>
                <a:cs typeface="Gill Sans MT"/>
              </a:rPr>
              <a:t>w</a:t>
            </a:r>
            <a:r>
              <a:rPr sz="2800" dirty="0">
                <a:solidFill>
                  <a:srgbClr val="C82506"/>
                </a:solidFill>
                <a:latin typeface="Gill Sans MT"/>
                <a:cs typeface="Gill Sans MT"/>
              </a:rPr>
              <a:t>e</a:t>
            </a:r>
            <a:r>
              <a:rPr sz="2800" spc="-5" dirty="0">
                <a:solidFill>
                  <a:srgbClr val="C82506"/>
                </a:solidFill>
                <a:latin typeface="Gill Sans MT"/>
                <a:cs typeface="Gill Sans MT"/>
              </a:rPr>
              <a:t> </a:t>
            </a:r>
            <a:r>
              <a:rPr sz="2800" spc="-15" dirty="0">
                <a:solidFill>
                  <a:srgbClr val="C82506"/>
                </a:solidFill>
                <a:latin typeface="Gill Sans MT"/>
                <a:cs typeface="Gill Sans MT"/>
              </a:rPr>
              <a:t>ca</a:t>
            </a:r>
            <a:r>
              <a:rPr sz="2800" dirty="0">
                <a:solidFill>
                  <a:srgbClr val="C82506"/>
                </a:solidFill>
                <a:latin typeface="Gill Sans MT"/>
                <a:cs typeface="Gill Sans MT"/>
              </a:rPr>
              <a:t>n</a:t>
            </a:r>
            <a:r>
              <a:rPr sz="2800" spc="-114" dirty="0">
                <a:solidFill>
                  <a:srgbClr val="C82506"/>
                </a:solidFill>
                <a:latin typeface="Gill Sans MT"/>
                <a:cs typeface="Gill Sans MT"/>
              </a:rPr>
              <a:t>’</a:t>
            </a:r>
            <a:r>
              <a:rPr sz="2800" dirty="0">
                <a:solidFill>
                  <a:srgbClr val="C82506"/>
                </a:solidFill>
                <a:latin typeface="Gill Sans MT"/>
                <a:cs typeface="Gill Sans MT"/>
              </a:rPr>
              <a:t>t</a:t>
            </a:r>
            <a:r>
              <a:rPr sz="2800" spc="-5" dirty="0">
                <a:solidFill>
                  <a:srgbClr val="C82506"/>
                </a:solidFill>
                <a:latin typeface="Gill Sans MT"/>
                <a:cs typeface="Gill Sans MT"/>
              </a:rPr>
              <a:t> </a:t>
            </a:r>
            <a:r>
              <a:rPr sz="2800" spc="-15" dirty="0">
                <a:solidFill>
                  <a:srgbClr val="C82506"/>
                </a:solidFill>
                <a:latin typeface="Gill Sans MT"/>
                <a:cs typeface="Gill Sans MT"/>
              </a:rPr>
              <a:t>hand</a:t>
            </a:r>
            <a:r>
              <a:rPr sz="2800" spc="-5" dirty="0">
                <a:solidFill>
                  <a:srgbClr val="C82506"/>
                </a:solidFill>
                <a:latin typeface="Gill Sans MT"/>
                <a:cs typeface="Gill Sans MT"/>
              </a:rPr>
              <a:t>l</a:t>
            </a:r>
            <a:r>
              <a:rPr sz="2800" dirty="0">
                <a:solidFill>
                  <a:srgbClr val="C82506"/>
                </a:solidFill>
                <a:latin typeface="Gill Sans MT"/>
                <a:cs typeface="Gill Sans MT"/>
              </a:rPr>
              <a:t>e</a:t>
            </a:r>
            <a:r>
              <a:rPr sz="2800" spc="-5" dirty="0">
                <a:solidFill>
                  <a:srgbClr val="C82506"/>
                </a:solidFill>
                <a:latin typeface="Gill Sans MT"/>
                <a:cs typeface="Gill Sans MT"/>
              </a:rPr>
              <a:t> </a:t>
            </a:r>
            <a:r>
              <a:rPr sz="2800" spc="-15" dirty="0">
                <a:solidFill>
                  <a:srgbClr val="C82506"/>
                </a:solidFill>
                <a:latin typeface="Gill Sans MT"/>
                <a:cs typeface="Gill Sans MT"/>
              </a:rPr>
              <a:t>co</a:t>
            </a:r>
            <a:r>
              <a:rPr sz="2800" dirty="0">
                <a:solidFill>
                  <a:srgbClr val="C82506"/>
                </a:solidFill>
                <a:latin typeface="Gill Sans MT"/>
                <a:cs typeface="Gill Sans MT"/>
              </a:rPr>
              <a:t>nt</a:t>
            </a:r>
            <a:r>
              <a:rPr sz="2800" spc="-5" dirty="0">
                <a:solidFill>
                  <a:srgbClr val="C82506"/>
                </a:solidFill>
                <a:latin typeface="Gill Sans MT"/>
                <a:cs typeface="Gill Sans MT"/>
              </a:rPr>
              <a:t>i</a:t>
            </a:r>
            <a:r>
              <a:rPr sz="2800" spc="-30" dirty="0">
                <a:solidFill>
                  <a:srgbClr val="C82506"/>
                </a:solidFill>
                <a:latin typeface="Gill Sans MT"/>
                <a:cs typeface="Gill Sans MT"/>
              </a:rPr>
              <a:t>n</a:t>
            </a:r>
            <a:r>
              <a:rPr sz="2800" spc="-15" dirty="0">
                <a:solidFill>
                  <a:srgbClr val="C82506"/>
                </a:solidFill>
                <a:latin typeface="Gill Sans MT"/>
                <a:cs typeface="Gill Sans MT"/>
              </a:rPr>
              <a:t>uous</a:t>
            </a:r>
            <a:r>
              <a:rPr sz="2800" spc="-5" dirty="0">
                <a:solidFill>
                  <a:srgbClr val="C82506"/>
                </a:solidFill>
                <a:latin typeface="Gill Sans MT"/>
                <a:cs typeface="Gill Sans MT"/>
              </a:rPr>
              <a:t> </a:t>
            </a:r>
            <a:r>
              <a:rPr sz="2800" spc="-15" dirty="0">
                <a:solidFill>
                  <a:srgbClr val="C82506"/>
                </a:solidFill>
                <a:latin typeface="Gill Sans MT"/>
                <a:cs typeface="Gill Sans MT"/>
              </a:rPr>
              <a:t>tra</a:t>
            </a:r>
            <a:r>
              <a:rPr sz="2800" spc="-5" dirty="0">
                <a:solidFill>
                  <a:srgbClr val="C82506"/>
                </a:solidFill>
                <a:latin typeface="Gill Sans MT"/>
                <a:cs typeface="Gill Sans MT"/>
              </a:rPr>
              <a:t>i</a:t>
            </a:r>
            <a:r>
              <a:rPr sz="2800" spc="-10" dirty="0">
                <a:solidFill>
                  <a:srgbClr val="C82506"/>
                </a:solidFill>
                <a:latin typeface="Gill Sans MT"/>
                <a:cs typeface="Gill Sans MT"/>
              </a:rPr>
              <a:t>ts</a:t>
            </a:r>
            <a:r>
              <a:rPr sz="2800" spc="-5" dirty="0">
                <a:solidFill>
                  <a:srgbClr val="C82506"/>
                </a:solidFill>
                <a:latin typeface="Gill Sans MT"/>
                <a:cs typeface="Gill Sans MT"/>
              </a:rPr>
              <a:t> wi</a:t>
            </a:r>
            <a:r>
              <a:rPr sz="2800" dirty="0">
                <a:solidFill>
                  <a:srgbClr val="C82506"/>
                </a:solidFill>
                <a:latin typeface="Gill Sans MT"/>
                <a:cs typeface="Gill Sans MT"/>
              </a:rPr>
              <a:t>th</a:t>
            </a:r>
            <a:r>
              <a:rPr sz="2800" spc="-5" dirty="0">
                <a:solidFill>
                  <a:srgbClr val="C82506"/>
                </a:solidFill>
                <a:latin typeface="Gill Sans MT"/>
                <a:cs typeface="Gill Sans MT"/>
              </a:rPr>
              <a:t> </a:t>
            </a:r>
            <a:r>
              <a:rPr sz="2800" spc="-75" dirty="0">
                <a:solidFill>
                  <a:srgbClr val="C82506"/>
                </a:solidFill>
                <a:latin typeface="Gill Sans MT"/>
                <a:cs typeface="Gill Sans MT"/>
              </a:rPr>
              <a:t>r</a:t>
            </a:r>
            <a:r>
              <a:rPr sz="2800" dirty="0">
                <a:solidFill>
                  <a:srgbClr val="C82506"/>
                </a:solidFill>
                <a:latin typeface="Gill Sans MT"/>
                <a:cs typeface="Gill Sans MT"/>
              </a:rPr>
              <a:t>epl</a:t>
            </a:r>
            <a:r>
              <a:rPr sz="2800" spc="-5" dirty="0">
                <a:solidFill>
                  <a:srgbClr val="C82506"/>
                </a:solidFill>
                <a:latin typeface="Gill Sans MT"/>
                <a:cs typeface="Gill Sans MT"/>
              </a:rPr>
              <a:t>i</a:t>
            </a:r>
            <a:r>
              <a:rPr sz="2800" spc="-15" dirty="0">
                <a:solidFill>
                  <a:srgbClr val="C82506"/>
                </a:solidFill>
                <a:latin typeface="Gill Sans MT"/>
                <a:cs typeface="Gill Sans MT"/>
              </a:rPr>
              <a:t>cator!</a:t>
            </a:r>
            <a:endParaRPr sz="2800" dirty="0">
              <a:latin typeface="Gill Sans MT"/>
              <a:cs typeface="Gill Sans MT"/>
            </a:endParaRPr>
          </a:p>
        </p:txBody>
      </p:sp>
      <p:sp>
        <p:nvSpPr>
          <p:cNvPr id="7" name="Rectangle 6">
            <a:extLst>
              <a:ext uri="{FF2B5EF4-FFF2-40B4-BE49-F238E27FC236}">
                <a16:creationId xmlns:a16="http://schemas.microsoft.com/office/drawing/2014/main" id="{CA2A9B9B-883C-8B1D-9105-2F06A880E6F7}"/>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E3FB9BEE-8BDE-00A7-13E0-D9E8E9CE3C5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F45537E7-010C-3AAE-FD1B-FC036DA13CD1}"/>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54</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7B2A8EC3-2FD3-1BA9-5A8A-1D1241DF077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F19E4B0B-EEC2-3B5A-CF65-35BCE6EA70B0}"/>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Snowdri</a:t>
            </a:r>
            <a:r>
              <a:rPr spc="-15" dirty="0"/>
              <a:t>f</a:t>
            </a:r>
            <a:r>
              <a:rPr spc="-10" dirty="0"/>
              <a:t>t</a:t>
            </a:r>
            <a:r>
              <a:rPr spc="-5" dirty="0"/>
              <a:t> </a:t>
            </a:r>
            <a:r>
              <a:rPr spc="-30" dirty="0"/>
              <a:t>G</a:t>
            </a:r>
            <a:r>
              <a:rPr dirty="0"/>
              <a:t>ame</a:t>
            </a:r>
            <a:r>
              <a:rPr spc="-5" dirty="0"/>
              <a:t> </a:t>
            </a:r>
            <a:r>
              <a:rPr spc="-15" dirty="0"/>
              <a:t>I</a:t>
            </a:r>
            <a:r>
              <a:rPr dirty="0"/>
              <a:t>mplemen</a:t>
            </a:r>
            <a:r>
              <a:rPr spc="-15" dirty="0"/>
              <a:t>t</a:t>
            </a:r>
            <a:r>
              <a:rPr dirty="0"/>
              <a:t>a</a:t>
            </a:r>
            <a:r>
              <a:rPr spc="-15" dirty="0"/>
              <a:t>t</a:t>
            </a:r>
            <a:r>
              <a:rPr dirty="0"/>
              <a:t>ion</a:t>
            </a:r>
          </a:p>
        </p:txBody>
      </p:sp>
      <p:sp>
        <p:nvSpPr>
          <p:cNvPr id="6" name="object 6"/>
          <p:cNvSpPr/>
          <p:nvPr/>
        </p:nvSpPr>
        <p:spPr>
          <a:xfrm>
            <a:off x="82811" y="1537012"/>
            <a:ext cx="2359660" cy="317500"/>
          </a:xfrm>
          <a:custGeom>
            <a:avLst/>
            <a:gdLst/>
            <a:ahLst/>
            <a:cxnLst/>
            <a:rect l="l" t="t" r="r" b="b"/>
            <a:pathLst>
              <a:path w="2359660" h="317500">
                <a:moveTo>
                  <a:pt x="0" y="0"/>
                </a:moveTo>
                <a:lnTo>
                  <a:pt x="2359535" y="0"/>
                </a:lnTo>
                <a:lnTo>
                  <a:pt x="2359535" y="317500"/>
                </a:lnTo>
                <a:lnTo>
                  <a:pt x="0" y="317500"/>
                </a:lnTo>
                <a:lnTo>
                  <a:pt x="0" y="0"/>
                </a:lnTo>
                <a:close/>
              </a:path>
            </a:pathLst>
          </a:custGeom>
          <a:solidFill>
            <a:srgbClr val="F7F7F7"/>
          </a:solidFill>
        </p:spPr>
        <p:txBody>
          <a:bodyPr wrap="square" lIns="0" tIns="0" rIns="0" bIns="0" rtlCol="0"/>
          <a:lstStyle/>
          <a:p>
            <a:endParaRPr/>
          </a:p>
        </p:txBody>
      </p:sp>
      <p:sp>
        <p:nvSpPr>
          <p:cNvPr id="7" name="object 7"/>
          <p:cNvSpPr/>
          <p:nvPr/>
        </p:nvSpPr>
        <p:spPr>
          <a:xfrm>
            <a:off x="82811" y="1854512"/>
            <a:ext cx="3303904" cy="317500"/>
          </a:xfrm>
          <a:custGeom>
            <a:avLst/>
            <a:gdLst/>
            <a:ahLst/>
            <a:cxnLst/>
            <a:rect l="l" t="t" r="r" b="b"/>
            <a:pathLst>
              <a:path w="3303904" h="317500">
                <a:moveTo>
                  <a:pt x="0" y="0"/>
                </a:moveTo>
                <a:lnTo>
                  <a:pt x="3303350" y="0"/>
                </a:lnTo>
                <a:lnTo>
                  <a:pt x="3303350" y="317500"/>
                </a:lnTo>
                <a:lnTo>
                  <a:pt x="0" y="317500"/>
                </a:lnTo>
                <a:lnTo>
                  <a:pt x="0" y="0"/>
                </a:lnTo>
                <a:close/>
              </a:path>
            </a:pathLst>
          </a:custGeom>
          <a:solidFill>
            <a:srgbClr val="F7F7F7"/>
          </a:solidFill>
        </p:spPr>
        <p:txBody>
          <a:bodyPr wrap="square" lIns="0" tIns="0" rIns="0" bIns="0" rtlCol="0"/>
          <a:lstStyle/>
          <a:p>
            <a:endParaRPr/>
          </a:p>
        </p:txBody>
      </p:sp>
      <p:sp>
        <p:nvSpPr>
          <p:cNvPr id="8" name="object 8"/>
          <p:cNvSpPr/>
          <p:nvPr/>
        </p:nvSpPr>
        <p:spPr>
          <a:xfrm>
            <a:off x="82811" y="2172012"/>
            <a:ext cx="5662930" cy="317500"/>
          </a:xfrm>
          <a:custGeom>
            <a:avLst/>
            <a:gdLst/>
            <a:ahLst/>
            <a:cxnLst/>
            <a:rect l="l" t="t" r="r" b="b"/>
            <a:pathLst>
              <a:path w="5662930" h="317500">
                <a:moveTo>
                  <a:pt x="0" y="0"/>
                </a:moveTo>
                <a:lnTo>
                  <a:pt x="5662885" y="0"/>
                </a:lnTo>
                <a:lnTo>
                  <a:pt x="5662885" y="317500"/>
                </a:lnTo>
                <a:lnTo>
                  <a:pt x="0" y="317500"/>
                </a:lnTo>
                <a:lnTo>
                  <a:pt x="0" y="0"/>
                </a:lnTo>
                <a:close/>
              </a:path>
            </a:pathLst>
          </a:custGeom>
          <a:solidFill>
            <a:srgbClr val="F7F7F7"/>
          </a:solidFill>
        </p:spPr>
        <p:txBody>
          <a:bodyPr wrap="square" lIns="0" tIns="0" rIns="0" bIns="0" rtlCol="0"/>
          <a:lstStyle/>
          <a:p>
            <a:endParaRPr/>
          </a:p>
        </p:txBody>
      </p:sp>
      <p:sp>
        <p:nvSpPr>
          <p:cNvPr id="9" name="object 9"/>
          <p:cNvSpPr/>
          <p:nvPr/>
        </p:nvSpPr>
        <p:spPr>
          <a:xfrm>
            <a:off x="82811" y="2489512"/>
            <a:ext cx="5034280" cy="317500"/>
          </a:xfrm>
          <a:custGeom>
            <a:avLst/>
            <a:gdLst/>
            <a:ahLst/>
            <a:cxnLst/>
            <a:rect l="l" t="t" r="r" b="b"/>
            <a:pathLst>
              <a:path w="5034280" h="317500">
                <a:moveTo>
                  <a:pt x="0" y="0"/>
                </a:moveTo>
                <a:lnTo>
                  <a:pt x="5033676" y="0"/>
                </a:lnTo>
                <a:lnTo>
                  <a:pt x="5033676" y="317500"/>
                </a:lnTo>
                <a:lnTo>
                  <a:pt x="0" y="317500"/>
                </a:lnTo>
                <a:lnTo>
                  <a:pt x="0" y="0"/>
                </a:lnTo>
                <a:close/>
              </a:path>
            </a:pathLst>
          </a:custGeom>
          <a:solidFill>
            <a:srgbClr val="F7F7F7"/>
          </a:solidFill>
        </p:spPr>
        <p:txBody>
          <a:bodyPr wrap="square" lIns="0" tIns="0" rIns="0" bIns="0" rtlCol="0"/>
          <a:lstStyle/>
          <a:p>
            <a:endParaRPr/>
          </a:p>
        </p:txBody>
      </p:sp>
      <p:sp>
        <p:nvSpPr>
          <p:cNvPr id="10" name="object 10"/>
          <p:cNvSpPr/>
          <p:nvPr/>
        </p:nvSpPr>
        <p:spPr>
          <a:xfrm>
            <a:off x="82811" y="2807012"/>
            <a:ext cx="7550784" cy="317500"/>
          </a:xfrm>
          <a:custGeom>
            <a:avLst/>
            <a:gdLst/>
            <a:ahLst/>
            <a:cxnLst/>
            <a:rect l="l" t="t" r="r" b="b"/>
            <a:pathLst>
              <a:path w="7550784" h="317500">
                <a:moveTo>
                  <a:pt x="0" y="0"/>
                </a:moveTo>
                <a:lnTo>
                  <a:pt x="7550514" y="0"/>
                </a:lnTo>
                <a:lnTo>
                  <a:pt x="7550514" y="317500"/>
                </a:lnTo>
                <a:lnTo>
                  <a:pt x="0" y="317500"/>
                </a:lnTo>
                <a:lnTo>
                  <a:pt x="0" y="0"/>
                </a:lnTo>
                <a:close/>
              </a:path>
            </a:pathLst>
          </a:custGeom>
          <a:solidFill>
            <a:srgbClr val="F7F7F7"/>
          </a:solidFill>
        </p:spPr>
        <p:txBody>
          <a:bodyPr wrap="square" lIns="0" tIns="0" rIns="0" bIns="0" rtlCol="0"/>
          <a:lstStyle/>
          <a:p>
            <a:endParaRPr/>
          </a:p>
        </p:txBody>
      </p:sp>
      <p:sp>
        <p:nvSpPr>
          <p:cNvPr id="11" name="object 11"/>
          <p:cNvSpPr/>
          <p:nvPr/>
        </p:nvSpPr>
        <p:spPr>
          <a:xfrm>
            <a:off x="82811" y="3124512"/>
            <a:ext cx="6135370" cy="317500"/>
          </a:xfrm>
          <a:custGeom>
            <a:avLst/>
            <a:gdLst/>
            <a:ahLst/>
            <a:cxnLst/>
            <a:rect l="l" t="t" r="r" b="b"/>
            <a:pathLst>
              <a:path w="6135370" h="317500">
                <a:moveTo>
                  <a:pt x="0" y="0"/>
                </a:moveTo>
                <a:lnTo>
                  <a:pt x="6134793" y="0"/>
                </a:lnTo>
                <a:lnTo>
                  <a:pt x="6134793" y="317500"/>
                </a:lnTo>
                <a:lnTo>
                  <a:pt x="0" y="317500"/>
                </a:lnTo>
                <a:lnTo>
                  <a:pt x="0" y="0"/>
                </a:lnTo>
                <a:close/>
              </a:path>
            </a:pathLst>
          </a:custGeom>
          <a:solidFill>
            <a:srgbClr val="F7F7F7"/>
          </a:solidFill>
        </p:spPr>
        <p:txBody>
          <a:bodyPr wrap="square" lIns="0" tIns="0" rIns="0" bIns="0" rtlCol="0"/>
          <a:lstStyle/>
          <a:p>
            <a:endParaRPr/>
          </a:p>
        </p:txBody>
      </p:sp>
      <p:sp>
        <p:nvSpPr>
          <p:cNvPr id="12" name="object 12"/>
          <p:cNvSpPr/>
          <p:nvPr/>
        </p:nvSpPr>
        <p:spPr>
          <a:xfrm>
            <a:off x="82811" y="3442012"/>
            <a:ext cx="7550784" cy="317500"/>
          </a:xfrm>
          <a:custGeom>
            <a:avLst/>
            <a:gdLst/>
            <a:ahLst/>
            <a:cxnLst/>
            <a:rect l="l" t="t" r="r" b="b"/>
            <a:pathLst>
              <a:path w="7550784" h="317500">
                <a:moveTo>
                  <a:pt x="0" y="0"/>
                </a:moveTo>
                <a:lnTo>
                  <a:pt x="7550514" y="0"/>
                </a:lnTo>
                <a:lnTo>
                  <a:pt x="7550514" y="317499"/>
                </a:lnTo>
                <a:lnTo>
                  <a:pt x="0" y="317499"/>
                </a:lnTo>
                <a:lnTo>
                  <a:pt x="0" y="0"/>
                </a:lnTo>
                <a:close/>
              </a:path>
            </a:pathLst>
          </a:custGeom>
          <a:solidFill>
            <a:srgbClr val="F7F7F7"/>
          </a:solidFill>
        </p:spPr>
        <p:txBody>
          <a:bodyPr wrap="square" lIns="0" tIns="0" rIns="0" bIns="0" rtlCol="0"/>
          <a:lstStyle/>
          <a:p>
            <a:endParaRPr/>
          </a:p>
        </p:txBody>
      </p:sp>
      <p:sp>
        <p:nvSpPr>
          <p:cNvPr id="13" name="object 13"/>
          <p:cNvSpPr/>
          <p:nvPr/>
        </p:nvSpPr>
        <p:spPr>
          <a:xfrm>
            <a:off x="82811" y="3759512"/>
            <a:ext cx="8337550" cy="317500"/>
          </a:xfrm>
          <a:custGeom>
            <a:avLst/>
            <a:gdLst/>
            <a:ahLst/>
            <a:cxnLst/>
            <a:rect l="l" t="t" r="r" b="b"/>
            <a:pathLst>
              <a:path w="8337550" h="317500">
                <a:moveTo>
                  <a:pt x="0" y="0"/>
                </a:moveTo>
                <a:lnTo>
                  <a:pt x="8337026" y="0"/>
                </a:lnTo>
                <a:lnTo>
                  <a:pt x="8337026" y="317500"/>
                </a:lnTo>
                <a:lnTo>
                  <a:pt x="0" y="317500"/>
                </a:lnTo>
                <a:lnTo>
                  <a:pt x="0" y="0"/>
                </a:lnTo>
                <a:close/>
              </a:path>
            </a:pathLst>
          </a:custGeom>
          <a:solidFill>
            <a:srgbClr val="F7F7F7"/>
          </a:solidFill>
        </p:spPr>
        <p:txBody>
          <a:bodyPr wrap="square" lIns="0" tIns="0" rIns="0" bIns="0" rtlCol="0"/>
          <a:lstStyle/>
          <a:p>
            <a:endParaRPr/>
          </a:p>
        </p:txBody>
      </p:sp>
      <p:sp>
        <p:nvSpPr>
          <p:cNvPr id="14" name="object 14"/>
          <p:cNvSpPr/>
          <p:nvPr/>
        </p:nvSpPr>
        <p:spPr>
          <a:xfrm>
            <a:off x="82811" y="4077012"/>
            <a:ext cx="7236459" cy="317500"/>
          </a:xfrm>
          <a:custGeom>
            <a:avLst/>
            <a:gdLst/>
            <a:ahLst/>
            <a:cxnLst/>
            <a:rect l="l" t="t" r="r" b="b"/>
            <a:pathLst>
              <a:path w="7236459" h="317500">
                <a:moveTo>
                  <a:pt x="0" y="0"/>
                </a:moveTo>
                <a:lnTo>
                  <a:pt x="7235910" y="0"/>
                </a:lnTo>
                <a:lnTo>
                  <a:pt x="7235910" y="317500"/>
                </a:lnTo>
                <a:lnTo>
                  <a:pt x="0" y="317500"/>
                </a:lnTo>
                <a:lnTo>
                  <a:pt x="0" y="0"/>
                </a:lnTo>
                <a:close/>
              </a:path>
            </a:pathLst>
          </a:custGeom>
          <a:solidFill>
            <a:srgbClr val="F7F7F7"/>
          </a:solidFill>
        </p:spPr>
        <p:txBody>
          <a:bodyPr wrap="square" lIns="0" tIns="0" rIns="0" bIns="0" rtlCol="0"/>
          <a:lstStyle/>
          <a:p>
            <a:endParaRPr/>
          </a:p>
        </p:txBody>
      </p:sp>
      <p:sp>
        <p:nvSpPr>
          <p:cNvPr id="15" name="object 15"/>
          <p:cNvSpPr/>
          <p:nvPr/>
        </p:nvSpPr>
        <p:spPr>
          <a:xfrm>
            <a:off x="61685" y="5026181"/>
            <a:ext cx="2694305" cy="304800"/>
          </a:xfrm>
          <a:custGeom>
            <a:avLst/>
            <a:gdLst/>
            <a:ahLst/>
            <a:cxnLst/>
            <a:rect l="l" t="t" r="r" b="b"/>
            <a:pathLst>
              <a:path w="2694305" h="304800">
                <a:moveTo>
                  <a:pt x="0" y="0"/>
                </a:moveTo>
                <a:lnTo>
                  <a:pt x="2694261" y="0"/>
                </a:lnTo>
                <a:lnTo>
                  <a:pt x="2694261" y="304800"/>
                </a:lnTo>
                <a:lnTo>
                  <a:pt x="0" y="304800"/>
                </a:lnTo>
                <a:lnTo>
                  <a:pt x="0" y="0"/>
                </a:lnTo>
                <a:close/>
              </a:path>
            </a:pathLst>
          </a:custGeom>
          <a:solidFill>
            <a:srgbClr val="F7F7F7"/>
          </a:solidFill>
        </p:spPr>
        <p:txBody>
          <a:bodyPr wrap="square" lIns="0" tIns="0" rIns="0" bIns="0" rtlCol="0"/>
          <a:lstStyle/>
          <a:p>
            <a:endParaRPr/>
          </a:p>
        </p:txBody>
      </p:sp>
      <p:sp>
        <p:nvSpPr>
          <p:cNvPr id="16" name="object 16"/>
          <p:cNvSpPr/>
          <p:nvPr/>
        </p:nvSpPr>
        <p:spPr>
          <a:xfrm>
            <a:off x="61685" y="5330981"/>
            <a:ext cx="5987415" cy="304800"/>
          </a:xfrm>
          <a:custGeom>
            <a:avLst/>
            <a:gdLst/>
            <a:ahLst/>
            <a:cxnLst/>
            <a:rect l="l" t="t" r="r" b="b"/>
            <a:pathLst>
              <a:path w="5987415" h="304800">
                <a:moveTo>
                  <a:pt x="0" y="0"/>
                </a:moveTo>
                <a:lnTo>
                  <a:pt x="5987245" y="0"/>
                </a:lnTo>
                <a:lnTo>
                  <a:pt x="5987245" y="304799"/>
                </a:lnTo>
                <a:lnTo>
                  <a:pt x="0" y="304799"/>
                </a:lnTo>
                <a:lnTo>
                  <a:pt x="0" y="0"/>
                </a:lnTo>
                <a:close/>
              </a:path>
            </a:pathLst>
          </a:custGeom>
          <a:solidFill>
            <a:srgbClr val="F7F7F7"/>
          </a:solidFill>
        </p:spPr>
        <p:txBody>
          <a:bodyPr wrap="square" lIns="0" tIns="0" rIns="0" bIns="0" rtlCol="0"/>
          <a:lstStyle/>
          <a:p>
            <a:endParaRPr/>
          </a:p>
        </p:txBody>
      </p:sp>
      <p:sp>
        <p:nvSpPr>
          <p:cNvPr id="17" name="object 17"/>
          <p:cNvSpPr txBox="1"/>
          <p:nvPr/>
        </p:nvSpPr>
        <p:spPr>
          <a:xfrm>
            <a:off x="48985" y="1579684"/>
            <a:ext cx="8383905" cy="4069079"/>
          </a:xfrm>
          <a:prstGeom prst="rect">
            <a:avLst/>
          </a:prstGeom>
        </p:spPr>
        <p:txBody>
          <a:bodyPr vert="horz" wrap="square" lIns="0" tIns="0" rIns="0" bIns="0" rtlCol="0">
            <a:spAutoFit/>
          </a:bodyPr>
          <a:lstStyle/>
          <a:p>
            <a:pPr marL="33655">
              <a:lnSpc>
                <a:spcPct val="100000"/>
              </a:lnSpc>
            </a:pPr>
            <a:r>
              <a:rPr sz="2050" b="1" dirty="0">
                <a:solidFill>
                  <a:srgbClr val="008000"/>
                </a:solidFill>
                <a:latin typeface="Courier New"/>
                <a:cs typeface="Courier New"/>
              </a:rPr>
              <a:t>def</a:t>
            </a:r>
            <a:r>
              <a:rPr sz="2050" b="1" spc="5" dirty="0">
                <a:solidFill>
                  <a:srgbClr val="008000"/>
                </a:solidFill>
                <a:latin typeface="Courier New"/>
                <a:cs typeface="Courier New"/>
              </a:rPr>
              <a:t> </a:t>
            </a:r>
            <a:r>
              <a:rPr sz="2050" dirty="0">
                <a:solidFill>
                  <a:srgbClr val="0000FF"/>
                </a:solidFill>
                <a:latin typeface="Courier New"/>
                <a:cs typeface="Courier New"/>
              </a:rPr>
              <a:t>oneRound</a:t>
            </a:r>
            <a:r>
              <a:rPr sz="2050" dirty="0">
                <a:solidFill>
                  <a:srgbClr val="333333"/>
                </a:solidFill>
                <a:latin typeface="Courier New"/>
                <a:cs typeface="Courier New"/>
              </a:rPr>
              <a:t>():</a:t>
            </a:r>
            <a:endParaRPr sz="2050" dirty="0">
              <a:latin typeface="Courier New"/>
              <a:cs typeface="Courier New"/>
            </a:endParaRPr>
          </a:p>
          <a:p>
            <a:pPr marL="662940">
              <a:lnSpc>
                <a:spcPct val="100000"/>
              </a:lnSpc>
              <a:spcBef>
                <a:spcPts val="40"/>
              </a:spcBef>
            </a:pPr>
            <a:r>
              <a:rPr sz="2050" b="1" dirty="0">
                <a:solidFill>
                  <a:srgbClr val="008000"/>
                </a:solidFill>
                <a:latin typeface="Courier New"/>
                <a:cs typeface="Courier New"/>
              </a:rPr>
              <a:t>global</a:t>
            </a:r>
            <a:r>
              <a:rPr sz="2050" b="1" spc="5" dirty="0">
                <a:solidFill>
                  <a:srgbClr val="008000"/>
                </a:solidFill>
                <a:latin typeface="Courier New"/>
                <a:cs typeface="Courier New"/>
              </a:rPr>
              <a:t> </a:t>
            </a:r>
            <a:r>
              <a:rPr sz="2050" dirty="0">
                <a:solidFill>
                  <a:srgbClr val="333333"/>
                </a:solidFill>
                <a:latin typeface="Courier New"/>
                <a:cs typeface="Courier New"/>
              </a:rPr>
              <a:t>population</a:t>
            </a:r>
            <a:endParaRPr sz="2050" dirty="0">
              <a:latin typeface="Courier New"/>
              <a:cs typeface="Courier New"/>
            </a:endParaRPr>
          </a:p>
          <a:p>
            <a:pPr marL="662940" marR="791210">
              <a:lnSpc>
                <a:spcPct val="101600"/>
              </a:lnSpc>
            </a:pPr>
            <a:r>
              <a:rPr sz="2050" spc="-5" dirty="0">
                <a:solidFill>
                  <a:srgbClr val="333333"/>
                </a:solidFill>
                <a:latin typeface="Courier New"/>
                <a:cs typeface="Courier New"/>
              </a:rPr>
              <a:t>opponent</a:t>
            </a:r>
            <a:r>
              <a:rPr sz="2050" dirty="0">
                <a:solidFill>
                  <a:srgbClr val="333333"/>
                </a:solidFill>
                <a:latin typeface="Courier New"/>
                <a:cs typeface="Courier New"/>
              </a:rPr>
              <a:t>s</a:t>
            </a:r>
            <a:r>
              <a:rPr sz="2050" spc="10" dirty="0">
                <a:solidFill>
                  <a:srgbClr val="333333"/>
                </a:solidFill>
                <a:latin typeface="Courier New"/>
                <a:cs typeface="Courier New"/>
              </a:rPr>
              <a:t> </a:t>
            </a:r>
            <a:r>
              <a:rPr sz="2050" dirty="0">
                <a:solidFill>
                  <a:srgbClr val="666666"/>
                </a:solidFill>
                <a:latin typeface="Courier New"/>
                <a:cs typeface="Courier New"/>
              </a:rPr>
              <a:t>=</a:t>
            </a:r>
            <a:r>
              <a:rPr sz="2050" spc="5" dirty="0">
                <a:solidFill>
                  <a:srgbClr val="666666"/>
                </a:solidFill>
                <a:latin typeface="Courier New"/>
                <a:cs typeface="Courier New"/>
              </a:rPr>
              <a:t> </a:t>
            </a:r>
            <a:r>
              <a:rPr sz="2050" dirty="0">
                <a:solidFill>
                  <a:srgbClr val="333333"/>
                </a:solidFill>
                <a:latin typeface="Courier New"/>
                <a:cs typeface="Courier New"/>
              </a:rPr>
              <a:t>np</a:t>
            </a:r>
            <a:r>
              <a:rPr sz="2050" dirty="0">
                <a:solidFill>
                  <a:srgbClr val="666666"/>
                </a:solidFill>
                <a:latin typeface="Courier New"/>
                <a:cs typeface="Courier New"/>
              </a:rPr>
              <a:t>.</a:t>
            </a:r>
            <a:r>
              <a:rPr sz="2050" dirty="0">
                <a:solidFill>
                  <a:srgbClr val="333333"/>
                </a:solidFill>
                <a:latin typeface="Courier New"/>
                <a:cs typeface="Courier New"/>
              </a:rPr>
              <a:t>array(population) np</a:t>
            </a:r>
            <a:r>
              <a:rPr sz="2050" dirty="0">
                <a:solidFill>
                  <a:srgbClr val="666666"/>
                </a:solidFill>
                <a:latin typeface="Courier New"/>
                <a:cs typeface="Courier New"/>
              </a:rPr>
              <a:t>.</a:t>
            </a:r>
            <a:r>
              <a:rPr sz="2050" dirty="0">
                <a:solidFill>
                  <a:srgbClr val="333333"/>
                </a:solidFill>
                <a:latin typeface="Courier New"/>
                <a:cs typeface="Courier New"/>
              </a:rPr>
              <a:t>random</a:t>
            </a:r>
            <a:r>
              <a:rPr sz="2050" dirty="0">
                <a:solidFill>
                  <a:srgbClr val="666666"/>
                </a:solidFill>
                <a:latin typeface="Courier New"/>
                <a:cs typeface="Courier New"/>
              </a:rPr>
              <a:t>.</a:t>
            </a:r>
            <a:r>
              <a:rPr sz="2050" dirty="0">
                <a:solidFill>
                  <a:srgbClr val="333333"/>
                </a:solidFill>
                <a:latin typeface="Courier New"/>
                <a:cs typeface="Courier New"/>
              </a:rPr>
              <a:t>shuffle(opponents) allGames</a:t>
            </a:r>
            <a:r>
              <a:rPr sz="2050" dirty="0">
                <a:solidFill>
                  <a:srgbClr val="666666"/>
                </a:solidFill>
                <a:latin typeface="Courier New"/>
                <a:cs typeface="Courier New"/>
              </a:rPr>
              <a:t>=</a:t>
            </a:r>
            <a:r>
              <a:rPr sz="2050" dirty="0">
                <a:solidFill>
                  <a:srgbClr val="333333"/>
                </a:solidFill>
                <a:latin typeface="Courier New"/>
                <a:cs typeface="Courier New"/>
              </a:rPr>
              <a:t>np</a:t>
            </a:r>
            <a:r>
              <a:rPr sz="2050" dirty="0">
                <a:solidFill>
                  <a:srgbClr val="666666"/>
                </a:solidFill>
                <a:latin typeface="Courier New"/>
                <a:cs typeface="Courier New"/>
              </a:rPr>
              <a:t>.</a:t>
            </a:r>
            <a:r>
              <a:rPr sz="2050" spc="-5" dirty="0">
                <a:solidFill>
                  <a:srgbClr val="333333"/>
                </a:solidFill>
                <a:latin typeface="Courier New"/>
                <a:cs typeface="Courier New"/>
              </a:rPr>
              <a:t>array([population</a:t>
            </a:r>
            <a:r>
              <a:rPr sz="2050" dirty="0">
                <a:solidFill>
                  <a:srgbClr val="333333"/>
                </a:solidFill>
                <a:latin typeface="Courier New"/>
                <a:cs typeface="Courier New"/>
              </a:rPr>
              <a:t>,</a:t>
            </a:r>
            <a:r>
              <a:rPr sz="2050" spc="10" dirty="0">
                <a:solidFill>
                  <a:srgbClr val="333333"/>
                </a:solidFill>
                <a:latin typeface="Courier New"/>
                <a:cs typeface="Courier New"/>
              </a:rPr>
              <a:t> </a:t>
            </a:r>
            <a:r>
              <a:rPr sz="2050" dirty="0">
                <a:solidFill>
                  <a:srgbClr val="333333"/>
                </a:solidFill>
                <a:latin typeface="Courier New"/>
                <a:cs typeface="Courier New"/>
              </a:rPr>
              <a:t>opponents]</a:t>
            </a:r>
            <a:r>
              <a:rPr sz="2050" spc="-5" dirty="0">
                <a:solidFill>
                  <a:srgbClr val="333333"/>
                </a:solidFill>
                <a:latin typeface="Courier New"/>
                <a:cs typeface="Courier New"/>
              </a:rPr>
              <a:t>)</a:t>
            </a:r>
            <a:r>
              <a:rPr sz="2050" dirty="0">
                <a:solidFill>
                  <a:srgbClr val="666666"/>
                </a:solidFill>
                <a:latin typeface="Courier New"/>
                <a:cs typeface="Courier New"/>
              </a:rPr>
              <a:t>.</a:t>
            </a:r>
            <a:r>
              <a:rPr sz="2050" dirty="0">
                <a:solidFill>
                  <a:srgbClr val="333333"/>
                </a:solidFill>
                <a:latin typeface="Courier New"/>
                <a:cs typeface="Courier New"/>
              </a:rPr>
              <a:t>T allPayoffs</a:t>
            </a:r>
            <a:r>
              <a:rPr sz="2050" dirty="0">
                <a:solidFill>
                  <a:srgbClr val="666666"/>
                </a:solidFill>
                <a:latin typeface="Courier New"/>
                <a:cs typeface="Courier New"/>
              </a:rPr>
              <a:t>=</a:t>
            </a:r>
            <a:r>
              <a:rPr sz="2050" dirty="0">
                <a:solidFill>
                  <a:srgbClr val="008000"/>
                </a:solidFill>
                <a:latin typeface="Courier New"/>
                <a:cs typeface="Courier New"/>
              </a:rPr>
              <a:t>map</a:t>
            </a:r>
            <a:r>
              <a:rPr sz="2050" dirty="0">
                <a:solidFill>
                  <a:srgbClr val="333333"/>
                </a:solidFill>
                <a:latin typeface="Courier New"/>
                <a:cs typeface="Courier New"/>
              </a:rPr>
              <a:t>(payoffGame,allGames) parents</a:t>
            </a:r>
            <a:r>
              <a:rPr sz="2050" dirty="0">
                <a:solidFill>
                  <a:srgbClr val="666666"/>
                </a:solidFill>
                <a:latin typeface="Courier New"/>
                <a:cs typeface="Courier New"/>
              </a:rPr>
              <a:t>=</a:t>
            </a:r>
            <a:r>
              <a:rPr sz="2050" dirty="0">
                <a:solidFill>
                  <a:srgbClr val="333333"/>
                </a:solidFill>
                <a:latin typeface="Courier New"/>
                <a:cs typeface="Courier New"/>
              </a:rPr>
              <a:t>np</a:t>
            </a:r>
            <a:r>
              <a:rPr sz="2050" dirty="0">
                <a:solidFill>
                  <a:srgbClr val="666666"/>
                </a:solidFill>
                <a:latin typeface="Courier New"/>
                <a:cs typeface="Courier New"/>
              </a:rPr>
              <a:t>.</a:t>
            </a:r>
            <a:r>
              <a:rPr sz="2050" dirty="0">
                <a:solidFill>
                  <a:srgbClr val="333333"/>
                </a:solidFill>
                <a:latin typeface="Courier New"/>
                <a:cs typeface="Courier New"/>
              </a:rPr>
              <a:t>random</a:t>
            </a:r>
            <a:r>
              <a:rPr sz="2050" dirty="0">
                <a:solidFill>
                  <a:srgbClr val="666666"/>
                </a:solidFill>
                <a:latin typeface="Courier New"/>
                <a:cs typeface="Courier New"/>
              </a:rPr>
              <a:t>.</a:t>
            </a:r>
            <a:r>
              <a:rPr sz="2050" dirty="0">
                <a:solidFill>
                  <a:srgbClr val="333333"/>
                </a:solidFill>
                <a:latin typeface="Courier New"/>
                <a:cs typeface="Courier New"/>
              </a:rPr>
              <a:t>choice(population,popSize,</a:t>
            </a:r>
            <a:endParaRPr sz="2050" dirty="0">
              <a:latin typeface="Courier New"/>
              <a:cs typeface="Courier New"/>
            </a:endParaRPr>
          </a:p>
          <a:p>
            <a:pPr marL="662940" marR="5080" indent="628650">
              <a:lnSpc>
                <a:spcPct val="101600"/>
              </a:lnSpc>
            </a:pPr>
            <a:r>
              <a:rPr sz="2050" dirty="0">
                <a:solidFill>
                  <a:srgbClr val="333333"/>
                </a:solidFill>
                <a:latin typeface="Courier New"/>
                <a:cs typeface="Courier New"/>
              </a:rPr>
              <a:t>replace</a:t>
            </a:r>
            <a:r>
              <a:rPr sz="2050" dirty="0">
                <a:solidFill>
                  <a:srgbClr val="666666"/>
                </a:solidFill>
                <a:latin typeface="Courier New"/>
                <a:cs typeface="Courier New"/>
              </a:rPr>
              <a:t>=</a:t>
            </a:r>
            <a:r>
              <a:rPr sz="2050" dirty="0">
                <a:solidFill>
                  <a:srgbClr val="008000"/>
                </a:solidFill>
                <a:latin typeface="Courier New"/>
                <a:cs typeface="Courier New"/>
              </a:rPr>
              <a:t>True</a:t>
            </a:r>
            <a:r>
              <a:rPr sz="2050" dirty="0">
                <a:solidFill>
                  <a:srgbClr val="333333"/>
                </a:solidFill>
                <a:latin typeface="Courier New"/>
                <a:cs typeface="Courier New"/>
              </a:rPr>
              <a:t>,p</a:t>
            </a:r>
            <a:r>
              <a:rPr sz="2050" dirty="0">
                <a:solidFill>
                  <a:srgbClr val="666666"/>
                </a:solidFill>
                <a:latin typeface="Courier New"/>
                <a:cs typeface="Courier New"/>
              </a:rPr>
              <a:t>=</a:t>
            </a:r>
            <a:r>
              <a:rPr sz="2050" dirty="0">
                <a:solidFill>
                  <a:srgbClr val="333333"/>
                </a:solidFill>
                <a:latin typeface="Courier New"/>
                <a:cs typeface="Courier New"/>
              </a:rPr>
              <a:t>allPayoffs</a:t>
            </a:r>
            <a:r>
              <a:rPr sz="2050" dirty="0">
                <a:solidFill>
                  <a:srgbClr val="666666"/>
                </a:solidFill>
                <a:latin typeface="Courier New"/>
                <a:cs typeface="Courier New"/>
              </a:rPr>
              <a:t>/</a:t>
            </a:r>
            <a:r>
              <a:rPr sz="2050" dirty="0">
                <a:solidFill>
                  <a:srgbClr val="333333"/>
                </a:solidFill>
                <a:latin typeface="Courier New"/>
                <a:cs typeface="Courier New"/>
              </a:rPr>
              <a:t>np</a:t>
            </a:r>
            <a:r>
              <a:rPr sz="2050" dirty="0">
                <a:solidFill>
                  <a:srgbClr val="666666"/>
                </a:solidFill>
                <a:latin typeface="Courier New"/>
                <a:cs typeface="Courier New"/>
              </a:rPr>
              <a:t>.</a:t>
            </a:r>
            <a:r>
              <a:rPr sz="2050" dirty="0">
                <a:solidFill>
                  <a:srgbClr val="333333"/>
                </a:solidFill>
                <a:latin typeface="Courier New"/>
                <a:cs typeface="Courier New"/>
              </a:rPr>
              <a:t>sum(allPayoffs)) population</a:t>
            </a:r>
            <a:r>
              <a:rPr sz="2050" dirty="0">
                <a:solidFill>
                  <a:srgbClr val="666666"/>
                </a:solidFill>
                <a:latin typeface="Courier New"/>
                <a:cs typeface="Courier New"/>
              </a:rPr>
              <a:t>=</a:t>
            </a:r>
            <a:r>
              <a:rPr sz="2050" dirty="0">
                <a:solidFill>
                  <a:srgbClr val="333333"/>
                </a:solidFill>
                <a:latin typeface="Courier New"/>
                <a:cs typeface="Courier New"/>
              </a:rPr>
              <a:t>np</a:t>
            </a:r>
            <a:r>
              <a:rPr sz="2050" dirty="0">
                <a:solidFill>
                  <a:srgbClr val="666666"/>
                </a:solidFill>
                <a:latin typeface="Courier New"/>
                <a:cs typeface="Courier New"/>
              </a:rPr>
              <a:t>.</a:t>
            </a:r>
            <a:r>
              <a:rPr sz="2050" dirty="0">
                <a:solidFill>
                  <a:srgbClr val="333333"/>
                </a:solidFill>
                <a:latin typeface="Courier New"/>
                <a:cs typeface="Courier New"/>
              </a:rPr>
              <a:t>array(</a:t>
            </a:r>
            <a:r>
              <a:rPr sz="2050" dirty="0">
                <a:solidFill>
                  <a:srgbClr val="008000"/>
                </a:solidFill>
                <a:latin typeface="Courier New"/>
                <a:cs typeface="Courier New"/>
              </a:rPr>
              <a:t>map</a:t>
            </a:r>
            <a:r>
              <a:rPr sz="2050" dirty="0">
                <a:solidFill>
                  <a:srgbClr val="333333"/>
                </a:solidFill>
                <a:latin typeface="Courier New"/>
                <a:cs typeface="Courier New"/>
              </a:rPr>
              <a:t>(mutateIf,parents))</a:t>
            </a:r>
            <a:endParaRPr sz="2050" dirty="0">
              <a:latin typeface="Courier New"/>
              <a:cs typeface="Courier New"/>
            </a:endParaRPr>
          </a:p>
          <a:p>
            <a:pPr>
              <a:lnSpc>
                <a:spcPct val="100000"/>
              </a:lnSpc>
            </a:pPr>
            <a:endParaRPr sz="2000" dirty="0">
              <a:latin typeface="Times New Roman"/>
              <a:cs typeface="Times New Roman"/>
            </a:endParaRPr>
          </a:p>
          <a:p>
            <a:pPr>
              <a:lnSpc>
                <a:spcPct val="100000"/>
              </a:lnSpc>
              <a:spcBef>
                <a:spcPts val="36"/>
              </a:spcBef>
            </a:pPr>
            <a:endParaRPr sz="2350" dirty="0">
              <a:latin typeface="Times New Roman"/>
              <a:cs typeface="Times New Roman"/>
            </a:endParaRPr>
          </a:p>
          <a:p>
            <a:pPr marL="12700">
              <a:lnSpc>
                <a:spcPct val="100000"/>
              </a:lnSpc>
            </a:pPr>
            <a:r>
              <a:rPr sz="1950" b="1" dirty="0">
                <a:solidFill>
                  <a:srgbClr val="008000"/>
                </a:solidFill>
                <a:latin typeface="Courier New"/>
                <a:cs typeface="Courier New"/>
              </a:rPr>
              <a:t>def</a:t>
            </a:r>
            <a:r>
              <a:rPr sz="1950" b="1" spc="5" dirty="0">
                <a:solidFill>
                  <a:srgbClr val="008000"/>
                </a:solidFill>
                <a:latin typeface="Courier New"/>
                <a:cs typeface="Courier New"/>
              </a:rPr>
              <a:t> </a:t>
            </a:r>
            <a:r>
              <a:rPr sz="1950" dirty="0">
                <a:solidFill>
                  <a:srgbClr val="0000FF"/>
                </a:solidFill>
                <a:latin typeface="Courier New"/>
                <a:cs typeface="Courier New"/>
              </a:rPr>
              <a:t>payoffGame</a:t>
            </a:r>
            <a:r>
              <a:rPr sz="1950" dirty="0">
                <a:solidFill>
                  <a:srgbClr val="333333"/>
                </a:solidFill>
                <a:latin typeface="Courier New"/>
                <a:cs typeface="Courier New"/>
              </a:rPr>
              <a:t>(G):</a:t>
            </a:r>
            <a:endParaRPr sz="1950" dirty="0">
              <a:latin typeface="Courier New"/>
              <a:cs typeface="Courier New"/>
            </a:endParaRPr>
          </a:p>
          <a:p>
            <a:pPr marL="610870">
              <a:lnSpc>
                <a:spcPct val="100000"/>
              </a:lnSpc>
              <a:spcBef>
                <a:spcPts val="60"/>
              </a:spcBef>
            </a:pPr>
            <a:r>
              <a:rPr sz="1950" b="1" dirty="0">
                <a:solidFill>
                  <a:srgbClr val="008000"/>
                </a:solidFill>
                <a:latin typeface="Courier New"/>
                <a:cs typeface="Courier New"/>
              </a:rPr>
              <a:t>return</a:t>
            </a:r>
            <a:r>
              <a:rPr sz="1950" b="1" spc="5" dirty="0">
                <a:solidFill>
                  <a:srgbClr val="008000"/>
                </a:solidFill>
                <a:latin typeface="Courier New"/>
                <a:cs typeface="Courier New"/>
              </a:rPr>
              <a:t> </a:t>
            </a:r>
            <a:r>
              <a:rPr sz="1950" dirty="0">
                <a:solidFill>
                  <a:srgbClr val="333333"/>
                </a:solidFill>
                <a:latin typeface="Courier New"/>
                <a:cs typeface="Courier New"/>
              </a:rPr>
              <a:t>benefit(G[</a:t>
            </a:r>
            <a:r>
              <a:rPr sz="1950" dirty="0">
                <a:solidFill>
                  <a:srgbClr val="666666"/>
                </a:solidFill>
                <a:latin typeface="Courier New"/>
                <a:cs typeface="Courier New"/>
              </a:rPr>
              <a:t>0</a:t>
            </a:r>
            <a:r>
              <a:rPr sz="1950" dirty="0">
                <a:solidFill>
                  <a:srgbClr val="333333"/>
                </a:solidFill>
                <a:latin typeface="Courier New"/>
                <a:cs typeface="Courier New"/>
              </a:rPr>
              <a:t>]</a:t>
            </a:r>
            <a:r>
              <a:rPr sz="1950" dirty="0">
                <a:solidFill>
                  <a:srgbClr val="666666"/>
                </a:solidFill>
                <a:latin typeface="Courier New"/>
                <a:cs typeface="Courier New"/>
              </a:rPr>
              <a:t>+</a:t>
            </a:r>
            <a:r>
              <a:rPr sz="1950" dirty="0">
                <a:solidFill>
                  <a:srgbClr val="333333"/>
                </a:solidFill>
                <a:latin typeface="Courier New"/>
                <a:cs typeface="Courier New"/>
              </a:rPr>
              <a:t>G[</a:t>
            </a:r>
            <a:r>
              <a:rPr sz="1950" dirty="0">
                <a:solidFill>
                  <a:srgbClr val="666666"/>
                </a:solidFill>
                <a:latin typeface="Courier New"/>
                <a:cs typeface="Courier New"/>
              </a:rPr>
              <a:t>1</a:t>
            </a:r>
            <a:r>
              <a:rPr sz="1950" dirty="0">
                <a:solidFill>
                  <a:srgbClr val="333333"/>
                </a:solidFill>
                <a:latin typeface="Courier New"/>
                <a:cs typeface="Courier New"/>
              </a:rPr>
              <a:t>])</a:t>
            </a:r>
            <a:r>
              <a:rPr sz="1950" dirty="0">
                <a:solidFill>
                  <a:srgbClr val="666666"/>
                </a:solidFill>
                <a:latin typeface="Courier New"/>
                <a:cs typeface="Courier New"/>
              </a:rPr>
              <a:t>-</a:t>
            </a:r>
            <a:r>
              <a:rPr sz="1950" dirty="0">
                <a:solidFill>
                  <a:srgbClr val="333333"/>
                </a:solidFill>
                <a:latin typeface="Courier New"/>
                <a:cs typeface="Courier New"/>
              </a:rPr>
              <a:t>cost(G[</a:t>
            </a:r>
            <a:r>
              <a:rPr sz="1950" dirty="0">
                <a:solidFill>
                  <a:srgbClr val="666666"/>
                </a:solidFill>
                <a:latin typeface="Courier New"/>
                <a:cs typeface="Courier New"/>
              </a:rPr>
              <a:t>0</a:t>
            </a:r>
            <a:r>
              <a:rPr sz="1950" dirty="0">
                <a:solidFill>
                  <a:srgbClr val="333333"/>
                </a:solidFill>
                <a:latin typeface="Courier New"/>
                <a:cs typeface="Courier New"/>
              </a:rPr>
              <a:t>])</a:t>
            </a:r>
            <a:endParaRPr sz="1950" dirty="0">
              <a:latin typeface="Courier New"/>
              <a:cs typeface="Courier New"/>
            </a:endParaRPr>
          </a:p>
        </p:txBody>
      </p:sp>
      <p:sp>
        <p:nvSpPr>
          <p:cNvPr id="18" name="Rectangle 17">
            <a:extLst>
              <a:ext uri="{FF2B5EF4-FFF2-40B4-BE49-F238E27FC236}">
                <a16:creationId xmlns:a16="http://schemas.microsoft.com/office/drawing/2014/main" id="{1782A4D8-F6FE-C2FC-3354-0E2F16020A8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E4540684-30EE-CC83-72A1-77F04C38216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Slide Number Placeholder 8">
            <a:extLst>
              <a:ext uri="{FF2B5EF4-FFF2-40B4-BE49-F238E27FC236}">
                <a16:creationId xmlns:a16="http://schemas.microsoft.com/office/drawing/2014/main" id="{88B1E704-A4FD-942D-0A5F-1914B1B36CC6}"/>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55</a:t>
            </a:fld>
            <a:r>
              <a:rPr lang="en-US" sz="2000" dirty="0">
                <a:solidFill>
                  <a:prstClr val="black"/>
                </a:solidFill>
                <a:latin typeface="Comic Sans MS"/>
                <a:sym typeface="Comic Sans MS"/>
              </a:rPr>
              <a:t>/59</a:t>
            </a:r>
          </a:p>
        </p:txBody>
      </p:sp>
      <p:sp>
        <p:nvSpPr>
          <p:cNvPr id="21" name="Footer Placeholder 9">
            <a:extLst>
              <a:ext uri="{FF2B5EF4-FFF2-40B4-BE49-F238E27FC236}">
                <a16:creationId xmlns:a16="http://schemas.microsoft.com/office/drawing/2014/main" id="{D997C2F1-F14E-DA47-D779-5837C38BE8D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22" name="Rectangle 21">
            <a:extLst>
              <a:ext uri="{FF2B5EF4-FFF2-40B4-BE49-F238E27FC236}">
                <a16:creationId xmlns:a16="http://schemas.microsoft.com/office/drawing/2014/main" id="{E9A7A2AB-BF57-C4E8-8AA4-069D6032B2B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51634" rIns="0" bIns="0" rtlCol="0">
            <a:spAutoFit/>
          </a:bodyPr>
          <a:lstStyle/>
          <a:p>
            <a:pPr marL="23495">
              <a:lnSpc>
                <a:spcPct val="100000"/>
              </a:lnSpc>
            </a:pPr>
            <a:r>
              <a:rPr dirty="0"/>
              <a:t>Snowdri</a:t>
            </a:r>
            <a:r>
              <a:rPr spc="-15" dirty="0"/>
              <a:t>f</a:t>
            </a:r>
            <a:r>
              <a:rPr spc="-10" dirty="0"/>
              <a:t>t</a:t>
            </a:r>
            <a:r>
              <a:rPr spc="-5" dirty="0"/>
              <a:t> </a:t>
            </a:r>
            <a:r>
              <a:rPr spc="-30" dirty="0"/>
              <a:t>G</a:t>
            </a:r>
            <a:r>
              <a:rPr dirty="0"/>
              <a:t>ame</a:t>
            </a:r>
            <a:r>
              <a:rPr spc="-5" dirty="0"/>
              <a:t> </a:t>
            </a:r>
            <a:r>
              <a:rPr dirty="0"/>
              <a:t>Simula</a:t>
            </a:r>
            <a:r>
              <a:rPr spc="-15" dirty="0"/>
              <a:t>t</a:t>
            </a:r>
            <a:r>
              <a:rPr dirty="0"/>
              <a:t>ion</a:t>
            </a:r>
          </a:p>
        </p:txBody>
      </p:sp>
      <p:sp>
        <p:nvSpPr>
          <p:cNvPr id="6" name="object 6"/>
          <p:cNvSpPr txBox="1"/>
          <p:nvPr/>
        </p:nvSpPr>
        <p:spPr>
          <a:xfrm>
            <a:off x="2696105" y="5430812"/>
            <a:ext cx="2029460" cy="406400"/>
          </a:xfrm>
          <a:prstGeom prst="rect">
            <a:avLst/>
          </a:prstGeom>
        </p:spPr>
        <p:txBody>
          <a:bodyPr vert="horz" wrap="square" lIns="0" tIns="0" rIns="0" bIns="0" rtlCol="0">
            <a:spAutoFit/>
          </a:bodyPr>
          <a:lstStyle/>
          <a:p>
            <a:pPr marL="12700">
              <a:lnSpc>
                <a:spcPct val="100000"/>
              </a:lnSpc>
            </a:pPr>
            <a:r>
              <a:rPr sz="3000" spc="-75" dirty="0">
                <a:latin typeface="Arial"/>
                <a:cs typeface="Arial"/>
              </a:rPr>
              <a:t>F</a:t>
            </a:r>
            <a:r>
              <a:rPr sz="3000" spc="-95" dirty="0">
                <a:latin typeface="Arial"/>
                <a:cs typeface="Arial"/>
              </a:rPr>
              <a:t>r</a:t>
            </a:r>
            <a:r>
              <a:rPr sz="3000" spc="-15" dirty="0">
                <a:latin typeface="Arial"/>
                <a:cs typeface="Arial"/>
              </a:rPr>
              <a:t>eeloaders</a:t>
            </a:r>
            <a:endParaRPr sz="3000" dirty="0">
              <a:latin typeface="Arial"/>
              <a:cs typeface="Arial"/>
            </a:endParaRPr>
          </a:p>
        </p:txBody>
      </p:sp>
      <p:sp>
        <p:nvSpPr>
          <p:cNvPr id="7" name="object 7"/>
          <p:cNvSpPr/>
          <p:nvPr/>
        </p:nvSpPr>
        <p:spPr>
          <a:xfrm>
            <a:off x="426668" y="1520668"/>
            <a:ext cx="5321300" cy="35179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539387" y="4834890"/>
            <a:ext cx="0" cy="565150"/>
          </a:xfrm>
          <a:custGeom>
            <a:avLst/>
            <a:gdLst/>
            <a:ahLst/>
            <a:cxnLst/>
            <a:rect l="l" t="t" r="r" b="b"/>
            <a:pathLst>
              <a:path h="565150">
                <a:moveTo>
                  <a:pt x="0" y="0"/>
                </a:moveTo>
                <a:lnTo>
                  <a:pt x="0" y="565003"/>
                </a:lnTo>
              </a:path>
            </a:pathLst>
          </a:custGeom>
          <a:ln w="38100">
            <a:solidFill>
              <a:srgbClr val="000000"/>
            </a:solidFill>
          </a:ln>
        </p:spPr>
        <p:txBody>
          <a:bodyPr wrap="square" lIns="0" tIns="0" rIns="0" bIns="0" rtlCol="0"/>
          <a:lstStyle/>
          <a:p>
            <a:endParaRPr/>
          </a:p>
        </p:txBody>
      </p:sp>
      <p:sp>
        <p:nvSpPr>
          <p:cNvPr id="9" name="object 9"/>
          <p:cNvSpPr/>
          <p:nvPr/>
        </p:nvSpPr>
        <p:spPr>
          <a:xfrm>
            <a:off x="3455566" y="4686300"/>
            <a:ext cx="167640" cy="167640"/>
          </a:xfrm>
          <a:custGeom>
            <a:avLst/>
            <a:gdLst/>
            <a:ahLst/>
            <a:cxnLst/>
            <a:rect l="l" t="t" r="r" b="b"/>
            <a:pathLst>
              <a:path w="167639" h="167639">
                <a:moveTo>
                  <a:pt x="83819" y="0"/>
                </a:moveTo>
                <a:lnTo>
                  <a:pt x="0" y="167639"/>
                </a:lnTo>
                <a:lnTo>
                  <a:pt x="167639" y="167639"/>
                </a:lnTo>
                <a:lnTo>
                  <a:pt x="83819" y="0"/>
                </a:lnTo>
                <a:close/>
              </a:path>
            </a:pathLst>
          </a:custGeom>
          <a:solidFill>
            <a:srgbClr val="000000"/>
          </a:solidFill>
        </p:spPr>
        <p:txBody>
          <a:bodyPr wrap="square" lIns="0" tIns="0" rIns="0" bIns="0" rtlCol="0"/>
          <a:lstStyle/>
          <a:p>
            <a:endParaRPr/>
          </a:p>
        </p:txBody>
      </p:sp>
      <p:sp>
        <p:nvSpPr>
          <p:cNvPr id="10" name="Rectangle 9">
            <a:extLst>
              <a:ext uri="{FF2B5EF4-FFF2-40B4-BE49-F238E27FC236}">
                <a16:creationId xmlns:a16="http://schemas.microsoft.com/office/drawing/2014/main" id="{FAEF46BB-A4A7-F3AA-C652-72E51AA7035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32B4FDF-142F-A384-F74C-70F8AB09241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Slide Number Placeholder 8">
            <a:extLst>
              <a:ext uri="{FF2B5EF4-FFF2-40B4-BE49-F238E27FC236}">
                <a16:creationId xmlns:a16="http://schemas.microsoft.com/office/drawing/2014/main" id="{3E562D68-6BB4-12AE-579E-E67A559EE7BF}"/>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56</a:t>
            </a:fld>
            <a:r>
              <a:rPr lang="en-US" sz="2000" dirty="0">
                <a:solidFill>
                  <a:prstClr val="black"/>
                </a:solidFill>
                <a:latin typeface="Comic Sans MS"/>
                <a:sym typeface="Comic Sans MS"/>
              </a:rPr>
              <a:t>/59</a:t>
            </a:r>
          </a:p>
        </p:txBody>
      </p:sp>
      <p:sp>
        <p:nvSpPr>
          <p:cNvPr id="13" name="Footer Placeholder 9">
            <a:extLst>
              <a:ext uri="{FF2B5EF4-FFF2-40B4-BE49-F238E27FC236}">
                <a16:creationId xmlns:a16="http://schemas.microsoft.com/office/drawing/2014/main" id="{78974581-38D0-42E7-5749-F9C0FAD942F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4" name="Rectangle 13">
            <a:extLst>
              <a:ext uri="{FF2B5EF4-FFF2-40B4-BE49-F238E27FC236}">
                <a16:creationId xmlns:a16="http://schemas.microsoft.com/office/drawing/2014/main" id="{DABF9F60-13DA-A607-69FA-5939CF87E81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09923"/>
            <a:ext cx="9144000" cy="5070475"/>
          </a:xfrm>
          <a:custGeom>
            <a:avLst/>
            <a:gdLst/>
            <a:ahLst/>
            <a:cxnLst/>
            <a:rect l="l" t="t" r="r" b="b"/>
            <a:pathLst>
              <a:path w="9144000" h="5070475">
                <a:moveTo>
                  <a:pt x="0" y="0"/>
                </a:moveTo>
                <a:lnTo>
                  <a:pt x="0" y="5070219"/>
                </a:lnTo>
                <a:lnTo>
                  <a:pt x="9144000" y="5070219"/>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551881" y="4705168"/>
            <a:ext cx="5592445" cy="2153285"/>
          </a:xfrm>
          <a:custGeom>
            <a:avLst/>
            <a:gdLst/>
            <a:ahLst/>
            <a:cxnLst/>
            <a:rect l="l" t="t" r="r" b="b"/>
            <a:pathLst>
              <a:path w="5592445" h="2153284">
                <a:moveTo>
                  <a:pt x="5592118" y="0"/>
                </a:moveTo>
                <a:lnTo>
                  <a:pt x="372389" y="0"/>
                </a:lnTo>
                <a:lnTo>
                  <a:pt x="341847" y="1234"/>
                </a:lnTo>
                <a:lnTo>
                  <a:pt x="282899" y="10822"/>
                </a:lnTo>
                <a:lnTo>
                  <a:pt x="227438" y="29264"/>
                </a:lnTo>
                <a:lnTo>
                  <a:pt x="176230" y="55792"/>
                </a:lnTo>
                <a:lnTo>
                  <a:pt x="130042" y="89640"/>
                </a:lnTo>
                <a:lnTo>
                  <a:pt x="89640" y="130042"/>
                </a:lnTo>
                <a:lnTo>
                  <a:pt x="55792" y="176230"/>
                </a:lnTo>
                <a:lnTo>
                  <a:pt x="29264" y="227438"/>
                </a:lnTo>
                <a:lnTo>
                  <a:pt x="10822" y="282899"/>
                </a:lnTo>
                <a:lnTo>
                  <a:pt x="1234" y="341847"/>
                </a:lnTo>
                <a:lnTo>
                  <a:pt x="0" y="372389"/>
                </a:lnTo>
                <a:lnTo>
                  <a:pt x="0" y="1861945"/>
                </a:lnTo>
                <a:lnTo>
                  <a:pt x="4873" y="1922349"/>
                </a:lnTo>
                <a:lnTo>
                  <a:pt x="18984" y="1979649"/>
                </a:lnTo>
                <a:lnTo>
                  <a:pt x="41565" y="2033080"/>
                </a:lnTo>
                <a:lnTo>
                  <a:pt x="71849" y="2081874"/>
                </a:lnTo>
                <a:lnTo>
                  <a:pt x="109070" y="2125264"/>
                </a:lnTo>
                <a:lnTo>
                  <a:pt x="140296" y="2152831"/>
                </a:lnTo>
                <a:lnTo>
                  <a:pt x="5592118" y="2152831"/>
                </a:lnTo>
                <a:lnTo>
                  <a:pt x="5592118" y="0"/>
                </a:lnTo>
                <a:close/>
              </a:path>
            </a:pathLst>
          </a:custGeom>
          <a:solidFill>
            <a:srgbClr val="E7E7E7"/>
          </a:solidFill>
        </p:spPr>
        <p:txBody>
          <a:bodyPr wrap="square" lIns="0" tIns="0" rIns="0" bIns="0" rtlCol="0"/>
          <a:lstStyle/>
          <a:p>
            <a:endParaRPr/>
          </a:p>
        </p:txBody>
      </p:sp>
      <p:sp>
        <p:nvSpPr>
          <p:cNvPr id="4" name="object 4"/>
          <p:cNvSpPr/>
          <p:nvPr/>
        </p:nvSpPr>
        <p:spPr>
          <a:xfrm>
            <a:off x="0" y="2470833"/>
            <a:ext cx="4493260" cy="4387215"/>
          </a:xfrm>
          <a:custGeom>
            <a:avLst/>
            <a:gdLst/>
            <a:ahLst/>
            <a:cxnLst/>
            <a:rect l="l" t="t" r="r" b="b"/>
            <a:pathLst>
              <a:path w="4493260" h="4387215">
                <a:moveTo>
                  <a:pt x="0" y="4387166"/>
                </a:moveTo>
                <a:lnTo>
                  <a:pt x="4492855" y="4387166"/>
                </a:lnTo>
                <a:lnTo>
                  <a:pt x="4492855" y="0"/>
                </a:lnTo>
                <a:lnTo>
                  <a:pt x="0" y="0"/>
                </a:lnTo>
                <a:lnTo>
                  <a:pt x="0" y="4387166"/>
                </a:lnTo>
                <a:close/>
              </a:path>
            </a:pathLst>
          </a:custGeom>
          <a:solidFill>
            <a:srgbClr val="E7E7E7"/>
          </a:solidFill>
        </p:spPr>
        <p:txBody>
          <a:bodyPr wrap="square" lIns="0" tIns="0" rIns="0" bIns="0" rtlCol="0"/>
          <a:lstStyle/>
          <a:p>
            <a:endParaRPr/>
          </a:p>
        </p:txBody>
      </p:sp>
      <p:sp>
        <p:nvSpPr>
          <p:cNvPr id="5" name="object 5"/>
          <p:cNvSpPr/>
          <p:nvPr/>
        </p:nvSpPr>
        <p:spPr>
          <a:xfrm>
            <a:off x="0" y="968377"/>
            <a:ext cx="8502650" cy="1905"/>
          </a:xfrm>
          <a:custGeom>
            <a:avLst/>
            <a:gdLst/>
            <a:ahLst/>
            <a:cxnLst/>
            <a:rect l="l" t="t" r="r" b="b"/>
            <a:pathLst>
              <a:path w="8502650" h="1905">
                <a:moveTo>
                  <a:pt x="0" y="0"/>
                </a:moveTo>
                <a:lnTo>
                  <a:pt x="8502650" y="1585"/>
                </a:lnTo>
              </a:path>
            </a:pathLst>
          </a:custGeom>
          <a:ln w="101600">
            <a:solidFill>
              <a:srgbClr val="794A8C"/>
            </a:solidFill>
          </a:ln>
        </p:spPr>
        <p:txBody>
          <a:bodyPr wrap="square" lIns="0" tIns="0" rIns="0" bIns="0" rtlCol="0"/>
          <a:lstStyle/>
          <a:p>
            <a:endParaRPr/>
          </a:p>
        </p:txBody>
      </p:sp>
      <p:sp>
        <p:nvSpPr>
          <p:cNvPr id="6" name="object 6"/>
          <p:cNvSpPr txBox="1"/>
          <p:nvPr/>
        </p:nvSpPr>
        <p:spPr>
          <a:xfrm>
            <a:off x="461327" y="376744"/>
            <a:ext cx="5446395" cy="431800"/>
          </a:xfrm>
          <a:prstGeom prst="rect">
            <a:avLst/>
          </a:prstGeom>
        </p:spPr>
        <p:txBody>
          <a:bodyPr vert="horz" wrap="square" lIns="0" tIns="0" rIns="0" bIns="0" rtlCol="0">
            <a:spAutoFit/>
          </a:bodyPr>
          <a:lstStyle/>
          <a:p>
            <a:pPr marL="12700">
              <a:lnSpc>
                <a:spcPct val="100000"/>
              </a:lnSpc>
            </a:pPr>
            <a:r>
              <a:rPr sz="3200" dirty="0">
                <a:latin typeface="Arial"/>
                <a:cs typeface="Arial"/>
              </a:rPr>
              <a:t>Adap</a:t>
            </a:r>
            <a:r>
              <a:rPr sz="3200" spc="-15" dirty="0">
                <a:latin typeface="Arial"/>
                <a:cs typeface="Arial"/>
              </a:rPr>
              <a:t>t</a:t>
            </a:r>
            <a:r>
              <a:rPr sz="3200" dirty="0">
                <a:latin typeface="Arial"/>
                <a:cs typeface="Arial"/>
              </a:rPr>
              <a:t>ive</a:t>
            </a:r>
            <a:r>
              <a:rPr sz="3200" spc="-5" dirty="0">
                <a:latin typeface="Arial"/>
                <a:cs typeface="Arial"/>
              </a:rPr>
              <a:t> </a:t>
            </a:r>
            <a:r>
              <a:rPr sz="3200" dirty="0">
                <a:latin typeface="Arial"/>
                <a:cs typeface="Arial"/>
              </a:rPr>
              <a:t>dynamics</a:t>
            </a:r>
            <a:r>
              <a:rPr sz="3200" spc="-5" dirty="0">
                <a:latin typeface="Arial"/>
                <a:cs typeface="Arial"/>
              </a:rPr>
              <a:t> </a:t>
            </a:r>
            <a:r>
              <a:rPr sz="3200" spc="-15" dirty="0">
                <a:latin typeface="Arial"/>
                <a:cs typeface="Arial"/>
              </a:rPr>
              <a:t>f</a:t>
            </a:r>
            <a:r>
              <a:rPr sz="3200" dirty="0">
                <a:latin typeface="Arial"/>
                <a:cs typeface="Arial"/>
              </a:rPr>
              <a:t>ramework</a:t>
            </a:r>
          </a:p>
        </p:txBody>
      </p:sp>
      <p:sp>
        <p:nvSpPr>
          <p:cNvPr id="7" name="object 7"/>
          <p:cNvSpPr txBox="1"/>
          <p:nvPr/>
        </p:nvSpPr>
        <p:spPr>
          <a:xfrm>
            <a:off x="7574768" y="6444622"/>
            <a:ext cx="167005" cy="152400"/>
          </a:xfrm>
          <a:prstGeom prst="rect">
            <a:avLst/>
          </a:prstGeom>
        </p:spPr>
        <p:txBody>
          <a:bodyPr vert="horz" wrap="square" lIns="0" tIns="0" rIns="0" bIns="0" rtlCol="0">
            <a:spAutoFit/>
          </a:bodyPr>
          <a:lstStyle/>
          <a:p>
            <a:pPr marL="12700">
              <a:lnSpc>
                <a:spcPct val="100000"/>
              </a:lnSpc>
            </a:pPr>
            <a:r>
              <a:rPr sz="1000" dirty="0">
                <a:latin typeface="Arial"/>
                <a:cs typeface="Arial"/>
              </a:rPr>
              <a:t>57</a:t>
            </a:r>
            <a:endParaRPr sz="1000">
              <a:latin typeface="Arial"/>
              <a:cs typeface="Arial"/>
            </a:endParaRPr>
          </a:p>
        </p:txBody>
      </p:sp>
      <p:sp>
        <p:nvSpPr>
          <p:cNvPr id="8" name="object 8"/>
          <p:cNvSpPr txBox="1"/>
          <p:nvPr/>
        </p:nvSpPr>
        <p:spPr>
          <a:xfrm>
            <a:off x="415607" y="1790753"/>
            <a:ext cx="132715" cy="330200"/>
          </a:xfrm>
          <a:prstGeom prst="rect">
            <a:avLst/>
          </a:prstGeom>
        </p:spPr>
        <p:txBody>
          <a:bodyPr vert="horz" wrap="square" lIns="0" tIns="0" rIns="0" bIns="0" rtlCol="0">
            <a:spAutoFit/>
          </a:bodyPr>
          <a:lstStyle/>
          <a:p>
            <a:pPr marL="12700">
              <a:lnSpc>
                <a:spcPct val="100000"/>
              </a:lnSpc>
            </a:pPr>
            <a:r>
              <a:rPr sz="2400" dirty="0">
                <a:latin typeface="Arial"/>
                <a:cs typeface="Arial"/>
              </a:rPr>
              <a:t>•</a:t>
            </a:r>
            <a:endParaRPr sz="2400">
              <a:latin typeface="Arial"/>
              <a:cs typeface="Arial"/>
            </a:endParaRPr>
          </a:p>
        </p:txBody>
      </p:sp>
      <p:sp>
        <p:nvSpPr>
          <p:cNvPr id="9" name="object 9"/>
          <p:cNvSpPr txBox="1">
            <a:spLocks noGrp="1"/>
          </p:cNvSpPr>
          <p:nvPr>
            <p:ph type="body" idx="1"/>
          </p:nvPr>
        </p:nvSpPr>
        <p:spPr>
          <a:prstGeom prst="rect">
            <a:avLst/>
          </a:prstGeom>
        </p:spPr>
        <p:txBody>
          <a:bodyPr vert="horz" wrap="square" lIns="0" tIns="117867" rIns="0" bIns="0" rtlCol="0">
            <a:spAutoFit/>
          </a:bodyPr>
          <a:lstStyle/>
          <a:p>
            <a:pPr marL="441325" marR="5080">
              <a:lnSpc>
                <a:spcPct val="120800"/>
              </a:lnSpc>
            </a:pPr>
            <a:r>
              <a:rPr dirty="0"/>
              <a:t>c</a:t>
            </a:r>
            <a:r>
              <a:rPr spc="-15" dirty="0"/>
              <a:t>an</a:t>
            </a:r>
            <a:r>
              <a:rPr spc="-5" dirty="0"/>
              <a:t> </a:t>
            </a:r>
            <a:r>
              <a:rPr spc="-15" dirty="0"/>
              <a:t>handl</a:t>
            </a:r>
            <a:r>
              <a:rPr dirty="0"/>
              <a:t>e</a:t>
            </a:r>
            <a:r>
              <a:rPr spc="-5" dirty="0"/>
              <a:t> </a:t>
            </a:r>
            <a:r>
              <a:rPr dirty="0"/>
              <a:t>c</a:t>
            </a:r>
            <a:r>
              <a:rPr spc="-15" dirty="0"/>
              <a:t>on</a:t>
            </a:r>
            <a:r>
              <a:rPr dirty="0"/>
              <a:t>t</a:t>
            </a:r>
            <a:r>
              <a:rPr spc="-15" dirty="0"/>
              <a:t>inuou</a:t>
            </a:r>
            <a:r>
              <a:rPr dirty="0"/>
              <a:t>s</a:t>
            </a:r>
            <a:r>
              <a:rPr spc="-5" dirty="0"/>
              <a:t> </a:t>
            </a:r>
            <a:r>
              <a:rPr dirty="0"/>
              <a:t>t</a:t>
            </a:r>
            <a:r>
              <a:rPr spc="-45" dirty="0"/>
              <a:t>r</a:t>
            </a:r>
            <a:r>
              <a:rPr spc="-10" dirty="0"/>
              <a:t>ai</a:t>
            </a:r>
            <a:r>
              <a:rPr dirty="0"/>
              <a:t>ts</a:t>
            </a:r>
            <a:r>
              <a:rPr spc="-5" dirty="0"/>
              <a:t> </a:t>
            </a:r>
            <a:r>
              <a:rPr spc="-10" dirty="0"/>
              <a:t>(</a:t>
            </a:r>
            <a:r>
              <a:rPr dirty="0"/>
              <a:t>c</a:t>
            </a:r>
            <a:r>
              <a:rPr spc="-15" dirty="0"/>
              <a:t>on</a:t>
            </a:r>
            <a:r>
              <a:rPr dirty="0"/>
              <a:t>t</a:t>
            </a:r>
            <a:r>
              <a:rPr spc="-15" dirty="0"/>
              <a:t>inuou</a:t>
            </a:r>
            <a:r>
              <a:rPr dirty="0"/>
              <a:t>s</a:t>
            </a:r>
            <a:r>
              <a:rPr spc="-5" dirty="0"/>
              <a:t> </a:t>
            </a:r>
            <a:r>
              <a:rPr dirty="0"/>
              <a:t>st</a:t>
            </a:r>
            <a:r>
              <a:rPr spc="-45" dirty="0"/>
              <a:t>r</a:t>
            </a:r>
            <a:r>
              <a:rPr spc="-15" dirty="0"/>
              <a:t>a</a:t>
            </a:r>
            <a:r>
              <a:rPr dirty="0"/>
              <a:t>te</a:t>
            </a:r>
            <a:r>
              <a:rPr spc="-15" dirty="0"/>
              <a:t>g</a:t>
            </a:r>
            <a:r>
              <a:rPr dirty="0"/>
              <a:t>y</a:t>
            </a:r>
            <a:r>
              <a:rPr spc="-5" dirty="0"/>
              <a:t> </a:t>
            </a:r>
            <a:r>
              <a:rPr dirty="0"/>
              <a:t>s</a:t>
            </a:r>
            <a:r>
              <a:rPr spc="-15" dirty="0"/>
              <a:t>pa</a:t>
            </a:r>
            <a:r>
              <a:rPr dirty="0"/>
              <a:t>ce</a:t>
            </a:r>
            <a:r>
              <a:rPr spc="-10" dirty="0"/>
              <a:t>)</a:t>
            </a:r>
            <a:r>
              <a:rPr spc="-15" dirty="0"/>
              <a:t> but:</a:t>
            </a:r>
          </a:p>
          <a:p>
            <a:pPr marL="441325" marR="1154430">
              <a:lnSpc>
                <a:spcPct val="120800"/>
              </a:lnSpc>
              <a:spcBef>
                <a:spcPts val="575"/>
              </a:spcBef>
            </a:pPr>
            <a:r>
              <a:rPr spc="-60" dirty="0"/>
              <a:t>P</a:t>
            </a:r>
            <a:r>
              <a:rPr spc="-15" dirty="0"/>
              <a:t>opula</a:t>
            </a:r>
            <a:r>
              <a:rPr dirty="0"/>
              <a:t>t</a:t>
            </a:r>
            <a:r>
              <a:rPr spc="-15" dirty="0"/>
              <a:t>ion</a:t>
            </a:r>
            <a:r>
              <a:rPr spc="-5" dirty="0"/>
              <a:t> </a:t>
            </a:r>
            <a:r>
              <a:rPr spc="-10" dirty="0"/>
              <a:t>i</a:t>
            </a:r>
            <a:r>
              <a:rPr dirty="0"/>
              <a:t>s</a:t>
            </a:r>
            <a:r>
              <a:rPr spc="-5" dirty="0"/>
              <a:t> </a:t>
            </a:r>
            <a:r>
              <a:rPr spc="-15" dirty="0"/>
              <a:t>a</a:t>
            </a:r>
            <a:r>
              <a:rPr dirty="0"/>
              <a:t>ss</a:t>
            </a:r>
            <a:r>
              <a:rPr spc="-15" dirty="0"/>
              <a:t>u</a:t>
            </a:r>
            <a:r>
              <a:rPr spc="-30" dirty="0"/>
              <a:t>m</a:t>
            </a:r>
            <a:r>
              <a:rPr dirty="0"/>
              <a:t>e</a:t>
            </a:r>
            <a:r>
              <a:rPr spc="-15" dirty="0"/>
              <a:t>d</a:t>
            </a:r>
            <a:r>
              <a:rPr spc="-5" dirty="0"/>
              <a:t> </a:t>
            </a:r>
            <a:r>
              <a:rPr dirty="0"/>
              <a:t>t</a:t>
            </a:r>
            <a:r>
              <a:rPr spc="-15" dirty="0"/>
              <a:t>o</a:t>
            </a:r>
            <a:r>
              <a:rPr spc="-5" dirty="0"/>
              <a:t> </a:t>
            </a:r>
            <a:r>
              <a:rPr spc="-15" dirty="0"/>
              <a:t>b</a:t>
            </a:r>
            <a:r>
              <a:rPr dirty="0"/>
              <a:t>e</a:t>
            </a:r>
            <a:r>
              <a:rPr spc="-5" dirty="0"/>
              <a:t> </a:t>
            </a:r>
            <a:r>
              <a:rPr spc="-15" dirty="0"/>
              <a:t>ho</a:t>
            </a:r>
            <a:r>
              <a:rPr spc="-30" dirty="0"/>
              <a:t>m</a:t>
            </a:r>
            <a:r>
              <a:rPr spc="-15" dirty="0"/>
              <a:t>og</a:t>
            </a:r>
            <a:r>
              <a:rPr dirty="0"/>
              <a:t>e</a:t>
            </a:r>
            <a:r>
              <a:rPr spc="-15" dirty="0"/>
              <a:t>n</a:t>
            </a:r>
            <a:r>
              <a:rPr dirty="0"/>
              <a:t>e</a:t>
            </a:r>
            <a:r>
              <a:rPr spc="-15" dirty="0"/>
              <a:t>ou</a:t>
            </a:r>
            <a:r>
              <a:rPr dirty="0"/>
              <a:t>s </a:t>
            </a:r>
            <a:r>
              <a:rPr spc="-10" dirty="0"/>
              <a:t>(</a:t>
            </a:r>
            <a:r>
              <a:rPr spc="-30" dirty="0"/>
              <a:t>m</a:t>
            </a:r>
            <a:r>
              <a:rPr spc="-15" dirty="0"/>
              <a:t>ono</a:t>
            </a:r>
            <a:r>
              <a:rPr spc="-30" dirty="0"/>
              <a:t>m</a:t>
            </a:r>
            <a:r>
              <a:rPr dirty="0"/>
              <a:t>or</a:t>
            </a:r>
            <a:r>
              <a:rPr spc="-15" dirty="0"/>
              <a:t>phi</a:t>
            </a:r>
            <a:r>
              <a:rPr dirty="0"/>
              <a:t>c</a:t>
            </a:r>
            <a:r>
              <a:rPr spc="-10" dirty="0"/>
              <a:t>):</a:t>
            </a:r>
            <a:r>
              <a:rPr spc="-5" dirty="0"/>
              <a:t> </a:t>
            </a:r>
            <a:r>
              <a:rPr spc="-15" dirty="0"/>
              <a:t>a</a:t>
            </a:r>
            <a:r>
              <a:rPr spc="-5" dirty="0"/>
              <a:t>l</a:t>
            </a:r>
            <a:r>
              <a:rPr spc="-10" dirty="0"/>
              <a:t>l</a:t>
            </a:r>
            <a:r>
              <a:rPr spc="-5" dirty="0"/>
              <a:t> </a:t>
            </a:r>
            <a:r>
              <a:rPr spc="-10" dirty="0"/>
              <a:t>pl</a:t>
            </a:r>
            <a:r>
              <a:rPr spc="-35" dirty="0"/>
              <a:t>a</a:t>
            </a:r>
            <a:r>
              <a:rPr spc="-20" dirty="0"/>
              <a:t>y</a:t>
            </a:r>
            <a:r>
              <a:rPr dirty="0"/>
              <a:t>ers</a:t>
            </a:r>
            <a:r>
              <a:rPr spc="-5" dirty="0"/>
              <a:t> </a:t>
            </a:r>
            <a:r>
              <a:rPr spc="-15" dirty="0"/>
              <a:t>adop</a:t>
            </a:r>
            <a:r>
              <a:rPr dirty="0"/>
              <a:t>t</a:t>
            </a:r>
            <a:r>
              <a:rPr spc="-5" dirty="0"/>
              <a:t> </a:t>
            </a:r>
            <a:r>
              <a:rPr dirty="0"/>
              <a:t>s</a:t>
            </a:r>
            <a:r>
              <a:rPr spc="-15" dirty="0"/>
              <a:t>a</a:t>
            </a:r>
            <a:r>
              <a:rPr spc="-30" dirty="0"/>
              <a:t>m</a:t>
            </a:r>
            <a:r>
              <a:rPr dirty="0"/>
              <a:t>e</a:t>
            </a:r>
            <a:r>
              <a:rPr spc="-5" dirty="0"/>
              <a:t> </a:t>
            </a:r>
            <a:r>
              <a:rPr dirty="0"/>
              <a:t>st</a:t>
            </a:r>
            <a:r>
              <a:rPr spc="-45" dirty="0"/>
              <a:t>r</a:t>
            </a:r>
            <a:r>
              <a:rPr spc="-15" dirty="0"/>
              <a:t>a</a:t>
            </a:r>
            <a:r>
              <a:rPr dirty="0"/>
              <a:t>te</a:t>
            </a:r>
            <a:r>
              <a:rPr spc="-15" dirty="0"/>
              <a:t>g</a:t>
            </a:r>
            <a:r>
              <a:rPr dirty="0"/>
              <a:t>y</a:t>
            </a:r>
          </a:p>
        </p:txBody>
      </p:sp>
      <p:sp>
        <p:nvSpPr>
          <p:cNvPr id="10" name="object 10"/>
          <p:cNvSpPr txBox="1"/>
          <p:nvPr/>
        </p:nvSpPr>
        <p:spPr>
          <a:xfrm>
            <a:off x="415607" y="2747825"/>
            <a:ext cx="132715" cy="330200"/>
          </a:xfrm>
          <a:prstGeom prst="rect">
            <a:avLst/>
          </a:prstGeom>
        </p:spPr>
        <p:txBody>
          <a:bodyPr vert="horz" wrap="square" lIns="0" tIns="0" rIns="0" bIns="0" rtlCol="0">
            <a:spAutoFit/>
          </a:bodyPr>
          <a:lstStyle/>
          <a:p>
            <a:pPr marL="12700">
              <a:lnSpc>
                <a:spcPct val="100000"/>
              </a:lnSpc>
            </a:pPr>
            <a:r>
              <a:rPr sz="2400" dirty="0">
                <a:latin typeface="Arial"/>
                <a:cs typeface="Arial"/>
              </a:rPr>
              <a:t>•</a:t>
            </a:r>
            <a:endParaRPr sz="2400">
              <a:latin typeface="Arial"/>
              <a:cs typeface="Arial"/>
            </a:endParaRPr>
          </a:p>
        </p:txBody>
      </p:sp>
      <p:sp>
        <p:nvSpPr>
          <p:cNvPr id="11" name="object 11"/>
          <p:cNvSpPr txBox="1"/>
          <p:nvPr/>
        </p:nvSpPr>
        <p:spPr>
          <a:xfrm>
            <a:off x="415607" y="4220009"/>
            <a:ext cx="132715" cy="330200"/>
          </a:xfrm>
          <a:prstGeom prst="rect">
            <a:avLst/>
          </a:prstGeom>
        </p:spPr>
        <p:txBody>
          <a:bodyPr vert="horz" wrap="square" lIns="0" tIns="0" rIns="0" bIns="0" rtlCol="0">
            <a:spAutoFit/>
          </a:bodyPr>
          <a:lstStyle/>
          <a:p>
            <a:pPr marL="12700">
              <a:lnSpc>
                <a:spcPct val="100000"/>
              </a:lnSpc>
            </a:pPr>
            <a:r>
              <a:rPr sz="2400" dirty="0">
                <a:latin typeface="Arial"/>
                <a:cs typeface="Arial"/>
              </a:rPr>
              <a:t>•</a:t>
            </a:r>
            <a:endParaRPr sz="2400">
              <a:latin typeface="Arial"/>
              <a:cs typeface="Arial"/>
            </a:endParaRPr>
          </a:p>
        </p:txBody>
      </p:sp>
      <p:sp>
        <p:nvSpPr>
          <p:cNvPr id="12" name="object 12"/>
          <p:cNvSpPr txBox="1"/>
          <p:nvPr/>
        </p:nvSpPr>
        <p:spPr>
          <a:xfrm>
            <a:off x="415607" y="4209211"/>
            <a:ext cx="7779384" cy="1729739"/>
          </a:xfrm>
          <a:prstGeom prst="rect">
            <a:avLst/>
          </a:prstGeom>
        </p:spPr>
        <p:txBody>
          <a:bodyPr vert="horz" wrap="square" lIns="0" tIns="0" rIns="0" bIns="0" rtlCol="0">
            <a:spAutoFit/>
          </a:bodyPr>
          <a:lstStyle/>
          <a:p>
            <a:pPr marL="355600" marR="5080">
              <a:lnSpc>
                <a:spcPct val="120800"/>
              </a:lnSpc>
            </a:pPr>
            <a:r>
              <a:rPr sz="2400" b="1" dirty="0">
                <a:latin typeface="Tahoma"/>
                <a:cs typeface="Tahoma"/>
              </a:rPr>
              <a:t>Mu</a:t>
            </a:r>
            <a:r>
              <a:rPr sz="2400" b="1" spc="-15" dirty="0">
                <a:latin typeface="Tahoma"/>
                <a:cs typeface="Tahoma"/>
              </a:rPr>
              <a:t>tation g</a:t>
            </a:r>
            <a:r>
              <a:rPr sz="2400" b="1" spc="-20" dirty="0">
                <a:latin typeface="Tahoma"/>
                <a:cs typeface="Tahoma"/>
              </a:rPr>
              <a:t>e</a:t>
            </a:r>
            <a:r>
              <a:rPr sz="2400" b="1" dirty="0">
                <a:latin typeface="Tahoma"/>
                <a:cs typeface="Tahoma"/>
              </a:rPr>
              <a:t>n</a:t>
            </a:r>
            <a:r>
              <a:rPr sz="2400" b="1" spc="-20" dirty="0">
                <a:latin typeface="Tahoma"/>
                <a:cs typeface="Tahoma"/>
              </a:rPr>
              <a:t>e</a:t>
            </a:r>
            <a:r>
              <a:rPr sz="2400" b="1" spc="-15" dirty="0">
                <a:latin typeface="Tahoma"/>
                <a:cs typeface="Tahoma"/>
              </a:rPr>
              <a:t>rat</a:t>
            </a:r>
            <a:r>
              <a:rPr sz="2400" b="1" spc="-20" dirty="0">
                <a:latin typeface="Tahoma"/>
                <a:cs typeface="Tahoma"/>
              </a:rPr>
              <a:t>e</a:t>
            </a:r>
            <a:r>
              <a:rPr sz="2400" b="1" spc="-15" dirty="0">
                <a:latin typeface="Tahoma"/>
                <a:cs typeface="Tahoma"/>
              </a:rPr>
              <a:t>s</a:t>
            </a:r>
            <a:r>
              <a:rPr sz="2400" b="1" spc="-5" dirty="0">
                <a:latin typeface="Tahoma"/>
                <a:cs typeface="Tahoma"/>
              </a:rPr>
              <a:t> </a:t>
            </a:r>
            <a:r>
              <a:rPr sz="2400" b="1" spc="-15" dirty="0">
                <a:latin typeface="Tahoma"/>
                <a:cs typeface="Tahoma"/>
              </a:rPr>
              <a:t>varia</a:t>
            </a:r>
            <a:r>
              <a:rPr sz="2400" b="1" dirty="0">
                <a:latin typeface="Tahoma"/>
                <a:cs typeface="Tahoma"/>
              </a:rPr>
              <a:t>n</a:t>
            </a:r>
            <a:r>
              <a:rPr sz="2400" b="1" spc="-10" dirty="0">
                <a:latin typeface="Tahoma"/>
                <a:cs typeface="Tahoma"/>
              </a:rPr>
              <a:t>t</a:t>
            </a:r>
            <a:r>
              <a:rPr sz="2400" b="1" dirty="0">
                <a:latin typeface="Tahoma"/>
                <a:cs typeface="Tahoma"/>
              </a:rPr>
              <a:t> </a:t>
            </a:r>
            <a:r>
              <a:rPr sz="2400" b="1" spc="-20" dirty="0">
                <a:latin typeface="Tahoma"/>
                <a:cs typeface="Tahoma"/>
              </a:rPr>
              <a:t>s</a:t>
            </a:r>
            <a:r>
              <a:rPr sz="2400" b="1" spc="-15" dirty="0">
                <a:latin typeface="Tahoma"/>
                <a:cs typeface="Tahoma"/>
              </a:rPr>
              <a:t>trat</a:t>
            </a:r>
            <a:r>
              <a:rPr sz="2400" b="1" spc="-20" dirty="0">
                <a:latin typeface="Tahoma"/>
                <a:cs typeface="Tahoma"/>
              </a:rPr>
              <a:t>e</a:t>
            </a:r>
            <a:r>
              <a:rPr sz="2400" b="1" dirty="0">
                <a:latin typeface="Tahoma"/>
                <a:cs typeface="Tahoma"/>
              </a:rPr>
              <a:t>g</a:t>
            </a:r>
            <a:r>
              <a:rPr sz="2400" b="1" spc="-10" dirty="0">
                <a:latin typeface="Tahoma"/>
                <a:cs typeface="Tahoma"/>
              </a:rPr>
              <a:t>i</a:t>
            </a:r>
            <a:r>
              <a:rPr sz="2400" b="1" spc="-20" dirty="0">
                <a:latin typeface="Tahoma"/>
                <a:cs typeface="Tahoma"/>
              </a:rPr>
              <a:t>e</a:t>
            </a:r>
            <a:r>
              <a:rPr sz="2400" b="1" spc="-15" dirty="0">
                <a:latin typeface="Tahoma"/>
                <a:cs typeface="Tahoma"/>
              </a:rPr>
              <a:t>s</a:t>
            </a:r>
            <a:r>
              <a:rPr sz="2400" b="1" spc="-5" dirty="0">
                <a:latin typeface="Tahoma"/>
                <a:cs typeface="Tahoma"/>
              </a:rPr>
              <a:t> </a:t>
            </a:r>
            <a:r>
              <a:rPr sz="2400" b="1" spc="-15" dirty="0">
                <a:latin typeface="Tahoma"/>
                <a:cs typeface="Tahoma"/>
              </a:rPr>
              <a:t>v</a:t>
            </a:r>
            <a:r>
              <a:rPr sz="2400" b="1" spc="-20" dirty="0">
                <a:latin typeface="Tahoma"/>
                <a:cs typeface="Tahoma"/>
              </a:rPr>
              <a:t>e</a:t>
            </a:r>
            <a:r>
              <a:rPr sz="2400" b="1" spc="-15" dirty="0">
                <a:latin typeface="Tahoma"/>
                <a:cs typeface="Tahoma"/>
              </a:rPr>
              <a:t>ry</a:t>
            </a:r>
            <a:r>
              <a:rPr sz="2400" b="1" dirty="0">
                <a:latin typeface="Tahoma"/>
                <a:cs typeface="Tahoma"/>
              </a:rPr>
              <a:t> </a:t>
            </a:r>
            <a:r>
              <a:rPr sz="2400" b="1" spc="-5" dirty="0">
                <a:latin typeface="Tahoma"/>
                <a:cs typeface="Tahoma"/>
              </a:rPr>
              <a:t>c</a:t>
            </a:r>
            <a:r>
              <a:rPr sz="2400" b="1" spc="-10" dirty="0">
                <a:latin typeface="Tahoma"/>
                <a:cs typeface="Tahoma"/>
              </a:rPr>
              <a:t>l</a:t>
            </a:r>
            <a:r>
              <a:rPr sz="2400" b="1" dirty="0">
                <a:latin typeface="Tahoma"/>
                <a:cs typeface="Tahoma"/>
              </a:rPr>
              <a:t>o</a:t>
            </a:r>
            <a:r>
              <a:rPr sz="2400" b="1" spc="-20" dirty="0">
                <a:latin typeface="Tahoma"/>
                <a:cs typeface="Tahoma"/>
              </a:rPr>
              <a:t>s</a:t>
            </a:r>
            <a:r>
              <a:rPr sz="2400" b="1" spc="-15" dirty="0">
                <a:latin typeface="Tahoma"/>
                <a:cs typeface="Tahoma"/>
              </a:rPr>
              <a:t>e</a:t>
            </a:r>
            <a:r>
              <a:rPr sz="2400" b="1" spc="-10" dirty="0">
                <a:latin typeface="Tahoma"/>
                <a:cs typeface="Tahoma"/>
              </a:rPr>
              <a:t> t</a:t>
            </a:r>
            <a:r>
              <a:rPr sz="2400" b="1" dirty="0">
                <a:latin typeface="Tahoma"/>
                <a:cs typeface="Tahoma"/>
              </a:rPr>
              <a:t>o </a:t>
            </a:r>
            <a:r>
              <a:rPr sz="2400" b="1" spc="-10" dirty="0">
                <a:latin typeface="Tahoma"/>
                <a:cs typeface="Tahoma"/>
              </a:rPr>
              <a:t>t</a:t>
            </a:r>
            <a:r>
              <a:rPr sz="2400" b="1" dirty="0">
                <a:latin typeface="Tahoma"/>
                <a:cs typeface="Tahoma"/>
              </a:rPr>
              <a:t>h</a:t>
            </a:r>
            <a:r>
              <a:rPr sz="2400" b="1" spc="-15" dirty="0">
                <a:latin typeface="Tahoma"/>
                <a:cs typeface="Tahoma"/>
              </a:rPr>
              <a:t>e</a:t>
            </a:r>
            <a:r>
              <a:rPr sz="2400" b="1" spc="-5" dirty="0">
                <a:latin typeface="Tahoma"/>
                <a:cs typeface="Tahoma"/>
              </a:rPr>
              <a:t> </a:t>
            </a:r>
            <a:r>
              <a:rPr sz="2400" b="1" spc="-15" dirty="0">
                <a:latin typeface="Tahoma"/>
                <a:cs typeface="Tahoma"/>
              </a:rPr>
              <a:t>r</a:t>
            </a:r>
            <a:r>
              <a:rPr sz="2400" b="1" spc="-20" dirty="0">
                <a:latin typeface="Tahoma"/>
                <a:cs typeface="Tahoma"/>
              </a:rPr>
              <a:t>es</a:t>
            </a:r>
            <a:r>
              <a:rPr sz="2400" b="1" spc="-10" dirty="0">
                <a:latin typeface="Tahoma"/>
                <a:cs typeface="Tahoma"/>
              </a:rPr>
              <a:t>i</a:t>
            </a:r>
            <a:r>
              <a:rPr sz="2400" b="1" dirty="0">
                <a:latin typeface="Tahoma"/>
                <a:cs typeface="Tahoma"/>
              </a:rPr>
              <a:t>d</a:t>
            </a:r>
            <a:r>
              <a:rPr sz="2400" b="1" spc="-20" dirty="0">
                <a:latin typeface="Tahoma"/>
                <a:cs typeface="Tahoma"/>
              </a:rPr>
              <a:t>e</a:t>
            </a:r>
            <a:r>
              <a:rPr sz="2400" b="1" dirty="0">
                <a:latin typeface="Tahoma"/>
                <a:cs typeface="Tahoma"/>
              </a:rPr>
              <a:t>n</a:t>
            </a:r>
            <a:r>
              <a:rPr sz="2400" b="1" spc="-10" dirty="0">
                <a:latin typeface="Tahoma"/>
                <a:cs typeface="Tahoma"/>
              </a:rPr>
              <a:t>t</a:t>
            </a:r>
            <a:r>
              <a:rPr sz="2400" b="1" dirty="0">
                <a:latin typeface="Tahoma"/>
                <a:cs typeface="Tahoma"/>
              </a:rPr>
              <a:t> </a:t>
            </a:r>
            <a:r>
              <a:rPr sz="2400" b="1" spc="-20" dirty="0">
                <a:latin typeface="Tahoma"/>
                <a:cs typeface="Tahoma"/>
              </a:rPr>
              <a:t>s</a:t>
            </a:r>
            <a:r>
              <a:rPr sz="2400" b="1" spc="-15" dirty="0">
                <a:latin typeface="Tahoma"/>
                <a:cs typeface="Tahoma"/>
              </a:rPr>
              <a:t>trat</a:t>
            </a:r>
            <a:r>
              <a:rPr sz="2400" b="1" spc="-20" dirty="0">
                <a:latin typeface="Tahoma"/>
                <a:cs typeface="Tahoma"/>
              </a:rPr>
              <a:t>e</a:t>
            </a:r>
            <a:r>
              <a:rPr sz="2400" b="1" dirty="0">
                <a:latin typeface="Tahoma"/>
                <a:cs typeface="Tahoma"/>
              </a:rPr>
              <a:t>g</a:t>
            </a:r>
            <a:r>
              <a:rPr sz="2400" b="1" spc="-15" dirty="0">
                <a:latin typeface="Tahoma"/>
                <a:cs typeface="Tahoma"/>
              </a:rPr>
              <a:t>y</a:t>
            </a:r>
            <a:r>
              <a:rPr sz="2400" b="1" dirty="0">
                <a:latin typeface="Tahoma"/>
                <a:cs typeface="Tahoma"/>
              </a:rPr>
              <a:t> </a:t>
            </a:r>
            <a:r>
              <a:rPr sz="2400" b="1" spc="-15" dirty="0">
                <a:latin typeface="Tahoma"/>
                <a:cs typeface="Tahoma"/>
              </a:rPr>
              <a:t>a</a:t>
            </a:r>
            <a:r>
              <a:rPr sz="2400" b="1" dirty="0">
                <a:latin typeface="Tahoma"/>
                <a:cs typeface="Tahoma"/>
              </a:rPr>
              <a:t>nd </a:t>
            </a:r>
            <a:r>
              <a:rPr sz="2400" b="1" spc="-10" dirty="0">
                <a:latin typeface="Tahoma"/>
                <a:cs typeface="Tahoma"/>
              </a:rPr>
              <a:t>is</a:t>
            </a:r>
            <a:r>
              <a:rPr sz="2400" b="1" spc="-5" dirty="0">
                <a:latin typeface="Tahoma"/>
                <a:cs typeface="Tahoma"/>
              </a:rPr>
              <a:t> </a:t>
            </a:r>
            <a:r>
              <a:rPr sz="2400" b="1" spc="-15" dirty="0">
                <a:latin typeface="Tahoma"/>
                <a:cs typeface="Tahoma"/>
              </a:rPr>
              <a:t>rare</a:t>
            </a:r>
            <a:endParaRPr sz="2400" dirty="0">
              <a:latin typeface="Tahoma"/>
              <a:cs typeface="Tahoma"/>
            </a:endParaRPr>
          </a:p>
          <a:p>
            <a:pPr marL="355600" marR="378460" indent="-342900">
              <a:lnSpc>
                <a:spcPct val="120800"/>
              </a:lnSpc>
              <a:spcBef>
                <a:spcPts val="575"/>
              </a:spcBef>
              <a:buFont typeface="Arial"/>
              <a:buChar char="•"/>
              <a:tabLst>
                <a:tab pos="355600" algn="l"/>
              </a:tabLst>
            </a:pPr>
            <a:r>
              <a:rPr sz="2400" b="1" dirty="0">
                <a:latin typeface="Tahoma"/>
                <a:cs typeface="Tahoma"/>
              </a:rPr>
              <a:t>If </a:t>
            </a:r>
            <a:r>
              <a:rPr sz="2400" b="1" spc="-15" dirty="0">
                <a:latin typeface="Tahoma"/>
                <a:cs typeface="Tahoma"/>
              </a:rPr>
              <a:t>a </a:t>
            </a:r>
            <a:r>
              <a:rPr sz="2400" b="1" spc="-25" dirty="0">
                <a:latin typeface="Tahoma"/>
                <a:cs typeface="Tahoma"/>
              </a:rPr>
              <a:t>mu</a:t>
            </a:r>
            <a:r>
              <a:rPr sz="2400" b="1" spc="-15" dirty="0">
                <a:latin typeface="Tahoma"/>
                <a:cs typeface="Tahoma"/>
              </a:rPr>
              <a:t>tan</a:t>
            </a:r>
            <a:r>
              <a:rPr sz="2400" b="1" spc="-10" dirty="0">
                <a:latin typeface="Tahoma"/>
                <a:cs typeface="Tahoma"/>
              </a:rPr>
              <a:t>t </a:t>
            </a:r>
            <a:r>
              <a:rPr sz="2400" b="1" spc="-20" dirty="0">
                <a:latin typeface="Tahoma"/>
                <a:cs typeface="Tahoma"/>
              </a:rPr>
              <a:t>be</a:t>
            </a:r>
            <a:r>
              <a:rPr sz="2400" b="1" spc="-15" dirty="0">
                <a:latin typeface="Tahoma"/>
                <a:cs typeface="Tahoma"/>
              </a:rPr>
              <a:t>ats</a:t>
            </a:r>
            <a:r>
              <a:rPr sz="2400" b="1" spc="-5" dirty="0">
                <a:latin typeface="Tahoma"/>
                <a:cs typeface="Tahoma"/>
              </a:rPr>
              <a:t> </a:t>
            </a:r>
            <a:r>
              <a:rPr sz="2400" b="1" spc="-10" dirty="0">
                <a:latin typeface="Tahoma"/>
                <a:cs typeface="Tahoma"/>
              </a:rPr>
              <a:t>t</a:t>
            </a:r>
            <a:r>
              <a:rPr sz="2400" b="1" dirty="0">
                <a:latin typeface="Tahoma"/>
                <a:cs typeface="Tahoma"/>
              </a:rPr>
              <a:t>h</a:t>
            </a:r>
            <a:r>
              <a:rPr sz="2400" b="1" spc="-15" dirty="0">
                <a:latin typeface="Tahoma"/>
                <a:cs typeface="Tahoma"/>
              </a:rPr>
              <a:t>e</a:t>
            </a:r>
            <a:r>
              <a:rPr sz="2400" b="1" spc="-5" dirty="0">
                <a:latin typeface="Tahoma"/>
                <a:cs typeface="Tahoma"/>
              </a:rPr>
              <a:t> </a:t>
            </a:r>
            <a:r>
              <a:rPr sz="2400" b="1" spc="-15" dirty="0">
                <a:latin typeface="Tahoma"/>
                <a:cs typeface="Tahoma"/>
              </a:rPr>
              <a:t>r</a:t>
            </a:r>
            <a:r>
              <a:rPr sz="2400" b="1" spc="-20" dirty="0">
                <a:latin typeface="Tahoma"/>
                <a:cs typeface="Tahoma"/>
              </a:rPr>
              <a:t>es</a:t>
            </a:r>
            <a:r>
              <a:rPr sz="2400" b="1" spc="-10" dirty="0">
                <a:latin typeface="Tahoma"/>
                <a:cs typeface="Tahoma"/>
              </a:rPr>
              <a:t>i</a:t>
            </a:r>
            <a:r>
              <a:rPr sz="2400" b="1" dirty="0">
                <a:latin typeface="Tahoma"/>
                <a:cs typeface="Tahoma"/>
              </a:rPr>
              <a:t>d</a:t>
            </a:r>
            <a:r>
              <a:rPr sz="2400" b="1" spc="-20" dirty="0">
                <a:latin typeface="Tahoma"/>
                <a:cs typeface="Tahoma"/>
              </a:rPr>
              <a:t>e</a:t>
            </a:r>
            <a:r>
              <a:rPr sz="2400" b="1" dirty="0">
                <a:latin typeface="Tahoma"/>
                <a:cs typeface="Tahoma"/>
              </a:rPr>
              <a:t>n</a:t>
            </a:r>
            <a:r>
              <a:rPr sz="2400" b="1" spc="-10" dirty="0">
                <a:latin typeface="Tahoma"/>
                <a:cs typeface="Tahoma"/>
              </a:rPr>
              <a:t>t</a:t>
            </a:r>
            <a:r>
              <a:rPr sz="2400" b="1" dirty="0">
                <a:latin typeface="Tahoma"/>
                <a:cs typeface="Tahoma"/>
              </a:rPr>
              <a:t> p</a:t>
            </a:r>
            <a:r>
              <a:rPr sz="2400" b="1" spc="-15" dirty="0">
                <a:latin typeface="Tahoma"/>
                <a:cs typeface="Tahoma"/>
              </a:rPr>
              <a:t>lay</a:t>
            </a:r>
            <a:r>
              <a:rPr sz="2400" b="1" spc="-20" dirty="0">
                <a:latin typeface="Tahoma"/>
                <a:cs typeface="Tahoma"/>
              </a:rPr>
              <a:t>e</a:t>
            </a:r>
            <a:r>
              <a:rPr sz="2400" b="1" spc="-15" dirty="0">
                <a:latin typeface="Tahoma"/>
                <a:cs typeface="Tahoma"/>
              </a:rPr>
              <a:t>rs</a:t>
            </a:r>
            <a:r>
              <a:rPr sz="2400" b="1" spc="-5" dirty="0">
                <a:latin typeface="Tahoma"/>
                <a:cs typeface="Tahoma"/>
              </a:rPr>
              <a:t> </a:t>
            </a:r>
            <a:r>
              <a:rPr sz="2400" b="1" spc="-10" dirty="0">
                <a:latin typeface="Tahoma"/>
                <a:cs typeface="Tahoma"/>
              </a:rPr>
              <a:t>it</a:t>
            </a:r>
            <a:r>
              <a:rPr sz="2400" b="1" dirty="0">
                <a:latin typeface="Tahoma"/>
                <a:cs typeface="Tahoma"/>
              </a:rPr>
              <a:t> </a:t>
            </a:r>
            <a:r>
              <a:rPr sz="2400" b="1" spc="-15" dirty="0">
                <a:latin typeface="Tahoma"/>
                <a:cs typeface="Tahoma"/>
              </a:rPr>
              <a:t>tak</a:t>
            </a:r>
            <a:r>
              <a:rPr sz="2400" b="1" spc="-20" dirty="0">
                <a:latin typeface="Tahoma"/>
                <a:cs typeface="Tahoma"/>
              </a:rPr>
              <a:t>e</a:t>
            </a:r>
            <a:r>
              <a:rPr sz="2400" b="1" spc="-15" dirty="0">
                <a:latin typeface="Tahoma"/>
                <a:cs typeface="Tahoma"/>
              </a:rPr>
              <a:t>s</a:t>
            </a:r>
            <a:r>
              <a:rPr sz="2400" b="1" spc="-10" dirty="0">
                <a:latin typeface="Tahoma"/>
                <a:cs typeface="Tahoma"/>
              </a:rPr>
              <a:t> </a:t>
            </a:r>
            <a:r>
              <a:rPr sz="2400" b="1" dirty="0">
                <a:latin typeface="Tahoma"/>
                <a:cs typeface="Tahoma"/>
              </a:rPr>
              <a:t>o</a:t>
            </a:r>
            <a:r>
              <a:rPr sz="2400" b="1" spc="-15" dirty="0">
                <a:latin typeface="Tahoma"/>
                <a:cs typeface="Tahoma"/>
              </a:rPr>
              <a:t>v</a:t>
            </a:r>
            <a:r>
              <a:rPr sz="2400" b="1" spc="-20" dirty="0">
                <a:latin typeface="Tahoma"/>
                <a:cs typeface="Tahoma"/>
              </a:rPr>
              <a:t>e</a:t>
            </a:r>
            <a:r>
              <a:rPr sz="2400" b="1" spc="-15" dirty="0">
                <a:latin typeface="Tahoma"/>
                <a:cs typeface="Tahoma"/>
              </a:rPr>
              <a:t>r</a:t>
            </a:r>
            <a:r>
              <a:rPr sz="2400" b="1" dirty="0">
                <a:latin typeface="Tahoma"/>
                <a:cs typeface="Tahoma"/>
              </a:rPr>
              <a:t> o</a:t>
            </a:r>
            <a:r>
              <a:rPr sz="2400" b="1" spc="-10" dirty="0">
                <a:latin typeface="Tahoma"/>
                <a:cs typeface="Tahoma"/>
              </a:rPr>
              <a:t>t</a:t>
            </a:r>
            <a:r>
              <a:rPr sz="2400" b="1" dirty="0">
                <a:latin typeface="Tahoma"/>
                <a:cs typeface="Tahoma"/>
              </a:rPr>
              <a:t>h</a:t>
            </a:r>
            <a:r>
              <a:rPr sz="2400" b="1" spc="-20" dirty="0">
                <a:latin typeface="Tahoma"/>
                <a:cs typeface="Tahoma"/>
              </a:rPr>
              <a:t>e</a:t>
            </a:r>
            <a:r>
              <a:rPr sz="2400" b="1" spc="-15" dirty="0">
                <a:latin typeface="Tahoma"/>
                <a:cs typeface="Tahoma"/>
              </a:rPr>
              <a:t>r</a:t>
            </a:r>
            <a:r>
              <a:rPr sz="2400" b="1" spc="-30" dirty="0">
                <a:latin typeface="Tahoma"/>
                <a:cs typeface="Tahoma"/>
              </a:rPr>
              <a:t>w</a:t>
            </a:r>
            <a:r>
              <a:rPr sz="2400" b="1" spc="-10" dirty="0">
                <a:latin typeface="Tahoma"/>
                <a:cs typeface="Tahoma"/>
              </a:rPr>
              <a:t>i</a:t>
            </a:r>
            <a:r>
              <a:rPr sz="2400" b="1" spc="-20" dirty="0">
                <a:latin typeface="Tahoma"/>
                <a:cs typeface="Tahoma"/>
              </a:rPr>
              <a:t>s</a:t>
            </a:r>
            <a:r>
              <a:rPr sz="2400" b="1" spc="-15" dirty="0">
                <a:latin typeface="Tahoma"/>
                <a:cs typeface="Tahoma"/>
              </a:rPr>
              <a:t>e</a:t>
            </a:r>
            <a:r>
              <a:rPr sz="2400" b="1" spc="-5" dirty="0">
                <a:latin typeface="Tahoma"/>
                <a:cs typeface="Tahoma"/>
              </a:rPr>
              <a:t> </a:t>
            </a:r>
            <a:r>
              <a:rPr sz="2400" b="1" spc="-10" dirty="0">
                <a:latin typeface="Tahoma"/>
                <a:cs typeface="Tahoma"/>
              </a:rPr>
              <a:t>it</a:t>
            </a:r>
            <a:r>
              <a:rPr sz="2400" b="1" dirty="0">
                <a:latin typeface="Tahoma"/>
                <a:cs typeface="Tahoma"/>
              </a:rPr>
              <a:t> </a:t>
            </a:r>
            <a:r>
              <a:rPr sz="2400" b="1" spc="-10" dirty="0">
                <a:latin typeface="Tahoma"/>
                <a:cs typeface="Tahoma"/>
              </a:rPr>
              <a:t>is</a:t>
            </a:r>
            <a:r>
              <a:rPr sz="2400" b="1" spc="-5" dirty="0">
                <a:latin typeface="Tahoma"/>
                <a:cs typeface="Tahoma"/>
              </a:rPr>
              <a:t> </a:t>
            </a:r>
            <a:r>
              <a:rPr sz="2400" b="1" spc="-15" dirty="0">
                <a:latin typeface="Tahoma"/>
                <a:cs typeface="Tahoma"/>
              </a:rPr>
              <a:t>r</a:t>
            </a:r>
            <a:r>
              <a:rPr sz="2400" b="1" spc="-20" dirty="0">
                <a:latin typeface="Tahoma"/>
                <a:cs typeface="Tahoma"/>
              </a:rPr>
              <a:t>e</a:t>
            </a:r>
            <a:r>
              <a:rPr sz="2400" b="1" spc="-10" dirty="0">
                <a:latin typeface="Tahoma"/>
                <a:cs typeface="Tahoma"/>
              </a:rPr>
              <a:t>j</a:t>
            </a:r>
            <a:r>
              <a:rPr sz="2400" b="1" spc="-20" dirty="0">
                <a:latin typeface="Tahoma"/>
                <a:cs typeface="Tahoma"/>
              </a:rPr>
              <a:t>e</a:t>
            </a:r>
            <a:r>
              <a:rPr sz="2400" b="1" spc="-5" dirty="0">
                <a:latin typeface="Tahoma"/>
                <a:cs typeface="Tahoma"/>
              </a:rPr>
              <a:t>c</a:t>
            </a:r>
            <a:r>
              <a:rPr sz="2400" b="1" spc="-10" dirty="0">
                <a:latin typeface="Tahoma"/>
                <a:cs typeface="Tahoma"/>
              </a:rPr>
              <a:t>t</a:t>
            </a:r>
            <a:r>
              <a:rPr sz="2400" b="1" spc="-20" dirty="0">
                <a:latin typeface="Tahoma"/>
                <a:cs typeface="Tahoma"/>
              </a:rPr>
              <a:t>e</a:t>
            </a:r>
            <a:r>
              <a:rPr sz="2400" b="1" dirty="0">
                <a:latin typeface="Tahoma"/>
                <a:cs typeface="Tahoma"/>
              </a:rPr>
              <a:t>d</a:t>
            </a:r>
            <a:endParaRPr sz="2400" dirty="0">
              <a:latin typeface="Tahoma"/>
              <a:cs typeface="Tahoma"/>
            </a:endParaRPr>
          </a:p>
        </p:txBody>
      </p:sp>
      <p:sp>
        <p:nvSpPr>
          <p:cNvPr id="13" name="Rectangle 12">
            <a:extLst>
              <a:ext uri="{FF2B5EF4-FFF2-40B4-BE49-F238E27FC236}">
                <a16:creationId xmlns:a16="http://schemas.microsoft.com/office/drawing/2014/main" id="{AC1256A6-2578-5EB5-7FCC-A39E3DF53BC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EF96C0F6-7633-2F69-5368-3D69AA525EC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Slide Number Placeholder 8">
            <a:extLst>
              <a:ext uri="{FF2B5EF4-FFF2-40B4-BE49-F238E27FC236}">
                <a16:creationId xmlns:a16="http://schemas.microsoft.com/office/drawing/2014/main" id="{E2293B95-031F-CDD0-DD61-A8843B6B9A4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57</a:t>
            </a:fld>
            <a:r>
              <a:rPr lang="en-US" sz="2000" dirty="0">
                <a:solidFill>
                  <a:prstClr val="black"/>
                </a:solidFill>
                <a:latin typeface="Comic Sans MS"/>
                <a:sym typeface="Comic Sans MS"/>
              </a:rPr>
              <a:t>/59</a:t>
            </a:r>
          </a:p>
        </p:txBody>
      </p:sp>
      <p:sp>
        <p:nvSpPr>
          <p:cNvPr id="16" name="Footer Placeholder 9">
            <a:extLst>
              <a:ext uri="{FF2B5EF4-FFF2-40B4-BE49-F238E27FC236}">
                <a16:creationId xmlns:a16="http://schemas.microsoft.com/office/drawing/2014/main" id="{97A14C71-941F-6E1A-FE2B-803B9C0C5995}"/>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7" name="Rectangle 16">
            <a:extLst>
              <a:ext uri="{FF2B5EF4-FFF2-40B4-BE49-F238E27FC236}">
                <a16:creationId xmlns:a16="http://schemas.microsoft.com/office/drawing/2014/main" id="{6EE4732D-4F76-D994-7E44-8806CC05538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173510" y="51017"/>
            <a:ext cx="8515350" cy="1138000"/>
          </a:xfrm>
          <a:prstGeom prst="rect">
            <a:avLst/>
          </a:prstGeom>
        </p:spPr>
        <p:txBody>
          <a:bodyPr vert="horz" wrap="square" lIns="0" tIns="151634" rIns="0" bIns="0" rtlCol="0">
            <a:spAutoFit/>
          </a:bodyPr>
          <a:lstStyle/>
          <a:p>
            <a:pPr marL="23495">
              <a:lnSpc>
                <a:spcPct val="100000"/>
              </a:lnSpc>
            </a:pPr>
            <a:r>
              <a:rPr lang="en-US" dirty="0">
                <a:solidFill>
                  <a:srgbClr val="FF0000"/>
                </a:solidFill>
              </a:rPr>
              <a:t>Self Study</a:t>
            </a:r>
            <a:r>
              <a:rPr lang="en-US" dirty="0"/>
              <a:t>: </a:t>
            </a:r>
            <a:r>
              <a:rPr dirty="0"/>
              <a:t>Some</a:t>
            </a:r>
            <a:r>
              <a:rPr spc="-5" dirty="0"/>
              <a:t> </a:t>
            </a:r>
            <a:r>
              <a:rPr dirty="0"/>
              <a:t>o</a:t>
            </a:r>
            <a:r>
              <a:rPr spc="-15" dirty="0"/>
              <a:t>t</a:t>
            </a:r>
            <a:r>
              <a:rPr dirty="0"/>
              <a:t>her</a:t>
            </a:r>
            <a:r>
              <a:rPr spc="-5" dirty="0"/>
              <a:t> </a:t>
            </a:r>
            <a:r>
              <a:rPr dirty="0"/>
              <a:t>Learning</a:t>
            </a:r>
            <a:r>
              <a:rPr spc="-5" dirty="0"/>
              <a:t> </a:t>
            </a:r>
            <a:r>
              <a:rPr spc="-25" dirty="0"/>
              <a:t>&amp;</a:t>
            </a:r>
            <a:r>
              <a:rPr spc="-5" dirty="0"/>
              <a:t> </a:t>
            </a:r>
            <a:r>
              <a:rPr dirty="0"/>
              <a:t>Revision</a:t>
            </a:r>
            <a:r>
              <a:rPr spc="-5" dirty="0"/>
              <a:t> </a:t>
            </a:r>
            <a:r>
              <a:rPr dirty="0"/>
              <a:t>Pro</a:t>
            </a:r>
            <a:r>
              <a:rPr spc="-15" dirty="0"/>
              <a:t>t</a:t>
            </a:r>
            <a:r>
              <a:rPr dirty="0"/>
              <a:t>ocols</a:t>
            </a:r>
          </a:p>
        </p:txBody>
      </p:sp>
      <p:sp>
        <p:nvSpPr>
          <p:cNvPr id="6" name="object 6"/>
          <p:cNvSpPr txBox="1"/>
          <p:nvPr/>
        </p:nvSpPr>
        <p:spPr>
          <a:xfrm>
            <a:off x="453094" y="1498938"/>
            <a:ext cx="7144384" cy="4170045"/>
          </a:xfrm>
          <a:prstGeom prst="rect">
            <a:avLst/>
          </a:prstGeom>
        </p:spPr>
        <p:txBody>
          <a:bodyPr vert="horz" wrap="square" lIns="0" tIns="0" rIns="0" bIns="0" rtlCol="0">
            <a:spAutoFit/>
          </a:bodyPr>
          <a:lstStyle/>
          <a:p>
            <a:pPr marL="241300" indent="-228600">
              <a:lnSpc>
                <a:spcPts val="3295"/>
              </a:lnSpc>
              <a:buFont typeface="Times New Roman"/>
              <a:buChar char="•"/>
              <a:tabLst>
                <a:tab pos="241300" algn="l"/>
              </a:tabLst>
            </a:pPr>
            <a:r>
              <a:rPr sz="2800" dirty="0">
                <a:latin typeface="Times New Roman"/>
                <a:cs typeface="Times New Roman"/>
              </a:rPr>
              <a:t>P</a:t>
            </a:r>
            <a:r>
              <a:rPr sz="2800" spc="-20" dirty="0">
                <a:latin typeface="Times New Roman"/>
                <a:cs typeface="Times New Roman"/>
              </a:rPr>
              <a:t>a</a:t>
            </a:r>
            <a:r>
              <a:rPr sz="2800" spc="-10" dirty="0">
                <a:latin typeface="Times New Roman"/>
                <a:cs typeface="Times New Roman"/>
              </a:rPr>
              <a:t>i</a:t>
            </a:r>
            <a:r>
              <a:rPr sz="2800" dirty="0">
                <a:latin typeface="Times New Roman"/>
                <a:cs typeface="Times New Roman"/>
              </a:rPr>
              <a:t>rw</a:t>
            </a:r>
            <a:r>
              <a:rPr sz="2800" spc="-10" dirty="0">
                <a:latin typeface="Times New Roman"/>
                <a:cs typeface="Times New Roman"/>
              </a:rPr>
              <a:t>i</a:t>
            </a:r>
            <a:r>
              <a:rPr sz="2800" dirty="0">
                <a:latin typeface="Times New Roman"/>
                <a:cs typeface="Times New Roman"/>
              </a:rPr>
              <a:t>s</a:t>
            </a:r>
            <a:r>
              <a:rPr sz="2800" spc="-15" dirty="0">
                <a:latin typeface="Times New Roman"/>
                <a:cs typeface="Times New Roman"/>
              </a:rPr>
              <a:t>e</a:t>
            </a:r>
            <a:r>
              <a:rPr sz="2800" spc="-5" dirty="0">
                <a:latin typeface="Times New Roman"/>
                <a:cs typeface="Times New Roman"/>
              </a:rPr>
              <a:t> </a:t>
            </a:r>
            <a:r>
              <a:rPr sz="2800" spc="-20" dirty="0">
                <a:latin typeface="Times New Roman"/>
                <a:cs typeface="Times New Roman"/>
              </a:rPr>
              <a:t>Co</a:t>
            </a:r>
            <a:r>
              <a:rPr sz="2800" spc="-30" dirty="0">
                <a:latin typeface="Times New Roman"/>
                <a:cs typeface="Times New Roman"/>
              </a:rPr>
              <a:t>m</a:t>
            </a:r>
            <a:r>
              <a:rPr sz="2800" spc="-15" dirty="0">
                <a:latin typeface="Times New Roman"/>
                <a:cs typeface="Times New Roman"/>
              </a:rPr>
              <a:t>p</a:t>
            </a:r>
            <a:r>
              <a:rPr sz="2800" spc="-20" dirty="0">
                <a:latin typeface="Times New Roman"/>
                <a:cs typeface="Times New Roman"/>
              </a:rPr>
              <a:t>a</a:t>
            </a:r>
            <a:r>
              <a:rPr sz="2800" spc="-10" dirty="0">
                <a:latin typeface="Times New Roman"/>
                <a:cs typeface="Times New Roman"/>
              </a:rPr>
              <a:t>ri</a:t>
            </a:r>
            <a:r>
              <a:rPr sz="2800" dirty="0">
                <a:latin typeface="Times New Roman"/>
                <a:cs typeface="Times New Roman"/>
              </a:rPr>
              <a:t>son </a:t>
            </a:r>
            <a:r>
              <a:rPr sz="2800" spc="-10" dirty="0">
                <a:latin typeface="Times New Roman"/>
                <a:cs typeface="Times New Roman"/>
              </a:rPr>
              <a:t>/</a:t>
            </a:r>
            <a:r>
              <a:rPr sz="2800" dirty="0">
                <a:latin typeface="Times New Roman"/>
                <a:cs typeface="Times New Roman"/>
              </a:rPr>
              <a:t> S</a:t>
            </a:r>
            <a:r>
              <a:rPr sz="2800" spc="-15" dirty="0">
                <a:latin typeface="Times New Roman"/>
                <a:cs typeface="Times New Roman"/>
              </a:rPr>
              <a:t>mit</a:t>
            </a:r>
            <a:r>
              <a:rPr sz="2800" dirty="0">
                <a:latin typeface="Times New Roman"/>
                <a:cs typeface="Times New Roman"/>
              </a:rPr>
              <a:t>h D</a:t>
            </a:r>
            <a:r>
              <a:rPr sz="2800" spc="-15" dirty="0">
                <a:latin typeface="Times New Roman"/>
                <a:cs typeface="Times New Roman"/>
              </a:rPr>
              <a:t>yn</a:t>
            </a:r>
            <a:r>
              <a:rPr sz="2800" spc="-20" dirty="0">
                <a:latin typeface="Times New Roman"/>
                <a:cs typeface="Times New Roman"/>
              </a:rPr>
              <a:t>a</a:t>
            </a:r>
            <a:r>
              <a:rPr sz="2800" spc="-15" dirty="0">
                <a:latin typeface="Times New Roman"/>
                <a:cs typeface="Times New Roman"/>
              </a:rPr>
              <a:t>mi</a:t>
            </a:r>
            <a:r>
              <a:rPr sz="2800" spc="-20" dirty="0">
                <a:latin typeface="Times New Roman"/>
                <a:cs typeface="Times New Roman"/>
              </a:rPr>
              <a:t>c</a:t>
            </a:r>
            <a:r>
              <a:rPr sz="2800" dirty="0">
                <a:latin typeface="Times New Roman"/>
                <a:cs typeface="Times New Roman"/>
              </a:rPr>
              <a:t>s</a:t>
            </a:r>
            <a:endParaRPr sz="2800">
              <a:latin typeface="Times New Roman"/>
              <a:cs typeface="Times New Roman"/>
            </a:endParaRPr>
          </a:p>
          <a:p>
            <a:pPr marL="584200" marR="88900" lvl="1" indent="-228600">
              <a:lnSpc>
                <a:spcPts val="2600"/>
              </a:lnSpc>
              <a:spcBef>
                <a:spcPts val="155"/>
              </a:spcBef>
              <a:buFont typeface="Times New Roman"/>
              <a:buChar char="•"/>
              <a:tabLst>
                <a:tab pos="584200" algn="l"/>
              </a:tabLst>
            </a:pPr>
            <a:r>
              <a:rPr sz="2300" i="1" spc="-90" dirty="0">
                <a:latin typeface="Times New Roman"/>
                <a:cs typeface="Times New Roman"/>
              </a:rPr>
              <a:t>r</a:t>
            </a:r>
            <a:r>
              <a:rPr sz="2300" i="1" spc="-20" dirty="0">
                <a:latin typeface="Times New Roman"/>
                <a:cs typeface="Times New Roman"/>
              </a:rPr>
              <a:t>ev</a:t>
            </a:r>
            <a:r>
              <a:rPr sz="2300" i="1" spc="-10" dirty="0">
                <a:latin typeface="Times New Roman"/>
                <a:cs typeface="Times New Roman"/>
              </a:rPr>
              <a:t>i</a:t>
            </a:r>
            <a:r>
              <a:rPr sz="2300" i="1" dirty="0">
                <a:latin typeface="Times New Roman"/>
                <a:cs typeface="Times New Roman"/>
              </a:rPr>
              <a:t>s</a:t>
            </a:r>
            <a:r>
              <a:rPr sz="2300" i="1" spc="-10" dirty="0">
                <a:latin typeface="Times New Roman"/>
                <a:cs typeface="Times New Roman"/>
              </a:rPr>
              <a:t>i</a:t>
            </a:r>
            <a:r>
              <a:rPr sz="2300" i="1" dirty="0">
                <a:latin typeface="Times New Roman"/>
                <a:cs typeface="Times New Roman"/>
              </a:rPr>
              <a:t>ng </a:t>
            </a:r>
            <a:r>
              <a:rPr sz="2300" i="1" spc="-15" dirty="0">
                <a:latin typeface="Times New Roman"/>
                <a:cs typeface="Times New Roman"/>
              </a:rPr>
              <a:t>ag</a:t>
            </a:r>
            <a:r>
              <a:rPr sz="2300" i="1" spc="-20" dirty="0">
                <a:latin typeface="Times New Roman"/>
                <a:cs typeface="Times New Roman"/>
              </a:rPr>
              <a:t>e</a:t>
            </a:r>
            <a:r>
              <a:rPr sz="2300" i="1" spc="-10" dirty="0">
                <a:latin typeface="Times New Roman"/>
                <a:cs typeface="Times New Roman"/>
              </a:rPr>
              <a:t>nt</a:t>
            </a:r>
            <a:r>
              <a:rPr sz="2300" i="1" dirty="0">
                <a:latin typeface="Times New Roman"/>
                <a:cs typeface="Times New Roman"/>
              </a:rPr>
              <a:t>s </a:t>
            </a:r>
            <a:r>
              <a:rPr sz="2300" i="1" spc="-20" dirty="0">
                <a:latin typeface="Times New Roman"/>
                <a:cs typeface="Times New Roman"/>
              </a:rPr>
              <a:t>c</a:t>
            </a:r>
            <a:r>
              <a:rPr sz="2300" i="1" dirty="0">
                <a:latin typeface="Times New Roman"/>
                <a:cs typeface="Times New Roman"/>
              </a:rPr>
              <a:t>hoos</a:t>
            </a:r>
            <a:r>
              <a:rPr sz="2300" i="1" spc="-15" dirty="0">
                <a:latin typeface="Times New Roman"/>
                <a:cs typeface="Times New Roman"/>
              </a:rPr>
              <a:t>e</a:t>
            </a:r>
            <a:r>
              <a:rPr sz="2300" i="1" spc="-5" dirty="0">
                <a:latin typeface="Times New Roman"/>
                <a:cs typeface="Times New Roman"/>
              </a:rPr>
              <a:t> </a:t>
            </a:r>
            <a:r>
              <a:rPr sz="2300" i="1" dirty="0">
                <a:latin typeface="Times New Roman"/>
                <a:cs typeface="Times New Roman"/>
              </a:rPr>
              <a:t>a </a:t>
            </a:r>
            <a:r>
              <a:rPr sz="2300" i="1" spc="-20" dirty="0">
                <a:latin typeface="Times New Roman"/>
                <a:cs typeface="Times New Roman"/>
              </a:rPr>
              <a:t>c</a:t>
            </a:r>
            <a:r>
              <a:rPr sz="2300" i="1" spc="-10" dirty="0">
                <a:latin typeface="Times New Roman"/>
                <a:cs typeface="Times New Roman"/>
              </a:rPr>
              <a:t>andidate</a:t>
            </a:r>
            <a:r>
              <a:rPr sz="2300" i="1" spc="-5" dirty="0">
                <a:latin typeface="Times New Roman"/>
                <a:cs typeface="Times New Roman"/>
              </a:rPr>
              <a:t> </a:t>
            </a:r>
            <a:r>
              <a:rPr sz="2300" i="1" dirty="0">
                <a:latin typeface="Times New Roman"/>
                <a:cs typeface="Times New Roman"/>
              </a:rPr>
              <a:t>s</a:t>
            </a:r>
            <a:r>
              <a:rPr sz="2300" i="1" spc="-10" dirty="0">
                <a:latin typeface="Times New Roman"/>
                <a:cs typeface="Times New Roman"/>
              </a:rPr>
              <a:t>t</a:t>
            </a:r>
            <a:r>
              <a:rPr sz="2300" i="1" dirty="0">
                <a:latin typeface="Times New Roman"/>
                <a:cs typeface="Times New Roman"/>
              </a:rPr>
              <a:t>r</a:t>
            </a:r>
            <a:r>
              <a:rPr sz="2300" i="1" spc="-10" dirty="0">
                <a:latin typeface="Times New Roman"/>
                <a:cs typeface="Times New Roman"/>
              </a:rPr>
              <a:t>at</a:t>
            </a:r>
            <a:r>
              <a:rPr sz="2300" i="1" spc="-20" dirty="0">
                <a:latin typeface="Times New Roman"/>
                <a:cs typeface="Times New Roman"/>
              </a:rPr>
              <a:t>e</a:t>
            </a:r>
            <a:r>
              <a:rPr sz="2300" i="1" spc="-15" dirty="0">
                <a:latin typeface="Times New Roman"/>
                <a:cs typeface="Times New Roman"/>
              </a:rPr>
              <a:t>gy</a:t>
            </a:r>
            <a:r>
              <a:rPr sz="2300" i="1" spc="-5" dirty="0">
                <a:latin typeface="Times New Roman"/>
                <a:cs typeface="Times New Roman"/>
              </a:rPr>
              <a:t> </a:t>
            </a:r>
            <a:r>
              <a:rPr sz="2300" i="1" spc="-10" dirty="0">
                <a:latin typeface="Times New Roman"/>
                <a:cs typeface="Times New Roman"/>
              </a:rPr>
              <a:t>at</a:t>
            </a:r>
            <a:r>
              <a:rPr sz="2300" i="1" dirty="0">
                <a:latin typeface="Times New Roman"/>
                <a:cs typeface="Times New Roman"/>
              </a:rPr>
              <a:t> random, s</a:t>
            </a:r>
            <a:r>
              <a:rPr sz="2300" i="1" spc="-10" dirty="0">
                <a:latin typeface="Times New Roman"/>
                <a:cs typeface="Times New Roman"/>
              </a:rPr>
              <a:t>wit</a:t>
            </a:r>
            <a:r>
              <a:rPr sz="2300" i="1" spc="-20" dirty="0">
                <a:latin typeface="Times New Roman"/>
                <a:cs typeface="Times New Roman"/>
              </a:rPr>
              <a:t>c</a:t>
            </a:r>
            <a:r>
              <a:rPr sz="2300" i="1" spc="-10" dirty="0">
                <a:latin typeface="Times New Roman"/>
                <a:cs typeface="Times New Roman"/>
              </a:rPr>
              <a:t>hi</a:t>
            </a:r>
            <a:r>
              <a:rPr sz="2300" i="1" dirty="0">
                <a:latin typeface="Times New Roman"/>
                <a:cs typeface="Times New Roman"/>
              </a:rPr>
              <a:t>ng </a:t>
            </a:r>
            <a:r>
              <a:rPr sz="2300" i="1" spc="-10" dirty="0">
                <a:latin typeface="Times New Roman"/>
                <a:cs typeface="Times New Roman"/>
              </a:rPr>
              <a:t>t</a:t>
            </a:r>
            <a:r>
              <a:rPr sz="2300" i="1" dirty="0">
                <a:latin typeface="Times New Roman"/>
                <a:cs typeface="Times New Roman"/>
              </a:rPr>
              <a:t>o </a:t>
            </a:r>
            <a:r>
              <a:rPr sz="2300" i="1" spc="-10" dirty="0">
                <a:latin typeface="Times New Roman"/>
                <a:cs typeface="Times New Roman"/>
              </a:rPr>
              <a:t>it</a:t>
            </a:r>
            <a:r>
              <a:rPr sz="2300" i="1" dirty="0">
                <a:latin typeface="Times New Roman"/>
                <a:cs typeface="Times New Roman"/>
              </a:rPr>
              <a:t> </a:t>
            </a:r>
            <a:r>
              <a:rPr sz="2300" i="1" spc="-10" dirty="0">
                <a:latin typeface="Times New Roman"/>
                <a:cs typeface="Times New Roman"/>
              </a:rPr>
              <a:t>wit</a:t>
            </a:r>
            <a:r>
              <a:rPr sz="2300" i="1" dirty="0">
                <a:latin typeface="Times New Roman"/>
                <a:cs typeface="Times New Roman"/>
              </a:rPr>
              <a:t>h pos</a:t>
            </a:r>
            <a:r>
              <a:rPr sz="2300" i="1" spc="-10" dirty="0">
                <a:latin typeface="Times New Roman"/>
                <a:cs typeface="Times New Roman"/>
              </a:rPr>
              <a:t>iti</a:t>
            </a:r>
            <a:r>
              <a:rPr sz="2300" i="1" spc="-20" dirty="0">
                <a:latin typeface="Times New Roman"/>
                <a:cs typeface="Times New Roman"/>
              </a:rPr>
              <a:t>v</a:t>
            </a:r>
            <a:r>
              <a:rPr sz="2300" i="1" spc="-15" dirty="0">
                <a:latin typeface="Times New Roman"/>
                <a:cs typeface="Times New Roman"/>
              </a:rPr>
              <a:t>e</a:t>
            </a:r>
            <a:r>
              <a:rPr sz="2300" i="1" spc="-5" dirty="0">
                <a:latin typeface="Times New Roman"/>
                <a:cs typeface="Times New Roman"/>
              </a:rPr>
              <a:t> </a:t>
            </a:r>
            <a:r>
              <a:rPr sz="2300" i="1" dirty="0">
                <a:latin typeface="Times New Roman"/>
                <a:cs typeface="Times New Roman"/>
              </a:rPr>
              <a:t>p</a:t>
            </a:r>
            <a:r>
              <a:rPr sz="2300" i="1" spc="-90" dirty="0">
                <a:latin typeface="Times New Roman"/>
                <a:cs typeface="Times New Roman"/>
              </a:rPr>
              <a:t>r</a:t>
            </a:r>
            <a:r>
              <a:rPr sz="2300" i="1" spc="-10" dirty="0">
                <a:latin typeface="Times New Roman"/>
                <a:cs typeface="Times New Roman"/>
              </a:rPr>
              <a:t>obability</a:t>
            </a:r>
            <a:r>
              <a:rPr sz="2300" i="1" spc="-5" dirty="0">
                <a:latin typeface="Times New Roman"/>
                <a:cs typeface="Times New Roman"/>
              </a:rPr>
              <a:t> </a:t>
            </a:r>
            <a:r>
              <a:rPr sz="2300" i="1" spc="-10" dirty="0">
                <a:latin typeface="Times New Roman"/>
                <a:cs typeface="Times New Roman"/>
              </a:rPr>
              <a:t>if</a:t>
            </a:r>
            <a:r>
              <a:rPr sz="2300" i="1" dirty="0">
                <a:latin typeface="Times New Roman"/>
                <a:cs typeface="Times New Roman"/>
              </a:rPr>
              <a:t> and </a:t>
            </a:r>
            <a:r>
              <a:rPr sz="2300" i="1" spc="-10" dirty="0">
                <a:latin typeface="Times New Roman"/>
                <a:cs typeface="Times New Roman"/>
              </a:rPr>
              <a:t>only</a:t>
            </a:r>
            <a:r>
              <a:rPr sz="2300" i="1" spc="-5" dirty="0">
                <a:latin typeface="Times New Roman"/>
                <a:cs typeface="Times New Roman"/>
              </a:rPr>
              <a:t> </a:t>
            </a:r>
            <a:r>
              <a:rPr sz="2300" i="1" spc="-10" dirty="0">
                <a:latin typeface="Times New Roman"/>
                <a:cs typeface="Times New Roman"/>
              </a:rPr>
              <a:t>if it</a:t>
            </a:r>
            <a:r>
              <a:rPr sz="2300" i="1" dirty="0">
                <a:latin typeface="Times New Roman"/>
                <a:cs typeface="Times New Roman"/>
              </a:rPr>
              <a:t>s </a:t>
            </a:r>
            <a:r>
              <a:rPr sz="2300" i="1" spc="-15" dirty="0">
                <a:latin typeface="Times New Roman"/>
                <a:cs typeface="Times New Roman"/>
              </a:rPr>
              <a:t>pa</a:t>
            </a:r>
            <a:r>
              <a:rPr sz="2300" i="1" spc="-20" dirty="0">
                <a:latin typeface="Times New Roman"/>
                <a:cs typeface="Times New Roman"/>
              </a:rPr>
              <a:t>y</a:t>
            </a:r>
            <a:r>
              <a:rPr sz="2300" i="1" spc="-10" dirty="0">
                <a:latin typeface="Times New Roman"/>
                <a:cs typeface="Times New Roman"/>
              </a:rPr>
              <a:t>off</a:t>
            </a:r>
            <a:r>
              <a:rPr sz="2300" i="1" dirty="0">
                <a:latin typeface="Times New Roman"/>
                <a:cs typeface="Times New Roman"/>
              </a:rPr>
              <a:t> </a:t>
            </a:r>
            <a:r>
              <a:rPr sz="2300" i="1" spc="-10" dirty="0">
                <a:latin typeface="Times New Roman"/>
                <a:cs typeface="Times New Roman"/>
              </a:rPr>
              <a:t>i</a:t>
            </a:r>
            <a:r>
              <a:rPr sz="2300" i="1" dirty="0">
                <a:latin typeface="Times New Roman"/>
                <a:cs typeface="Times New Roman"/>
              </a:rPr>
              <a:t>s </a:t>
            </a:r>
            <a:r>
              <a:rPr sz="2300" i="1" spc="-15" dirty="0">
                <a:latin typeface="Times New Roman"/>
                <a:cs typeface="Times New Roman"/>
              </a:rPr>
              <a:t>high</a:t>
            </a:r>
            <a:r>
              <a:rPr sz="2300" i="1" spc="-20" dirty="0">
                <a:latin typeface="Times New Roman"/>
                <a:cs typeface="Times New Roman"/>
              </a:rPr>
              <a:t>e</a:t>
            </a:r>
            <a:r>
              <a:rPr sz="2300" i="1" dirty="0">
                <a:latin typeface="Times New Roman"/>
                <a:cs typeface="Times New Roman"/>
              </a:rPr>
              <a:t>r </a:t>
            </a:r>
            <a:r>
              <a:rPr sz="2300" i="1" spc="-10" dirty="0">
                <a:latin typeface="Times New Roman"/>
                <a:cs typeface="Times New Roman"/>
              </a:rPr>
              <a:t>t</a:t>
            </a:r>
            <a:r>
              <a:rPr sz="2300" i="1" dirty="0">
                <a:latin typeface="Times New Roman"/>
                <a:cs typeface="Times New Roman"/>
              </a:rPr>
              <a:t>han </a:t>
            </a:r>
            <a:r>
              <a:rPr sz="2300" i="1" spc="-10" dirty="0">
                <a:latin typeface="Times New Roman"/>
                <a:cs typeface="Times New Roman"/>
              </a:rPr>
              <a:t>the</a:t>
            </a:r>
            <a:r>
              <a:rPr sz="2300" i="1" spc="-5" dirty="0">
                <a:latin typeface="Times New Roman"/>
                <a:cs typeface="Times New Roman"/>
              </a:rPr>
              <a:t> </a:t>
            </a:r>
            <a:r>
              <a:rPr sz="2300" i="1" spc="-15" dirty="0">
                <a:latin typeface="Times New Roman"/>
                <a:cs typeface="Times New Roman"/>
              </a:rPr>
              <a:t>ag</a:t>
            </a:r>
            <a:r>
              <a:rPr sz="2300" i="1" spc="-20" dirty="0">
                <a:latin typeface="Times New Roman"/>
                <a:cs typeface="Times New Roman"/>
              </a:rPr>
              <a:t>e</a:t>
            </a:r>
            <a:r>
              <a:rPr sz="2300" i="1" spc="-10" dirty="0">
                <a:latin typeface="Times New Roman"/>
                <a:cs typeface="Times New Roman"/>
              </a:rPr>
              <a:t>nt</a:t>
            </a:r>
            <a:r>
              <a:rPr sz="2300" i="1" spc="-300" dirty="0">
                <a:latin typeface="Times New Roman"/>
                <a:cs typeface="Times New Roman"/>
              </a:rPr>
              <a:t>’</a:t>
            </a:r>
            <a:r>
              <a:rPr sz="2300" i="1" dirty="0">
                <a:latin typeface="Times New Roman"/>
                <a:cs typeface="Times New Roman"/>
              </a:rPr>
              <a:t>s </a:t>
            </a:r>
            <a:r>
              <a:rPr sz="2300" i="1" spc="-20" dirty="0">
                <a:latin typeface="Times New Roman"/>
                <a:cs typeface="Times New Roman"/>
              </a:rPr>
              <a:t>c</a:t>
            </a:r>
            <a:r>
              <a:rPr sz="2300" i="1" dirty="0">
                <a:latin typeface="Times New Roman"/>
                <a:cs typeface="Times New Roman"/>
              </a:rPr>
              <a:t>ur</a:t>
            </a:r>
            <a:r>
              <a:rPr sz="2300" i="1" spc="-90" dirty="0">
                <a:latin typeface="Times New Roman"/>
                <a:cs typeface="Times New Roman"/>
              </a:rPr>
              <a:t>r</a:t>
            </a:r>
            <a:r>
              <a:rPr sz="2300" i="1" spc="-20" dirty="0">
                <a:latin typeface="Times New Roman"/>
                <a:cs typeface="Times New Roman"/>
              </a:rPr>
              <a:t>e</a:t>
            </a:r>
            <a:r>
              <a:rPr sz="2300" i="1" spc="-10" dirty="0">
                <a:latin typeface="Times New Roman"/>
                <a:cs typeface="Times New Roman"/>
              </a:rPr>
              <a:t>nt</a:t>
            </a:r>
            <a:r>
              <a:rPr sz="2300" i="1" dirty="0">
                <a:latin typeface="Times New Roman"/>
                <a:cs typeface="Times New Roman"/>
              </a:rPr>
              <a:t> s</a:t>
            </a:r>
            <a:r>
              <a:rPr sz="2300" i="1" spc="-10" dirty="0">
                <a:latin typeface="Times New Roman"/>
                <a:cs typeface="Times New Roman"/>
              </a:rPr>
              <a:t>t</a:t>
            </a:r>
            <a:r>
              <a:rPr sz="2300" i="1" dirty="0">
                <a:latin typeface="Times New Roman"/>
                <a:cs typeface="Times New Roman"/>
              </a:rPr>
              <a:t>r</a:t>
            </a:r>
            <a:r>
              <a:rPr sz="2300" i="1" spc="-10" dirty="0">
                <a:latin typeface="Times New Roman"/>
                <a:cs typeface="Times New Roman"/>
              </a:rPr>
              <a:t>at</a:t>
            </a:r>
            <a:r>
              <a:rPr sz="2300" i="1" spc="-20" dirty="0">
                <a:latin typeface="Times New Roman"/>
                <a:cs typeface="Times New Roman"/>
              </a:rPr>
              <a:t>e</a:t>
            </a:r>
            <a:r>
              <a:rPr sz="2300" i="1" dirty="0">
                <a:latin typeface="Times New Roman"/>
                <a:cs typeface="Times New Roman"/>
              </a:rPr>
              <a:t>g</a:t>
            </a:r>
            <a:r>
              <a:rPr sz="2300" i="1" spc="-145" dirty="0">
                <a:latin typeface="Times New Roman"/>
                <a:cs typeface="Times New Roman"/>
              </a:rPr>
              <a:t>y</a:t>
            </a:r>
            <a:r>
              <a:rPr sz="2300" i="1" dirty="0">
                <a:latin typeface="Times New Roman"/>
                <a:cs typeface="Times New Roman"/>
              </a:rPr>
              <a:t>.</a:t>
            </a:r>
            <a:endParaRPr sz="2300">
              <a:latin typeface="Times New Roman"/>
              <a:cs typeface="Times New Roman"/>
            </a:endParaRPr>
          </a:p>
          <a:p>
            <a:pPr marL="584200" marR="5080" lvl="1" indent="-228600">
              <a:lnSpc>
                <a:spcPts val="2600"/>
              </a:lnSpc>
              <a:buFont typeface="Times New Roman"/>
              <a:buChar char="•"/>
              <a:tabLst>
                <a:tab pos="584200" algn="l"/>
              </a:tabLst>
            </a:pPr>
            <a:r>
              <a:rPr sz="2300" i="1" spc="-15" dirty="0">
                <a:latin typeface="Times New Roman"/>
                <a:cs typeface="Times New Roman"/>
              </a:rPr>
              <a:t>Pai</a:t>
            </a:r>
            <a:r>
              <a:rPr sz="2300" i="1" dirty="0">
                <a:latin typeface="Times New Roman"/>
                <a:cs typeface="Times New Roman"/>
              </a:rPr>
              <a:t>r</a:t>
            </a:r>
            <a:r>
              <a:rPr sz="2300" i="1" spc="-15" dirty="0">
                <a:latin typeface="Times New Roman"/>
                <a:cs typeface="Times New Roman"/>
              </a:rPr>
              <a:t>wi</a:t>
            </a:r>
            <a:r>
              <a:rPr sz="2300" i="1" dirty="0">
                <a:latin typeface="Times New Roman"/>
                <a:cs typeface="Times New Roman"/>
              </a:rPr>
              <a:t>s</a:t>
            </a:r>
            <a:r>
              <a:rPr sz="2300" i="1" spc="-15" dirty="0">
                <a:latin typeface="Times New Roman"/>
                <a:cs typeface="Times New Roman"/>
              </a:rPr>
              <a:t>e</a:t>
            </a:r>
            <a:r>
              <a:rPr sz="2300" i="1" spc="-5" dirty="0">
                <a:latin typeface="Times New Roman"/>
                <a:cs typeface="Times New Roman"/>
              </a:rPr>
              <a:t> </a:t>
            </a:r>
            <a:r>
              <a:rPr sz="2300" i="1" spc="-20" dirty="0">
                <a:latin typeface="Times New Roman"/>
                <a:cs typeface="Times New Roman"/>
              </a:rPr>
              <a:t>c</a:t>
            </a:r>
            <a:r>
              <a:rPr sz="2300" i="1" dirty="0">
                <a:latin typeface="Times New Roman"/>
                <a:cs typeface="Times New Roman"/>
              </a:rPr>
              <a:t>ompar</a:t>
            </a:r>
            <a:r>
              <a:rPr sz="2300" i="1" spc="-10" dirty="0">
                <a:latin typeface="Times New Roman"/>
                <a:cs typeface="Times New Roman"/>
              </a:rPr>
              <a:t>i</a:t>
            </a:r>
            <a:r>
              <a:rPr sz="2300" i="1" dirty="0">
                <a:latin typeface="Times New Roman"/>
                <a:cs typeface="Times New Roman"/>
              </a:rPr>
              <a:t>son </a:t>
            </a:r>
            <a:r>
              <a:rPr sz="2300" i="1" spc="-15" dirty="0">
                <a:latin typeface="Times New Roman"/>
                <a:cs typeface="Times New Roman"/>
              </a:rPr>
              <a:t>indu</a:t>
            </a:r>
            <a:r>
              <a:rPr sz="2300" i="1" spc="-20" dirty="0">
                <a:latin typeface="Times New Roman"/>
                <a:cs typeface="Times New Roman"/>
              </a:rPr>
              <a:t>ce</a:t>
            </a:r>
            <a:r>
              <a:rPr sz="2300" i="1" dirty="0">
                <a:latin typeface="Times New Roman"/>
                <a:cs typeface="Times New Roman"/>
              </a:rPr>
              <a:t>s Sm</a:t>
            </a:r>
            <a:r>
              <a:rPr sz="2300" i="1" spc="-10" dirty="0">
                <a:latin typeface="Times New Roman"/>
                <a:cs typeface="Times New Roman"/>
              </a:rPr>
              <a:t>it</a:t>
            </a:r>
            <a:r>
              <a:rPr sz="2300" i="1" dirty="0">
                <a:latin typeface="Times New Roman"/>
                <a:cs typeface="Times New Roman"/>
              </a:rPr>
              <a:t>h D</a:t>
            </a:r>
            <a:r>
              <a:rPr sz="2300" i="1" spc="-20" dirty="0">
                <a:latin typeface="Times New Roman"/>
                <a:cs typeface="Times New Roman"/>
              </a:rPr>
              <a:t>y</a:t>
            </a:r>
            <a:r>
              <a:rPr sz="2300" i="1" dirty="0">
                <a:latin typeface="Times New Roman"/>
                <a:cs typeface="Times New Roman"/>
              </a:rPr>
              <a:t>nam</a:t>
            </a:r>
            <a:r>
              <a:rPr sz="2300" i="1" spc="-10" dirty="0">
                <a:latin typeface="Times New Roman"/>
                <a:cs typeface="Times New Roman"/>
              </a:rPr>
              <a:t>i</a:t>
            </a:r>
            <a:r>
              <a:rPr sz="2300" i="1" spc="-20" dirty="0">
                <a:latin typeface="Times New Roman"/>
                <a:cs typeface="Times New Roman"/>
              </a:rPr>
              <a:t>c</a:t>
            </a:r>
            <a:r>
              <a:rPr sz="2300" i="1" dirty="0">
                <a:latin typeface="Times New Roman"/>
                <a:cs typeface="Times New Roman"/>
              </a:rPr>
              <a:t>s, </a:t>
            </a:r>
            <a:r>
              <a:rPr sz="2300" i="1" spc="-15" dirty="0">
                <a:latin typeface="Times New Roman"/>
                <a:cs typeface="Times New Roman"/>
              </a:rPr>
              <a:t>whi</a:t>
            </a:r>
            <a:r>
              <a:rPr sz="2300" i="1" spc="-20" dirty="0">
                <a:latin typeface="Times New Roman"/>
                <a:cs typeface="Times New Roman"/>
              </a:rPr>
              <a:t>c</a:t>
            </a:r>
            <a:r>
              <a:rPr sz="2300" i="1" dirty="0">
                <a:latin typeface="Times New Roman"/>
                <a:cs typeface="Times New Roman"/>
              </a:rPr>
              <a:t>h </a:t>
            </a:r>
            <a:r>
              <a:rPr sz="2300" i="1" spc="-10" dirty="0">
                <a:latin typeface="Times New Roman"/>
                <a:cs typeface="Times New Roman"/>
              </a:rPr>
              <a:t>i</a:t>
            </a:r>
            <a:r>
              <a:rPr sz="2300" i="1" dirty="0">
                <a:latin typeface="Times New Roman"/>
                <a:cs typeface="Times New Roman"/>
              </a:rPr>
              <a:t>s </a:t>
            </a:r>
            <a:r>
              <a:rPr sz="2300" dirty="0">
                <a:latin typeface="Times New Roman"/>
                <a:cs typeface="Times New Roman"/>
              </a:rPr>
              <a:t>N</a:t>
            </a:r>
            <a:r>
              <a:rPr sz="2300" spc="-20" dirty="0">
                <a:latin typeface="Times New Roman"/>
                <a:cs typeface="Times New Roman"/>
              </a:rPr>
              <a:t>a</a:t>
            </a:r>
            <a:r>
              <a:rPr sz="2300" dirty="0">
                <a:latin typeface="Times New Roman"/>
                <a:cs typeface="Times New Roman"/>
              </a:rPr>
              <a:t>sh-s</a:t>
            </a:r>
            <a:r>
              <a:rPr sz="2300" spc="-10" dirty="0">
                <a:latin typeface="Times New Roman"/>
                <a:cs typeface="Times New Roman"/>
              </a:rPr>
              <a:t>t</a:t>
            </a:r>
            <a:r>
              <a:rPr sz="2300" spc="-20" dirty="0">
                <a:latin typeface="Times New Roman"/>
                <a:cs typeface="Times New Roman"/>
              </a:rPr>
              <a:t>a</a:t>
            </a:r>
            <a:r>
              <a:rPr sz="2300" spc="-10" dirty="0">
                <a:latin typeface="Times New Roman"/>
                <a:cs typeface="Times New Roman"/>
              </a:rPr>
              <a:t>tion</a:t>
            </a:r>
            <a:r>
              <a:rPr sz="2300" spc="-20" dirty="0">
                <a:latin typeface="Times New Roman"/>
                <a:cs typeface="Times New Roman"/>
              </a:rPr>
              <a:t>a</a:t>
            </a:r>
            <a:r>
              <a:rPr sz="2300" dirty="0">
                <a:latin typeface="Times New Roman"/>
                <a:cs typeface="Times New Roman"/>
              </a:rPr>
              <a:t>ry</a:t>
            </a:r>
            <a:r>
              <a:rPr sz="2300" i="1" dirty="0">
                <a:latin typeface="Times New Roman"/>
                <a:cs typeface="Times New Roman"/>
              </a:rPr>
              <a:t>: </a:t>
            </a:r>
            <a:r>
              <a:rPr sz="2300" i="1" spc="-10" dirty="0">
                <a:latin typeface="Times New Roman"/>
                <a:cs typeface="Times New Roman"/>
              </a:rPr>
              <a:t>the</a:t>
            </a:r>
            <a:r>
              <a:rPr sz="2300" i="1" spc="-5" dirty="0">
                <a:latin typeface="Times New Roman"/>
                <a:cs typeface="Times New Roman"/>
              </a:rPr>
              <a:t> </a:t>
            </a:r>
            <a:r>
              <a:rPr sz="2300" i="1" dirty="0">
                <a:latin typeface="Times New Roman"/>
                <a:cs typeface="Times New Roman"/>
              </a:rPr>
              <a:t>s</a:t>
            </a:r>
            <a:r>
              <a:rPr sz="2300" i="1" spc="-20" dirty="0">
                <a:latin typeface="Times New Roman"/>
                <a:cs typeface="Times New Roman"/>
              </a:rPr>
              <a:t>e</a:t>
            </a:r>
            <a:r>
              <a:rPr sz="2300" i="1" spc="-10" dirty="0">
                <a:latin typeface="Times New Roman"/>
                <a:cs typeface="Times New Roman"/>
              </a:rPr>
              <a:t>t</a:t>
            </a:r>
            <a:r>
              <a:rPr sz="2300" i="1" dirty="0">
                <a:latin typeface="Times New Roman"/>
                <a:cs typeface="Times New Roman"/>
              </a:rPr>
              <a:t> </a:t>
            </a:r>
            <a:r>
              <a:rPr sz="2300" i="1" spc="-10" dirty="0">
                <a:latin typeface="Times New Roman"/>
                <a:cs typeface="Times New Roman"/>
              </a:rPr>
              <a:t>of</a:t>
            </a:r>
            <a:r>
              <a:rPr sz="2300" i="1" dirty="0">
                <a:latin typeface="Times New Roman"/>
                <a:cs typeface="Times New Roman"/>
              </a:rPr>
              <a:t> </a:t>
            </a:r>
            <a:r>
              <a:rPr sz="2300" i="1" spc="-90" dirty="0">
                <a:latin typeface="Times New Roman"/>
                <a:cs typeface="Times New Roman"/>
              </a:rPr>
              <a:t>r</a:t>
            </a:r>
            <a:r>
              <a:rPr sz="2300" i="1" spc="-20" dirty="0">
                <a:latin typeface="Times New Roman"/>
                <a:cs typeface="Times New Roman"/>
              </a:rPr>
              <a:t>e</a:t>
            </a:r>
            <a:r>
              <a:rPr sz="2300" i="1" dirty="0">
                <a:latin typeface="Times New Roman"/>
                <a:cs typeface="Times New Roman"/>
              </a:rPr>
              <a:t>s</a:t>
            </a:r>
            <a:r>
              <a:rPr sz="2300" i="1" spc="-10" dirty="0">
                <a:latin typeface="Times New Roman"/>
                <a:cs typeface="Times New Roman"/>
              </a:rPr>
              <a:t>t</a:t>
            </a:r>
            <a:r>
              <a:rPr sz="2300" i="1" dirty="0">
                <a:latin typeface="Times New Roman"/>
                <a:cs typeface="Times New Roman"/>
              </a:rPr>
              <a:t> </a:t>
            </a:r>
            <a:r>
              <a:rPr sz="2300" i="1" spc="-10" dirty="0">
                <a:latin typeface="Times New Roman"/>
                <a:cs typeface="Times New Roman"/>
              </a:rPr>
              <a:t>point</a:t>
            </a:r>
            <a:r>
              <a:rPr sz="2300" i="1" dirty="0">
                <a:latin typeface="Times New Roman"/>
                <a:cs typeface="Times New Roman"/>
              </a:rPr>
              <a:t>s </a:t>
            </a:r>
            <a:r>
              <a:rPr sz="2300" i="1" spc="-10" dirty="0">
                <a:latin typeface="Times New Roman"/>
                <a:cs typeface="Times New Roman"/>
              </a:rPr>
              <a:t>i</a:t>
            </a:r>
            <a:r>
              <a:rPr sz="2300" i="1" dirty="0">
                <a:latin typeface="Times New Roman"/>
                <a:cs typeface="Times New Roman"/>
              </a:rPr>
              <a:t>s </a:t>
            </a:r>
            <a:r>
              <a:rPr sz="2300" i="1" spc="-10" dirty="0">
                <a:latin typeface="Times New Roman"/>
                <a:cs typeface="Times New Roman"/>
              </a:rPr>
              <a:t>id</a:t>
            </a:r>
            <a:r>
              <a:rPr sz="2300" i="1" spc="-20" dirty="0">
                <a:latin typeface="Times New Roman"/>
                <a:cs typeface="Times New Roman"/>
              </a:rPr>
              <a:t>e</a:t>
            </a:r>
            <a:r>
              <a:rPr sz="2300" i="1" spc="-10" dirty="0">
                <a:latin typeface="Times New Roman"/>
                <a:cs typeface="Times New Roman"/>
              </a:rPr>
              <a:t>nti</a:t>
            </a:r>
            <a:r>
              <a:rPr sz="2300" i="1" spc="-20" dirty="0">
                <a:latin typeface="Times New Roman"/>
                <a:cs typeface="Times New Roman"/>
              </a:rPr>
              <a:t>c</a:t>
            </a:r>
            <a:r>
              <a:rPr sz="2300" i="1" spc="-10" dirty="0">
                <a:latin typeface="Times New Roman"/>
                <a:cs typeface="Times New Roman"/>
              </a:rPr>
              <a:t>al</a:t>
            </a:r>
            <a:r>
              <a:rPr sz="2300" i="1" dirty="0">
                <a:latin typeface="Times New Roman"/>
                <a:cs typeface="Times New Roman"/>
              </a:rPr>
              <a:t> </a:t>
            </a:r>
            <a:r>
              <a:rPr sz="2300" i="1" spc="-10" dirty="0">
                <a:latin typeface="Times New Roman"/>
                <a:cs typeface="Times New Roman"/>
              </a:rPr>
              <a:t>t</a:t>
            </a:r>
            <a:r>
              <a:rPr sz="2300" i="1" dirty="0">
                <a:latin typeface="Times New Roman"/>
                <a:cs typeface="Times New Roman"/>
              </a:rPr>
              <a:t>o </a:t>
            </a:r>
            <a:r>
              <a:rPr sz="2300" i="1" spc="-10" dirty="0">
                <a:latin typeface="Times New Roman"/>
                <a:cs typeface="Times New Roman"/>
              </a:rPr>
              <a:t>the </a:t>
            </a:r>
            <a:r>
              <a:rPr sz="2300" i="1" dirty="0">
                <a:latin typeface="Times New Roman"/>
                <a:cs typeface="Times New Roman"/>
              </a:rPr>
              <a:t>Nash </a:t>
            </a:r>
            <a:r>
              <a:rPr sz="2300" i="1" spc="-20" dirty="0">
                <a:latin typeface="Times New Roman"/>
                <a:cs typeface="Times New Roman"/>
              </a:rPr>
              <a:t>e</a:t>
            </a:r>
            <a:r>
              <a:rPr sz="2300" i="1" spc="-10" dirty="0">
                <a:latin typeface="Times New Roman"/>
                <a:cs typeface="Times New Roman"/>
              </a:rPr>
              <a:t>quili</a:t>
            </a:r>
            <a:r>
              <a:rPr sz="2300" i="1" dirty="0">
                <a:latin typeface="Times New Roman"/>
                <a:cs typeface="Times New Roman"/>
              </a:rPr>
              <a:t>br</a:t>
            </a:r>
            <a:r>
              <a:rPr sz="2300" i="1" spc="-10" dirty="0">
                <a:latin typeface="Times New Roman"/>
                <a:cs typeface="Times New Roman"/>
              </a:rPr>
              <a:t>i</a:t>
            </a:r>
            <a:r>
              <a:rPr sz="2300" i="1" dirty="0">
                <a:latin typeface="Times New Roman"/>
                <a:cs typeface="Times New Roman"/>
              </a:rPr>
              <a:t>a</a:t>
            </a:r>
            <a:endParaRPr sz="2300">
              <a:latin typeface="Times New Roman"/>
              <a:cs typeface="Times New Roman"/>
            </a:endParaRPr>
          </a:p>
          <a:p>
            <a:pPr lvl="1">
              <a:lnSpc>
                <a:spcPct val="100000"/>
              </a:lnSpc>
              <a:spcBef>
                <a:spcPts val="18"/>
              </a:spcBef>
              <a:buFont typeface="Times New Roman"/>
              <a:buChar char="•"/>
            </a:pPr>
            <a:endParaRPr sz="2550">
              <a:latin typeface="Times New Roman"/>
              <a:cs typeface="Times New Roman"/>
            </a:endParaRPr>
          </a:p>
          <a:p>
            <a:pPr marL="241300" indent="-228600">
              <a:lnSpc>
                <a:spcPts val="3295"/>
              </a:lnSpc>
              <a:buFont typeface="Times New Roman"/>
              <a:buChar char="•"/>
              <a:tabLst>
                <a:tab pos="241300" algn="l"/>
              </a:tabLst>
            </a:pPr>
            <a:r>
              <a:rPr sz="2800" dirty="0">
                <a:latin typeface="Times New Roman"/>
                <a:cs typeface="Times New Roman"/>
              </a:rPr>
              <a:t>(S</a:t>
            </a:r>
            <a:r>
              <a:rPr sz="2800" spc="-20" dirty="0">
                <a:latin typeface="Times New Roman"/>
                <a:cs typeface="Times New Roman"/>
              </a:rPr>
              <a:t>a</a:t>
            </a:r>
            <a:r>
              <a:rPr sz="2800" spc="-15" dirty="0">
                <a:latin typeface="Times New Roman"/>
                <a:cs typeface="Times New Roman"/>
              </a:rPr>
              <a:t>mpli</a:t>
            </a:r>
            <a:r>
              <a:rPr sz="2800" dirty="0">
                <a:latin typeface="Times New Roman"/>
                <a:cs typeface="Times New Roman"/>
              </a:rPr>
              <a:t>ng) </a:t>
            </a:r>
            <a:r>
              <a:rPr sz="2800" spc="-20" dirty="0">
                <a:latin typeface="Times New Roman"/>
                <a:cs typeface="Times New Roman"/>
              </a:rPr>
              <a:t>Be</a:t>
            </a:r>
            <a:r>
              <a:rPr sz="2800" dirty="0">
                <a:latin typeface="Times New Roman"/>
                <a:cs typeface="Times New Roman"/>
              </a:rPr>
              <a:t>s</a:t>
            </a:r>
            <a:r>
              <a:rPr sz="2800" spc="-10" dirty="0">
                <a:latin typeface="Times New Roman"/>
                <a:cs typeface="Times New Roman"/>
              </a:rPr>
              <a:t>t</a:t>
            </a:r>
            <a:r>
              <a:rPr sz="2800" dirty="0">
                <a:latin typeface="Times New Roman"/>
                <a:cs typeface="Times New Roman"/>
              </a:rPr>
              <a:t> </a:t>
            </a:r>
            <a:r>
              <a:rPr sz="2800" spc="-20" dirty="0">
                <a:latin typeface="Times New Roman"/>
                <a:cs typeface="Times New Roman"/>
              </a:rPr>
              <a:t>Re</a:t>
            </a:r>
            <a:r>
              <a:rPr sz="2800" dirty="0">
                <a:latin typeface="Times New Roman"/>
                <a:cs typeface="Times New Roman"/>
              </a:rPr>
              <a:t>spons</a:t>
            </a:r>
            <a:r>
              <a:rPr sz="2800" spc="-15" dirty="0">
                <a:latin typeface="Times New Roman"/>
                <a:cs typeface="Times New Roman"/>
              </a:rPr>
              <a:t>e</a:t>
            </a:r>
            <a:r>
              <a:rPr sz="2800" spc="-5" dirty="0">
                <a:latin typeface="Times New Roman"/>
                <a:cs typeface="Times New Roman"/>
              </a:rPr>
              <a:t> </a:t>
            </a:r>
            <a:r>
              <a:rPr sz="2800" dirty="0">
                <a:latin typeface="Times New Roman"/>
                <a:cs typeface="Times New Roman"/>
              </a:rPr>
              <a:t>D</a:t>
            </a:r>
            <a:r>
              <a:rPr sz="2800" spc="-15" dirty="0">
                <a:latin typeface="Times New Roman"/>
                <a:cs typeface="Times New Roman"/>
              </a:rPr>
              <a:t>yn</a:t>
            </a:r>
            <a:r>
              <a:rPr sz="2800" spc="-20" dirty="0">
                <a:latin typeface="Times New Roman"/>
                <a:cs typeface="Times New Roman"/>
              </a:rPr>
              <a:t>a</a:t>
            </a:r>
            <a:r>
              <a:rPr sz="2800" spc="-15" dirty="0">
                <a:latin typeface="Times New Roman"/>
                <a:cs typeface="Times New Roman"/>
              </a:rPr>
              <a:t>mi</a:t>
            </a:r>
            <a:r>
              <a:rPr sz="2800" spc="-20" dirty="0">
                <a:latin typeface="Times New Roman"/>
                <a:cs typeface="Times New Roman"/>
              </a:rPr>
              <a:t>c</a:t>
            </a:r>
            <a:r>
              <a:rPr sz="2800" dirty="0">
                <a:latin typeface="Times New Roman"/>
                <a:cs typeface="Times New Roman"/>
              </a:rPr>
              <a:t>s</a:t>
            </a:r>
            <a:endParaRPr sz="2800">
              <a:latin typeface="Times New Roman"/>
              <a:cs typeface="Times New Roman"/>
            </a:endParaRPr>
          </a:p>
          <a:p>
            <a:pPr marL="584200" marR="429259" lvl="1" indent="-228600">
              <a:lnSpc>
                <a:spcPts val="2600"/>
              </a:lnSpc>
              <a:spcBef>
                <a:spcPts val="155"/>
              </a:spcBef>
              <a:buFont typeface="Times New Roman"/>
              <a:buChar char="•"/>
              <a:tabLst>
                <a:tab pos="584200" algn="l"/>
              </a:tabLst>
            </a:pPr>
            <a:r>
              <a:rPr sz="2300" i="1" spc="-90" dirty="0">
                <a:latin typeface="Times New Roman"/>
                <a:cs typeface="Times New Roman"/>
              </a:rPr>
              <a:t>r</a:t>
            </a:r>
            <a:r>
              <a:rPr sz="2300" i="1" spc="-20" dirty="0">
                <a:latin typeface="Times New Roman"/>
                <a:cs typeface="Times New Roman"/>
              </a:rPr>
              <a:t>ev</a:t>
            </a:r>
            <a:r>
              <a:rPr sz="2300" i="1" spc="-10" dirty="0">
                <a:latin typeface="Times New Roman"/>
                <a:cs typeface="Times New Roman"/>
              </a:rPr>
              <a:t>i</a:t>
            </a:r>
            <a:r>
              <a:rPr sz="2300" i="1" dirty="0">
                <a:latin typeface="Times New Roman"/>
                <a:cs typeface="Times New Roman"/>
              </a:rPr>
              <a:t>s</a:t>
            </a:r>
            <a:r>
              <a:rPr sz="2300" i="1" spc="-10" dirty="0">
                <a:latin typeface="Times New Roman"/>
                <a:cs typeface="Times New Roman"/>
              </a:rPr>
              <a:t>i</a:t>
            </a:r>
            <a:r>
              <a:rPr sz="2300" i="1" dirty="0">
                <a:latin typeface="Times New Roman"/>
                <a:cs typeface="Times New Roman"/>
              </a:rPr>
              <a:t>ng </a:t>
            </a:r>
            <a:r>
              <a:rPr sz="2300" i="1" spc="-15" dirty="0">
                <a:latin typeface="Times New Roman"/>
                <a:cs typeface="Times New Roman"/>
              </a:rPr>
              <a:t>ag</a:t>
            </a:r>
            <a:r>
              <a:rPr sz="2300" i="1" spc="-20" dirty="0">
                <a:latin typeface="Times New Roman"/>
                <a:cs typeface="Times New Roman"/>
              </a:rPr>
              <a:t>e</a:t>
            </a:r>
            <a:r>
              <a:rPr sz="2300" i="1" spc="-10" dirty="0">
                <a:latin typeface="Times New Roman"/>
                <a:cs typeface="Times New Roman"/>
              </a:rPr>
              <a:t>nt</a:t>
            </a:r>
            <a:r>
              <a:rPr sz="2300" i="1" dirty="0">
                <a:latin typeface="Times New Roman"/>
                <a:cs typeface="Times New Roman"/>
              </a:rPr>
              <a:t>s </a:t>
            </a:r>
            <a:r>
              <a:rPr sz="2300" i="1" spc="-20" dirty="0">
                <a:latin typeface="Times New Roman"/>
                <a:cs typeface="Times New Roman"/>
              </a:rPr>
              <a:t>c</a:t>
            </a:r>
            <a:r>
              <a:rPr sz="2300" i="1" dirty="0">
                <a:latin typeface="Times New Roman"/>
                <a:cs typeface="Times New Roman"/>
              </a:rPr>
              <a:t>hoos</a:t>
            </a:r>
            <a:r>
              <a:rPr sz="2300" i="1" spc="-15" dirty="0">
                <a:latin typeface="Times New Roman"/>
                <a:cs typeface="Times New Roman"/>
              </a:rPr>
              <a:t>e</a:t>
            </a:r>
            <a:r>
              <a:rPr sz="2300" i="1" spc="-5" dirty="0">
                <a:latin typeface="Times New Roman"/>
                <a:cs typeface="Times New Roman"/>
              </a:rPr>
              <a:t> </a:t>
            </a:r>
            <a:r>
              <a:rPr sz="2300" i="1" dirty="0">
                <a:latin typeface="Times New Roman"/>
                <a:cs typeface="Times New Roman"/>
              </a:rPr>
              <a:t>a s</a:t>
            </a:r>
            <a:r>
              <a:rPr sz="2300" i="1" spc="-20" dirty="0">
                <a:latin typeface="Times New Roman"/>
                <a:cs typeface="Times New Roman"/>
              </a:rPr>
              <a:t>e</a:t>
            </a:r>
            <a:r>
              <a:rPr sz="2300" i="1" spc="-10" dirty="0">
                <a:latin typeface="Times New Roman"/>
                <a:cs typeface="Times New Roman"/>
              </a:rPr>
              <a:t>t</a:t>
            </a:r>
            <a:r>
              <a:rPr sz="2300" i="1" dirty="0">
                <a:latin typeface="Times New Roman"/>
                <a:cs typeface="Times New Roman"/>
              </a:rPr>
              <a:t> </a:t>
            </a:r>
            <a:r>
              <a:rPr sz="2300" i="1" spc="-10" dirty="0">
                <a:latin typeface="Times New Roman"/>
                <a:cs typeface="Times New Roman"/>
              </a:rPr>
              <a:t>of</a:t>
            </a:r>
            <a:r>
              <a:rPr sz="2300" i="1" dirty="0">
                <a:latin typeface="Times New Roman"/>
                <a:cs typeface="Times New Roman"/>
              </a:rPr>
              <a:t> </a:t>
            </a:r>
            <a:r>
              <a:rPr sz="2300" i="1" spc="-15" dirty="0">
                <a:latin typeface="Times New Roman"/>
                <a:cs typeface="Times New Roman"/>
              </a:rPr>
              <a:t>oppon</a:t>
            </a:r>
            <a:r>
              <a:rPr sz="2300" i="1" spc="-20" dirty="0">
                <a:latin typeface="Times New Roman"/>
                <a:cs typeface="Times New Roman"/>
              </a:rPr>
              <a:t>e</a:t>
            </a:r>
            <a:r>
              <a:rPr sz="2300" i="1" spc="-10" dirty="0">
                <a:latin typeface="Times New Roman"/>
                <a:cs typeface="Times New Roman"/>
              </a:rPr>
              <a:t>nt</a:t>
            </a:r>
            <a:r>
              <a:rPr sz="2300" i="1" dirty="0">
                <a:latin typeface="Times New Roman"/>
                <a:cs typeface="Times New Roman"/>
              </a:rPr>
              <a:t>s </a:t>
            </a:r>
            <a:r>
              <a:rPr sz="2300" i="1" spc="-10" dirty="0">
                <a:latin typeface="Times New Roman"/>
                <a:cs typeface="Times New Roman"/>
              </a:rPr>
              <a:t>at</a:t>
            </a:r>
            <a:r>
              <a:rPr sz="2300" i="1" dirty="0">
                <a:latin typeface="Times New Roman"/>
                <a:cs typeface="Times New Roman"/>
              </a:rPr>
              <a:t> random and s</a:t>
            </a:r>
            <a:r>
              <a:rPr sz="2300" i="1" spc="-10" dirty="0">
                <a:latin typeface="Times New Roman"/>
                <a:cs typeface="Times New Roman"/>
              </a:rPr>
              <a:t>wit</a:t>
            </a:r>
            <a:r>
              <a:rPr sz="2300" i="1" spc="-20" dirty="0">
                <a:latin typeface="Times New Roman"/>
                <a:cs typeface="Times New Roman"/>
              </a:rPr>
              <a:t>c</a:t>
            </a:r>
            <a:r>
              <a:rPr sz="2300" i="1" dirty="0">
                <a:latin typeface="Times New Roman"/>
                <a:cs typeface="Times New Roman"/>
              </a:rPr>
              <a:t>h </a:t>
            </a:r>
            <a:r>
              <a:rPr sz="2300" i="1" spc="-10" dirty="0">
                <a:latin typeface="Times New Roman"/>
                <a:cs typeface="Times New Roman"/>
              </a:rPr>
              <a:t>t</a:t>
            </a:r>
            <a:r>
              <a:rPr sz="2300" i="1" dirty="0">
                <a:latin typeface="Times New Roman"/>
                <a:cs typeface="Times New Roman"/>
              </a:rPr>
              <a:t>o a </a:t>
            </a:r>
            <a:r>
              <a:rPr sz="2300" i="1" spc="-15" dirty="0">
                <a:latin typeface="Times New Roman"/>
                <a:cs typeface="Times New Roman"/>
              </a:rPr>
              <a:t>b</a:t>
            </a:r>
            <a:r>
              <a:rPr sz="2300" i="1" spc="-20" dirty="0">
                <a:latin typeface="Times New Roman"/>
                <a:cs typeface="Times New Roman"/>
              </a:rPr>
              <a:t>e</a:t>
            </a:r>
            <a:r>
              <a:rPr sz="2300" i="1" dirty="0">
                <a:latin typeface="Times New Roman"/>
                <a:cs typeface="Times New Roman"/>
              </a:rPr>
              <a:t>s</a:t>
            </a:r>
            <a:r>
              <a:rPr sz="2300" i="1" spc="-10" dirty="0">
                <a:latin typeface="Times New Roman"/>
                <a:cs typeface="Times New Roman"/>
              </a:rPr>
              <a:t>t</a:t>
            </a:r>
            <a:r>
              <a:rPr sz="2300" i="1" dirty="0">
                <a:latin typeface="Times New Roman"/>
                <a:cs typeface="Times New Roman"/>
              </a:rPr>
              <a:t> </a:t>
            </a:r>
            <a:r>
              <a:rPr sz="2300" i="1" spc="-90" dirty="0">
                <a:latin typeface="Times New Roman"/>
                <a:cs typeface="Times New Roman"/>
              </a:rPr>
              <a:t>r</a:t>
            </a:r>
            <a:r>
              <a:rPr sz="2300" i="1" spc="-20" dirty="0">
                <a:latin typeface="Times New Roman"/>
                <a:cs typeface="Times New Roman"/>
              </a:rPr>
              <a:t>e</a:t>
            </a:r>
            <a:r>
              <a:rPr sz="2300" i="1" dirty="0">
                <a:latin typeface="Times New Roman"/>
                <a:cs typeface="Times New Roman"/>
              </a:rPr>
              <a:t>spons</a:t>
            </a:r>
            <a:r>
              <a:rPr sz="2300" i="1" spc="-15" dirty="0">
                <a:latin typeface="Times New Roman"/>
                <a:cs typeface="Times New Roman"/>
              </a:rPr>
              <a:t>e</a:t>
            </a:r>
            <a:r>
              <a:rPr sz="2300" i="1" spc="-5" dirty="0">
                <a:latin typeface="Times New Roman"/>
                <a:cs typeface="Times New Roman"/>
              </a:rPr>
              <a:t> </a:t>
            </a:r>
            <a:r>
              <a:rPr sz="2300" i="1" dirty="0">
                <a:latin typeface="Times New Roman"/>
                <a:cs typeface="Times New Roman"/>
              </a:rPr>
              <a:t>s</a:t>
            </a:r>
            <a:r>
              <a:rPr sz="2300" i="1" spc="-10" dirty="0">
                <a:latin typeface="Times New Roman"/>
                <a:cs typeface="Times New Roman"/>
              </a:rPr>
              <a:t>t</a:t>
            </a:r>
            <a:r>
              <a:rPr sz="2300" i="1" dirty="0">
                <a:latin typeface="Times New Roman"/>
                <a:cs typeface="Times New Roman"/>
              </a:rPr>
              <a:t>r</a:t>
            </a:r>
            <a:r>
              <a:rPr sz="2300" i="1" spc="-10" dirty="0">
                <a:latin typeface="Times New Roman"/>
                <a:cs typeface="Times New Roman"/>
              </a:rPr>
              <a:t>at</a:t>
            </a:r>
            <a:r>
              <a:rPr sz="2300" i="1" spc="-20" dirty="0">
                <a:latin typeface="Times New Roman"/>
                <a:cs typeface="Times New Roman"/>
              </a:rPr>
              <a:t>e</a:t>
            </a:r>
            <a:r>
              <a:rPr sz="2300" i="1" spc="-15" dirty="0">
                <a:latin typeface="Times New Roman"/>
                <a:cs typeface="Times New Roman"/>
              </a:rPr>
              <a:t>gy</a:t>
            </a:r>
            <a:r>
              <a:rPr sz="2300" i="1" spc="-5" dirty="0">
                <a:latin typeface="Times New Roman"/>
                <a:cs typeface="Times New Roman"/>
              </a:rPr>
              <a:t> </a:t>
            </a:r>
            <a:r>
              <a:rPr sz="2300" i="1" spc="-10" dirty="0">
                <a:latin typeface="Times New Roman"/>
                <a:cs typeface="Times New Roman"/>
              </a:rPr>
              <a:t>f</a:t>
            </a:r>
            <a:r>
              <a:rPr sz="2300" i="1" dirty="0">
                <a:latin typeface="Times New Roman"/>
                <a:cs typeface="Times New Roman"/>
              </a:rPr>
              <a:t>or </a:t>
            </a:r>
            <a:r>
              <a:rPr sz="2300" i="1" spc="-10" dirty="0">
                <a:latin typeface="Times New Roman"/>
                <a:cs typeface="Times New Roman"/>
              </a:rPr>
              <a:t>th</a:t>
            </a:r>
            <a:r>
              <a:rPr sz="2300" i="1" spc="-20" dirty="0">
                <a:latin typeface="Times New Roman"/>
                <a:cs typeface="Times New Roman"/>
              </a:rPr>
              <a:t>e</a:t>
            </a:r>
            <a:r>
              <a:rPr sz="2300" i="1" dirty="0">
                <a:latin typeface="Times New Roman"/>
                <a:cs typeface="Times New Roman"/>
              </a:rPr>
              <a:t>s</a:t>
            </a:r>
            <a:r>
              <a:rPr sz="2300" i="1" spc="-15" dirty="0">
                <a:latin typeface="Times New Roman"/>
                <a:cs typeface="Times New Roman"/>
              </a:rPr>
              <a:t>e oppon</a:t>
            </a:r>
            <a:r>
              <a:rPr sz="2300" i="1" spc="-20" dirty="0">
                <a:latin typeface="Times New Roman"/>
                <a:cs typeface="Times New Roman"/>
              </a:rPr>
              <a:t>e</a:t>
            </a:r>
            <a:r>
              <a:rPr sz="2300" i="1" spc="-10" dirty="0">
                <a:latin typeface="Times New Roman"/>
                <a:cs typeface="Times New Roman"/>
              </a:rPr>
              <a:t>nt</a:t>
            </a:r>
            <a:r>
              <a:rPr sz="2300" i="1" dirty="0">
                <a:latin typeface="Times New Roman"/>
                <a:cs typeface="Times New Roman"/>
              </a:rPr>
              <a:t>s.</a:t>
            </a:r>
            <a:endParaRPr sz="2300">
              <a:latin typeface="Times New Roman"/>
              <a:cs typeface="Times New Roman"/>
            </a:endParaRPr>
          </a:p>
        </p:txBody>
      </p:sp>
      <p:sp>
        <p:nvSpPr>
          <p:cNvPr id="7" name="Rectangle 6">
            <a:extLst>
              <a:ext uri="{FF2B5EF4-FFF2-40B4-BE49-F238E27FC236}">
                <a16:creationId xmlns:a16="http://schemas.microsoft.com/office/drawing/2014/main" id="{B1A2D46F-60BB-2B8E-2B30-415E3B1CA1B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94C54EDC-2728-A219-D917-B4EACE51D39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D675AED3-619C-B995-9684-9F941E4DD7F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58</a:t>
            </a:fld>
            <a:r>
              <a:rPr lang="en-US" sz="2000" dirty="0">
                <a:solidFill>
                  <a:prstClr val="black"/>
                </a:solidFill>
                <a:latin typeface="Comic Sans MS"/>
                <a:sym typeface="Comic Sans MS"/>
              </a:rPr>
              <a:t>/59</a:t>
            </a:r>
          </a:p>
        </p:txBody>
      </p:sp>
      <p:sp>
        <p:nvSpPr>
          <p:cNvPr id="10" name="Footer Placeholder 9">
            <a:extLst>
              <a:ext uri="{FF2B5EF4-FFF2-40B4-BE49-F238E27FC236}">
                <a16:creationId xmlns:a16="http://schemas.microsoft.com/office/drawing/2014/main" id="{4F21017B-C203-5F75-984F-9D82F5C25244}"/>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FF121975-4CB7-2452-5275-8E7534163BC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6"/>
            <a:ext cx="9144000" cy="5016500"/>
          </a:xfrm>
          <a:custGeom>
            <a:avLst/>
            <a:gdLst/>
            <a:ahLst/>
            <a:cxnLst/>
            <a:rect l="l" t="t" r="r" b="b"/>
            <a:pathLst>
              <a:path w="9144000" h="5016500">
                <a:moveTo>
                  <a:pt x="0" y="0"/>
                </a:moveTo>
                <a:lnTo>
                  <a:pt x="0" y="5015981"/>
                </a:lnTo>
                <a:lnTo>
                  <a:pt x="9144000"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1"/>
                </a:lnTo>
                <a:lnTo>
                  <a:pt x="107903" y="2102528"/>
                </a:lnTo>
                <a:lnTo>
                  <a:pt x="150829" y="2139351"/>
                </a:lnTo>
                <a:lnTo>
                  <a:pt x="199101" y="2169311"/>
                </a:lnTo>
                <a:lnTo>
                  <a:pt x="201645"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close/>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88900">
            <a:solidFill>
              <a:srgbClr val="794A8C"/>
            </a:solidFill>
          </a:ln>
        </p:spPr>
        <p:txBody>
          <a:bodyPr wrap="square" lIns="0" tIns="0" rIns="0" bIns="0" rtlCol="0"/>
          <a:lstStyle/>
          <a:p>
            <a:endParaRPr/>
          </a:p>
        </p:txBody>
      </p:sp>
      <p:sp>
        <p:nvSpPr>
          <p:cNvPr id="6" name="object 6"/>
          <p:cNvSpPr txBox="1"/>
          <p:nvPr/>
        </p:nvSpPr>
        <p:spPr>
          <a:xfrm>
            <a:off x="423227" y="279400"/>
            <a:ext cx="5741035" cy="584200"/>
          </a:xfrm>
          <a:prstGeom prst="rect">
            <a:avLst/>
          </a:prstGeom>
        </p:spPr>
        <p:txBody>
          <a:bodyPr vert="horz" wrap="square" lIns="0" tIns="0" rIns="0" bIns="0" rtlCol="0">
            <a:spAutoFit/>
          </a:bodyPr>
          <a:lstStyle/>
          <a:p>
            <a:pPr marL="12700">
              <a:lnSpc>
                <a:spcPct val="100000"/>
              </a:lnSpc>
            </a:pPr>
            <a:r>
              <a:rPr sz="4400" spc="-520" dirty="0">
                <a:latin typeface="Arial"/>
                <a:cs typeface="Arial"/>
              </a:rPr>
              <a:t>T</a:t>
            </a:r>
            <a:r>
              <a:rPr sz="4400" dirty="0">
                <a:latin typeface="Arial"/>
                <a:cs typeface="Arial"/>
              </a:rPr>
              <a:t>ake</a:t>
            </a:r>
            <a:r>
              <a:rPr sz="4400" spc="-5" dirty="0">
                <a:latin typeface="Arial"/>
                <a:cs typeface="Arial"/>
              </a:rPr>
              <a:t> </a:t>
            </a:r>
            <a:r>
              <a:rPr sz="4400" dirty="0">
                <a:latin typeface="Arial"/>
                <a:cs typeface="Arial"/>
              </a:rPr>
              <a:t>home</a:t>
            </a:r>
            <a:r>
              <a:rPr sz="4400" spc="-5" dirty="0">
                <a:latin typeface="Arial"/>
                <a:cs typeface="Arial"/>
              </a:rPr>
              <a:t> </a:t>
            </a:r>
            <a:r>
              <a:rPr sz="4400" dirty="0">
                <a:latin typeface="Arial"/>
                <a:cs typeface="Arial"/>
              </a:rPr>
              <a:t>lessons</a:t>
            </a:r>
            <a:r>
              <a:rPr sz="4400" spc="-5" dirty="0">
                <a:latin typeface="Arial"/>
                <a:cs typeface="Arial"/>
              </a:rPr>
              <a:t> </a:t>
            </a:r>
            <a:r>
              <a:rPr sz="4400" dirty="0">
                <a:latin typeface="Arial"/>
                <a:cs typeface="Arial"/>
              </a:rPr>
              <a:t>1</a:t>
            </a:r>
            <a:r>
              <a:rPr sz="4400" spc="-20" dirty="0">
                <a:latin typeface="Arial"/>
                <a:cs typeface="Arial"/>
              </a:rPr>
              <a:t>/</a:t>
            </a:r>
            <a:r>
              <a:rPr sz="4400" dirty="0">
                <a:latin typeface="Arial"/>
                <a:cs typeface="Arial"/>
              </a:rPr>
              <a:t>2</a:t>
            </a:r>
            <a:endParaRPr sz="4400">
              <a:latin typeface="Arial"/>
              <a:cs typeface="Arial"/>
            </a:endParaRPr>
          </a:p>
        </p:txBody>
      </p:sp>
      <p:sp>
        <p:nvSpPr>
          <p:cNvPr id="7" name="object 7"/>
          <p:cNvSpPr txBox="1"/>
          <p:nvPr/>
        </p:nvSpPr>
        <p:spPr>
          <a:xfrm>
            <a:off x="381346" y="125184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8" name="object 8"/>
          <p:cNvSpPr txBox="1"/>
          <p:nvPr/>
        </p:nvSpPr>
        <p:spPr>
          <a:xfrm>
            <a:off x="649458" y="1232795"/>
            <a:ext cx="8194040" cy="662940"/>
          </a:xfrm>
          <a:prstGeom prst="rect">
            <a:avLst/>
          </a:prstGeom>
        </p:spPr>
        <p:txBody>
          <a:bodyPr vert="horz" wrap="square" lIns="0" tIns="0" rIns="0" bIns="0" rtlCol="0">
            <a:spAutoFit/>
          </a:bodyPr>
          <a:lstStyle/>
          <a:p>
            <a:pPr marL="12700" marR="5080" algn="just">
              <a:lnSpc>
                <a:spcPts val="1710"/>
              </a:lnSpc>
            </a:pPr>
            <a:r>
              <a:rPr sz="1600" spc="-15" dirty="0">
                <a:latin typeface="Arial"/>
                <a:cs typeface="Arial"/>
              </a:rPr>
              <a:t>Evolutiona</a:t>
            </a:r>
            <a:r>
              <a:rPr sz="1600" spc="10" dirty="0">
                <a:latin typeface="Arial"/>
                <a:cs typeface="Arial"/>
              </a:rPr>
              <a:t>r</a:t>
            </a:r>
            <a:r>
              <a:rPr sz="1600" dirty="0">
                <a:latin typeface="Arial"/>
                <a:cs typeface="Arial"/>
              </a:rPr>
              <a:t>y Game </a:t>
            </a:r>
            <a:r>
              <a:rPr sz="1600" spc="-30" dirty="0">
                <a:latin typeface="Arial"/>
                <a:cs typeface="Arial"/>
              </a:rPr>
              <a:t>Theo</a:t>
            </a:r>
            <a:r>
              <a:rPr sz="1600" spc="5" dirty="0">
                <a:latin typeface="Arial"/>
                <a:cs typeface="Arial"/>
              </a:rPr>
              <a:t>r</a:t>
            </a:r>
            <a:r>
              <a:rPr sz="1600" dirty="0">
                <a:latin typeface="Arial"/>
                <a:cs typeface="Arial"/>
              </a:rPr>
              <a:t>y is a useful tool for </a:t>
            </a:r>
            <a:r>
              <a:rPr sz="1600" spc="25" dirty="0">
                <a:latin typeface="Arial"/>
                <a:cs typeface="Arial"/>
              </a:rPr>
              <a:t>describing</a:t>
            </a:r>
            <a:r>
              <a:rPr sz="1600" dirty="0">
                <a:latin typeface="Arial"/>
                <a:cs typeface="Arial"/>
              </a:rPr>
              <a:t> the lea</a:t>
            </a:r>
            <a:r>
              <a:rPr sz="1600" spc="25" dirty="0">
                <a:latin typeface="Arial"/>
                <a:cs typeface="Arial"/>
              </a:rPr>
              <a:t>r</a:t>
            </a:r>
            <a:r>
              <a:rPr sz="1600" spc="15" dirty="0">
                <a:latin typeface="Arial"/>
                <a:cs typeface="Arial"/>
              </a:rPr>
              <a:t>ning</a:t>
            </a:r>
            <a:r>
              <a:rPr sz="1600" dirty="0">
                <a:latin typeface="Arial"/>
                <a:cs typeface="Arial"/>
              </a:rPr>
              <a:t> of a </a:t>
            </a:r>
            <a:r>
              <a:rPr sz="1600" spc="50" dirty="0">
                <a:latin typeface="Arial"/>
                <a:cs typeface="Arial"/>
              </a:rPr>
              <a:t>g</a:t>
            </a:r>
            <a:r>
              <a:rPr sz="1600" dirty="0">
                <a:latin typeface="Arial"/>
                <a:cs typeface="Arial"/>
              </a:rPr>
              <a:t>r</a:t>
            </a:r>
            <a:r>
              <a:rPr sz="1600" spc="25" dirty="0">
                <a:latin typeface="Arial"/>
                <a:cs typeface="Arial"/>
              </a:rPr>
              <a:t>oup</a:t>
            </a:r>
            <a:r>
              <a:rPr sz="1600" dirty="0">
                <a:latin typeface="Arial"/>
                <a:cs typeface="Arial"/>
              </a:rPr>
              <a:t> of </a:t>
            </a:r>
            <a:r>
              <a:rPr sz="1600" spc="5" dirty="0">
                <a:latin typeface="Arial"/>
                <a:cs typeface="Arial"/>
              </a:rPr>
              <a:t>agents.</a:t>
            </a:r>
            <a:r>
              <a:rPr sz="1600" dirty="0">
                <a:latin typeface="Arial"/>
                <a:cs typeface="Arial"/>
              </a:rPr>
              <a:t> </a:t>
            </a:r>
            <a:r>
              <a:rPr sz="1600" spc="-25" dirty="0">
                <a:latin typeface="Arial"/>
                <a:cs typeface="Arial"/>
              </a:rPr>
              <a:t>While</a:t>
            </a:r>
            <a:r>
              <a:rPr sz="1600" dirty="0">
                <a:latin typeface="Arial"/>
                <a:cs typeface="Arial"/>
              </a:rPr>
              <a:t> it was </a:t>
            </a:r>
            <a:r>
              <a:rPr sz="1600" spc="5" dirty="0">
                <a:latin typeface="Arial"/>
                <a:cs typeface="Arial"/>
              </a:rPr>
              <a:t>originally</a:t>
            </a:r>
            <a:r>
              <a:rPr sz="1600" dirty="0">
                <a:latin typeface="Arial"/>
                <a:cs typeface="Arial"/>
              </a:rPr>
              <a:t> </a:t>
            </a:r>
            <a:r>
              <a:rPr sz="1600" spc="30" dirty="0">
                <a:latin typeface="Arial"/>
                <a:cs typeface="Arial"/>
              </a:rPr>
              <a:t>designed</a:t>
            </a:r>
            <a:r>
              <a:rPr sz="1600" dirty="0">
                <a:latin typeface="Arial"/>
                <a:cs typeface="Arial"/>
              </a:rPr>
              <a:t> to </a:t>
            </a:r>
            <a:r>
              <a:rPr sz="1600" spc="30" dirty="0">
                <a:latin typeface="Arial"/>
                <a:cs typeface="Arial"/>
              </a:rPr>
              <a:t>describe</a:t>
            </a:r>
            <a:r>
              <a:rPr sz="1600" dirty="0">
                <a:latin typeface="Arial"/>
                <a:cs typeface="Arial"/>
              </a:rPr>
              <a:t> evolutiona</a:t>
            </a:r>
            <a:r>
              <a:rPr sz="1600" spc="25" dirty="0">
                <a:latin typeface="Arial"/>
                <a:cs typeface="Arial"/>
              </a:rPr>
              <a:t>r</a:t>
            </a:r>
            <a:r>
              <a:rPr sz="1600" dirty="0">
                <a:latin typeface="Arial"/>
                <a:cs typeface="Arial"/>
              </a:rPr>
              <a:t>y </a:t>
            </a:r>
            <a:r>
              <a:rPr sz="1600" spc="50" dirty="0">
                <a:latin typeface="Arial"/>
                <a:cs typeface="Arial"/>
              </a:rPr>
              <a:t>p</a:t>
            </a:r>
            <a:r>
              <a:rPr sz="1600" dirty="0">
                <a:latin typeface="Arial"/>
                <a:cs typeface="Arial"/>
              </a:rPr>
              <a:t>r</a:t>
            </a:r>
            <a:r>
              <a:rPr sz="1600" spc="5" dirty="0">
                <a:latin typeface="Arial"/>
                <a:cs typeface="Arial"/>
              </a:rPr>
              <a:t>ocesses</a:t>
            </a:r>
            <a:r>
              <a:rPr sz="1600" dirty="0">
                <a:latin typeface="Arial"/>
                <a:cs typeface="Arial"/>
              </a:rPr>
              <a:t> it </a:t>
            </a:r>
            <a:r>
              <a:rPr sz="1600" spc="25" dirty="0">
                <a:latin typeface="Arial"/>
                <a:cs typeface="Arial"/>
              </a:rPr>
              <a:t>can</a:t>
            </a:r>
            <a:r>
              <a:rPr sz="1600" dirty="0">
                <a:latin typeface="Arial"/>
                <a:cs typeface="Arial"/>
              </a:rPr>
              <a:t> </a:t>
            </a:r>
            <a:r>
              <a:rPr sz="1600" spc="35" dirty="0">
                <a:latin typeface="Arial"/>
                <a:cs typeface="Arial"/>
              </a:rPr>
              <a:t>be</a:t>
            </a:r>
            <a:r>
              <a:rPr sz="1600" dirty="0">
                <a:latin typeface="Arial"/>
                <a:cs typeface="Arial"/>
              </a:rPr>
              <a:t> </a:t>
            </a:r>
            <a:r>
              <a:rPr sz="1600" spc="-30" dirty="0">
                <a:latin typeface="Arial"/>
                <a:cs typeface="Arial"/>
              </a:rPr>
              <a:t>r</a:t>
            </a:r>
            <a:r>
              <a:rPr sz="1600" spc="5" dirty="0">
                <a:latin typeface="Arial"/>
                <a:cs typeface="Arial"/>
              </a:rPr>
              <a:t>einterp</a:t>
            </a:r>
            <a:r>
              <a:rPr sz="1600" spc="-25" dirty="0">
                <a:latin typeface="Arial"/>
                <a:cs typeface="Arial"/>
              </a:rPr>
              <a:t>r</a:t>
            </a:r>
            <a:r>
              <a:rPr sz="1600" spc="15" dirty="0">
                <a:latin typeface="Arial"/>
                <a:cs typeface="Arial"/>
              </a:rPr>
              <a:t>eted</a:t>
            </a:r>
            <a:r>
              <a:rPr sz="1600" spc="5" dirty="0">
                <a:latin typeface="Arial"/>
                <a:cs typeface="Arial"/>
              </a:rPr>
              <a:t> </a:t>
            </a:r>
            <a:r>
              <a:rPr sz="1600" dirty="0">
                <a:latin typeface="Arial"/>
                <a:cs typeface="Arial"/>
              </a:rPr>
              <a:t>as </a:t>
            </a:r>
            <a:r>
              <a:rPr sz="1600" spc="25" dirty="0">
                <a:latin typeface="Arial"/>
                <a:cs typeface="Arial"/>
              </a:rPr>
              <a:t>describing</a:t>
            </a:r>
            <a:r>
              <a:rPr sz="1600" dirty="0">
                <a:latin typeface="Arial"/>
                <a:cs typeface="Arial"/>
              </a:rPr>
              <a:t> lea</a:t>
            </a:r>
            <a:r>
              <a:rPr sz="1600" spc="25" dirty="0">
                <a:latin typeface="Arial"/>
                <a:cs typeface="Arial"/>
              </a:rPr>
              <a:t>r</a:t>
            </a:r>
            <a:r>
              <a:rPr sz="1600" spc="15" dirty="0">
                <a:latin typeface="Arial"/>
                <a:cs typeface="Arial"/>
              </a:rPr>
              <a:t>ning</a:t>
            </a:r>
            <a:r>
              <a:rPr sz="1600" dirty="0">
                <a:latin typeface="Arial"/>
                <a:cs typeface="Arial"/>
              </a:rPr>
              <a:t> </a:t>
            </a:r>
            <a:r>
              <a:rPr sz="1600" spc="40" dirty="0">
                <a:latin typeface="Arial"/>
                <a:cs typeface="Arial"/>
              </a:rPr>
              <a:t>by</a:t>
            </a:r>
            <a:r>
              <a:rPr sz="1600" dirty="0">
                <a:latin typeface="Arial"/>
                <a:cs typeface="Arial"/>
              </a:rPr>
              <a:t> </a:t>
            </a:r>
            <a:r>
              <a:rPr sz="1600" spc="10" dirty="0">
                <a:latin typeface="Arial"/>
                <a:cs typeface="Arial"/>
              </a:rPr>
              <a:t>switching</a:t>
            </a:r>
            <a:r>
              <a:rPr sz="1600" dirty="0">
                <a:latin typeface="Arial"/>
                <a:cs typeface="Arial"/>
              </a:rPr>
              <a:t> the </a:t>
            </a:r>
            <a:r>
              <a:rPr sz="1600" spc="5" dirty="0">
                <a:latin typeface="Arial"/>
                <a:cs typeface="Arial"/>
              </a:rPr>
              <a:t>timescales.</a:t>
            </a:r>
            <a:endParaRPr sz="1600">
              <a:latin typeface="Arial"/>
              <a:cs typeface="Arial"/>
            </a:endParaRPr>
          </a:p>
        </p:txBody>
      </p:sp>
      <p:sp>
        <p:nvSpPr>
          <p:cNvPr id="9" name="object 9"/>
          <p:cNvSpPr txBox="1"/>
          <p:nvPr/>
        </p:nvSpPr>
        <p:spPr>
          <a:xfrm>
            <a:off x="381346" y="213195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0" name="object 10"/>
          <p:cNvSpPr txBox="1"/>
          <p:nvPr/>
        </p:nvSpPr>
        <p:spPr>
          <a:xfrm>
            <a:off x="649458" y="2112905"/>
            <a:ext cx="7839709" cy="445770"/>
          </a:xfrm>
          <a:prstGeom prst="rect">
            <a:avLst/>
          </a:prstGeom>
        </p:spPr>
        <p:txBody>
          <a:bodyPr vert="horz" wrap="square" lIns="0" tIns="0" rIns="0" bIns="0" rtlCol="0">
            <a:spAutoFit/>
          </a:bodyPr>
          <a:lstStyle/>
          <a:p>
            <a:pPr marL="12700" marR="5080">
              <a:lnSpc>
                <a:spcPts val="1710"/>
              </a:lnSpc>
            </a:pPr>
            <a:r>
              <a:rPr sz="1600" dirty="0">
                <a:latin typeface="Arial"/>
                <a:cs typeface="Arial"/>
              </a:rPr>
              <a:t>It </a:t>
            </a:r>
            <a:r>
              <a:rPr sz="1600" spc="20" dirty="0">
                <a:latin typeface="Arial"/>
                <a:cs typeface="Arial"/>
              </a:rPr>
              <a:t>describes the </a:t>
            </a:r>
            <a:r>
              <a:rPr sz="1600" spc="5" dirty="0">
                <a:latin typeface="Arial"/>
                <a:cs typeface="Arial"/>
              </a:rPr>
              <a:t>development of strategies in a </a:t>
            </a:r>
            <a:r>
              <a:rPr sz="1600" spc="10" dirty="0">
                <a:latin typeface="Arial"/>
                <a:cs typeface="Arial"/>
              </a:rPr>
              <a:t>large population, </a:t>
            </a:r>
            <a:r>
              <a:rPr sz="1600" spc="15" dirty="0">
                <a:latin typeface="Arial"/>
                <a:cs typeface="Arial"/>
              </a:rPr>
              <a:t>typically in </a:t>
            </a:r>
            <a:r>
              <a:rPr sz="1600" spc="5" dirty="0">
                <a:latin typeface="Arial"/>
                <a:cs typeface="Arial"/>
              </a:rPr>
              <a:t>symmetric games </a:t>
            </a:r>
            <a:r>
              <a:rPr sz="1600" spc="25" dirty="0">
                <a:latin typeface="Arial"/>
                <a:cs typeface="Arial"/>
              </a:rPr>
              <a:t>and of inte</a:t>
            </a:r>
            <a:r>
              <a:rPr sz="1600" spc="-30" dirty="0">
                <a:latin typeface="Arial"/>
                <a:cs typeface="Arial"/>
              </a:rPr>
              <a:t>r</a:t>
            </a:r>
            <a:r>
              <a:rPr sz="1600" spc="20" dirty="0">
                <a:latin typeface="Arial"/>
                <a:cs typeface="Arial"/>
              </a:rPr>
              <a:t>changeable</a:t>
            </a:r>
            <a:r>
              <a:rPr sz="1600" dirty="0">
                <a:latin typeface="Arial"/>
                <a:cs typeface="Arial"/>
              </a:rPr>
              <a:t> </a:t>
            </a:r>
            <a:r>
              <a:rPr sz="1600" spc="5" dirty="0">
                <a:latin typeface="Arial"/>
                <a:cs typeface="Arial"/>
              </a:rPr>
              <a:t>agents</a:t>
            </a:r>
            <a:r>
              <a:rPr sz="1600" dirty="0">
                <a:latin typeface="Arial"/>
                <a:cs typeface="Arial"/>
              </a:rPr>
              <a:t> that all have the same </a:t>
            </a:r>
            <a:r>
              <a:rPr sz="1600" spc="10" dirty="0">
                <a:latin typeface="Arial"/>
                <a:cs typeface="Arial"/>
              </a:rPr>
              <a:t>action</a:t>
            </a:r>
            <a:r>
              <a:rPr sz="1600" dirty="0">
                <a:latin typeface="Arial"/>
                <a:cs typeface="Arial"/>
              </a:rPr>
              <a:t> set.</a:t>
            </a:r>
            <a:endParaRPr sz="1600">
              <a:latin typeface="Arial"/>
              <a:cs typeface="Arial"/>
            </a:endParaRPr>
          </a:p>
        </p:txBody>
      </p:sp>
      <p:sp>
        <p:nvSpPr>
          <p:cNvPr id="11" name="object 11"/>
          <p:cNvSpPr txBox="1"/>
          <p:nvPr/>
        </p:nvSpPr>
        <p:spPr>
          <a:xfrm>
            <a:off x="381346" y="279489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2" name="object 12"/>
          <p:cNvSpPr txBox="1"/>
          <p:nvPr/>
        </p:nvSpPr>
        <p:spPr>
          <a:xfrm>
            <a:off x="649458" y="2775845"/>
            <a:ext cx="7577455" cy="445770"/>
          </a:xfrm>
          <a:prstGeom prst="rect">
            <a:avLst/>
          </a:prstGeom>
        </p:spPr>
        <p:txBody>
          <a:bodyPr vert="horz" wrap="square" lIns="0" tIns="0" rIns="0" bIns="0" rtlCol="0">
            <a:spAutoFit/>
          </a:bodyPr>
          <a:lstStyle/>
          <a:p>
            <a:pPr marL="12700" marR="5080">
              <a:lnSpc>
                <a:spcPts val="1710"/>
              </a:lnSpc>
            </a:pPr>
            <a:r>
              <a:rPr sz="1600" dirty="0">
                <a:latin typeface="Arial"/>
                <a:cs typeface="Arial"/>
              </a:rPr>
              <a:t>It </a:t>
            </a:r>
            <a:r>
              <a:rPr sz="1600" spc="40" dirty="0">
                <a:latin typeface="Arial"/>
                <a:cs typeface="Arial"/>
              </a:rPr>
              <a:t>add</a:t>
            </a:r>
            <a:r>
              <a:rPr sz="1600" spc="-5" dirty="0">
                <a:latin typeface="Arial"/>
                <a:cs typeface="Arial"/>
              </a:rPr>
              <a:t>r</a:t>
            </a:r>
            <a:r>
              <a:rPr sz="1600" dirty="0">
                <a:latin typeface="Arial"/>
                <a:cs typeface="Arial"/>
              </a:rPr>
              <a:t>esses </a:t>
            </a:r>
            <a:r>
              <a:rPr sz="1600" spc="5" dirty="0">
                <a:latin typeface="Arial"/>
                <a:cs typeface="Arial"/>
              </a:rPr>
              <a:t>questions</a:t>
            </a:r>
            <a:r>
              <a:rPr sz="1600" dirty="0">
                <a:latin typeface="Arial"/>
                <a:cs typeface="Arial"/>
              </a:rPr>
              <a:t> </a:t>
            </a:r>
            <a:r>
              <a:rPr sz="1600" spc="15" dirty="0">
                <a:latin typeface="Arial"/>
                <a:cs typeface="Arial"/>
              </a:rPr>
              <a:t>such</a:t>
            </a:r>
            <a:r>
              <a:rPr sz="1600" dirty="0">
                <a:latin typeface="Arial"/>
                <a:cs typeface="Arial"/>
              </a:rPr>
              <a:t> as </a:t>
            </a:r>
            <a:r>
              <a:rPr sz="1600" spc="15" dirty="0">
                <a:latin typeface="Arial"/>
                <a:cs typeface="Arial"/>
              </a:rPr>
              <a:t>“what</a:t>
            </a:r>
            <a:r>
              <a:rPr sz="1600" dirty="0">
                <a:latin typeface="Arial"/>
                <a:cs typeface="Arial"/>
              </a:rPr>
              <a:t> </a:t>
            </a:r>
            <a:r>
              <a:rPr sz="1600" spc="5" dirty="0">
                <a:latin typeface="Arial"/>
                <a:cs typeface="Arial"/>
              </a:rPr>
              <a:t>strategies</a:t>
            </a:r>
            <a:r>
              <a:rPr sz="1600" dirty="0">
                <a:latin typeface="Arial"/>
                <a:cs typeface="Arial"/>
              </a:rPr>
              <a:t> </a:t>
            </a:r>
            <a:r>
              <a:rPr sz="1600" spc="25" dirty="0">
                <a:latin typeface="Arial"/>
                <a:cs typeface="Arial"/>
              </a:rPr>
              <a:t>can</a:t>
            </a:r>
            <a:r>
              <a:rPr sz="1600" dirty="0">
                <a:latin typeface="Arial"/>
                <a:cs typeface="Arial"/>
              </a:rPr>
              <a:t> survive in a </a:t>
            </a:r>
            <a:r>
              <a:rPr sz="1600" spc="5" dirty="0">
                <a:latin typeface="Arial"/>
                <a:cs typeface="Arial"/>
              </a:rPr>
              <a:t>population?”;</a:t>
            </a:r>
            <a:r>
              <a:rPr sz="1600" dirty="0">
                <a:latin typeface="Arial"/>
                <a:cs typeface="Arial"/>
              </a:rPr>
              <a:t> </a:t>
            </a:r>
            <a:r>
              <a:rPr sz="1600" spc="35" dirty="0">
                <a:latin typeface="Arial"/>
                <a:cs typeface="Arial"/>
              </a:rPr>
              <a:t>“can</a:t>
            </a:r>
            <a:r>
              <a:rPr sz="1600" spc="25" dirty="0">
                <a:latin typeface="Arial"/>
                <a:cs typeface="Arial"/>
              </a:rPr>
              <a:t> di</a:t>
            </a:r>
            <a:r>
              <a:rPr sz="1600" spc="-10" dirty="0">
                <a:latin typeface="Arial"/>
                <a:cs typeface="Arial"/>
              </a:rPr>
              <a:t>f</a:t>
            </a:r>
            <a:r>
              <a:rPr sz="1600" dirty="0">
                <a:latin typeface="Arial"/>
                <a:cs typeface="Arial"/>
              </a:rPr>
              <a:t>fe</a:t>
            </a:r>
            <a:r>
              <a:rPr sz="1600" spc="-30" dirty="0">
                <a:latin typeface="Arial"/>
                <a:cs typeface="Arial"/>
              </a:rPr>
              <a:t>r</a:t>
            </a:r>
            <a:r>
              <a:rPr sz="1600" dirty="0">
                <a:latin typeface="Arial"/>
                <a:cs typeface="Arial"/>
              </a:rPr>
              <a:t>ent </a:t>
            </a:r>
            <a:r>
              <a:rPr sz="1600" spc="5" dirty="0">
                <a:latin typeface="Arial"/>
                <a:cs typeface="Arial"/>
              </a:rPr>
              <a:t>strategies</a:t>
            </a:r>
            <a:r>
              <a:rPr sz="1600" dirty="0">
                <a:latin typeface="Arial"/>
                <a:cs typeface="Arial"/>
              </a:rPr>
              <a:t> </a:t>
            </a:r>
            <a:r>
              <a:rPr sz="1600" spc="5" dirty="0">
                <a:latin typeface="Arial"/>
                <a:cs typeface="Arial"/>
              </a:rPr>
              <a:t>co-exist?”</a:t>
            </a:r>
            <a:r>
              <a:rPr sz="1600" dirty="0">
                <a:latin typeface="Arial"/>
                <a:cs typeface="Arial"/>
              </a:rPr>
              <a:t> </a:t>
            </a:r>
            <a:r>
              <a:rPr sz="1600" spc="15" dirty="0">
                <a:latin typeface="Arial"/>
                <a:cs typeface="Arial"/>
              </a:rPr>
              <a:t>etc.</a:t>
            </a:r>
            <a:endParaRPr sz="1600">
              <a:latin typeface="Arial"/>
              <a:cs typeface="Arial"/>
            </a:endParaRPr>
          </a:p>
        </p:txBody>
      </p:sp>
      <p:sp>
        <p:nvSpPr>
          <p:cNvPr id="13" name="object 13"/>
          <p:cNvSpPr txBox="1"/>
          <p:nvPr/>
        </p:nvSpPr>
        <p:spPr>
          <a:xfrm>
            <a:off x="381346" y="345783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4" name="object 14"/>
          <p:cNvSpPr txBox="1"/>
          <p:nvPr/>
        </p:nvSpPr>
        <p:spPr>
          <a:xfrm>
            <a:off x="649458" y="3438785"/>
            <a:ext cx="8292465" cy="445770"/>
          </a:xfrm>
          <a:prstGeom prst="rect">
            <a:avLst/>
          </a:prstGeom>
        </p:spPr>
        <p:txBody>
          <a:bodyPr vert="horz" wrap="square" lIns="0" tIns="0" rIns="0" bIns="0" rtlCol="0">
            <a:spAutoFit/>
          </a:bodyPr>
          <a:lstStyle/>
          <a:p>
            <a:pPr marL="12700" marR="5080">
              <a:lnSpc>
                <a:spcPts val="1710"/>
              </a:lnSpc>
            </a:pPr>
            <a:r>
              <a:rPr sz="1600" spc="-70" dirty="0">
                <a:latin typeface="Arial"/>
                <a:cs typeface="Arial"/>
              </a:rPr>
              <a:t>EGT int</a:t>
            </a:r>
            <a:r>
              <a:rPr sz="1600" spc="-30" dirty="0">
                <a:latin typeface="Arial"/>
                <a:cs typeface="Arial"/>
              </a:rPr>
              <a:t>r</a:t>
            </a:r>
            <a:r>
              <a:rPr sz="1600" spc="25" dirty="0">
                <a:latin typeface="Arial"/>
                <a:cs typeface="Arial"/>
              </a:rPr>
              <a:t>oduces</a:t>
            </a:r>
            <a:r>
              <a:rPr sz="1600" dirty="0">
                <a:latin typeface="Arial"/>
                <a:cs typeface="Arial"/>
              </a:rPr>
              <a:t> a new </a:t>
            </a:r>
            <a:r>
              <a:rPr sz="1600" spc="5" dirty="0">
                <a:latin typeface="Arial"/>
                <a:cs typeface="Arial"/>
              </a:rPr>
              <a:t>outcome</a:t>
            </a:r>
            <a:r>
              <a:rPr sz="1600" dirty="0">
                <a:latin typeface="Arial"/>
                <a:cs typeface="Arial"/>
              </a:rPr>
              <a:t> </a:t>
            </a:r>
            <a:r>
              <a:rPr sz="1600" spc="30" dirty="0">
                <a:latin typeface="Arial"/>
                <a:cs typeface="Arial"/>
              </a:rPr>
              <a:t>concept:</a:t>
            </a:r>
            <a:r>
              <a:rPr sz="1600" dirty="0">
                <a:latin typeface="Arial"/>
                <a:cs typeface="Arial"/>
              </a:rPr>
              <a:t> the </a:t>
            </a:r>
            <a:r>
              <a:rPr sz="1600" spc="-15" dirty="0">
                <a:latin typeface="Arial"/>
                <a:cs typeface="Arial"/>
              </a:rPr>
              <a:t>Evolutiona</a:t>
            </a:r>
            <a:r>
              <a:rPr sz="1600" spc="10" dirty="0">
                <a:latin typeface="Arial"/>
                <a:cs typeface="Arial"/>
              </a:rPr>
              <a:t>r</a:t>
            </a:r>
            <a:r>
              <a:rPr sz="1600" dirty="0">
                <a:latin typeface="Arial"/>
                <a:cs typeface="Arial"/>
              </a:rPr>
              <a:t>y </a:t>
            </a:r>
            <a:r>
              <a:rPr sz="1600" spc="-10" dirty="0">
                <a:latin typeface="Arial"/>
                <a:cs typeface="Arial"/>
              </a:rPr>
              <a:t>Stable</a:t>
            </a:r>
            <a:r>
              <a:rPr sz="1600" dirty="0">
                <a:latin typeface="Arial"/>
                <a:cs typeface="Arial"/>
              </a:rPr>
              <a:t> </a:t>
            </a:r>
            <a:r>
              <a:rPr sz="1600" spc="-10" dirty="0">
                <a:latin typeface="Arial"/>
                <a:cs typeface="Arial"/>
              </a:rPr>
              <a:t>Strategy</a:t>
            </a:r>
            <a:r>
              <a:rPr sz="1600" dirty="0">
                <a:latin typeface="Arial"/>
                <a:cs typeface="Arial"/>
              </a:rPr>
              <a:t> </a:t>
            </a:r>
            <a:r>
              <a:rPr sz="1600" spc="-50" dirty="0">
                <a:latin typeface="Arial"/>
                <a:cs typeface="Arial"/>
              </a:rPr>
              <a:t>(ESS).</a:t>
            </a:r>
            <a:r>
              <a:rPr sz="1600" dirty="0">
                <a:latin typeface="Arial"/>
                <a:cs typeface="Arial"/>
              </a:rPr>
              <a:t> A </a:t>
            </a:r>
            <a:r>
              <a:rPr sz="1600" spc="5" dirty="0">
                <a:latin typeface="Arial"/>
                <a:cs typeface="Arial"/>
              </a:rPr>
              <a:t>strategy</a:t>
            </a:r>
            <a:r>
              <a:rPr sz="1600" dirty="0">
                <a:latin typeface="Arial"/>
                <a:cs typeface="Arial"/>
              </a:rPr>
              <a:t> is evolutionarily </a:t>
            </a:r>
            <a:r>
              <a:rPr sz="1600" spc="10" dirty="0">
                <a:latin typeface="Arial"/>
                <a:cs typeface="Arial"/>
              </a:rPr>
              <a:t>stable</a:t>
            </a:r>
            <a:r>
              <a:rPr sz="1600" dirty="0">
                <a:latin typeface="Arial"/>
                <a:cs typeface="Arial"/>
              </a:rPr>
              <a:t> if it </a:t>
            </a:r>
            <a:r>
              <a:rPr sz="1600" spc="5" dirty="0">
                <a:latin typeface="Arial"/>
                <a:cs typeface="Arial"/>
              </a:rPr>
              <a:t>cannot</a:t>
            </a:r>
            <a:r>
              <a:rPr sz="1600" dirty="0">
                <a:latin typeface="Arial"/>
                <a:cs typeface="Arial"/>
              </a:rPr>
              <a:t> </a:t>
            </a:r>
            <a:r>
              <a:rPr sz="1600" spc="35" dirty="0">
                <a:latin typeface="Arial"/>
                <a:cs typeface="Arial"/>
              </a:rPr>
              <a:t>be</a:t>
            </a:r>
            <a:r>
              <a:rPr sz="1600" dirty="0">
                <a:latin typeface="Arial"/>
                <a:cs typeface="Arial"/>
              </a:rPr>
              <a:t> </a:t>
            </a:r>
            <a:r>
              <a:rPr sz="1600" spc="35" dirty="0">
                <a:latin typeface="Arial"/>
                <a:cs typeface="Arial"/>
              </a:rPr>
              <a:t>displaced</a:t>
            </a:r>
            <a:r>
              <a:rPr sz="1600" dirty="0">
                <a:latin typeface="Arial"/>
                <a:cs typeface="Arial"/>
              </a:rPr>
              <a:t> </a:t>
            </a:r>
            <a:r>
              <a:rPr sz="1600" spc="40" dirty="0">
                <a:latin typeface="Arial"/>
                <a:cs typeface="Arial"/>
              </a:rPr>
              <a:t>by</a:t>
            </a:r>
            <a:r>
              <a:rPr sz="1600" dirty="0">
                <a:latin typeface="Arial"/>
                <a:cs typeface="Arial"/>
              </a:rPr>
              <a:t> small mutations in a </a:t>
            </a:r>
            <a:r>
              <a:rPr sz="1600" spc="10" dirty="0">
                <a:latin typeface="Arial"/>
                <a:cs typeface="Arial"/>
              </a:rPr>
              <a:t>population.</a:t>
            </a:r>
            <a:endParaRPr sz="1600">
              <a:latin typeface="Arial"/>
              <a:cs typeface="Arial"/>
            </a:endParaRPr>
          </a:p>
        </p:txBody>
      </p:sp>
      <p:sp>
        <p:nvSpPr>
          <p:cNvPr id="15" name="object 15"/>
          <p:cNvSpPr txBox="1"/>
          <p:nvPr/>
        </p:nvSpPr>
        <p:spPr>
          <a:xfrm>
            <a:off x="381346" y="4066548"/>
            <a:ext cx="5299710" cy="719455"/>
          </a:xfrm>
          <a:prstGeom prst="rect">
            <a:avLst/>
          </a:prstGeom>
        </p:spPr>
        <p:txBody>
          <a:bodyPr vert="horz" wrap="square" lIns="0" tIns="0" rIns="0" bIns="0" rtlCol="0">
            <a:spAutoFit/>
          </a:bodyPr>
          <a:lstStyle/>
          <a:p>
            <a:pPr marL="280670" indent="-267970">
              <a:lnSpc>
                <a:spcPct val="100000"/>
              </a:lnSpc>
              <a:buSzPct val="61538"/>
              <a:buFont typeface="Arial"/>
              <a:buChar char="•"/>
              <a:tabLst>
                <a:tab pos="281305" algn="l"/>
              </a:tabLst>
            </a:pPr>
            <a:r>
              <a:rPr sz="1950" spc="-165" dirty="0">
                <a:latin typeface="Century"/>
                <a:cs typeface="Century"/>
              </a:rPr>
              <a:t>s</a:t>
            </a:r>
            <a:r>
              <a:rPr sz="1950" spc="-204" dirty="0">
                <a:latin typeface="Century"/>
                <a:cs typeface="Century"/>
              </a:rPr>
              <a:t>t</a:t>
            </a:r>
            <a:r>
              <a:rPr sz="1950" spc="-200" dirty="0">
                <a:latin typeface="Century"/>
                <a:cs typeface="Century"/>
              </a:rPr>
              <a:t>r</a:t>
            </a:r>
            <a:r>
              <a:rPr sz="1950" spc="-100" dirty="0">
                <a:latin typeface="Century"/>
                <a:cs typeface="Century"/>
              </a:rPr>
              <a:t>ict</a:t>
            </a:r>
            <a:r>
              <a:rPr sz="1950" spc="170" dirty="0">
                <a:latin typeface="Century"/>
                <a:cs typeface="Century"/>
              </a:rPr>
              <a:t> </a:t>
            </a:r>
            <a:r>
              <a:rPr sz="1950" spc="-195" dirty="0">
                <a:latin typeface="Century"/>
                <a:cs typeface="Century"/>
              </a:rPr>
              <a:t>NE</a:t>
            </a:r>
            <a:r>
              <a:rPr sz="1950" dirty="0">
                <a:latin typeface="Century"/>
                <a:cs typeface="Century"/>
              </a:rPr>
              <a:t> </a:t>
            </a:r>
            <a:r>
              <a:rPr sz="1950" spc="-220" dirty="0">
                <a:latin typeface="Lucida Sans Unicode"/>
                <a:cs typeface="Lucida Sans Unicode"/>
              </a:rPr>
              <a:t>⊂</a:t>
            </a:r>
            <a:r>
              <a:rPr sz="1950" spc="-75" dirty="0">
                <a:latin typeface="Lucida Sans Unicode"/>
                <a:cs typeface="Lucida Sans Unicode"/>
              </a:rPr>
              <a:t> </a:t>
            </a:r>
            <a:r>
              <a:rPr sz="1950" spc="-170" dirty="0">
                <a:latin typeface="Century"/>
                <a:cs typeface="Century"/>
              </a:rPr>
              <a:t>ESS</a:t>
            </a:r>
            <a:r>
              <a:rPr sz="1950" dirty="0">
                <a:latin typeface="Century"/>
                <a:cs typeface="Century"/>
              </a:rPr>
              <a:t> </a:t>
            </a:r>
            <a:r>
              <a:rPr sz="1950" spc="-220" dirty="0">
                <a:latin typeface="Lucida Sans Unicode"/>
                <a:cs typeface="Lucida Sans Unicode"/>
              </a:rPr>
              <a:t>⊂</a:t>
            </a:r>
            <a:r>
              <a:rPr sz="1950" spc="-60" dirty="0">
                <a:latin typeface="Lucida Sans Unicode"/>
                <a:cs typeface="Lucida Sans Unicode"/>
              </a:rPr>
              <a:t> </a:t>
            </a:r>
            <a:r>
              <a:rPr sz="1950" i="1" spc="45" dirty="0">
                <a:latin typeface="Times New Roman"/>
                <a:cs typeface="Times New Roman"/>
              </a:rPr>
              <a:t>N</a:t>
            </a:r>
            <a:r>
              <a:rPr sz="1950" i="1" dirty="0">
                <a:latin typeface="Times New Roman"/>
                <a:cs typeface="Times New Roman"/>
              </a:rPr>
              <a:t>E</a:t>
            </a:r>
            <a:endParaRPr sz="1950">
              <a:latin typeface="Times New Roman"/>
              <a:cs typeface="Times New Roman"/>
            </a:endParaRPr>
          </a:p>
          <a:p>
            <a:pPr marL="280670">
              <a:lnSpc>
                <a:spcPct val="100000"/>
              </a:lnSpc>
              <a:spcBef>
                <a:spcPts val="1570"/>
              </a:spcBef>
            </a:pPr>
            <a:r>
              <a:rPr sz="1600" spc="-30" dirty="0">
                <a:latin typeface="Arial"/>
                <a:cs typeface="Arial"/>
              </a:rPr>
              <a:t>Eve</a:t>
            </a:r>
            <a:r>
              <a:rPr sz="1600" spc="5" dirty="0">
                <a:latin typeface="Arial"/>
                <a:cs typeface="Arial"/>
              </a:rPr>
              <a:t>r</a:t>
            </a:r>
            <a:r>
              <a:rPr sz="1600" dirty="0">
                <a:latin typeface="Arial"/>
                <a:cs typeface="Arial"/>
              </a:rPr>
              <a:t>y </a:t>
            </a:r>
            <a:r>
              <a:rPr sz="1600" spc="5" dirty="0">
                <a:latin typeface="Arial"/>
                <a:cs typeface="Arial"/>
              </a:rPr>
              <a:t>2-player</a:t>
            </a:r>
            <a:r>
              <a:rPr sz="1600" dirty="0">
                <a:latin typeface="Arial"/>
                <a:cs typeface="Arial"/>
              </a:rPr>
              <a:t> </a:t>
            </a:r>
            <a:r>
              <a:rPr sz="1600" spc="5" dirty="0">
                <a:latin typeface="Arial"/>
                <a:cs typeface="Arial"/>
              </a:rPr>
              <a:t>2-strategy</a:t>
            </a:r>
            <a:r>
              <a:rPr sz="1600" dirty="0">
                <a:latin typeface="Arial"/>
                <a:cs typeface="Arial"/>
              </a:rPr>
              <a:t> </a:t>
            </a:r>
            <a:r>
              <a:rPr sz="1600" spc="5" dirty="0">
                <a:latin typeface="Arial"/>
                <a:cs typeface="Arial"/>
              </a:rPr>
              <a:t>symmetric</a:t>
            </a:r>
            <a:r>
              <a:rPr sz="1600" dirty="0">
                <a:latin typeface="Arial"/>
                <a:cs typeface="Arial"/>
              </a:rPr>
              <a:t> </a:t>
            </a:r>
            <a:r>
              <a:rPr sz="1600" spc="20" dirty="0">
                <a:latin typeface="Arial"/>
                <a:cs typeface="Arial"/>
              </a:rPr>
              <a:t>game</a:t>
            </a:r>
            <a:r>
              <a:rPr sz="1600" dirty="0">
                <a:latin typeface="Arial"/>
                <a:cs typeface="Arial"/>
              </a:rPr>
              <a:t> has an </a:t>
            </a:r>
            <a:r>
              <a:rPr sz="1600" spc="-75" dirty="0">
                <a:latin typeface="Arial"/>
                <a:cs typeface="Arial"/>
              </a:rPr>
              <a:t>ESS.</a:t>
            </a:r>
            <a:endParaRPr sz="1600">
              <a:latin typeface="Arial"/>
              <a:cs typeface="Arial"/>
            </a:endParaRPr>
          </a:p>
        </p:txBody>
      </p:sp>
      <p:sp>
        <p:nvSpPr>
          <p:cNvPr id="16" name="object 16"/>
          <p:cNvSpPr txBox="1"/>
          <p:nvPr/>
        </p:nvSpPr>
        <p:spPr>
          <a:xfrm>
            <a:off x="381346" y="4575979"/>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7" name="object 17"/>
          <p:cNvSpPr txBox="1"/>
          <p:nvPr/>
        </p:nvSpPr>
        <p:spPr>
          <a:xfrm>
            <a:off x="381346" y="5021750"/>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8" name="object 18"/>
          <p:cNvSpPr txBox="1"/>
          <p:nvPr/>
        </p:nvSpPr>
        <p:spPr>
          <a:xfrm>
            <a:off x="649458" y="5002700"/>
            <a:ext cx="8081645" cy="662940"/>
          </a:xfrm>
          <a:prstGeom prst="rect">
            <a:avLst/>
          </a:prstGeom>
        </p:spPr>
        <p:txBody>
          <a:bodyPr vert="horz" wrap="square" lIns="0" tIns="0" rIns="0" bIns="0" rtlCol="0">
            <a:spAutoFit/>
          </a:bodyPr>
          <a:lstStyle/>
          <a:p>
            <a:pPr marL="12700" marR="5080">
              <a:lnSpc>
                <a:spcPts val="1710"/>
              </a:lnSpc>
            </a:pPr>
            <a:r>
              <a:rPr sz="1600" spc="5" dirty="0">
                <a:latin typeface="Arial"/>
                <a:cs typeface="Arial"/>
              </a:rPr>
              <a:t>Replicator </a:t>
            </a:r>
            <a:r>
              <a:rPr sz="1600" spc="15" dirty="0">
                <a:latin typeface="Arial"/>
                <a:cs typeface="Arial"/>
              </a:rPr>
              <a:t>dynamics </a:t>
            </a:r>
            <a:r>
              <a:rPr sz="1600" spc="20" dirty="0">
                <a:latin typeface="Arial"/>
                <a:cs typeface="Arial"/>
              </a:rPr>
              <a:t>describes how the </a:t>
            </a:r>
            <a:r>
              <a:rPr sz="1600" spc="50" dirty="0">
                <a:latin typeface="Arial"/>
                <a:cs typeface="Arial"/>
              </a:rPr>
              <a:t>p</a:t>
            </a:r>
            <a:r>
              <a:rPr sz="1600" dirty="0">
                <a:latin typeface="Arial"/>
                <a:cs typeface="Arial"/>
              </a:rPr>
              <a:t>r</a:t>
            </a:r>
            <a:r>
              <a:rPr sz="1600" spc="15" dirty="0">
                <a:latin typeface="Arial"/>
                <a:cs typeface="Arial"/>
              </a:rPr>
              <a:t>opo</a:t>
            </a:r>
            <a:r>
              <a:rPr sz="1600" spc="35" dirty="0">
                <a:latin typeface="Arial"/>
                <a:cs typeface="Arial"/>
              </a:rPr>
              <a:t>r</a:t>
            </a:r>
            <a:r>
              <a:rPr sz="1600" dirty="0">
                <a:latin typeface="Arial"/>
                <a:cs typeface="Arial"/>
              </a:rPr>
              <a:t>tions of </a:t>
            </a:r>
            <a:r>
              <a:rPr sz="1600" spc="30" dirty="0">
                <a:latin typeface="Arial"/>
                <a:cs typeface="Arial"/>
              </a:rPr>
              <a:t>di</a:t>
            </a:r>
            <a:r>
              <a:rPr sz="1600" spc="-10" dirty="0">
                <a:latin typeface="Arial"/>
                <a:cs typeface="Arial"/>
              </a:rPr>
              <a:t>f</a:t>
            </a:r>
            <a:r>
              <a:rPr sz="1600" dirty="0">
                <a:latin typeface="Arial"/>
                <a:cs typeface="Arial"/>
              </a:rPr>
              <a:t>fe</a:t>
            </a:r>
            <a:r>
              <a:rPr sz="1600" spc="-30" dirty="0">
                <a:latin typeface="Arial"/>
                <a:cs typeface="Arial"/>
              </a:rPr>
              <a:t>r</a:t>
            </a:r>
            <a:r>
              <a:rPr sz="1600" dirty="0">
                <a:latin typeface="Arial"/>
                <a:cs typeface="Arial"/>
              </a:rPr>
              <a:t>ent </a:t>
            </a:r>
            <a:r>
              <a:rPr sz="1600" spc="5" dirty="0">
                <a:latin typeface="Arial"/>
                <a:cs typeface="Arial"/>
              </a:rPr>
              <a:t>strategies</a:t>
            </a:r>
            <a:r>
              <a:rPr sz="1600" dirty="0">
                <a:latin typeface="Arial"/>
                <a:cs typeface="Arial"/>
              </a:rPr>
              <a:t> in a </a:t>
            </a:r>
            <a:r>
              <a:rPr sz="1600" spc="10" dirty="0">
                <a:latin typeface="Arial"/>
                <a:cs typeface="Arial"/>
              </a:rPr>
              <a:t>population</a:t>
            </a:r>
            <a:r>
              <a:rPr sz="1600" spc="5" dirty="0">
                <a:latin typeface="Arial"/>
                <a:cs typeface="Arial"/>
              </a:rPr>
              <a:t> </a:t>
            </a:r>
            <a:r>
              <a:rPr sz="1600" spc="20" dirty="0">
                <a:latin typeface="Arial"/>
                <a:cs typeface="Arial"/>
              </a:rPr>
              <a:t>develop</a:t>
            </a:r>
            <a:r>
              <a:rPr sz="1600" dirty="0">
                <a:latin typeface="Arial"/>
                <a:cs typeface="Arial"/>
              </a:rPr>
              <a:t> </a:t>
            </a:r>
            <a:r>
              <a:rPr sz="1600" spc="15" dirty="0">
                <a:latin typeface="Arial"/>
                <a:cs typeface="Arial"/>
              </a:rPr>
              <a:t>under</a:t>
            </a:r>
            <a:r>
              <a:rPr sz="1600" dirty="0">
                <a:latin typeface="Arial"/>
                <a:cs typeface="Arial"/>
              </a:rPr>
              <a:t> </a:t>
            </a:r>
            <a:r>
              <a:rPr sz="1600" spc="15" dirty="0">
                <a:latin typeface="Arial"/>
                <a:cs typeface="Arial"/>
              </a:rPr>
              <a:t>such</a:t>
            </a:r>
            <a:r>
              <a:rPr sz="1600" dirty="0">
                <a:latin typeface="Arial"/>
                <a:cs typeface="Arial"/>
              </a:rPr>
              <a:t> </a:t>
            </a:r>
            <a:r>
              <a:rPr sz="1600" i="1" spc="10" dirty="0">
                <a:latin typeface="Arial"/>
                <a:cs typeface="Arial"/>
              </a:rPr>
              <a:t>social</a:t>
            </a:r>
            <a:r>
              <a:rPr sz="1600" i="1" dirty="0">
                <a:latin typeface="Arial"/>
                <a:cs typeface="Arial"/>
              </a:rPr>
              <a:t> </a:t>
            </a:r>
            <a:r>
              <a:rPr sz="1600" dirty="0">
                <a:latin typeface="Arial"/>
                <a:cs typeface="Arial"/>
              </a:rPr>
              <a:t>lea</a:t>
            </a:r>
            <a:r>
              <a:rPr sz="1600" spc="25" dirty="0">
                <a:latin typeface="Arial"/>
                <a:cs typeface="Arial"/>
              </a:rPr>
              <a:t>r</a:t>
            </a:r>
            <a:r>
              <a:rPr sz="1600" spc="15" dirty="0">
                <a:latin typeface="Arial"/>
                <a:cs typeface="Arial"/>
              </a:rPr>
              <a:t>ning</a:t>
            </a:r>
            <a:r>
              <a:rPr sz="1600" dirty="0">
                <a:latin typeface="Arial"/>
                <a:cs typeface="Arial"/>
              </a:rPr>
              <a:t> </a:t>
            </a:r>
            <a:r>
              <a:rPr sz="1600" spc="5" dirty="0">
                <a:latin typeface="Arial"/>
                <a:cs typeface="Arial"/>
              </a:rPr>
              <a:t>(agents</a:t>
            </a:r>
            <a:r>
              <a:rPr sz="1600" dirty="0">
                <a:latin typeface="Arial"/>
                <a:cs typeface="Arial"/>
              </a:rPr>
              <a:t> lea</a:t>
            </a:r>
            <a:r>
              <a:rPr sz="1600" spc="25" dirty="0">
                <a:latin typeface="Arial"/>
                <a:cs typeface="Arial"/>
              </a:rPr>
              <a:t>r</a:t>
            </a:r>
            <a:r>
              <a:rPr sz="1600" spc="15" dirty="0">
                <a:latin typeface="Arial"/>
                <a:cs typeface="Arial"/>
              </a:rPr>
              <a:t>ning</a:t>
            </a:r>
            <a:r>
              <a:rPr sz="1600" dirty="0">
                <a:latin typeface="Arial"/>
                <a:cs typeface="Arial"/>
              </a:rPr>
              <a:t> f</a:t>
            </a:r>
            <a:r>
              <a:rPr sz="1600" spc="-30" dirty="0">
                <a:latin typeface="Arial"/>
                <a:cs typeface="Arial"/>
              </a:rPr>
              <a:t>r</a:t>
            </a:r>
            <a:r>
              <a:rPr sz="1600" dirty="0">
                <a:latin typeface="Arial"/>
                <a:cs typeface="Arial"/>
              </a:rPr>
              <a:t>om </a:t>
            </a:r>
            <a:r>
              <a:rPr sz="1600" spc="15" dirty="0">
                <a:latin typeface="Arial"/>
                <a:cs typeface="Arial"/>
              </a:rPr>
              <a:t>each</a:t>
            </a:r>
            <a:r>
              <a:rPr sz="1600" dirty="0">
                <a:latin typeface="Arial"/>
                <a:cs typeface="Arial"/>
              </a:rPr>
              <a:t> other). </a:t>
            </a:r>
            <a:r>
              <a:rPr sz="1600" spc="-25" dirty="0">
                <a:latin typeface="Arial"/>
                <a:cs typeface="Arial"/>
              </a:rPr>
              <a:t>This</a:t>
            </a:r>
            <a:r>
              <a:rPr sz="1600" dirty="0">
                <a:latin typeface="Arial"/>
                <a:cs typeface="Arial"/>
              </a:rPr>
              <a:t> </a:t>
            </a:r>
            <a:r>
              <a:rPr sz="1600" spc="25" dirty="0">
                <a:latin typeface="Arial"/>
                <a:cs typeface="Arial"/>
              </a:rPr>
              <a:t>can</a:t>
            </a:r>
            <a:r>
              <a:rPr sz="1600" dirty="0">
                <a:latin typeface="Arial"/>
                <a:cs typeface="Arial"/>
              </a:rPr>
              <a:t> also </a:t>
            </a:r>
            <a:r>
              <a:rPr sz="1600" spc="35" dirty="0">
                <a:latin typeface="Arial"/>
                <a:cs typeface="Arial"/>
              </a:rPr>
              <a:t>be</a:t>
            </a:r>
            <a:r>
              <a:rPr sz="1600" spc="15" dirty="0">
                <a:latin typeface="Arial"/>
                <a:cs typeface="Arial"/>
              </a:rPr>
              <a:t> </a:t>
            </a:r>
            <a:r>
              <a:rPr sz="1600" dirty="0">
                <a:latin typeface="Arial"/>
                <a:cs typeface="Arial"/>
              </a:rPr>
              <a:t>seen as evolutiona</a:t>
            </a:r>
            <a:r>
              <a:rPr sz="1600" spc="25" dirty="0">
                <a:latin typeface="Arial"/>
                <a:cs typeface="Arial"/>
              </a:rPr>
              <a:t>r</a:t>
            </a:r>
            <a:r>
              <a:rPr sz="1600" dirty="0">
                <a:latin typeface="Arial"/>
                <a:cs typeface="Arial"/>
              </a:rPr>
              <a:t>y </a:t>
            </a:r>
            <a:r>
              <a:rPr sz="1600" spc="5" dirty="0">
                <a:latin typeface="Arial"/>
                <a:cs typeface="Arial"/>
              </a:rPr>
              <a:t>selection.</a:t>
            </a:r>
            <a:endParaRPr sz="1600">
              <a:latin typeface="Arial"/>
              <a:cs typeface="Arial"/>
            </a:endParaRPr>
          </a:p>
        </p:txBody>
      </p:sp>
      <p:sp>
        <p:nvSpPr>
          <p:cNvPr id="19" name="object 19"/>
          <p:cNvSpPr txBox="1"/>
          <p:nvPr/>
        </p:nvSpPr>
        <p:spPr>
          <a:xfrm>
            <a:off x="381346" y="5901859"/>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20" name="object 20"/>
          <p:cNvSpPr txBox="1"/>
          <p:nvPr/>
        </p:nvSpPr>
        <p:spPr>
          <a:xfrm>
            <a:off x="649458" y="5882809"/>
            <a:ext cx="8336280" cy="662940"/>
          </a:xfrm>
          <a:prstGeom prst="rect">
            <a:avLst/>
          </a:prstGeom>
        </p:spPr>
        <p:txBody>
          <a:bodyPr vert="horz" wrap="square" lIns="0" tIns="0" rIns="0" bIns="0" rtlCol="0">
            <a:spAutoFit/>
          </a:bodyPr>
          <a:lstStyle/>
          <a:p>
            <a:pPr marL="12700" marR="5080" algn="just">
              <a:lnSpc>
                <a:spcPts val="1710"/>
              </a:lnSpc>
            </a:pPr>
            <a:r>
              <a:rPr sz="1600" dirty="0">
                <a:latin typeface="Arial"/>
                <a:cs typeface="Arial"/>
              </a:rPr>
              <a:t>C</a:t>
            </a:r>
            <a:r>
              <a:rPr sz="1600" spc="-30" dirty="0">
                <a:latin typeface="Arial"/>
                <a:cs typeface="Arial"/>
              </a:rPr>
              <a:t>r</a:t>
            </a:r>
            <a:r>
              <a:rPr sz="1600" dirty="0">
                <a:latin typeface="Arial"/>
                <a:cs typeface="Arial"/>
              </a:rPr>
              <a:t>oss-lea</a:t>
            </a:r>
            <a:r>
              <a:rPr sz="1600" spc="25" dirty="0">
                <a:latin typeface="Arial"/>
                <a:cs typeface="Arial"/>
              </a:rPr>
              <a:t>r</a:t>
            </a:r>
            <a:r>
              <a:rPr sz="1600" spc="15" dirty="0">
                <a:latin typeface="Arial"/>
                <a:cs typeface="Arial"/>
              </a:rPr>
              <a:t>ning</a:t>
            </a:r>
            <a:r>
              <a:rPr sz="1600" dirty="0">
                <a:latin typeface="Arial"/>
                <a:cs typeface="Arial"/>
              </a:rPr>
              <a:t> is one of the </a:t>
            </a:r>
            <a:r>
              <a:rPr sz="1600" spc="5" dirty="0">
                <a:latin typeface="Arial"/>
                <a:cs typeface="Arial"/>
              </a:rPr>
              <a:t>simplest</a:t>
            </a:r>
            <a:r>
              <a:rPr sz="1600" dirty="0">
                <a:latin typeface="Arial"/>
                <a:cs typeface="Arial"/>
              </a:rPr>
              <a:t> fo</a:t>
            </a:r>
            <a:r>
              <a:rPr sz="1600" spc="25" dirty="0">
                <a:latin typeface="Arial"/>
                <a:cs typeface="Arial"/>
              </a:rPr>
              <a:t>r</a:t>
            </a:r>
            <a:r>
              <a:rPr sz="1600" dirty="0">
                <a:latin typeface="Arial"/>
                <a:cs typeface="Arial"/>
              </a:rPr>
              <a:t>ms of </a:t>
            </a:r>
            <a:r>
              <a:rPr sz="1600" spc="-30" dirty="0">
                <a:latin typeface="Arial"/>
                <a:cs typeface="Arial"/>
              </a:rPr>
              <a:t>r</a:t>
            </a:r>
            <a:r>
              <a:rPr sz="1600" dirty="0">
                <a:latin typeface="Arial"/>
                <a:cs typeface="Arial"/>
              </a:rPr>
              <a:t>einfo</a:t>
            </a:r>
            <a:r>
              <a:rPr sz="1600" spc="-30" dirty="0">
                <a:latin typeface="Arial"/>
                <a:cs typeface="Arial"/>
              </a:rPr>
              <a:t>r</a:t>
            </a:r>
            <a:r>
              <a:rPr sz="1600" spc="5" dirty="0">
                <a:latin typeface="Arial"/>
                <a:cs typeface="Arial"/>
              </a:rPr>
              <a:t>cement</a:t>
            </a:r>
            <a:r>
              <a:rPr sz="1600" dirty="0">
                <a:latin typeface="Arial"/>
                <a:cs typeface="Arial"/>
              </a:rPr>
              <a:t> lea</a:t>
            </a:r>
            <a:r>
              <a:rPr sz="1600" spc="25" dirty="0">
                <a:latin typeface="Arial"/>
                <a:cs typeface="Arial"/>
              </a:rPr>
              <a:t>r</a:t>
            </a:r>
            <a:r>
              <a:rPr sz="1600" spc="10" dirty="0">
                <a:latin typeface="Arial"/>
                <a:cs typeface="Arial"/>
              </a:rPr>
              <a:t>ning.</a:t>
            </a:r>
            <a:r>
              <a:rPr sz="1600" dirty="0">
                <a:latin typeface="Arial"/>
                <a:cs typeface="Arial"/>
              </a:rPr>
              <a:t> It </a:t>
            </a:r>
            <a:r>
              <a:rPr sz="1600" spc="20" dirty="0">
                <a:latin typeface="Arial"/>
                <a:cs typeface="Arial"/>
              </a:rPr>
              <a:t>describes</a:t>
            </a:r>
            <a:r>
              <a:rPr sz="1600" dirty="0">
                <a:latin typeface="Arial"/>
                <a:cs typeface="Arial"/>
              </a:rPr>
              <a:t> </a:t>
            </a:r>
            <a:r>
              <a:rPr sz="1600" i="1" spc="10" dirty="0">
                <a:latin typeface="Arial"/>
                <a:cs typeface="Arial"/>
              </a:rPr>
              <a:t>individual </a:t>
            </a:r>
            <a:r>
              <a:rPr sz="1600" dirty="0">
                <a:latin typeface="Arial"/>
                <a:cs typeface="Arial"/>
              </a:rPr>
              <a:t>lea</a:t>
            </a:r>
            <a:r>
              <a:rPr sz="1600" spc="25" dirty="0">
                <a:latin typeface="Arial"/>
                <a:cs typeface="Arial"/>
              </a:rPr>
              <a:t>r</a:t>
            </a:r>
            <a:r>
              <a:rPr sz="1600" spc="15" dirty="0">
                <a:latin typeface="Arial"/>
                <a:cs typeface="Arial"/>
              </a:rPr>
              <a:t>ning</a:t>
            </a:r>
            <a:r>
              <a:rPr sz="1600" dirty="0">
                <a:latin typeface="Arial"/>
                <a:cs typeface="Arial"/>
              </a:rPr>
              <a:t> f</a:t>
            </a:r>
            <a:r>
              <a:rPr sz="1600" spc="-30" dirty="0">
                <a:latin typeface="Arial"/>
                <a:cs typeface="Arial"/>
              </a:rPr>
              <a:t>r</a:t>
            </a:r>
            <a:r>
              <a:rPr sz="1600" dirty="0">
                <a:latin typeface="Arial"/>
                <a:cs typeface="Arial"/>
              </a:rPr>
              <a:t>om </a:t>
            </a:r>
            <a:r>
              <a:rPr sz="1600" spc="15" dirty="0">
                <a:latin typeface="Arial"/>
                <a:cs typeface="Arial"/>
              </a:rPr>
              <a:t>experience.</a:t>
            </a:r>
            <a:r>
              <a:rPr sz="1600" dirty="0">
                <a:latin typeface="Arial"/>
                <a:cs typeface="Arial"/>
              </a:rPr>
              <a:t> In the continuous-time limit </a:t>
            </a:r>
            <a:r>
              <a:rPr sz="1600" spc="25" dirty="0">
                <a:latin typeface="Arial"/>
                <a:cs typeface="Arial"/>
              </a:rPr>
              <a:t>and</a:t>
            </a:r>
            <a:r>
              <a:rPr sz="1600" dirty="0">
                <a:latin typeface="Arial"/>
                <a:cs typeface="Arial"/>
              </a:rPr>
              <a:t> in </a:t>
            </a:r>
            <a:r>
              <a:rPr sz="1600" spc="10" dirty="0">
                <a:latin typeface="Arial"/>
                <a:cs typeface="Arial"/>
              </a:rPr>
              <a:t>expectation</a:t>
            </a:r>
            <a:r>
              <a:rPr sz="1600" dirty="0">
                <a:latin typeface="Arial"/>
                <a:cs typeface="Arial"/>
              </a:rPr>
              <a:t> it </a:t>
            </a:r>
            <a:r>
              <a:rPr sz="1600" spc="15" dirty="0">
                <a:latin typeface="Arial"/>
                <a:cs typeface="Arial"/>
              </a:rPr>
              <a:t>converges</a:t>
            </a:r>
            <a:r>
              <a:rPr sz="1600" dirty="0">
                <a:latin typeface="Arial"/>
                <a:cs typeface="Arial"/>
              </a:rPr>
              <a:t> to the same </a:t>
            </a:r>
            <a:r>
              <a:rPr sz="1600" spc="5" dirty="0">
                <a:latin typeface="Arial"/>
                <a:cs typeface="Arial"/>
              </a:rPr>
              <a:t>outcome</a:t>
            </a:r>
            <a:r>
              <a:rPr sz="1600" dirty="0">
                <a:latin typeface="Arial"/>
                <a:cs typeface="Arial"/>
              </a:rPr>
              <a:t> as </a:t>
            </a:r>
            <a:r>
              <a:rPr sz="1600" spc="-30" dirty="0">
                <a:latin typeface="Arial"/>
                <a:cs typeface="Arial"/>
              </a:rPr>
              <a:t>r</a:t>
            </a:r>
            <a:r>
              <a:rPr sz="1600" spc="10" dirty="0">
                <a:latin typeface="Arial"/>
                <a:cs typeface="Arial"/>
              </a:rPr>
              <a:t>eplicator</a:t>
            </a:r>
            <a:r>
              <a:rPr sz="1600" dirty="0">
                <a:latin typeface="Arial"/>
                <a:cs typeface="Arial"/>
              </a:rPr>
              <a:t> </a:t>
            </a:r>
            <a:r>
              <a:rPr sz="1600" spc="15" dirty="0">
                <a:latin typeface="Arial"/>
                <a:cs typeface="Arial"/>
              </a:rPr>
              <a:t>dynamics.</a:t>
            </a:r>
            <a:endParaRPr sz="1600">
              <a:latin typeface="Arial"/>
              <a:cs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6"/>
            <a:ext cx="9144000" cy="5016500"/>
          </a:xfrm>
          <a:custGeom>
            <a:avLst/>
            <a:gdLst/>
            <a:ahLst/>
            <a:cxnLst/>
            <a:rect l="l" t="t" r="r" b="b"/>
            <a:pathLst>
              <a:path w="9144000" h="5016500">
                <a:moveTo>
                  <a:pt x="0" y="0"/>
                </a:moveTo>
                <a:lnTo>
                  <a:pt x="0" y="5015981"/>
                </a:lnTo>
                <a:lnTo>
                  <a:pt x="9144000"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1"/>
                </a:lnTo>
                <a:lnTo>
                  <a:pt x="107903" y="2102528"/>
                </a:lnTo>
                <a:lnTo>
                  <a:pt x="150829" y="2139351"/>
                </a:lnTo>
                <a:lnTo>
                  <a:pt x="199101" y="2169311"/>
                </a:lnTo>
                <a:lnTo>
                  <a:pt x="201645"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close/>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88900">
            <a:solidFill>
              <a:srgbClr val="794A8C"/>
            </a:solidFill>
          </a:ln>
        </p:spPr>
        <p:txBody>
          <a:bodyPr wrap="square" lIns="0" tIns="0" rIns="0" bIns="0" rtlCol="0"/>
          <a:lstStyle/>
          <a:p>
            <a:endParaRPr/>
          </a:p>
        </p:txBody>
      </p:sp>
      <p:sp>
        <p:nvSpPr>
          <p:cNvPr id="6" name="object 6"/>
          <p:cNvSpPr txBox="1"/>
          <p:nvPr/>
        </p:nvSpPr>
        <p:spPr>
          <a:xfrm>
            <a:off x="423227" y="279400"/>
            <a:ext cx="5741035" cy="584200"/>
          </a:xfrm>
          <a:prstGeom prst="rect">
            <a:avLst/>
          </a:prstGeom>
        </p:spPr>
        <p:txBody>
          <a:bodyPr vert="horz" wrap="square" lIns="0" tIns="0" rIns="0" bIns="0" rtlCol="0">
            <a:spAutoFit/>
          </a:bodyPr>
          <a:lstStyle/>
          <a:p>
            <a:pPr marL="12700">
              <a:lnSpc>
                <a:spcPct val="100000"/>
              </a:lnSpc>
            </a:pPr>
            <a:r>
              <a:rPr sz="4400" spc="-520" dirty="0">
                <a:latin typeface="Arial"/>
                <a:cs typeface="Arial"/>
              </a:rPr>
              <a:t>T</a:t>
            </a:r>
            <a:r>
              <a:rPr sz="4400" dirty="0">
                <a:latin typeface="Arial"/>
                <a:cs typeface="Arial"/>
              </a:rPr>
              <a:t>ake</a:t>
            </a:r>
            <a:r>
              <a:rPr sz="4400" spc="-5" dirty="0">
                <a:latin typeface="Arial"/>
                <a:cs typeface="Arial"/>
              </a:rPr>
              <a:t> </a:t>
            </a:r>
            <a:r>
              <a:rPr sz="4400" dirty="0">
                <a:latin typeface="Arial"/>
                <a:cs typeface="Arial"/>
              </a:rPr>
              <a:t>home</a:t>
            </a:r>
            <a:r>
              <a:rPr sz="4400" spc="-5" dirty="0">
                <a:latin typeface="Arial"/>
                <a:cs typeface="Arial"/>
              </a:rPr>
              <a:t> </a:t>
            </a:r>
            <a:r>
              <a:rPr sz="4400" dirty="0">
                <a:latin typeface="Arial"/>
                <a:cs typeface="Arial"/>
              </a:rPr>
              <a:t>lessons</a:t>
            </a:r>
            <a:r>
              <a:rPr sz="4400" spc="-5" dirty="0">
                <a:latin typeface="Arial"/>
                <a:cs typeface="Arial"/>
              </a:rPr>
              <a:t> </a:t>
            </a:r>
            <a:r>
              <a:rPr sz="4400" dirty="0">
                <a:latin typeface="Arial"/>
                <a:cs typeface="Arial"/>
              </a:rPr>
              <a:t>2</a:t>
            </a:r>
            <a:r>
              <a:rPr sz="4400" spc="-20" dirty="0">
                <a:latin typeface="Arial"/>
                <a:cs typeface="Arial"/>
              </a:rPr>
              <a:t>/</a:t>
            </a:r>
            <a:r>
              <a:rPr sz="4400" dirty="0">
                <a:latin typeface="Arial"/>
                <a:cs typeface="Arial"/>
              </a:rPr>
              <a:t>2</a:t>
            </a:r>
            <a:endParaRPr sz="4400">
              <a:latin typeface="Arial"/>
              <a:cs typeface="Arial"/>
            </a:endParaRPr>
          </a:p>
        </p:txBody>
      </p:sp>
      <p:sp>
        <p:nvSpPr>
          <p:cNvPr id="7" name="object 7"/>
          <p:cNvSpPr txBox="1"/>
          <p:nvPr/>
        </p:nvSpPr>
        <p:spPr>
          <a:xfrm>
            <a:off x="486482" y="109871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8" name="object 8"/>
          <p:cNvSpPr txBox="1"/>
          <p:nvPr/>
        </p:nvSpPr>
        <p:spPr>
          <a:xfrm>
            <a:off x="754593" y="1079665"/>
            <a:ext cx="7697470" cy="445770"/>
          </a:xfrm>
          <a:prstGeom prst="rect">
            <a:avLst/>
          </a:prstGeom>
        </p:spPr>
        <p:txBody>
          <a:bodyPr vert="horz" wrap="square" lIns="0" tIns="0" rIns="0" bIns="0" rtlCol="0">
            <a:spAutoFit/>
          </a:bodyPr>
          <a:lstStyle/>
          <a:p>
            <a:pPr marL="12700" marR="5080">
              <a:lnSpc>
                <a:spcPts val="1710"/>
              </a:lnSpc>
            </a:pPr>
            <a:r>
              <a:rPr sz="1600" spc="5" dirty="0">
                <a:latin typeface="Arial"/>
                <a:cs typeface="Arial"/>
              </a:rPr>
              <a:t>Replicator </a:t>
            </a:r>
            <a:r>
              <a:rPr sz="1600" spc="15" dirty="0">
                <a:latin typeface="Arial"/>
                <a:cs typeface="Arial"/>
              </a:rPr>
              <a:t>dynamics </a:t>
            </a:r>
            <a:r>
              <a:rPr sz="1600" spc="25" dirty="0">
                <a:latin typeface="Arial"/>
                <a:cs typeface="Arial"/>
              </a:rPr>
              <a:t>can only </a:t>
            </a:r>
            <a:r>
              <a:rPr sz="1600" spc="30" dirty="0">
                <a:latin typeface="Arial"/>
                <a:cs typeface="Arial"/>
              </a:rPr>
              <a:t>describe </a:t>
            </a:r>
            <a:r>
              <a:rPr sz="1600" spc="5" dirty="0">
                <a:latin typeface="Arial"/>
                <a:cs typeface="Arial"/>
              </a:rPr>
              <a:t>agents with </a:t>
            </a:r>
            <a:r>
              <a:rPr sz="1600" spc="35" dirty="0">
                <a:latin typeface="Arial"/>
                <a:cs typeface="Arial"/>
              </a:rPr>
              <a:t>disc</a:t>
            </a:r>
            <a:r>
              <a:rPr sz="1600" spc="-5" dirty="0">
                <a:latin typeface="Arial"/>
                <a:cs typeface="Arial"/>
              </a:rPr>
              <a:t>r</a:t>
            </a:r>
            <a:r>
              <a:rPr sz="1600" dirty="0">
                <a:latin typeface="Arial"/>
                <a:cs typeface="Arial"/>
              </a:rPr>
              <a:t>ete </a:t>
            </a:r>
            <a:r>
              <a:rPr sz="1600" spc="10" dirty="0">
                <a:latin typeface="Arial"/>
                <a:cs typeface="Arial"/>
              </a:rPr>
              <a:t>action</a:t>
            </a:r>
            <a:r>
              <a:rPr sz="1600" dirty="0">
                <a:latin typeface="Arial"/>
                <a:cs typeface="Arial"/>
              </a:rPr>
              <a:t> sets. Other (mo</a:t>
            </a:r>
            <a:r>
              <a:rPr sz="1600" spc="-30" dirty="0">
                <a:latin typeface="Arial"/>
                <a:cs typeface="Arial"/>
              </a:rPr>
              <a:t>r</a:t>
            </a:r>
            <a:r>
              <a:rPr sz="1600" dirty="0">
                <a:latin typeface="Arial"/>
                <a:cs typeface="Arial"/>
              </a:rPr>
              <a:t>e </a:t>
            </a:r>
            <a:r>
              <a:rPr sz="1600" spc="15" dirty="0">
                <a:latin typeface="Arial"/>
                <a:cs typeface="Arial"/>
              </a:rPr>
              <a:t>complex)</a:t>
            </a:r>
            <a:r>
              <a:rPr sz="1600" dirty="0">
                <a:latin typeface="Arial"/>
                <a:cs typeface="Arial"/>
              </a:rPr>
              <a:t> fo</a:t>
            </a:r>
            <a:r>
              <a:rPr sz="1600" spc="25" dirty="0">
                <a:latin typeface="Arial"/>
                <a:cs typeface="Arial"/>
              </a:rPr>
              <a:t>r</a:t>
            </a:r>
            <a:r>
              <a:rPr sz="1600" dirty="0">
                <a:latin typeface="Arial"/>
                <a:cs typeface="Arial"/>
              </a:rPr>
              <a:t>malism for </a:t>
            </a:r>
            <a:r>
              <a:rPr sz="1600" spc="5" dirty="0">
                <a:latin typeface="Arial"/>
                <a:cs typeface="Arial"/>
              </a:rPr>
              <a:t>continuous</a:t>
            </a:r>
            <a:r>
              <a:rPr sz="1600" dirty="0">
                <a:latin typeface="Arial"/>
                <a:cs typeface="Arial"/>
              </a:rPr>
              <a:t> </a:t>
            </a:r>
            <a:r>
              <a:rPr sz="1600" spc="10" dirty="0">
                <a:latin typeface="Arial"/>
                <a:cs typeface="Arial"/>
              </a:rPr>
              <a:t>action</a:t>
            </a:r>
            <a:r>
              <a:rPr sz="1600" dirty="0">
                <a:latin typeface="Arial"/>
                <a:cs typeface="Arial"/>
              </a:rPr>
              <a:t> sets exist </a:t>
            </a:r>
            <a:r>
              <a:rPr sz="1600" spc="10" dirty="0">
                <a:latin typeface="Arial"/>
                <a:cs typeface="Arial"/>
              </a:rPr>
              <a:t>(e.g.</a:t>
            </a:r>
            <a:r>
              <a:rPr sz="1600" dirty="0">
                <a:latin typeface="Arial"/>
                <a:cs typeface="Arial"/>
              </a:rPr>
              <a:t> </a:t>
            </a:r>
            <a:r>
              <a:rPr sz="1600" spc="15" dirty="0">
                <a:latin typeface="Arial"/>
                <a:cs typeface="Arial"/>
              </a:rPr>
              <a:t>adaptive</a:t>
            </a:r>
            <a:r>
              <a:rPr sz="1600" dirty="0">
                <a:latin typeface="Arial"/>
                <a:cs typeface="Arial"/>
              </a:rPr>
              <a:t> </a:t>
            </a:r>
            <a:r>
              <a:rPr sz="1600" spc="15" dirty="0">
                <a:latin typeface="Arial"/>
                <a:cs typeface="Arial"/>
              </a:rPr>
              <a:t>dynamics).</a:t>
            </a:r>
            <a:endParaRPr sz="1600">
              <a:latin typeface="Arial"/>
              <a:cs typeface="Arial"/>
            </a:endParaRPr>
          </a:p>
        </p:txBody>
      </p:sp>
      <p:sp>
        <p:nvSpPr>
          <p:cNvPr id="9" name="object 9"/>
          <p:cNvSpPr txBox="1"/>
          <p:nvPr/>
        </p:nvSpPr>
        <p:spPr>
          <a:xfrm>
            <a:off x="486482" y="176165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0" name="object 10"/>
          <p:cNvSpPr txBox="1"/>
          <p:nvPr/>
        </p:nvSpPr>
        <p:spPr>
          <a:xfrm>
            <a:off x="754593" y="1742605"/>
            <a:ext cx="8111490" cy="880110"/>
          </a:xfrm>
          <a:prstGeom prst="rect">
            <a:avLst/>
          </a:prstGeom>
        </p:spPr>
        <p:txBody>
          <a:bodyPr vert="horz" wrap="square" lIns="0" tIns="0" rIns="0" bIns="0" rtlCol="0">
            <a:spAutoFit/>
          </a:bodyPr>
          <a:lstStyle/>
          <a:p>
            <a:pPr marL="12700" marR="5080">
              <a:lnSpc>
                <a:spcPts val="1710"/>
              </a:lnSpc>
            </a:pPr>
            <a:r>
              <a:rPr sz="1600" dirty="0">
                <a:latin typeface="Arial"/>
                <a:cs typeface="Arial"/>
              </a:rPr>
              <a:t>In </a:t>
            </a:r>
            <a:r>
              <a:rPr sz="1600" spc="-30" dirty="0">
                <a:latin typeface="Arial"/>
                <a:cs typeface="Arial"/>
              </a:rPr>
              <a:t>r</a:t>
            </a:r>
            <a:r>
              <a:rPr sz="1600" spc="10" dirty="0">
                <a:latin typeface="Arial"/>
                <a:cs typeface="Arial"/>
              </a:rPr>
              <a:t>eplicator</a:t>
            </a:r>
            <a:r>
              <a:rPr sz="1600" dirty="0">
                <a:latin typeface="Arial"/>
                <a:cs typeface="Arial"/>
              </a:rPr>
              <a:t> </a:t>
            </a:r>
            <a:r>
              <a:rPr sz="1600" spc="15" dirty="0">
                <a:latin typeface="Arial"/>
                <a:cs typeface="Arial"/>
              </a:rPr>
              <a:t>dynamics,</a:t>
            </a:r>
            <a:r>
              <a:rPr sz="1600" dirty="0">
                <a:latin typeface="Arial"/>
                <a:cs typeface="Arial"/>
              </a:rPr>
              <a:t> </a:t>
            </a:r>
            <a:r>
              <a:rPr sz="1600" spc="5" dirty="0">
                <a:latin typeface="Arial"/>
                <a:cs typeface="Arial"/>
              </a:rPr>
              <a:t>agents</a:t>
            </a:r>
            <a:r>
              <a:rPr sz="1600" dirty="0">
                <a:latin typeface="Arial"/>
                <a:cs typeface="Arial"/>
              </a:rPr>
              <a:t> </a:t>
            </a:r>
            <a:r>
              <a:rPr sz="1600" spc="5" dirty="0">
                <a:latin typeface="Arial"/>
                <a:cs typeface="Arial"/>
              </a:rPr>
              <a:t>modify</a:t>
            </a:r>
            <a:r>
              <a:rPr sz="1600" dirty="0">
                <a:latin typeface="Arial"/>
                <a:cs typeface="Arial"/>
              </a:rPr>
              <a:t> their </a:t>
            </a:r>
            <a:r>
              <a:rPr sz="1600" spc="5" dirty="0">
                <a:latin typeface="Arial"/>
                <a:cs typeface="Arial"/>
              </a:rPr>
              <a:t>strategies</a:t>
            </a:r>
            <a:r>
              <a:rPr sz="1600" dirty="0">
                <a:latin typeface="Arial"/>
                <a:cs typeface="Arial"/>
              </a:rPr>
              <a:t> </a:t>
            </a:r>
            <a:r>
              <a:rPr sz="1600" spc="30" dirty="0">
                <a:latin typeface="Arial"/>
                <a:cs typeface="Arial"/>
              </a:rPr>
              <a:t>acco</a:t>
            </a:r>
            <a:r>
              <a:rPr sz="1600" spc="-10" dirty="0">
                <a:latin typeface="Arial"/>
                <a:cs typeface="Arial"/>
              </a:rPr>
              <a:t>r</a:t>
            </a:r>
            <a:r>
              <a:rPr sz="1600" spc="35" dirty="0">
                <a:latin typeface="Arial"/>
                <a:cs typeface="Arial"/>
              </a:rPr>
              <a:t>ding</a:t>
            </a:r>
            <a:r>
              <a:rPr sz="1600" dirty="0">
                <a:latin typeface="Arial"/>
                <a:cs typeface="Arial"/>
              </a:rPr>
              <a:t> to a </a:t>
            </a:r>
            <a:r>
              <a:rPr sz="1600" spc="10" dirty="0">
                <a:latin typeface="Arial"/>
                <a:cs typeface="Arial"/>
              </a:rPr>
              <a:t>so-called</a:t>
            </a:r>
            <a:r>
              <a:rPr sz="1600" dirty="0">
                <a:latin typeface="Arial"/>
                <a:cs typeface="Arial"/>
              </a:rPr>
              <a:t> </a:t>
            </a:r>
            <a:r>
              <a:rPr sz="1600" i="1" spc="-30" dirty="0">
                <a:latin typeface="Arial"/>
                <a:cs typeface="Arial"/>
              </a:rPr>
              <a:t>r</a:t>
            </a:r>
            <a:r>
              <a:rPr sz="1600" i="1" dirty="0">
                <a:latin typeface="Arial"/>
                <a:cs typeface="Arial"/>
              </a:rPr>
              <a:t>evision </a:t>
            </a:r>
            <a:r>
              <a:rPr sz="1600" spc="50" dirty="0">
                <a:latin typeface="Arial"/>
                <a:cs typeface="Arial"/>
              </a:rPr>
              <a:t>p</a:t>
            </a:r>
            <a:r>
              <a:rPr sz="1600" dirty="0">
                <a:latin typeface="Arial"/>
                <a:cs typeface="Arial"/>
              </a:rPr>
              <a:t>r</a:t>
            </a:r>
            <a:r>
              <a:rPr sz="1600" spc="5" dirty="0">
                <a:latin typeface="Arial"/>
                <a:cs typeface="Arial"/>
              </a:rPr>
              <a:t>otocol.</a:t>
            </a:r>
            <a:r>
              <a:rPr sz="1600" dirty="0">
                <a:latin typeface="Arial"/>
                <a:cs typeface="Arial"/>
              </a:rPr>
              <a:t> </a:t>
            </a:r>
            <a:r>
              <a:rPr sz="1600" spc="-40" dirty="0">
                <a:latin typeface="Arial"/>
                <a:cs typeface="Arial"/>
              </a:rPr>
              <a:t>The</a:t>
            </a:r>
            <a:r>
              <a:rPr sz="1600" dirty="0">
                <a:latin typeface="Arial"/>
                <a:cs typeface="Arial"/>
              </a:rPr>
              <a:t> most </a:t>
            </a:r>
            <a:r>
              <a:rPr sz="1600" spc="10" dirty="0">
                <a:latin typeface="Arial"/>
                <a:cs typeface="Arial"/>
              </a:rPr>
              <a:t>common</a:t>
            </a:r>
            <a:r>
              <a:rPr sz="1600" dirty="0">
                <a:latin typeface="Arial"/>
                <a:cs typeface="Arial"/>
              </a:rPr>
              <a:t> </a:t>
            </a:r>
            <a:r>
              <a:rPr sz="1600" spc="-30" dirty="0">
                <a:latin typeface="Arial"/>
                <a:cs typeface="Arial"/>
              </a:rPr>
              <a:t>r</a:t>
            </a:r>
            <a:r>
              <a:rPr sz="1600" dirty="0">
                <a:latin typeface="Arial"/>
                <a:cs typeface="Arial"/>
              </a:rPr>
              <a:t>evision </a:t>
            </a:r>
            <a:r>
              <a:rPr sz="1600" spc="50" dirty="0">
                <a:latin typeface="Arial"/>
                <a:cs typeface="Arial"/>
              </a:rPr>
              <a:t>p</a:t>
            </a:r>
            <a:r>
              <a:rPr sz="1600" dirty="0">
                <a:latin typeface="Arial"/>
                <a:cs typeface="Arial"/>
              </a:rPr>
              <a:t>r</a:t>
            </a:r>
            <a:r>
              <a:rPr sz="1600" spc="10" dirty="0">
                <a:latin typeface="Arial"/>
                <a:cs typeface="Arial"/>
              </a:rPr>
              <a:t>otocol</a:t>
            </a:r>
            <a:r>
              <a:rPr sz="1600" dirty="0">
                <a:latin typeface="Arial"/>
                <a:cs typeface="Arial"/>
              </a:rPr>
              <a:t> is imitation </a:t>
            </a:r>
            <a:r>
              <a:rPr sz="1600" spc="15" dirty="0">
                <a:latin typeface="Arial"/>
                <a:cs typeface="Arial"/>
              </a:rPr>
              <a:t>dynamics,</a:t>
            </a:r>
            <a:r>
              <a:rPr sz="1600" dirty="0">
                <a:latin typeface="Arial"/>
                <a:cs typeface="Arial"/>
              </a:rPr>
              <a:t> in </a:t>
            </a:r>
            <a:r>
              <a:rPr sz="1600" spc="15" dirty="0">
                <a:latin typeface="Arial"/>
                <a:cs typeface="Arial"/>
              </a:rPr>
              <a:t>which</a:t>
            </a:r>
            <a:r>
              <a:rPr sz="1600" dirty="0">
                <a:latin typeface="Arial"/>
                <a:cs typeface="Arial"/>
              </a:rPr>
              <a:t> </a:t>
            </a:r>
            <a:r>
              <a:rPr sz="1600" spc="5" dirty="0">
                <a:latin typeface="Arial"/>
                <a:cs typeface="Arial"/>
              </a:rPr>
              <a:t>agents</a:t>
            </a:r>
            <a:r>
              <a:rPr sz="1600" dirty="0">
                <a:latin typeface="Arial"/>
                <a:cs typeface="Arial"/>
              </a:rPr>
              <a:t> </a:t>
            </a:r>
            <a:r>
              <a:rPr sz="1600" spc="40" dirty="0">
                <a:latin typeface="Arial"/>
                <a:cs typeface="Arial"/>
              </a:rPr>
              <a:t>copy</a:t>
            </a:r>
            <a:r>
              <a:rPr sz="1600" spc="20" dirty="0">
                <a:latin typeface="Arial"/>
                <a:cs typeface="Arial"/>
              </a:rPr>
              <a:t> </a:t>
            </a:r>
            <a:r>
              <a:rPr sz="1600" spc="5" dirty="0">
                <a:latin typeface="Arial"/>
                <a:cs typeface="Arial"/>
              </a:rPr>
              <a:t>strategies</a:t>
            </a:r>
            <a:r>
              <a:rPr sz="1600" dirty="0">
                <a:latin typeface="Arial"/>
                <a:cs typeface="Arial"/>
              </a:rPr>
              <a:t> f</a:t>
            </a:r>
            <a:r>
              <a:rPr sz="1600" spc="-30" dirty="0">
                <a:latin typeface="Arial"/>
                <a:cs typeface="Arial"/>
              </a:rPr>
              <a:t>r</a:t>
            </a:r>
            <a:r>
              <a:rPr sz="1600" dirty="0">
                <a:latin typeface="Arial"/>
                <a:cs typeface="Arial"/>
              </a:rPr>
              <a:t>om </a:t>
            </a:r>
            <a:r>
              <a:rPr sz="1600" spc="15" dirty="0">
                <a:latin typeface="Arial"/>
                <a:cs typeface="Arial"/>
              </a:rPr>
              <a:t>each</a:t>
            </a:r>
            <a:r>
              <a:rPr sz="1600" dirty="0">
                <a:latin typeface="Arial"/>
                <a:cs typeface="Arial"/>
              </a:rPr>
              <a:t> others with a </a:t>
            </a:r>
            <a:r>
              <a:rPr sz="1600" spc="50" dirty="0">
                <a:latin typeface="Arial"/>
                <a:cs typeface="Arial"/>
              </a:rPr>
              <a:t>p</a:t>
            </a:r>
            <a:r>
              <a:rPr sz="1600" dirty="0">
                <a:latin typeface="Arial"/>
                <a:cs typeface="Arial"/>
              </a:rPr>
              <a:t>r</a:t>
            </a:r>
            <a:r>
              <a:rPr sz="1600" spc="10" dirty="0">
                <a:latin typeface="Arial"/>
                <a:cs typeface="Arial"/>
              </a:rPr>
              <a:t>obability</a:t>
            </a:r>
            <a:r>
              <a:rPr sz="1600" dirty="0">
                <a:latin typeface="Arial"/>
                <a:cs typeface="Arial"/>
              </a:rPr>
              <a:t> that </a:t>
            </a:r>
            <a:r>
              <a:rPr sz="1600" spc="35" dirty="0">
                <a:latin typeface="Arial"/>
                <a:cs typeface="Arial"/>
              </a:rPr>
              <a:t>depends</a:t>
            </a:r>
            <a:r>
              <a:rPr sz="1600" dirty="0">
                <a:latin typeface="Arial"/>
                <a:cs typeface="Arial"/>
              </a:rPr>
              <a:t> on the </a:t>
            </a:r>
            <a:r>
              <a:rPr sz="1600" spc="20" dirty="0">
                <a:latin typeface="Arial"/>
                <a:cs typeface="Arial"/>
              </a:rPr>
              <a:t>success</a:t>
            </a:r>
            <a:r>
              <a:rPr sz="1600" dirty="0">
                <a:latin typeface="Arial"/>
                <a:cs typeface="Arial"/>
              </a:rPr>
              <a:t> of these </a:t>
            </a:r>
            <a:r>
              <a:rPr sz="1600" spc="5" dirty="0">
                <a:latin typeface="Arial"/>
                <a:cs typeface="Arial"/>
              </a:rPr>
              <a:t>strategies.</a:t>
            </a:r>
            <a:endParaRPr sz="1600">
              <a:latin typeface="Arial"/>
              <a:cs typeface="Arial"/>
            </a:endParaRPr>
          </a:p>
        </p:txBody>
      </p:sp>
      <p:sp>
        <p:nvSpPr>
          <p:cNvPr id="11" name="object 11"/>
          <p:cNvSpPr txBox="1"/>
          <p:nvPr/>
        </p:nvSpPr>
        <p:spPr>
          <a:xfrm>
            <a:off x="486482" y="285893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2" name="object 12"/>
          <p:cNvSpPr txBox="1"/>
          <p:nvPr/>
        </p:nvSpPr>
        <p:spPr>
          <a:xfrm>
            <a:off x="754593" y="2839885"/>
            <a:ext cx="7734934" cy="662940"/>
          </a:xfrm>
          <a:prstGeom prst="rect">
            <a:avLst/>
          </a:prstGeom>
        </p:spPr>
        <p:txBody>
          <a:bodyPr vert="horz" wrap="square" lIns="0" tIns="0" rIns="0" bIns="0" rtlCol="0">
            <a:spAutoFit/>
          </a:bodyPr>
          <a:lstStyle/>
          <a:p>
            <a:pPr marL="12700" marR="5080">
              <a:lnSpc>
                <a:spcPts val="1710"/>
              </a:lnSpc>
            </a:pPr>
            <a:r>
              <a:rPr sz="1600" dirty="0">
                <a:latin typeface="Arial"/>
                <a:cs typeface="Arial"/>
              </a:rPr>
              <a:t>Since </a:t>
            </a:r>
            <a:r>
              <a:rPr sz="1600" spc="5" dirty="0">
                <a:latin typeface="Arial"/>
                <a:cs typeface="Arial"/>
              </a:rPr>
              <a:t>agents only </a:t>
            </a:r>
            <a:r>
              <a:rPr sz="1600" spc="40" dirty="0">
                <a:latin typeface="Arial"/>
                <a:cs typeface="Arial"/>
              </a:rPr>
              <a:t>copy </a:t>
            </a:r>
            <a:r>
              <a:rPr sz="1600" spc="5" dirty="0">
                <a:latin typeface="Arial"/>
                <a:cs typeface="Arial"/>
              </a:rPr>
              <a:t>strategies, </a:t>
            </a:r>
            <a:r>
              <a:rPr sz="1600" spc="-30" dirty="0">
                <a:latin typeface="Arial"/>
                <a:cs typeface="Arial"/>
              </a:rPr>
              <a:t>r</a:t>
            </a:r>
            <a:r>
              <a:rPr sz="1600" spc="10" dirty="0">
                <a:latin typeface="Arial"/>
                <a:cs typeface="Arial"/>
              </a:rPr>
              <a:t>eplicator</a:t>
            </a:r>
            <a:r>
              <a:rPr sz="1600" dirty="0">
                <a:latin typeface="Arial"/>
                <a:cs typeface="Arial"/>
              </a:rPr>
              <a:t> </a:t>
            </a:r>
            <a:r>
              <a:rPr sz="1600" spc="15" dirty="0">
                <a:latin typeface="Arial"/>
                <a:cs typeface="Arial"/>
              </a:rPr>
              <a:t>dynamics</a:t>
            </a:r>
            <a:r>
              <a:rPr sz="1600" dirty="0">
                <a:latin typeface="Arial"/>
                <a:cs typeface="Arial"/>
              </a:rPr>
              <a:t> (without mutation) </a:t>
            </a:r>
            <a:r>
              <a:rPr sz="1600" spc="25" dirty="0">
                <a:latin typeface="Arial"/>
                <a:cs typeface="Arial"/>
              </a:rPr>
              <a:t>can</a:t>
            </a:r>
            <a:r>
              <a:rPr sz="1600" dirty="0">
                <a:latin typeface="Arial"/>
                <a:cs typeface="Arial"/>
              </a:rPr>
              <a:t> never </a:t>
            </a:r>
            <a:r>
              <a:rPr sz="1600" spc="50" dirty="0">
                <a:latin typeface="Arial"/>
                <a:cs typeface="Arial"/>
              </a:rPr>
              <a:t>p</a:t>
            </a:r>
            <a:r>
              <a:rPr sz="1600" dirty="0">
                <a:latin typeface="Arial"/>
                <a:cs typeface="Arial"/>
              </a:rPr>
              <a:t>r</a:t>
            </a:r>
            <a:r>
              <a:rPr sz="1600" spc="30" dirty="0">
                <a:latin typeface="Arial"/>
                <a:cs typeface="Arial"/>
              </a:rPr>
              <a:t>oduce</a:t>
            </a:r>
            <a:r>
              <a:rPr sz="1600" dirty="0">
                <a:latin typeface="Arial"/>
                <a:cs typeface="Arial"/>
              </a:rPr>
              <a:t> a </a:t>
            </a:r>
            <a:r>
              <a:rPr sz="1600" i="1" dirty="0">
                <a:latin typeface="Arial"/>
                <a:cs typeface="Arial"/>
              </a:rPr>
              <a:t>new </a:t>
            </a:r>
            <a:r>
              <a:rPr sz="1600" spc="5" dirty="0">
                <a:latin typeface="Arial"/>
                <a:cs typeface="Arial"/>
              </a:rPr>
              <a:t>strateg</a:t>
            </a:r>
            <a:r>
              <a:rPr sz="1600" spc="-150" dirty="0">
                <a:latin typeface="Arial"/>
                <a:cs typeface="Arial"/>
              </a:rPr>
              <a:t>y</a:t>
            </a:r>
            <a:r>
              <a:rPr sz="1600" dirty="0">
                <a:latin typeface="Arial"/>
                <a:cs typeface="Arial"/>
              </a:rPr>
              <a:t>. It only </a:t>
            </a:r>
            <a:r>
              <a:rPr sz="1600" spc="20" dirty="0">
                <a:latin typeface="Arial"/>
                <a:cs typeface="Arial"/>
              </a:rPr>
              <a:t>describes</a:t>
            </a:r>
            <a:r>
              <a:rPr sz="1600" dirty="0">
                <a:latin typeface="Arial"/>
                <a:cs typeface="Arial"/>
              </a:rPr>
              <a:t> how </a:t>
            </a:r>
            <a:r>
              <a:rPr sz="1600" spc="50" dirty="0">
                <a:latin typeface="Arial"/>
                <a:cs typeface="Arial"/>
              </a:rPr>
              <a:t>p</a:t>
            </a:r>
            <a:r>
              <a:rPr sz="1600" dirty="0">
                <a:latin typeface="Arial"/>
                <a:cs typeface="Arial"/>
              </a:rPr>
              <a:t>r</a:t>
            </a:r>
            <a:r>
              <a:rPr sz="1600" spc="15" dirty="0">
                <a:latin typeface="Arial"/>
                <a:cs typeface="Arial"/>
              </a:rPr>
              <a:t>opo</a:t>
            </a:r>
            <a:r>
              <a:rPr sz="1600" spc="35" dirty="0">
                <a:latin typeface="Arial"/>
                <a:cs typeface="Arial"/>
              </a:rPr>
              <a:t>r</a:t>
            </a:r>
            <a:r>
              <a:rPr sz="1600" dirty="0">
                <a:latin typeface="Arial"/>
                <a:cs typeface="Arial"/>
              </a:rPr>
              <a:t>tions of </a:t>
            </a:r>
            <a:r>
              <a:rPr sz="1600" spc="5" dirty="0">
                <a:latin typeface="Arial"/>
                <a:cs typeface="Arial"/>
              </a:rPr>
              <a:t>existing</a:t>
            </a:r>
            <a:r>
              <a:rPr sz="1600" dirty="0">
                <a:latin typeface="Arial"/>
                <a:cs typeface="Arial"/>
              </a:rPr>
              <a:t> </a:t>
            </a:r>
            <a:r>
              <a:rPr sz="1600" spc="5" dirty="0">
                <a:latin typeface="Arial"/>
                <a:cs typeface="Arial"/>
              </a:rPr>
              <a:t>strategies</a:t>
            </a:r>
            <a:r>
              <a:rPr sz="1600" dirty="0">
                <a:latin typeface="Arial"/>
                <a:cs typeface="Arial"/>
              </a:rPr>
              <a:t> </a:t>
            </a:r>
            <a:r>
              <a:rPr sz="1600" spc="50" dirty="0">
                <a:latin typeface="Arial"/>
                <a:cs typeface="Arial"/>
              </a:rPr>
              <a:t>g</a:t>
            </a:r>
            <a:r>
              <a:rPr sz="1600" dirty="0">
                <a:latin typeface="Arial"/>
                <a:cs typeface="Arial"/>
              </a:rPr>
              <a:t>row </a:t>
            </a:r>
            <a:r>
              <a:rPr sz="1600" spc="25" dirty="0">
                <a:latin typeface="Arial"/>
                <a:cs typeface="Arial"/>
              </a:rPr>
              <a:t>and</a:t>
            </a:r>
            <a:r>
              <a:rPr sz="1600" dirty="0">
                <a:latin typeface="Arial"/>
                <a:cs typeface="Arial"/>
              </a:rPr>
              <a:t> shrink.</a:t>
            </a:r>
            <a:endParaRPr sz="1600">
              <a:latin typeface="Arial"/>
              <a:cs typeface="Arial"/>
            </a:endParaRPr>
          </a:p>
        </p:txBody>
      </p:sp>
      <p:sp>
        <p:nvSpPr>
          <p:cNvPr id="13" name="object 13"/>
          <p:cNvSpPr txBox="1"/>
          <p:nvPr/>
        </p:nvSpPr>
        <p:spPr>
          <a:xfrm>
            <a:off x="486482" y="3739045"/>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4" name="object 14"/>
          <p:cNvSpPr txBox="1"/>
          <p:nvPr/>
        </p:nvSpPr>
        <p:spPr>
          <a:xfrm>
            <a:off x="754593" y="3719995"/>
            <a:ext cx="8006080" cy="445770"/>
          </a:xfrm>
          <a:prstGeom prst="rect">
            <a:avLst/>
          </a:prstGeom>
        </p:spPr>
        <p:txBody>
          <a:bodyPr vert="horz" wrap="square" lIns="0" tIns="0" rIns="0" bIns="0" rtlCol="0">
            <a:spAutoFit/>
          </a:bodyPr>
          <a:lstStyle/>
          <a:p>
            <a:pPr marL="12700" marR="5080">
              <a:lnSpc>
                <a:spcPts val="1710"/>
              </a:lnSpc>
            </a:pPr>
            <a:r>
              <a:rPr sz="1600" dirty="0">
                <a:latin typeface="Arial"/>
                <a:cs typeface="Arial"/>
              </a:rPr>
              <a:t>Other </a:t>
            </a:r>
            <a:r>
              <a:rPr sz="1600" spc="50" dirty="0">
                <a:latin typeface="Arial"/>
                <a:cs typeface="Arial"/>
              </a:rPr>
              <a:t>p</a:t>
            </a:r>
            <a:r>
              <a:rPr sz="1600" dirty="0">
                <a:latin typeface="Arial"/>
                <a:cs typeface="Arial"/>
              </a:rPr>
              <a:t>r</a:t>
            </a:r>
            <a:r>
              <a:rPr sz="1600" spc="5" dirty="0">
                <a:latin typeface="Arial"/>
                <a:cs typeface="Arial"/>
              </a:rPr>
              <a:t>otocols</a:t>
            </a:r>
            <a:r>
              <a:rPr sz="1600" dirty="0">
                <a:latin typeface="Arial"/>
                <a:cs typeface="Arial"/>
              </a:rPr>
              <a:t> a</a:t>
            </a:r>
            <a:r>
              <a:rPr sz="1600" spc="-30" dirty="0">
                <a:latin typeface="Arial"/>
                <a:cs typeface="Arial"/>
              </a:rPr>
              <a:t>r</a:t>
            </a:r>
            <a:r>
              <a:rPr sz="1600" dirty="0">
                <a:latin typeface="Arial"/>
                <a:cs typeface="Arial"/>
              </a:rPr>
              <a:t>e </a:t>
            </a:r>
            <a:r>
              <a:rPr sz="1600" spc="10" dirty="0">
                <a:latin typeface="Arial"/>
                <a:cs typeface="Arial"/>
              </a:rPr>
              <a:t>possible</a:t>
            </a:r>
            <a:r>
              <a:rPr sz="1600" dirty="0">
                <a:latin typeface="Arial"/>
                <a:cs typeface="Arial"/>
              </a:rPr>
              <a:t> </a:t>
            </a:r>
            <a:r>
              <a:rPr sz="1600" spc="10" dirty="0">
                <a:latin typeface="Arial"/>
                <a:cs typeface="Arial"/>
              </a:rPr>
              <a:t>(e.g.</a:t>
            </a:r>
            <a:r>
              <a:rPr sz="1600" dirty="0">
                <a:latin typeface="Arial"/>
                <a:cs typeface="Arial"/>
              </a:rPr>
              <a:t> </a:t>
            </a:r>
            <a:r>
              <a:rPr sz="1600" spc="15" dirty="0">
                <a:latin typeface="Arial"/>
                <a:cs typeface="Arial"/>
              </a:rPr>
              <a:t>best</a:t>
            </a:r>
            <a:r>
              <a:rPr sz="1600" dirty="0">
                <a:latin typeface="Arial"/>
                <a:cs typeface="Arial"/>
              </a:rPr>
              <a:t> </a:t>
            </a:r>
            <a:r>
              <a:rPr sz="1600" spc="-30" dirty="0">
                <a:latin typeface="Arial"/>
                <a:cs typeface="Arial"/>
              </a:rPr>
              <a:t>r</a:t>
            </a:r>
            <a:r>
              <a:rPr sz="1600" spc="5" dirty="0">
                <a:latin typeface="Arial"/>
                <a:cs typeface="Arial"/>
              </a:rPr>
              <a:t>esponse,</a:t>
            </a:r>
            <a:r>
              <a:rPr sz="1600" dirty="0">
                <a:latin typeface="Arial"/>
                <a:cs typeface="Arial"/>
              </a:rPr>
              <a:t> </a:t>
            </a:r>
            <a:r>
              <a:rPr sz="1600" spc="5" dirty="0">
                <a:latin typeface="Arial"/>
                <a:cs typeface="Arial"/>
              </a:rPr>
              <a:t>pairwise</a:t>
            </a:r>
            <a:r>
              <a:rPr sz="1600" dirty="0">
                <a:latin typeface="Arial"/>
                <a:cs typeface="Arial"/>
              </a:rPr>
              <a:t> </a:t>
            </a:r>
            <a:r>
              <a:rPr sz="1600" spc="15" dirty="0">
                <a:latin typeface="Arial"/>
                <a:cs typeface="Arial"/>
              </a:rPr>
              <a:t>comparison)</a:t>
            </a:r>
            <a:r>
              <a:rPr sz="1600" dirty="0">
                <a:latin typeface="Arial"/>
                <a:cs typeface="Arial"/>
              </a:rPr>
              <a:t> </a:t>
            </a:r>
            <a:r>
              <a:rPr sz="1600" spc="25" dirty="0">
                <a:latin typeface="Arial"/>
                <a:cs typeface="Arial"/>
              </a:rPr>
              <a:t>and</a:t>
            </a:r>
            <a:r>
              <a:rPr sz="1600" dirty="0">
                <a:latin typeface="Arial"/>
                <a:cs typeface="Arial"/>
              </a:rPr>
              <a:t> many </a:t>
            </a:r>
            <a:r>
              <a:rPr sz="1600" spc="-30" dirty="0">
                <a:latin typeface="Arial"/>
                <a:cs typeface="Arial"/>
              </a:rPr>
              <a:t>r</a:t>
            </a:r>
            <a:r>
              <a:rPr sz="1600" dirty="0">
                <a:latin typeface="Arial"/>
                <a:cs typeface="Arial"/>
              </a:rPr>
              <a:t>esult in ve</a:t>
            </a:r>
            <a:r>
              <a:rPr sz="1600" spc="25" dirty="0">
                <a:latin typeface="Arial"/>
                <a:cs typeface="Arial"/>
              </a:rPr>
              <a:t>r</a:t>
            </a:r>
            <a:r>
              <a:rPr sz="1600" dirty="0">
                <a:latin typeface="Arial"/>
                <a:cs typeface="Arial"/>
              </a:rPr>
              <a:t>y similar </a:t>
            </a:r>
            <a:r>
              <a:rPr sz="1600" spc="15" dirty="0">
                <a:latin typeface="Arial"/>
                <a:cs typeface="Arial"/>
              </a:rPr>
              <a:t>dynamics.</a:t>
            </a:r>
            <a:endParaRPr sz="1600">
              <a:latin typeface="Arial"/>
              <a:cs typeface="Arial"/>
            </a:endParaRPr>
          </a:p>
        </p:txBody>
      </p:sp>
      <p:sp>
        <p:nvSpPr>
          <p:cNvPr id="15" name="object 15"/>
          <p:cNvSpPr txBox="1"/>
          <p:nvPr/>
        </p:nvSpPr>
        <p:spPr>
          <a:xfrm>
            <a:off x="486482" y="4442560"/>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6" name="object 16"/>
          <p:cNvSpPr txBox="1"/>
          <p:nvPr/>
        </p:nvSpPr>
        <p:spPr>
          <a:xfrm>
            <a:off x="754593" y="4298326"/>
            <a:ext cx="7532370" cy="786765"/>
          </a:xfrm>
          <a:prstGeom prst="rect">
            <a:avLst/>
          </a:prstGeom>
        </p:spPr>
        <p:txBody>
          <a:bodyPr vert="horz" wrap="square" lIns="0" tIns="0" rIns="0" bIns="0" rtlCol="0">
            <a:spAutoFit/>
          </a:bodyPr>
          <a:lstStyle/>
          <a:p>
            <a:pPr marL="12700">
              <a:lnSpc>
                <a:spcPct val="100000"/>
              </a:lnSpc>
            </a:pPr>
            <a:r>
              <a:rPr sz="1600" spc="5" dirty="0">
                <a:latin typeface="Arial"/>
                <a:cs typeface="Arial"/>
              </a:rPr>
              <a:t>Replicator </a:t>
            </a:r>
            <a:r>
              <a:rPr sz="1600" spc="15" dirty="0">
                <a:latin typeface="Arial"/>
                <a:cs typeface="Arial"/>
              </a:rPr>
              <a:t>dynamics </a:t>
            </a:r>
            <a:r>
              <a:rPr sz="1600" spc="25" dirty="0">
                <a:latin typeface="Arial"/>
                <a:cs typeface="Arial"/>
              </a:rPr>
              <a:t>can </a:t>
            </a:r>
            <a:r>
              <a:rPr sz="1600" spc="35" dirty="0">
                <a:latin typeface="Arial"/>
                <a:cs typeface="Arial"/>
              </a:rPr>
              <a:t>be described </a:t>
            </a:r>
            <a:r>
              <a:rPr sz="1600" spc="40" dirty="0">
                <a:latin typeface="Arial"/>
                <a:cs typeface="Arial"/>
              </a:rPr>
              <a:t>by the </a:t>
            </a:r>
            <a:r>
              <a:rPr sz="1600" spc="-35" dirty="0">
                <a:latin typeface="Arial"/>
                <a:cs typeface="Arial"/>
              </a:rPr>
              <a:t>ODE system </a:t>
            </a:r>
            <a:r>
              <a:rPr sz="1950" i="1" spc="-605" dirty="0">
                <a:latin typeface="Times New Roman"/>
                <a:cs typeface="Times New Roman"/>
              </a:rPr>
              <a:t>x</a:t>
            </a:r>
            <a:r>
              <a:rPr sz="2925" spc="-82" baseline="18518" dirty="0">
                <a:latin typeface="Century"/>
                <a:cs typeface="Century"/>
              </a:rPr>
              <a:t>·</a:t>
            </a:r>
            <a:r>
              <a:rPr sz="2100" i="1" spc="-7" baseline="-19841" dirty="0">
                <a:latin typeface="Times New Roman"/>
                <a:cs typeface="Times New Roman"/>
              </a:rPr>
              <a:t>i</a:t>
            </a:r>
            <a:r>
              <a:rPr sz="2100" i="1" baseline="-19841" dirty="0">
                <a:latin typeface="Times New Roman"/>
                <a:cs typeface="Times New Roman"/>
              </a:rPr>
              <a:t> </a:t>
            </a:r>
            <a:r>
              <a:rPr sz="2100" i="1" spc="-240" baseline="-19841" dirty="0">
                <a:latin typeface="Times New Roman"/>
                <a:cs typeface="Times New Roman"/>
              </a:rPr>
              <a:t> </a:t>
            </a:r>
            <a:r>
              <a:rPr sz="1950" spc="150" dirty="0">
                <a:latin typeface="Century"/>
                <a:cs typeface="Century"/>
              </a:rPr>
              <a:t>=</a:t>
            </a:r>
            <a:r>
              <a:rPr sz="1950" spc="10" dirty="0">
                <a:latin typeface="Century"/>
                <a:cs typeface="Century"/>
              </a:rPr>
              <a:t> </a:t>
            </a:r>
            <a:r>
              <a:rPr sz="1950" i="1" spc="-65" dirty="0">
                <a:latin typeface="Times New Roman"/>
                <a:cs typeface="Times New Roman"/>
              </a:rPr>
              <a:t>x</a:t>
            </a:r>
            <a:r>
              <a:rPr sz="2100" i="1" spc="-7" baseline="-19841" dirty="0">
                <a:latin typeface="Times New Roman"/>
                <a:cs typeface="Times New Roman"/>
              </a:rPr>
              <a:t>i</a:t>
            </a:r>
            <a:r>
              <a:rPr sz="1950" dirty="0">
                <a:latin typeface="Century"/>
                <a:cs typeface="Century"/>
              </a:rPr>
              <a:t>((</a:t>
            </a:r>
            <a:r>
              <a:rPr sz="1950" i="1" spc="160" dirty="0">
                <a:latin typeface="Times New Roman"/>
                <a:cs typeface="Times New Roman"/>
              </a:rPr>
              <a:t>A</a:t>
            </a:r>
            <a:r>
              <a:rPr sz="1950" i="1" dirty="0">
                <a:latin typeface="Times New Roman"/>
                <a:cs typeface="Times New Roman"/>
              </a:rPr>
              <a:t>x</a:t>
            </a:r>
            <a:r>
              <a:rPr sz="1950" dirty="0">
                <a:latin typeface="Century"/>
                <a:cs typeface="Century"/>
              </a:rPr>
              <a:t>)</a:t>
            </a:r>
            <a:r>
              <a:rPr sz="2100" i="1" spc="-7" baseline="-19841" dirty="0">
                <a:latin typeface="Times New Roman"/>
                <a:cs typeface="Times New Roman"/>
              </a:rPr>
              <a:t>i</a:t>
            </a:r>
            <a:r>
              <a:rPr sz="2100" i="1" spc="127" baseline="-19841" dirty="0">
                <a:latin typeface="Times New Roman"/>
                <a:cs typeface="Times New Roman"/>
              </a:rPr>
              <a:t> </a:t>
            </a:r>
            <a:r>
              <a:rPr sz="1950" spc="-220" dirty="0">
                <a:latin typeface="Lucida Sans Unicode"/>
                <a:cs typeface="Lucida Sans Unicode"/>
              </a:rPr>
              <a:t>−</a:t>
            </a:r>
            <a:r>
              <a:rPr sz="1950" spc="-185" dirty="0">
                <a:latin typeface="Lucida Sans Unicode"/>
                <a:cs typeface="Lucida Sans Unicode"/>
              </a:rPr>
              <a:t> </a:t>
            </a:r>
            <a:r>
              <a:rPr sz="1950" i="1" spc="100" dirty="0">
                <a:latin typeface="Times New Roman"/>
                <a:cs typeface="Times New Roman"/>
              </a:rPr>
              <a:t>x</a:t>
            </a:r>
            <a:r>
              <a:rPr sz="2100" i="1" spc="-15" baseline="27777" dirty="0">
                <a:latin typeface="Times New Roman"/>
                <a:cs typeface="Times New Roman"/>
              </a:rPr>
              <a:t>T</a:t>
            </a:r>
            <a:r>
              <a:rPr sz="2100" i="1" spc="-67" baseline="27777" dirty="0">
                <a:latin typeface="Times New Roman"/>
                <a:cs typeface="Times New Roman"/>
              </a:rPr>
              <a:t> </a:t>
            </a:r>
            <a:r>
              <a:rPr sz="1950" i="1" spc="160" dirty="0">
                <a:latin typeface="Times New Roman"/>
                <a:cs typeface="Times New Roman"/>
              </a:rPr>
              <a:t>A</a:t>
            </a:r>
            <a:r>
              <a:rPr sz="1950" i="1" dirty="0">
                <a:latin typeface="Times New Roman"/>
                <a:cs typeface="Times New Roman"/>
              </a:rPr>
              <a:t>x</a:t>
            </a:r>
            <a:r>
              <a:rPr sz="1950" dirty="0">
                <a:latin typeface="Century"/>
                <a:cs typeface="Century"/>
              </a:rPr>
              <a:t>)</a:t>
            </a:r>
            <a:endParaRPr sz="1950">
              <a:latin typeface="Century"/>
              <a:cs typeface="Century"/>
            </a:endParaRPr>
          </a:p>
          <a:p>
            <a:pPr marL="12700">
              <a:lnSpc>
                <a:spcPct val="100000"/>
              </a:lnSpc>
              <a:spcBef>
                <a:spcPts val="1630"/>
              </a:spcBef>
            </a:pPr>
            <a:r>
              <a:rPr sz="1600" dirty="0">
                <a:latin typeface="Arial"/>
                <a:cs typeface="Arial"/>
              </a:rPr>
              <a:t>It </a:t>
            </a:r>
            <a:r>
              <a:rPr sz="1600" spc="25" dirty="0">
                <a:latin typeface="Arial"/>
                <a:cs typeface="Arial"/>
              </a:rPr>
              <a:t>can also </a:t>
            </a:r>
            <a:r>
              <a:rPr sz="1600" spc="35" dirty="0">
                <a:latin typeface="Arial"/>
                <a:cs typeface="Arial"/>
              </a:rPr>
              <a:t>be </a:t>
            </a:r>
            <a:r>
              <a:rPr sz="1600" spc="5" dirty="0">
                <a:latin typeface="Arial"/>
                <a:cs typeface="Arial"/>
              </a:rPr>
              <a:t>analysed </a:t>
            </a:r>
            <a:r>
              <a:rPr sz="1600" spc="15" dirty="0">
                <a:latin typeface="Arial"/>
                <a:cs typeface="Arial"/>
              </a:rPr>
              <a:t>using agent-based simulation.</a:t>
            </a:r>
            <a:endParaRPr sz="1600">
              <a:latin typeface="Arial"/>
              <a:cs typeface="Arial"/>
            </a:endParaRPr>
          </a:p>
        </p:txBody>
      </p:sp>
      <p:sp>
        <p:nvSpPr>
          <p:cNvPr id="17" name="object 17"/>
          <p:cNvSpPr txBox="1"/>
          <p:nvPr/>
        </p:nvSpPr>
        <p:spPr>
          <a:xfrm>
            <a:off x="486482" y="4874958"/>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8" name="object 18"/>
          <p:cNvSpPr txBox="1"/>
          <p:nvPr/>
        </p:nvSpPr>
        <p:spPr>
          <a:xfrm>
            <a:off x="486482" y="5320728"/>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19" name="object 19"/>
          <p:cNvSpPr txBox="1"/>
          <p:nvPr/>
        </p:nvSpPr>
        <p:spPr>
          <a:xfrm>
            <a:off x="754593" y="5301678"/>
            <a:ext cx="7553325" cy="445770"/>
          </a:xfrm>
          <a:prstGeom prst="rect">
            <a:avLst/>
          </a:prstGeom>
        </p:spPr>
        <p:txBody>
          <a:bodyPr vert="horz" wrap="square" lIns="0" tIns="0" rIns="0" bIns="0" rtlCol="0">
            <a:spAutoFit/>
          </a:bodyPr>
          <a:lstStyle/>
          <a:p>
            <a:pPr marL="12700" marR="5080">
              <a:lnSpc>
                <a:spcPts val="1710"/>
              </a:lnSpc>
            </a:pPr>
            <a:r>
              <a:rPr sz="1600" spc="15" dirty="0">
                <a:latin typeface="Arial"/>
                <a:cs typeface="Arial"/>
              </a:rPr>
              <a:t>Under imitation dynamics, </a:t>
            </a:r>
            <a:r>
              <a:rPr sz="1600" spc="-30" dirty="0">
                <a:latin typeface="Arial"/>
                <a:cs typeface="Arial"/>
              </a:rPr>
              <a:t>r</a:t>
            </a:r>
            <a:r>
              <a:rPr sz="1600" spc="10" dirty="0">
                <a:latin typeface="Arial"/>
                <a:cs typeface="Arial"/>
              </a:rPr>
              <a:t>eplicator</a:t>
            </a:r>
            <a:r>
              <a:rPr sz="1600" dirty="0">
                <a:latin typeface="Arial"/>
                <a:cs typeface="Arial"/>
              </a:rPr>
              <a:t> </a:t>
            </a:r>
            <a:r>
              <a:rPr sz="1600" spc="15" dirty="0">
                <a:latin typeface="Arial"/>
                <a:cs typeface="Arial"/>
              </a:rPr>
              <a:t>dynamics</a:t>
            </a:r>
            <a:r>
              <a:rPr sz="1600" dirty="0">
                <a:latin typeface="Arial"/>
                <a:cs typeface="Arial"/>
              </a:rPr>
              <a:t> </a:t>
            </a:r>
            <a:r>
              <a:rPr sz="1600" spc="15" dirty="0">
                <a:latin typeface="Arial"/>
                <a:cs typeface="Arial"/>
              </a:rPr>
              <a:t>converges</a:t>
            </a:r>
            <a:r>
              <a:rPr sz="1600" dirty="0">
                <a:latin typeface="Arial"/>
                <a:cs typeface="Arial"/>
              </a:rPr>
              <a:t> on Nash </a:t>
            </a:r>
            <a:r>
              <a:rPr sz="1600" spc="5" dirty="0">
                <a:latin typeface="Arial"/>
                <a:cs typeface="Arial"/>
              </a:rPr>
              <a:t>Equilibria</a:t>
            </a:r>
            <a:r>
              <a:rPr sz="1600" dirty="0">
                <a:latin typeface="Arial"/>
                <a:cs typeface="Arial"/>
              </a:rPr>
              <a:t> (“Folk </a:t>
            </a:r>
            <a:r>
              <a:rPr sz="1600" spc="-30" dirty="0">
                <a:latin typeface="Arial"/>
                <a:cs typeface="Arial"/>
              </a:rPr>
              <a:t>Theo</a:t>
            </a:r>
            <a:r>
              <a:rPr sz="1600" spc="-50" dirty="0">
                <a:latin typeface="Arial"/>
                <a:cs typeface="Arial"/>
              </a:rPr>
              <a:t>r</a:t>
            </a:r>
            <a:r>
              <a:rPr sz="1600" spc="15" dirty="0">
                <a:latin typeface="Arial"/>
                <a:cs typeface="Arial"/>
              </a:rPr>
              <a:t>em”).</a:t>
            </a:r>
            <a:endParaRPr sz="1600">
              <a:latin typeface="Arial"/>
              <a:cs typeface="Arial"/>
            </a:endParaRPr>
          </a:p>
        </p:txBody>
      </p:sp>
      <p:sp>
        <p:nvSpPr>
          <p:cNvPr id="20" name="object 20"/>
          <p:cNvSpPr txBox="1"/>
          <p:nvPr/>
        </p:nvSpPr>
        <p:spPr>
          <a:xfrm>
            <a:off x="486482" y="5983668"/>
            <a:ext cx="101600" cy="177800"/>
          </a:xfrm>
          <a:prstGeom prst="rect">
            <a:avLst/>
          </a:prstGeom>
        </p:spPr>
        <p:txBody>
          <a:bodyPr vert="horz" wrap="square" lIns="0" tIns="0" rIns="0" bIns="0" rtlCol="0">
            <a:spAutoFit/>
          </a:bodyPr>
          <a:lstStyle/>
          <a:p>
            <a:pPr marL="12700">
              <a:lnSpc>
                <a:spcPct val="100000"/>
              </a:lnSpc>
            </a:pPr>
            <a:r>
              <a:rPr sz="1200" spc="175" dirty="0">
                <a:latin typeface="Arial"/>
                <a:cs typeface="Arial"/>
              </a:rPr>
              <a:t>•</a:t>
            </a:r>
            <a:endParaRPr sz="1200">
              <a:latin typeface="Arial"/>
              <a:cs typeface="Arial"/>
            </a:endParaRPr>
          </a:p>
        </p:txBody>
      </p:sp>
      <p:sp>
        <p:nvSpPr>
          <p:cNvPr id="21" name="object 21"/>
          <p:cNvSpPr txBox="1"/>
          <p:nvPr/>
        </p:nvSpPr>
        <p:spPr>
          <a:xfrm>
            <a:off x="754593" y="5964618"/>
            <a:ext cx="7837805" cy="662940"/>
          </a:xfrm>
          <a:prstGeom prst="rect">
            <a:avLst/>
          </a:prstGeom>
        </p:spPr>
        <p:txBody>
          <a:bodyPr vert="horz" wrap="square" lIns="0" tIns="0" rIns="0" bIns="0" rtlCol="0">
            <a:spAutoFit/>
          </a:bodyPr>
          <a:lstStyle/>
          <a:p>
            <a:pPr marL="12700" marR="5080">
              <a:lnSpc>
                <a:spcPts val="1710"/>
              </a:lnSpc>
            </a:pPr>
            <a:r>
              <a:rPr sz="1600" dirty="0">
                <a:latin typeface="Arial"/>
                <a:cs typeface="Arial"/>
              </a:rPr>
              <a:t>In a </a:t>
            </a:r>
            <a:r>
              <a:rPr sz="1600" spc="5" dirty="0">
                <a:latin typeface="Arial"/>
                <a:cs typeface="Arial"/>
              </a:rPr>
              <a:t>2-strategy </a:t>
            </a:r>
            <a:r>
              <a:rPr sz="1600" spc="20" dirty="0">
                <a:latin typeface="Arial"/>
                <a:cs typeface="Arial"/>
              </a:rPr>
              <a:t>game only th</a:t>
            </a:r>
            <a:r>
              <a:rPr sz="1600" spc="-30" dirty="0">
                <a:latin typeface="Arial"/>
                <a:cs typeface="Arial"/>
              </a:rPr>
              <a:t>r</a:t>
            </a:r>
            <a:r>
              <a:rPr sz="1600" dirty="0">
                <a:latin typeface="Arial"/>
                <a:cs typeface="Arial"/>
              </a:rPr>
              <a:t>ee </a:t>
            </a:r>
            <a:r>
              <a:rPr sz="1600" spc="5" dirty="0">
                <a:latin typeface="Arial"/>
                <a:cs typeface="Arial"/>
              </a:rPr>
              <a:t>outcomes</a:t>
            </a:r>
            <a:r>
              <a:rPr sz="1600" dirty="0">
                <a:latin typeface="Arial"/>
                <a:cs typeface="Arial"/>
              </a:rPr>
              <a:t> a</a:t>
            </a:r>
            <a:r>
              <a:rPr sz="1600" spc="-30" dirty="0">
                <a:latin typeface="Arial"/>
                <a:cs typeface="Arial"/>
              </a:rPr>
              <a:t>r</a:t>
            </a:r>
            <a:r>
              <a:rPr sz="1600" dirty="0">
                <a:latin typeface="Arial"/>
                <a:cs typeface="Arial"/>
              </a:rPr>
              <a:t>e </a:t>
            </a:r>
            <a:r>
              <a:rPr sz="1600" spc="10" dirty="0">
                <a:latin typeface="Arial"/>
                <a:cs typeface="Arial"/>
              </a:rPr>
              <a:t>possible:</a:t>
            </a:r>
            <a:r>
              <a:rPr sz="1600" dirty="0">
                <a:latin typeface="Arial"/>
                <a:cs typeface="Arial"/>
              </a:rPr>
              <a:t> either one of the </a:t>
            </a:r>
            <a:r>
              <a:rPr sz="1600" spc="5" dirty="0">
                <a:latin typeface="Arial"/>
                <a:cs typeface="Arial"/>
              </a:rPr>
              <a:t>strategies dominates</a:t>
            </a:r>
            <a:r>
              <a:rPr sz="1600" dirty="0">
                <a:latin typeface="Arial"/>
                <a:cs typeface="Arial"/>
              </a:rPr>
              <a:t> or the</a:t>
            </a:r>
            <a:r>
              <a:rPr sz="1600" spc="-30" dirty="0">
                <a:latin typeface="Arial"/>
                <a:cs typeface="Arial"/>
              </a:rPr>
              <a:t>r</a:t>
            </a:r>
            <a:r>
              <a:rPr sz="1600" dirty="0">
                <a:latin typeface="Arial"/>
                <a:cs typeface="Arial"/>
              </a:rPr>
              <a:t>e is a </a:t>
            </a:r>
            <a:r>
              <a:rPr sz="1600" spc="10" dirty="0">
                <a:latin typeface="Arial"/>
                <a:cs typeface="Arial"/>
              </a:rPr>
              <a:t>point</a:t>
            </a:r>
            <a:r>
              <a:rPr sz="1600" dirty="0">
                <a:latin typeface="Arial"/>
                <a:cs typeface="Arial"/>
              </a:rPr>
              <a:t> of </a:t>
            </a:r>
            <a:r>
              <a:rPr sz="1600" spc="10" dirty="0">
                <a:latin typeface="Arial"/>
                <a:cs typeface="Arial"/>
              </a:rPr>
              <a:t>stable</a:t>
            </a:r>
            <a:r>
              <a:rPr sz="1600" dirty="0">
                <a:latin typeface="Arial"/>
                <a:cs typeface="Arial"/>
              </a:rPr>
              <a:t> </a:t>
            </a:r>
            <a:r>
              <a:rPr sz="1600" spc="10" dirty="0">
                <a:latin typeface="Arial"/>
                <a:cs typeface="Arial"/>
              </a:rPr>
              <a:t>coexistence.</a:t>
            </a:r>
            <a:r>
              <a:rPr sz="1600" dirty="0">
                <a:latin typeface="Arial"/>
                <a:cs typeface="Arial"/>
              </a:rPr>
              <a:t> If the</a:t>
            </a:r>
            <a:r>
              <a:rPr sz="1600" spc="-30" dirty="0">
                <a:latin typeface="Arial"/>
                <a:cs typeface="Arial"/>
              </a:rPr>
              <a:t>r</a:t>
            </a:r>
            <a:r>
              <a:rPr sz="1600" dirty="0">
                <a:latin typeface="Arial"/>
                <a:cs typeface="Arial"/>
              </a:rPr>
              <a:t>e a</a:t>
            </a:r>
            <a:r>
              <a:rPr sz="1600" spc="-30" dirty="0">
                <a:latin typeface="Arial"/>
                <a:cs typeface="Arial"/>
              </a:rPr>
              <a:t>r</a:t>
            </a:r>
            <a:r>
              <a:rPr sz="1600" dirty="0">
                <a:latin typeface="Arial"/>
                <a:cs typeface="Arial"/>
              </a:rPr>
              <a:t>e mo</a:t>
            </a:r>
            <a:r>
              <a:rPr sz="1600" spc="-30" dirty="0">
                <a:latin typeface="Arial"/>
                <a:cs typeface="Arial"/>
              </a:rPr>
              <a:t>r</a:t>
            </a:r>
            <a:r>
              <a:rPr sz="1600" dirty="0">
                <a:latin typeface="Arial"/>
                <a:cs typeface="Arial"/>
              </a:rPr>
              <a:t>e than 2-strategies, the </a:t>
            </a:r>
            <a:r>
              <a:rPr sz="1600" spc="15" dirty="0">
                <a:latin typeface="Arial"/>
                <a:cs typeface="Arial"/>
              </a:rPr>
              <a:t>dynamics</a:t>
            </a:r>
            <a:r>
              <a:rPr sz="1600" dirty="0">
                <a:latin typeface="Arial"/>
                <a:cs typeface="Arial"/>
              </a:rPr>
              <a:t> </a:t>
            </a:r>
            <a:r>
              <a:rPr sz="1600" spc="15" dirty="0">
                <a:latin typeface="Arial"/>
                <a:cs typeface="Arial"/>
              </a:rPr>
              <a:t>becomes</a:t>
            </a:r>
            <a:r>
              <a:rPr sz="1600" dirty="0">
                <a:latin typeface="Arial"/>
                <a:cs typeface="Arial"/>
              </a:rPr>
              <a:t> far mo</a:t>
            </a:r>
            <a:r>
              <a:rPr sz="1600" spc="-30" dirty="0">
                <a:latin typeface="Arial"/>
                <a:cs typeface="Arial"/>
              </a:rPr>
              <a:t>r</a:t>
            </a:r>
            <a:r>
              <a:rPr sz="1600" dirty="0">
                <a:latin typeface="Arial"/>
                <a:cs typeface="Arial"/>
              </a:rPr>
              <a:t>e </a:t>
            </a:r>
            <a:r>
              <a:rPr sz="1600" spc="15" dirty="0">
                <a:latin typeface="Arial"/>
                <a:cs typeface="Arial"/>
              </a:rPr>
              <a:t>complex</a:t>
            </a:r>
            <a:r>
              <a:rPr sz="1600" dirty="0">
                <a:latin typeface="Arial"/>
                <a:cs typeface="Arial"/>
              </a:rPr>
              <a:t> </a:t>
            </a:r>
            <a:r>
              <a:rPr sz="1600" spc="10" dirty="0">
                <a:latin typeface="Arial"/>
                <a:cs typeface="Arial"/>
              </a:rPr>
              <a:t>(e.g.</a:t>
            </a:r>
            <a:r>
              <a:rPr sz="1600" dirty="0">
                <a:latin typeface="Arial"/>
                <a:cs typeface="Arial"/>
              </a:rPr>
              <a:t> </a:t>
            </a:r>
            <a:r>
              <a:rPr sz="1600" spc="35" dirty="0">
                <a:latin typeface="Arial"/>
                <a:cs typeface="Arial"/>
              </a:rPr>
              <a:t>cycling</a:t>
            </a:r>
            <a:r>
              <a:rPr sz="1600" dirty="0">
                <a:latin typeface="Arial"/>
                <a:cs typeface="Arial"/>
              </a:rPr>
              <a:t> is </a:t>
            </a:r>
            <a:r>
              <a:rPr sz="1600" spc="10" dirty="0">
                <a:latin typeface="Arial"/>
                <a:cs typeface="Arial"/>
              </a:rPr>
              <a:t>possible).</a:t>
            </a:r>
            <a:endParaRPr sz="1600">
              <a:latin typeface="Arial"/>
              <a:cs typeface="Arial"/>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7569</TotalTime>
  <Words>19547</Words>
  <Application>Microsoft Office PowerPoint</Application>
  <PresentationFormat>On-screen Show (4:3)</PresentationFormat>
  <Paragraphs>1151</Paragraphs>
  <Slides>60</Slides>
  <Notes>60</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60</vt:i4>
      </vt:variant>
    </vt:vector>
  </HeadingPairs>
  <TitlesOfParts>
    <vt:vector size="80" baseType="lpstr">
      <vt:lpstr>MS Gothic</vt:lpstr>
      <vt:lpstr>AAAAAG+Times-Bold</vt:lpstr>
      <vt:lpstr>Arial</vt:lpstr>
      <vt:lpstr>Calibri</vt:lpstr>
      <vt:lpstr>Cambria</vt:lpstr>
      <vt:lpstr>Cambria Math</vt:lpstr>
      <vt:lpstr>Century</vt:lpstr>
      <vt:lpstr>Comic Sans MS</vt:lpstr>
      <vt:lpstr>Courier New</vt:lpstr>
      <vt:lpstr>Gill Sans</vt:lpstr>
      <vt:lpstr>Gill Sans MT</vt:lpstr>
      <vt:lpstr>Helvetica</vt:lpstr>
      <vt:lpstr>Helvetica Light</vt:lpstr>
      <vt:lpstr>Lucida Sans Unicode</vt:lpstr>
      <vt:lpstr>Söhne</vt:lpstr>
      <vt:lpstr>Symbol</vt:lpstr>
      <vt:lpstr>Tahoma</vt:lpstr>
      <vt:lpstr>Times New Roman</vt:lpstr>
      <vt:lpstr>Office Theme</vt:lpstr>
      <vt:lpstr>White</vt:lpstr>
      <vt:lpstr>PowerPoint Presentation</vt:lpstr>
      <vt:lpstr>PowerPoint Presentation</vt:lpstr>
      <vt:lpstr>PowerPoint Presentation</vt:lpstr>
      <vt:lpstr>Example: Selfish Routing</vt:lpstr>
      <vt:lpstr>Intro: Selfish Routing (Example)</vt:lpstr>
      <vt:lpstr>Congestion Games (Def)</vt:lpstr>
      <vt:lpstr>Population Games</vt:lpstr>
      <vt:lpstr>Potential Games</vt:lpstr>
      <vt:lpstr>Myopic Best-Response</vt:lpstr>
      <vt:lpstr>Selfish Routing (Price of Anarchy)</vt:lpstr>
      <vt:lpstr>PowerPoint Presentation</vt:lpstr>
      <vt:lpstr>PowerPoint Presentation</vt:lpstr>
      <vt:lpstr>PowerPoint Presentation</vt:lpstr>
      <vt:lpstr>Cross Learning Dynamics</vt:lpstr>
      <vt:lpstr>PowerPoint Presentation</vt:lpstr>
      <vt:lpstr>Interpretations of Mixed Strategies</vt:lpstr>
      <vt:lpstr>PowerPoint Presentation</vt:lpstr>
      <vt:lpstr>The Father of Evolutionary Game Theory</vt:lpstr>
      <vt:lpstr>EGT Departures from Classical Game Theory</vt:lpstr>
      <vt:lpstr>Domains</vt:lpstr>
      <vt:lpstr>Key Questions</vt:lpstr>
      <vt:lpstr>PowerPoint Presentation</vt:lpstr>
      <vt:lpstr>General EGT framework</vt:lpstr>
      <vt:lpstr>First Analysis: Assumptions</vt:lpstr>
      <vt:lpstr>Symmetric Games</vt:lpstr>
      <vt:lpstr>Nash Equilibrium &amp; Process Dynamics</vt:lpstr>
      <vt:lpstr>PowerPoint Presentation</vt:lpstr>
      <vt:lpstr>PowerPoint Presentation</vt:lpstr>
      <vt:lpstr>Competition for food</vt:lpstr>
      <vt:lpstr>PowerPoint Presentation</vt:lpstr>
      <vt:lpstr>Body Size Game: Invasion of a small mutant</vt:lpstr>
      <vt:lpstr>Body Size Game: Invasion of a large mutant</vt:lpstr>
      <vt:lpstr>PowerPoint Presentation</vt:lpstr>
      <vt:lpstr>PowerPoint Presentation</vt:lpstr>
      <vt:lpstr>ESS is a refinement of Nash</vt:lpstr>
      <vt:lpstr>Strict Nash implies an ESS</vt:lpstr>
      <vt:lpstr>ESS - Existence</vt:lpstr>
      <vt:lpstr>Replicator Dynamics</vt:lpstr>
      <vt:lpstr>Replicator Dynamics</vt:lpstr>
      <vt:lpstr>PowerPoint Presentation</vt:lpstr>
      <vt:lpstr>Replicator dynamics - Rest Points</vt:lpstr>
      <vt:lpstr>Replicator equation for n=2</vt:lpstr>
      <vt:lpstr>Replicator equations for n=2:</vt:lpstr>
      <vt:lpstr>Self Study: Example coexistence: Hawk-Dove Game</vt:lpstr>
      <vt:lpstr>Self Study: Stable Polymorphic State</vt:lpstr>
      <vt:lpstr>Self Study: Example dominance: Prisoner’s Dilemma</vt:lpstr>
      <vt:lpstr>PowerPoint Presentation</vt:lpstr>
      <vt:lpstr>Replicator equations for n=3:</vt:lpstr>
      <vt:lpstr>Rock-Scissors-Paper in nature</vt:lpstr>
      <vt:lpstr>PowerPoint Presentation</vt:lpstr>
      <vt:lpstr>Evolutionary Game</vt:lpstr>
      <vt:lpstr>“Folk theorem” of evolutionary game theory</vt:lpstr>
      <vt:lpstr>Adaptive Dynamics: Snowdrift Example</vt:lpstr>
      <vt:lpstr>Snowdrift Games</vt:lpstr>
      <vt:lpstr>Snowdrift Game Implementation</vt:lpstr>
      <vt:lpstr>Snowdrift Game Simulation</vt:lpstr>
      <vt:lpstr>PowerPoint Presentation</vt:lpstr>
      <vt:lpstr>Self Study: Some other Learning &amp; Revision Protocols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 7 Population Games &amp; EGT</dc:title>
  <cp:lastModifiedBy>Fuad Noman</cp:lastModifiedBy>
  <cp:revision>74</cp:revision>
  <dcterms:created xsi:type="dcterms:W3CDTF">2023-09-12T21:02:46Z</dcterms:created>
  <dcterms:modified xsi:type="dcterms:W3CDTF">2024-09-12T08:27:12Z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2023-09-07T00:00:00Z</vt:filetime>
  </property>
  <property fmtid="{D5CDD505-2E9C-101B-9397-08002B2CF9AE}" pid="3" name="LastSaved">
    <vt:filetime>2023-09-12T00:00:00Z</vt:filetime>
  </property>
</Properties>
</file>
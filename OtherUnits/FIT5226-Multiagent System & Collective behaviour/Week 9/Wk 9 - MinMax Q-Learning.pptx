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Lst>
  <p:notesMasterIdLst>
    <p:notesMasterId r:id="rId17"/>
  </p:notesMasterIdLst>
  <p:sldIdLst>
    <p:sldId id="343" r:id="rId3"/>
    <p:sldId id="260" r:id="rId4"/>
    <p:sldId id="258" r:id="rId5"/>
    <p:sldId id="259" r:id="rId6"/>
    <p:sldId id="345" r:id="rId7"/>
    <p:sldId id="261" r:id="rId8"/>
    <p:sldId id="262" r:id="rId9"/>
    <p:sldId id="263" r:id="rId10"/>
    <p:sldId id="264" r:id="rId11"/>
    <p:sldId id="265" r:id="rId12"/>
    <p:sldId id="266" r:id="rId13"/>
    <p:sldId id="267" r:id="rId14"/>
    <p:sldId id="268" r:id="rId15"/>
    <p:sldId id="344" r:id="rId1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712" autoAdjust="0"/>
  </p:normalViewPr>
  <p:slideViewPr>
    <p:cSldViewPr>
      <p:cViewPr varScale="1">
        <p:scale>
          <a:sx n="53" d="100"/>
          <a:sy n="53" d="100"/>
        </p:scale>
        <p:origin x="2242"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657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28950" y="857250"/>
            <a:ext cx="3086100" cy="2314575"/>
          </a:xfrm>
          <a:prstGeom prst="rect">
            <a:avLst/>
          </a:prstGeom>
          <a:noFill/>
          <a:ln w="12700">
            <a:solidFill>
              <a:prstClr val="black"/>
            </a:solidFill>
          </a:ln>
        </p:spPr>
      </p:sp>
      <p:sp>
        <p:nvSpPr>
          <p:cNvPr id="3" name="Notes Placeholder 2"/>
          <p:cNvSpPr>
            <a:spLocks noGrp="1"/>
          </p:cNvSpPr>
          <p:nvPr>
            <p:ph type="body" idx="1"/>
          </p:nvPr>
        </p:nvSpPr>
        <p:spPr>
          <a:xfrm>
            <a:off x="914400" y="3300413"/>
            <a:ext cx="7315200" cy="2700337"/>
          </a:xfrm>
          <a:prstGeom prst="rect">
            <a:avLst/>
          </a:prstGeom>
        </p:spPr>
        <p:txBody>
          <a:bodyPr/>
          <a:lstStyle/>
          <a:p>
            <a:r>
              <a:rPr lang="en-US" b="1" dirty="0"/>
              <a:t>Minimax Q-learning</a:t>
            </a:r>
            <a:r>
              <a:rPr lang="en-US" dirty="0"/>
              <a:t> is an extension of traditional Q-learning designed for </a:t>
            </a:r>
            <a:r>
              <a:rPr lang="en-US" b="1" dirty="0"/>
              <a:t>two-player zero-sum games</a:t>
            </a:r>
            <a:r>
              <a:rPr lang="en-US" dirty="0"/>
              <a:t>. Its primary goal is to enable each player to learn optimal strategies while considering the actions of an adversary. </a:t>
            </a:r>
            <a:br>
              <a:rPr lang="en-US" dirty="0"/>
            </a:br>
            <a:br>
              <a:rPr lang="en-US" dirty="0"/>
            </a:br>
            <a:r>
              <a:rPr lang="en-US" dirty="0"/>
              <a:t>How it links </a:t>
            </a:r>
            <a:r>
              <a:rPr lang="en-US" b="1" dirty="0"/>
              <a:t>reinforcement learning (RL)</a:t>
            </a:r>
            <a:r>
              <a:rPr lang="en-US" dirty="0"/>
              <a:t> to </a:t>
            </a:r>
            <a:r>
              <a:rPr lang="en-US" b="1" dirty="0"/>
              <a:t>game theory:</a:t>
            </a:r>
          </a:p>
          <a:p>
            <a:pPr marL="228600" indent="-228600">
              <a:buFont typeface="+mj-lt"/>
              <a:buAutoNum type="arabicPeriod"/>
            </a:pPr>
            <a:r>
              <a:rPr lang="en-US" b="1" dirty="0"/>
              <a:t>Adapting RL to Multi-Agent Settings</a:t>
            </a:r>
            <a:r>
              <a:rPr lang="en-US" dirty="0"/>
              <a:t>:</a:t>
            </a:r>
          </a:p>
          <a:p>
            <a:pPr marL="628650" lvl="1" indent="-171450">
              <a:buFont typeface="Arial" panose="020B0604020202020204" pitchFamily="34" charset="0"/>
              <a:buChar char="•"/>
            </a:pPr>
            <a:r>
              <a:rPr lang="en-US" dirty="0"/>
              <a:t>Traditional RL is typically single-agent, where the environment is stationary, and the agent learns from its own actions. Game theory, on the other hand, deals with strategic interactions between multiple agents, where each agent's decisions influence the others.</a:t>
            </a:r>
          </a:p>
          <a:p>
            <a:pPr marL="628650" lvl="1" indent="-171450">
              <a:buFont typeface="Arial" panose="020B0604020202020204" pitchFamily="34" charset="0"/>
              <a:buChar char="•"/>
            </a:pPr>
            <a:r>
              <a:rPr lang="en-US" dirty="0"/>
              <a:t>Minimax Q-learning adapts Q-learning to multi-agent settings by considering the adversary's actions and strategies, thus bringing elements of </a:t>
            </a:r>
            <a:r>
              <a:rPr lang="en-US" b="1" dirty="0"/>
              <a:t>game theory</a:t>
            </a:r>
            <a:r>
              <a:rPr lang="en-US" dirty="0"/>
              <a:t> into </a:t>
            </a:r>
            <a:r>
              <a:rPr lang="en-US" b="1" dirty="0"/>
              <a:t>reinforcement learning</a:t>
            </a:r>
            <a:r>
              <a:rPr lang="en-US" dirty="0"/>
              <a:t>.</a:t>
            </a:r>
          </a:p>
          <a:p>
            <a:pPr marL="457200" lvl="1" indent="0">
              <a:buFont typeface="Arial" panose="020B0604020202020204" pitchFamily="34" charset="0"/>
              <a:buNone/>
            </a:pPr>
            <a:endParaRPr lang="en-US" dirty="0"/>
          </a:p>
          <a:p>
            <a:pPr marL="228600" indent="-228600">
              <a:buFont typeface="+mj-lt"/>
              <a:buAutoNum type="arabicPeriod"/>
            </a:pPr>
            <a:r>
              <a:rPr lang="en-US" b="1" dirty="0"/>
              <a:t>Solving Zero-Sum Games</a:t>
            </a:r>
            <a:r>
              <a:rPr lang="en-US" dirty="0"/>
              <a:t>:</a:t>
            </a:r>
          </a:p>
          <a:p>
            <a:pPr marL="628650" lvl="1" indent="-171450">
              <a:buFont typeface="Arial" panose="020B0604020202020204" pitchFamily="34" charset="0"/>
              <a:buChar char="•"/>
            </a:pPr>
            <a:r>
              <a:rPr lang="en-US" dirty="0"/>
              <a:t>Game theory's </a:t>
            </a:r>
            <a:r>
              <a:rPr lang="en-US" b="1" dirty="0"/>
              <a:t>minimax principle</a:t>
            </a:r>
            <a:r>
              <a:rPr lang="en-US" dirty="0"/>
              <a:t> (which says that in zero-sum games, a player should minimize the maximum possible loss) is applied to Q-learning.</a:t>
            </a:r>
          </a:p>
          <a:p>
            <a:pPr marL="628650" lvl="1" indent="-171450">
              <a:buFont typeface="Arial" panose="020B0604020202020204" pitchFamily="34" charset="0"/>
              <a:buChar char="•"/>
            </a:pPr>
            <a:r>
              <a:rPr lang="en-US" dirty="0"/>
              <a:t>The </a:t>
            </a:r>
            <a:r>
              <a:rPr lang="en-US" b="1" dirty="0"/>
              <a:t>minimax update</a:t>
            </a:r>
            <a:r>
              <a:rPr lang="en-US" dirty="0"/>
              <a:t> adjusts Q-values not just based on the agent’s own rewards but also considers the worst-case scenario where the opponent plays optimally. This ensures that the agent’s strategy is robust against the opponent’s actions.</a:t>
            </a:r>
          </a:p>
          <a:p>
            <a:pPr marL="457200" lvl="1" indent="0">
              <a:buFont typeface="Arial" panose="020B0604020202020204" pitchFamily="34" charset="0"/>
              <a:buNone/>
            </a:pPr>
            <a:endParaRPr lang="en-US" dirty="0"/>
          </a:p>
          <a:p>
            <a:pPr marL="228600" indent="-228600">
              <a:buFont typeface="+mj-lt"/>
              <a:buAutoNum type="arabicPeriod"/>
            </a:pPr>
            <a:r>
              <a:rPr lang="en-US" b="1" dirty="0"/>
              <a:t>Learning in Dynamic, Strategic Environments</a:t>
            </a:r>
            <a:r>
              <a:rPr lang="en-US" dirty="0"/>
              <a:t>:</a:t>
            </a:r>
          </a:p>
          <a:p>
            <a:pPr marL="628650" lvl="1" indent="-171450">
              <a:buFont typeface="Arial" panose="020B0604020202020204" pitchFamily="34" charset="0"/>
              <a:buChar char="•"/>
            </a:pPr>
            <a:r>
              <a:rPr lang="en-US" dirty="0"/>
              <a:t>In game theory, strategies are used to determine actions based on the game state and other players' behaviors. In RL, policies are used to map states to actions.</a:t>
            </a:r>
          </a:p>
          <a:p>
            <a:pPr marL="628650" lvl="1" indent="-171450">
              <a:buFont typeface="Arial" panose="020B0604020202020204" pitchFamily="34" charset="0"/>
              <a:buChar char="•"/>
            </a:pPr>
            <a:r>
              <a:rPr lang="en-US" dirty="0"/>
              <a:t>Minimax Q-learning effectively learns </a:t>
            </a:r>
            <a:r>
              <a:rPr lang="en-US" b="1" dirty="0"/>
              <a:t>mixed strategies</a:t>
            </a:r>
            <a:r>
              <a:rPr lang="en-US" dirty="0"/>
              <a:t> by solving for the </a:t>
            </a:r>
            <a:r>
              <a:rPr lang="en-US" b="1" dirty="0"/>
              <a:t>minimax policy</a:t>
            </a:r>
            <a:r>
              <a:rPr lang="en-US" dirty="0"/>
              <a:t>, which is a </a:t>
            </a:r>
            <a:r>
              <a:rPr lang="en-US" b="1" dirty="0"/>
              <a:t>game-theoretic solution</a:t>
            </a:r>
            <a:r>
              <a:rPr lang="en-US" dirty="0"/>
              <a:t>.</a:t>
            </a:r>
          </a:p>
          <a:p>
            <a:pPr marL="628650" lvl="1" indent="-171450">
              <a:buFont typeface="Arial" panose="020B0604020202020204" pitchFamily="34" charset="0"/>
              <a:buChar char="•"/>
            </a:pPr>
            <a:r>
              <a:rPr lang="en-US" dirty="0"/>
              <a:t>This links the </a:t>
            </a:r>
            <a:r>
              <a:rPr lang="en-US" b="1" dirty="0"/>
              <a:t>exploration-exploitation</a:t>
            </a:r>
            <a:r>
              <a:rPr lang="en-US" dirty="0"/>
              <a:t> tradeoff in RL with </a:t>
            </a:r>
            <a:r>
              <a:rPr lang="en-US" b="1" dirty="0"/>
              <a:t>strategic decision-making</a:t>
            </a:r>
            <a:r>
              <a:rPr lang="en-US" dirty="0"/>
              <a:t> in adversarial games.</a:t>
            </a:r>
          </a:p>
          <a:p>
            <a:endParaRPr lang="en-MY" dirty="0"/>
          </a:p>
        </p:txBody>
      </p:sp>
    </p:spTree>
    <p:extLst>
      <p:ext uri="{BB962C8B-B14F-4D97-AF65-F5344CB8AC3E}">
        <p14:creationId xmlns:p14="http://schemas.microsoft.com/office/powerpoint/2010/main" val="2674677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 </a:t>
            </a:r>
            <a:r>
              <a:rPr lang="en-US" b="1" dirty="0"/>
              <a:t>Robo Soccer Game</a:t>
            </a:r>
            <a:r>
              <a:rPr lang="en-US" dirty="0"/>
              <a:t> can be modeled as a grid-world game where two players, an "attacker" and a "defender," are positioned on a 4x5 grid. The game involves strategic decision-making where both players choose actions from a set of five possible actions: {N (North), S (South), E (East), W (West), and stand}.</a:t>
            </a:r>
          </a:p>
          <a:p>
            <a:endParaRPr lang="en-US" dirty="0"/>
          </a:p>
          <a:p>
            <a:r>
              <a:rPr lang="en-US" b="1" dirty="0"/>
              <a:t>Setup</a:t>
            </a:r>
          </a:p>
          <a:p>
            <a:pPr marL="628650" lvl="1" indent="-171450">
              <a:buFont typeface="Arial" panose="020B0604020202020204" pitchFamily="34" charset="0"/>
              <a:buChar char="•"/>
            </a:pPr>
            <a:r>
              <a:rPr lang="en-US" dirty="0"/>
              <a:t>The </a:t>
            </a:r>
            <a:r>
              <a:rPr lang="en-US" b="1" dirty="0"/>
              <a:t>attacker</a:t>
            </a:r>
            <a:r>
              <a:rPr lang="en-US" dirty="0"/>
              <a:t> tries to move toward the defender's goal (e.g., a specific grid location) to score points.</a:t>
            </a:r>
          </a:p>
          <a:p>
            <a:pPr marL="628650" lvl="1" indent="-171450">
              <a:buFont typeface="Arial" panose="020B0604020202020204" pitchFamily="34" charset="0"/>
              <a:buChar char="•"/>
            </a:pPr>
            <a:r>
              <a:rPr lang="en-US" dirty="0"/>
              <a:t>The </a:t>
            </a:r>
            <a:r>
              <a:rPr lang="en-US" b="1" dirty="0"/>
              <a:t>defender</a:t>
            </a:r>
            <a:r>
              <a:rPr lang="en-US" dirty="0"/>
              <a:t> tries to block the attacker from reaching the goal by positioning itself between the attacker and the goal.</a:t>
            </a:r>
          </a:p>
          <a:p>
            <a:pPr marL="457200" lvl="1" indent="0">
              <a:buFont typeface="Arial" panose="020B0604020202020204" pitchFamily="34" charset="0"/>
              <a:buNone/>
            </a:pPr>
            <a:endParaRPr lang="en-US" dirty="0"/>
          </a:p>
          <a:p>
            <a:r>
              <a:rPr lang="en-US" b="1" dirty="0"/>
              <a:t>Reinforcement Learning (RL):</a:t>
            </a:r>
          </a:p>
          <a:p>
            <a:pPr marL="628650" lvl="1" indent="-171450">
              <a:buFont typeface="Arial" panose="020B0604020202020204" pitchFamily="34" charset="0"/>
              <a:buChar char="•"/>
            </a:pPr>
            <a:r>
              <a:rPr lang="en-US" b="1" dirty="0"/>
              <a:t>Q-Learning</a:t>
            </a:r>
            <a:r>
              <a:rPr lang="en-US" dirty="0"/>
              <a:t>: Adapted for partially observable environments by using techniques like Deep Q-Learning with memory or recurrent networks to handle changing states.</a:t>
            </a:r>
          </a:p>
          <a:p>
            <a:pPr marL="628650" lvl="1" indent="-171450">
              <a:buFont typeface="Arial" panose="020B0604020202020204" pitchFamily="34" charset="0"/>
              <a:buChar char="•"/>
            </a:pPr>
            <a:r>
              <a:rPr lang="en-US" b="1" dirty="0"/>
              <a:t>Policy Gradient Methods</a:t>
            </a:r>
            <a:r>
              <a:rPr lang="en-US" dirty="0"/>
              <a:t>: Can be used to learn policies in environments where the state space is large and changing dynamically.</a:t>
            </a:r>
          </a:p>
          <a:p>
            <a:pPr marL="457200" lvl="1" indent="0">
              <a:buFont typeface="Arial" panose="020B0604020202020204" pitchFamily="34" charset="0"/>
              <a:buNone/>
            </a:pPr>
            <a:endParaRPr lang="en-US" dirty="0"/>
          </a:p>
          <a:p>
            <a:r>
              <a:rPr lang="en-US" b="1" dirty="0"/>
              <a:t>Game Theory:</a:t>
            </a:r>
          </a:p>
          <a:p>
            <a:pPr marL="628650" lvl="1" indent="-171450">
              <a:buFont typeface="Arial" panose="020B0604020202020204" pitchFamily="34" charset="0"/>
              <a:buChar char="•"/>
            </a:pPr>
            <a:r>
              <a:rPr lang="en-US" b="1" dirty="0"/>
              <a:t>Dynamic Games</a:t>
            </a:r>
            <a:r>
              <a:rPr lang="en-US" dirty="0"/>
              <a:t>: Incorporate the changing environment into the model by updating the game at each step based on the current state. The attacker would need to continuously adjust their strategy based on the observed or inferred position of the defender.</a:t>
            </a:r>
          </a:p>
          <a:p>
            <a:pPr marL="457200" lvl="1" indent="0">
              <a:buFont typeface="Arial" panose="020B0604020202020204" pitchFamily="34" charset="0"/>
              <a:buNone/>
            </a:pPr>
            <a:endParaRPr lang="en-US"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Minimax Q-learning is a variant of the traditional Q-learning algorithm tailored for competitive, multi-agent environments, typically modeled as zero-sum games. The goal of Minimax Q-learning is for an agent to learn an optimal strategy that maximizes its own reward while minimizing the opponent's reward. This is especially useful in adversarial games, such as chess, where one player's gain is the other player's loss.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In the </a:t>
            </a:r>
            <a:r>
              <a:rPr lang="en-US" b="1" dirty="0"/>
              <a:t>two-state, two-player, two-action stochastic game</a:t>
            </a:r>
            <a:r>
              <a:rPr lang="en-US" dirty="0"/>
              <a:t> framework:</a:t>
            </a:r>
          </a:p>
          <a:p>
            <a:endParaRPr lang="en-US" dirty="0"/>
          </a:p>
          <a:p>
            <a:r>
              <a:rPr lang="en-US" b="1" dirty="0"/>
              <a:t>Game Overview:</a:t>
            </a:r>
          </a:p>
          <a:p>
            <a:pPr marL="171450" indent="-171450">
              <a:buFont typeface="Arial" panose="020B0604020202020204" pitchFamily="34" charset="0"/>
              <a:buChar char="•"/>
            </a:pPr>
            <a:r>
              <a:rPr lang="en-US" b="1" dirty="0"/>
              <a:t>Two Players (P and Q)</a:t>
            </a:r>
            <a:r>
              <a:rPr lang="en-US" dirty="0"/>
              <a:t>:</a:t>
            </a:r>
          </a:p>
          <a:p>
            <a:pPr marL="742950" lvl="1" indent="-285750">
              <a:buFont typeface="Arial" panose="020B0604020202020204" pitchFamily="34" charset="0"/>
              <a:buChar char="•"/>
            </a:pPr>
            <a:r>
              <a:rPr lang="en-US" dirty="0"/>
              <a:t>Each player has its own strategy and payoff matrix in each state.</a:t>
            </a:r>
          </a:p>
          <a:p>
            <a:pPr marL="742950" lvl="1" indent="-285750">
              <a:buFont typeface="Arial" panose="020B0604020202020204" pitchFamily="34" charset="0"/>
              <a:buChar char="•"/>
            </a:pPr>
            <a:r>
              <a:rPr lang="en-US" dirty="0"/>
              <a:t>Both players choose an action at each step, and their actions influence the game's outcome.</a:t>
            </a:r>
          </a:p>
          <a:p>
            <a:pPr marL="171450" indent="-171450">
              <a:buFont typeface="Arial" panose="020B0604020202020204" pitchFamily="34" charset="0"/>
              <a:buChar char="•"/>
            </a:pPr>
            <a:r>
              <a:rPr lang="en-US" b="1" dirty="0"/>
              <a:t>Two States (s₁ and s₂)</a:t>
            </a:r>
            <a:r>
              <a:rPr lang="en-US" dirty="0"/>
              <a:t>:</a:t>
            </a:r>
          </a:p>
          <a:p>
            <a:pPr marL="742950" lvl="1" indent="-285750">
              <a:buFont typeface="Arial" panose="020B0604020202020204" pitchFamily="34" charset="0"/>
              <a:buChar char="•"/>
            </a:pPr>
            <a:r>
              <a:rPr lang="en-US" dirty="0"/>
              <a:t>The game can be in one of two possible states at any given round, labeled as </a:t>
            </a:r>
            <a:r>
              <a:rPr lang="en-US" b="1" dirty="0"/>
              <a:t>s₁</a:t>
            </a:r>
            <a:r>
              <a:rPr lang="en-US" dirty="0"/>
              <a:t> and </a:t>
            </a:r>
            <a:r>
              <a:rPr lang="en-US" b="1" dirty="0"/>
              <a:t>s₂</a:t>
            </a:r>
            <a:r>
              <a:rPr lang="en-US" dirty="0"/>
              <a:t>.</a:t>
            </a:r>
          </a:p>
          <a:p>
            <a:pPr marL="742950" lvl="1" indent="-285750">
              <a:buFont typeface="Arial" panose="020B0604020202020204" pitchFamily="34" charset="0"/>
              <a:buChar char="•"/>
            </a:pPr>
            <a:r>
              <a:rPr lang="en-US" dirty="0"/>
              <a:t>Each state has a different payoff structure for the players, meaning the strategies they choose may vary depending on the current state.</a:t>
            </a:r>
          </a:p>
          <a:p>
            <a:pPr marL="171450" indent="-171450">
              <a:buFont typeface="Arial" panose="020B0604020202020204" pitchFamily="34" charset="0"/>
              <a:buChar char="•"/>
            </a:pPr>
            <a:r>
              <a:rPr lang="en-US" b="1" dirty="0"/>
              <a:t>Two Actions (for Each Player)</a:t>
            </a:r>
            <a:r>
              <a:rPr lang="en-US" dirty="0"/>
              <a:t>:</a:t>
            </a:r>
          </a:p>
          <a:p>
            <a:pPr marL="742950" lvl="1" indent="-285750">
              <a:buFont typeface="Arial" panose="020B0604020202020204" pitchFamily="34" charset="0"/>
              <a:buChar char="•"/>
            </a:pPr>
            <a:r>
              <a:rPr lang="en-US" dirty="0"/>
              <a:t>Each player can choose from </a:t>
            </a:r>
            <a:r>
              <a:rPr lang="en-US" b="1" dirty="0"/>
              <a:t>two possible actions</a:t>
            </a:r>
            <a:r>
              <a:rPr lang="en-US" dirty="0"/>
              <a:t> in each state. For example, the actions could be to cooperate or defect, move left or right, etc.</a:t>
            </a:r>
          </a:p>
          <a:p>
            <a:pPr marL="457200" lvl="1" indent="0">
              <a:buFont typeface="Arial" panose="020B0604020202020204" pitchFamily="34" charset="0"/>
              <a:buNone/>
            </a:pPr>
            <a:endParaRPr lang="en-US" dirty="0"/>
          </a:p>
          <a:p>
            <a:r>
              <a:rPr lang="en-US" b="1" dirty="0"/>
              <a:t>Game Dynamics:</a:t>
            </a:r>
          </a:p>
          <a:p>
            <a:pPr marL="171450" indent="-171450">
              <a:buFont typeface="Arial" panose="020B0604020202020204" pitchFamily="34" charset="0"/>
              <a:buChar char="•"/>
            </a:pPr>
            <a:r>
              <a:rPr lang="en-US" b="1" dirty="0"/>
              <a:t>Current State and Joint Action</a:t>
            </a:r>
            <a:r>
              <a:rPr lang="en-US" dirty="0"/>
              <a:t>:</a:t>
            </a:r>
          </a:p>
          <a:p>
            <a:pPr marL="742950" lvl="1" indent="-285750">
              <a:buFont typeface="Arial" panose="020B0604020202020204" pitchFamily="34" charset="0"/>
              <a:buChar char="•"/>
            </a:pPr>
            <a:r>
              <a:rPr lang="en-US" dirty="0"/>
              <a:t>The current state (either s₁ or s₂) and the players' joint actions determine what happens next.</a:t>
            </a:r>
          </a:p>
          <a:p>
            <a:pPr marL="742950" lvl="1" indent="-285750">
              <a:buFont typeface="Arial" panose="020B0604020202020204" pitchFamily="34" charset="0"/>
              <a:buChar char="•"/>
            </a:pPr>
            <a:r>
              <a:rPr lang="en-US" dirty="0"/>
              <a:t>Each player independently selects an action in the current state. Together, these actions form a </a:t>
            </a:r>
            <a:r>
              <a:rPr lang="en-US" b="1" dirty="0"/>
              <a:t>joint action</a:t>
            </a:r>
            <a:r>
              <a:rPr lang="en-US" dirty="0"/>
              <a:t> (a pair of actions, one from each player).</a:t>
            </a:r>
          </a:p>
          <a:p>
            <a:pPr marL="171450" indent="-171450">
              <a:buFont typeface="Arial" panose="020B0604020202020204" pitchFamily="34" charset="0"/>
              <a:buChar char="•"/>
            </a:pPr>
            <a:r>
              <a:rPr lang="en-US" b="1" dirty="0"/>
              <a:t>Transition to the Next State</a:t>
            </a:r>
            <a:r>
              <a:rPr lang="en-US" dirty="0"/>
              <a:t>:</a:t>
            </a:r>
          </a:p>
          <a:p>
            <a:pPr marL="742950" lvl="1" indent="-285750">
              <a:buFont typeface="Arial" panose="020B0604020202020204" pitchFamily="34" charset="0"/>
              <a:buChar char="•"/>
            </a:pPr>
            <a:r>
              <a:rPr lang="en-US" dirty="0"/>
              <a:t>The next state the players find themselves in depends on the current state, the joint action of the players, and a probabilistic element (chance). This is typically modeled by a transition function </a:t>
            </a:r>
            <a:r>
              <a:rPr lang="en-US" b="1" dirty="0"/>
              <a:t>T(s, a₁, a₂)</a:t>
            </a:r>
            <a:r>
              <a:rPr lang="en-US" dirty="0"/>
              <a:t>, which specifies the probability of transitioning from one state to another based on the joint actions </a:t>
            </a:r>
            <a:r>
              <a:rPr lang="en-US" b="1" dirty="0"/>
              <a:t>a₁</a:t>
            </a:r>
            <a:r>
              <a:rPr lang="en-US" dirty="0"/>
              <a:t> and </a:t>
            </a:r>
            <a:r>
              <a:rPr lang="en-US" b="1" dirty="0"/>
              <a:t>a₂</a:t>
            </a:r>
            <a:r>
              <a:rPr lang="en-US" dirty="0"/>
              <a:t> taken by players </a:t>
            </a:r>
            <a:r>
              <a:rPr lang="en-US" b="1" dirty="0"/>
              <a:t>P</a:t>
            </a:r>
            <a:r>
              <a:rPr lang="en-US" dirty="0"/>
              <a:t> and </a:t>
            </a:r>
            <a:r>
              <a:rPr lang="en-US" b="1" dirty="0"/>
              <a:t>Q</a:t>
            </a:r>
            <a:r>
              <a:rPr lang="en-US" dirty="0"/>
              <a:t>.</a:t>
            </a:r>
          </a:p>
          <a:p>
            <a:pPr marL="171450" indent="-171450">
              <a:buFont typeface="Arial" panose="020B0604020202020204" pitchFamily="34" charset="0"/>
              <a:buChar char="•"/>
            </a:pPr>
            <a:r>
              <a:rPr lang="en-US" b="1" dirty="0"/>
              <a:t>Strategy and Payoff Matrices</a:t>
            </a:r>
            <a:r>
              <a:rPr lang="en-US" dirty="0"/>
              <a:t>:</a:t>
            </a:r>
          </a:p>
          <a:p>
            <a:pPr marL="742950" lvl="1" indent="-285750">
              <a:buFont typeface="Arial" panose="020B0604020202020204" pitchFamily="34" charset="0"/>
              <a:buChar char="•"/>
            </a:pPr>
            <a:r>
              <a:rPr lang="en-US" dirty="0"/>
              <a:t>In each state, the players use a </a:t>
            </a:r>
            <a:r>
              <a:rPr lang="en-US" b="1" dirty="0"/>
              <a:t>strategy matrix</a:t>
            </a:r>
            <a:r>
              <a:rPr lang="en-US" dirty="0"/>
              <a:t> to choose actions and a </a:t>
            </a:r>
            <a:r>
              <a:rPr lang="en-US" b="1" dirty="0"/>
              <a:t>payoff matrix</a:t>
            </a:r>
            <a:r>
              <a:rPr lang="en-US" dirty="0"/>
              <a:t> to determine their rewards.</a:t>
            </a:r>
          </a:p>
          <a:p>
            <a:pPr marL="742950" lvl="1" indent="-285750">
              <a:buFont typeface="Arial" panose="020B0604020202020204" pitchFamily="34" charset="0"/>
              <a:buChar char="•"/>
            </a:pPr>
            <a:r>
              <a:rPr lang="en-US" dirty="0"/>
              <a:t>The strategy matrix describes the probabilities of selecting different actions in a given state.</a:t>
            </a:r>
          </a:p>
          <a:p>
            <a:pPr marL="742950" lvl="1" indent="-285750">
              <a:buFont typeface="Arial" panose="020B0604020202020204" pitchFamily="34" charset="0"/>
              <a:buChar char="•"/>
            </a:pPr>
            <a:r>
              <a:rPr lang="en-US" dirty="0"/>
              <a:t>The payoff matrix provides the immediate reward each player receives based on the joint actions.</a:t>
            </a:r>
          </a:p>
          <a:p>
            <a:pPr marL="171450" indent="-171450">
              <a:buFont typeface="Arial" panose="020B0604020202020204" pitchFamily="34" charset="0"/>
              <a:buChar char="•"/>
            </a:pPr>
            <a:r>
              <a:rPr lang="en-US" b="1" dirty="0"/>
              <a:t>Chance (zₛ' (s, a))</a:t>
            </a:r>
            <a:r>
              <a:rPr lang="en-US" dirty="0"/>
              <a:t>:</a:t>
            </a:r>
          </a:p>
          <a:p>
            <a:pPr marL="742950" lvl="1" indent="-285750">
              <a:buFont typeface="Arial" panose="020B0604020202020204" pitchFamily="34" charset="0"/>
              <a:buChar char="•"/>
            </a:pPr>
            <a:r>
              <a:rPr lang="en-US" dirty="0"/>
              <a:t>The transition to the next state isn't deterministic. Instead, there is an element of chance involved, represented as </a:t>
            </a:r>
            <a:r>
              <a:rPr lang="en-US" b="1" dirty="0"/>
              <a:t>zₛ' (s, a)</a:t>
            </a:r>
            <a:r>
              <a:rPr lang="en-US" dirty="0"/>
              <a:t>. This represents the probability that, given state </a:t>
            </a:r>
            <a:r>
              <a:rPr lang="en-US" b="1" dirty="0"/>
              <a:t>s</a:t>
            </a:r>
            <a:r>
              <a:rPr lang="en-US" dirty="0"/>
              <a:t> and joint action </a:t>
            </a:r>
            <a:r>
              <a:rPr lang="en-US" b="1" dirty="0"/>
              <a:t>a</a:t>
            </a:r>
            <a:r>
              <a:rPr lang="en-US" dirty="0"/>
              <a:t> (the actions taken by both players), the game transitions to state </a:t>
            </a:r>
            <a:r>
              <a:rPr lang="en-US" b="1" dirty="0"/>
              <a:t>s'</a:t>
            </a:r>
            <a:r>
              <a:rPr lang="en-US" dirty="0"/>
              <a:t> in the next round.</a:t>
            </a:r>
          </a:p>
          <a:p>
            <a:pPr marL="742950" lvl="1" indent="-285750">
              <a:buFont typeface="Arial" panose="020B0604020202020204" pitchFamily="34" charset="0"/>
              <a:buChar char="•"/>
            </a:pPr>
            <a:endParaRPr lang="en-US" dirty="0"/>
          </a:p>
          <a:p>
            <a:r>
              <a:rPr lang="en-US" b="1" dirty="0"/>
              <a:t>Summary of Game Flow:</a:t>
            </a:r>
          </a:p>
          <a:p>
            <a:pPr marL="228600" indent="-228600">
              <a:buFont typeface="+mj-lt"/>
              <a:buAutoNum type="arabicPeriod"/>
            </a:pPr>
            <a:r>
              <a:rPr lang="en-US" b="1" dirty="0"/>
              <a:t>Current State</a:t>
            </a:r>
            <a:r>
              <a:rPr lang="en-US" dirty="0"/>
              <a:t>: The game is in one of two states, </a:t>
            </a:r>
            <a:r>
              <a:rPr lang="en-US" b="1" dirty="0"/>
              <a:t>s₁</a:t>
            </a:r>
            <a:r>
              <a:rPr lang="en-US" dirty="0"/>
              <a:t> or </a:t>
            </a:r>
            <a:r>
              <a:rPr lang="en-US" b="1" dirty="0"/>
              <a:t>s₂</a:t>
            </a:r>
            <a:r>
              <a:rPr lang="en-US" dirty="0"/>
              <a:t>.</a:t>
            </a:r>
          </a:p>
          <a:p>
            <a:pPr marL="228600" indent="-228600">
              <a:buFont typeface="+mj-lt"/>
              <a:buAutoNum type="arabicPeriod"/>
            </a:pPr>
            <a:r>
              <a:rPr lang="en-US" b="1" dirty="0"/>
              <a:t>Action Selection</a:t>
            </a:r>
            <a:r>
              <a:rPr lang="en-US" dirty="0"/>
              <a:t>: Each player chooses an action from their set of two possible actions, based on their strategy and the current state.</a:t>
            </a:r>
          </a:p>
          <a:p>
            <a:pPr marL="228600" indent="-228600">
              <a:buFont typeface="+mj-lt"/>
              <a:buAutoNum type="arabicPeriod"/>
            </a:pPr>
            <a:r>
              <a:rPr lang="en-US" b="1" dirty="0"/>
              <a:t>Payoffs</a:t>
            </a:r>
            <a:r>
              <a:rPr lang="en-US" dirty="0"/>
              <a:t>: After the actions are selected, the players receive their payoffs according to the payoff matrix associated with the current state and actions.</a:t>
            </a:r>
          </a:p>
          <a:p>
            <a:pPr marL="228600" indent="-228600">
              <a:buFont typeface="+mj-lt"/>
              <a:buAutoNum type="arabicPeriod"/>
            </a:pPr>
            <a:r>
              <a:rPr lang="en-US" b="1" dirty="0"/>
              <a:t>State Transition</a:t>
            </a:r>
            <a:r>
              <a:rPr lang="en-US" dirty="0"/>
              <a:t>: The game then transitions to a new state (either stays in the same state or moves to the other one), determined by the current state, the joint action of the players, and chance.</a:t>
            </a:r>
          </a:p>
          <a:p>
            <a:pPr marL="228600" indent="-228600">
              <a:buFont typeface="+mj-lt"/>
              <a:buAutoNum type="arabicPeriod"/>
            </a:pPr>
            <a:r>
              <a:rPr lang="en-US" b="1" dirty="0"/>
              <a:t>Repeat</a:t>
            </a:r>
            <a:r>
              <a:rPr lang="en-US" dirty="0"/>
              <a:t>: The game continues, repeating this process, with players choosing actions based on the current state and strategies, receiving payoffs, and transitioning between states.</a:t>
            </a:r>
          </a:p>
          <a:p>
            <a:pPr marL="228600" indent="-228600">
              <a:buFont typeface="+mj-lt"/>
              <a:buAutoNum type="arabicPeriod"/>
            </a:pPr>
            <a:r>
              <a:rPr lang="en-US" dirty="0"/>
              <a:t>This framework can be used to model various strategic interactions between two players, with the stochastic element (chance) influencing the dynamics of the game. The goal for each player is typically to maximize their long-term payoff, taking into account the strategies of the other player and the probabilistic transitions between states.</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 </a:t>
            </a:r>
            <a:r>
              <a:rPr lang="en-US" b="1" dirty="0"/>
              <a:t>Robo Soccer Game</a:t>
            </a:r>
            <a:r>
              <a:rPr lang="en-US" dirty="0"/>
              <a:t> can be modeled as a grid-world game where two players, an "attacker" and a "defender," are positioned on a 4x5 grid. The game involves strategic decision-making where both players choose actions from a set of five possible actions: {N (North), S (South), E (East), W (West), and stand}.</a:t>
            </a:r>
          </a:p>
          <a:p>
            <a:endParaRPr lang="en-US" dirty="0"/>
          </a:p>
          <a:p>
            <a:r>
              <a:rPr lang="en-US" b="1" dirty="0"/>
              <a:t>Setup</a:t>
            </a:r>
          </a:p>
          <a:p>
            <a:pPr marL="628650" lvl="1" indent="-171450">
              <a:buFont typeface="Arial" panose="020B0604020202020204" pitchFamily="34" charset="0"/>
              <a:buChar char="•"/>
            </a:pPr>
            <a:r>
              <a:rPr lang="en-US" dirty="0"/>
              <a:t>The </a:t>
            </a:r>
            <a:r>
              <a:rPr lang="en-US" b="1" dirty="0"/>
              <a:t>attacker</a:t>
            </a:r>
            <a:r>
              <a:rPr lang="en-US" dirty="0"/>
              <a:t> tries to move toward the defender's goal (e.g., a specific grid location) to score points.</a:t>
            </a:r>
          </a:p>
          <a:p>
            <a:pPr marL="628650" lvl="1" indent="-171450">
              <a:buFont typeface="Arial" panose="020B0604020202020204" pitchFamily="34" charset="0"/>
              <a:buChar char="•"/>
            </a:pPr>
            <a:r>
              <a:rPr lang="en-US" dirty="0"/>
              <a:t>The </a:t>
            </a:r>
            <a:r>
              <a:rPr lang="en-US" b="1" dirty="0"/>
              <a:t>defender</a:t>
            </a:r>
            <a:r>
              <a:rPr lang="en-US" dirty="0"/>
              <a:t> tries to block the attacker from reaching the goal by positioning itself between the attacker and the goal.</a:t>
            </a:r>
          </a:p>
          <a:p>
            <a:pPr marL="457200" lvl="1" indent="0">
              <a:buFont typeface="Arial" panose="020B0604020202020204" pitchFamily="34" charset="0"/>
              <a:buNone/>
            </a:pPr>
            <a:endParaRPr lang="en-US" dirty="0"/>
          </a:p>
          <a:p>
            <a:r>
              <a:rPr lang="en-US" b="1" dirty="0"/>
              <a:t>Reinforcement Learning (RL):</a:t>
            </a:r>
          </a:p>
          <a:p>
            <a:pPr marL="628650" lvl="1" indent="-171450">
              <a:buFont typeface="Arial" panose="020B0604020202020204" pitchFamily="34" charset="0"/>
              <a:buChar char="•"/>
            </a:pPr>
            <a:r>
              <a:rPr lang="en-US" b="1" dirty="0"/>
              <a:t>Q-Learning</a:t>
            </a:r>
            <a:r>
              <a:rPr lang="en-US" dirty="0"/>
              <a:t>: Adapted for partially observable environments by using techniques like Deep Q-Learning with memory or recurrent networks to handle changing states.</a:t>
            </a:r>
          </a:p>
          <a:p>
            <a:pPr marL="628650" lvl="1" indent="-171450">
              <a:buFont typeface="Arial" panose="020B0604020202020204" pitchFamily="34" charset="0"/>
              <a:buChar char="•"/>
            </a:pPr>
            <a:r>
              <a:rPr lang="en-US" b="1" dirty="0"/>
              <a:t>Policy Gradient Methods</a:t>
            </a:r>
            <a:r>
              <a:rPr lang="en-US" dirty="0"/>
              <a:t>: Can be used to learn policies in environments where the state space is large and changing dynamically.</a:t>
            </a:r>
          </a:p>
          <a:p>
            <a:pPr marL="457200" lvl="1" indent="0">
              <a:buFont typeface="Arial" panose="020B0604020202020204" pitchFamily="34" charset="0"/>
              <a:buNone/>
            </a:pPr>
            <a:endParaRPr lang="en-US" dirty="0"/>
          </a:p>
          <a:p>
            <a:r>
              <a:rPr lang="en-US" b="1" dirty="0"/>
              <a:t>Game Theory:</a:t>
            </a:r>
          </a:p>
          <a:p>
            <a:pPr marL="628650" lvl="1" indent="-171450">
              <a:buFont typeface="Arial" panose="020B0604020202020204" pitchFamily="34" charset="0"/>
              <a:buChar char="•"/>
            </a:pPr>
            <a:r>
              <a:rPr lang="en-US" b="1" dirty="0"/>
              <a:t>Dynamic Games</a:t>
            </a:r>
            <a:r>
              <a:rPr lang="en-US" dirty="0"/>
              <a:t>: Incorporate the changing environment into the model by updating the game at each step based on the current state. The attacker would need to continuously adjust their strategy based on the observed or inferred position of the defender.</a:t>
            </a:r>
          </a:p>
          <a:p>
            <a:pPr marL="457200" lvl="1" indent="0">
              <a:buFont typeface="Arial" panose="020B0604020202020204" pitchFamily="34" charset="0"/>
              <a:buNone/>
            </a:pPr>
            <a:endParaRPr lang="en-US" dirty="0"/>
          </a:p>
          <a:p>
            <a:endParaRPr dirty="0"/>
          </a:p>
        </p:txBody>
      </p:sp>
    </p:spTree>
    <p:extLst>
      <p:ext uri="{BB962C8B-B14F-4D97-AF65-F5344CB8AC3E}">
        <p14:creationId xmlns:p14="http://schemas.microsoft.com/office/powerpoint/2010/main" val="3296492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1" dirty="0"/>
                  <a:t>How Minimax Q-learning Works:</a:t>
                </a:r>
              </a:p>
              <a:p>
                <a:r>
                  <a:rPr lang="en-US" dirty="0"/>
                  <a:t>In a traditional Q-learning setting, an agent learns the value of state-action pairs (Q(s, a)) to maximize its expected cumulative reward. However, in a zero-sum game, the agent's reward depends on both its own actions and the opponent's actions. Minimax Q-learning modifies the value update mechanism to account for the worst-case scenario, assuming that the opponent is playing optimally to minimize the agent's reward.</a:t>
                </a:r>
              </a:p>
              <a:p>
                <a:endParaRPr lang="en-US" dirty="0"/>
              </a:p>
              <a:p>
                <a:r>
                  <a:rPr lang="en-US" b="1" dirty="0"/>
                  <a:t>Key Components:</a:t>
                </a:r>
              </a:p>
              <a:p>
                <a:pPr marL="628650" lvl="1" indent="-171450">
                  <a:buFont typeface="Arial" panose="020B0604020202020204" pitchFamily="34" charset="0"/>
                  <a:buChar char="•"/>
                </a:pPr>
                <a:r>
                  <a:rPr lang="en-US" b="1" dirty="0"/>
                  <a:t>State s</a:t>
                </a:r>
                <a:r>
                  <a:rPr lang="en-US" dirty="0"/>
                  <a:t>: Represents the current situation of the game or environment.</a:t>
                </a:r>
              </a:p>
              <a:p>
                <a:pPr marL="628650" lvl="1" indent="-171450">
                  <a:buFont typeface="Arial" panose="020B0604020202020204" pitchFamily="34" charset="0"/>
                  <a:buChar char="•"/>
                </a:pPr>
                <a:r>
                  <a:rPr lang="en-US" b="1" dirty="0"/>
                  <a:t>Action a</a:t>
                </a:r>
                <a:r>
                  <a:rPr lang="en-US" dirty="0"/>
                  <a:t>: The action taken by the agent.</a:t>
                </a:r>
              </a:p>
              <a:p>
                <a:pPr marL="628650" lvl="1" indent="-171450">
                  <a:buFont typeface="Arial" panose="020B0604020202020204" pitchFamily="34" charset="0"/>
                  <a:buChar char="•"/>
                </a:pPr>
                <a:r>
                  <a:rPr lang="en-US" b="1" dirty="0"/>
                  <a:t>Opponent's Action b</a:t>
                </a:r>
                <a:r>
                  <a:rPr lang="en-US" dirty="0"/>
                  <a:t>: The action taken by the opponent, often represented as a "maximization" problem for the opponent.</a:t>
                </a:r>
              </a:p>
              <a:p>
                <a:pPr marL="628650" lvl="1" indent="-171450">
                  <a:buFont typeface="Arial" panose="020B0604020202020204" pitchFamily="34" charset="0"/>
                  <a:buChar char="•"/>
                </a:pPr>
                <a:r>
                  <a:rPr lang="en-US" b="1" dirty="0"/>
                  <a:t>Q-values</a:t>
                </a:r>
                <a:r>
                  <a:rPr lang="en-US" dirty="0"/>
                  <a:t>: Instead of a standard Q-value update, the agent computes the </a:t>
                </a:r>
                <a:r>
                  <a:rPr lang="en-US" b="1" dirty="0"/>
                  <a:t>minimax value</a:t>
                </a:r>
                <a:r>
                  <a:rPr lang="en-US" dirty="0"/>
                  <a:t> of the state, which is the worst-case expected reward assuming the opponent chooses the action that minimizes the agent's reward.</a:t>
                </a:r>
              </a:p>
              <a:p>
                <a:pPr marL="457200" lvl="1" indent="0">
                  <a:buFont typeface="Arial" panose="020B0604020202020204" pitchFamily="34" charset="0"/>
                  <a:buNone/>
                </a:pPr>
                <a:endParaRPr lang="en-US" dirty="0"/>
              </a:p>
              <a:p>
                <a:r>
                  <a:rPr lang="en-US" dirty="0"/>
                  <a:t>The agent learns the optimal policy by choosing actions that maximize the </a:t>
                </a:r>
                <a:r>
                  <a:rPr lang="en-US" b="1" dirty="0"/>
                  <a:t>minimax</a:t>
                </a:r>
                <a:r>
                  <a:rPr lang="en-US" dirty="0"/>
                  <a:t> value of the Q-function:</a:t>
                </a:r>
              </a:p>
              <a:p>
                <a:pPr marL="457200" lvl="1"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e>
                      </m:d>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r>
                            <a:rPr lang="en-US" i="1" dirty="0" smtClean="0">
                              <a:latin typeface="Cambria Math" panose="02040503050406030204" pitchFamily="18" charset="0"/>
                            </a:rPr>
                            <m:t>𝛼</m:t>
                          </m:r>
                        </m:e>
                      </m:d>
                      <m:r>
                        <a:rPr lang="en-US" i="1" dirty="0" smtClean="0">
                          <a:latin typeface="Cambria Math" panose="02040503050406030204" pitchFamily="18" charset="0"/>
                        </a:rPr>
                        <m:t>𝑄</m:t>
                      </m:r>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𝑎</m:t>
                          </m:r>
                        </m:e>
                      </m:d>
                      <m:r>
                        <a:rPr lang="en-US" i="1" dirty="0" smtClean="0">
                          <a:latin typeface="Cambria Math" panose="02040503050406030204" pitchFamily="18" charset="0"/>
                        </a:rPr>
                        <m:t>+</m:t>
                      </m:r>
                      <m:r>
                        <a:rPr lang="en-US" i="1" dirty="0" smtClean="0">
                          <a:latin typeface="Cambria Math" panose="02040503050406030204" pitchFamily="18" charset="0"/>
                        </a:rPr>
                        <m:t>𝛼</m:t>
                      </m:r>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𝑟</m:t>
                          </m:r>
                          <m:r>
                            <a:rPr lang="en-US" i="1" dirty="0" err="1" smtClean="0">
                              <a:latin typeface="Cambria Math" panose="02040503050406030204" pitchFamily="18" charset="0"/>
                            </a:rPr>
                            <m:t>+</m:t>
                          </m:r>
                          <m:r>
                            <a:rPr lang="en-US" i="1" dirty="0" err="1" smtClean="0">
                              <a:latin typeface="Cambria Math" panose="02040503050406030204" pitchFamily="18" charset="0"/>
                            </a:rPr>
                            <m:t>𝛾</m:t>
                          </m:r>
                          <m:r>
                            <a:rPr lang="en-US" i="1" dirty="0" err="1" smtClean="0">
                              <a:latin typeface="Cambria Math" panose="02040503050406030204" pitchFamily="18" charset="0"/>
                            </a:rPr>
                            <m:t>⋅</m:t>
                          </m:r>
                          <m:func>
                            <m:funcPr>
                              <m:ctrlPr>
                                <a:rPr lang="en-US" i="1" dirty="0" err="1" smtClean="0">
                                  <a:latin typeface="Cambria Math" panose="02040503050406030204" pitchFamily="18" charset="0"/>
                                </a:rPr>
                              </m:ctrlPr>
                            </m:funcPr>
                            <m:fName>
                              <m:limLow>
                                <m:limLowPr>
                                  <m:ctrlPr>
                                    <a:rPr lang="en-US" b="0" i="1" dirty="0" smtClean="0">
                                      <a:latin typeface="Cambria Math" panose="02040503050406030204" pitchFamily="18" charset="0"/>
                                    </a:rPr>
                                  </m:ctrlPr>
                                </m:limLowPr>
                                <m:e>
                                  <m:r>
                                    <m:rPr>
                                      <m:sty m:val="p"/>
                                    </m:rPr>
                                    <a:rPr lang="en-US" i="0" dirty="0" err="1" smtClean="0">
                                      <a:latin typeface="Cambria Math" panose="02040503050406030204" pitchFamily="18" charset="0"/>
                                    </a:rPr>
                                    <m:t>min</m:t>
                                  </m:r>
                                </m:e>
                                <m:lim>
                                  <m:r>
                                    <a:rPr lang="en-US" b="0" i="1" dirty="0" smtClean="0">
                                      <a:latin typeface="Cambria Math" panose="02040503050406030204" pitchFamily="18" charset="0"/>
                                    </a:rPr>
                                    <m:t>𝑏</m:t>
                                  </m:r>
                                </m:lim>
                              </m:limLow>
                            </m:fName>
                            <m:e>
                              <m:func>
                                <m:funcPr>
                                  <m:ctrlPr>
                                    <a:rPr lang="en-US" i="1" dirty="0" smtClean="0">
                                      <a:latin typeface="Cambria Math" panose="02040503050406030204" pitchFamily="18" charset="0"/>
                                    </a:rPr>
                                  </m:ctrlPr>
                                </m:funcPr>
                                <m:fName>
                                  <m:limLow>
                                    <m:limLowPr>
                                      <m:ctrlPr>
                                        <a:rPr lang="en-US" b="0" i="1" dirty="0" smtClean="0">
                                          <a:latin typeface="Cambria Math" panose="02040503050406030204" pitchFamily="18" charset="0"/>
                                        </a:rPr>
                                      </m:ctrlPr>
                                    </m:limLowPr>
                                    <m:e>
                                      <m:r>
                                        <m:rPr>
                                          <m:sty m:val="p"/>
                                        </m:rPr>
                                        <a:rPr lang="en-US" i="0" dirty="0" err="1" smtClean="0">
                                          <a:latin typeface="Cambria Math" panose="02040503050406030204" pitchFamily="18" charset="0"/>
                                        </a:rPr>
                                        <m:t>max</m:t>
                                      </m:r>
                                    </m:e>
                                    <m:lim>
                                      <m:sSup>
                                        <m:sSupPr>
                                          <m:ctrlPr>
                                            <a:rPr lang="en-US" i="1" dirty="0" smtClean="0">
                                              <a:latin typeface="Cambria Math" panose="02040503050406030204" pitchFamily="18" charset="0"/>
                                            </a:rPr>
                                          </m:ctrlPr>
                                        </m:sSupPr>
                                        <m:e>
                                          <m:r>
                                            <a:rPr lang="en-US" i="1" dirty="0" err="1" smtClean="0">
                                              <a:latin typeface="Cambria Math" panose="02040503050406030204" pitchFamily="18" charset="0"/>
                                            </a:rPr>
                                            <m:t>𝑎</m:t>
                                          </m:r>
                                        </m:e>
                                        <m:sup>
                                          <m:r>
                                            <a:rPr lang="en-US" i="1" dirty="0" err="1" smtClean="0">
                                              <a:latin typeface="Cambria Math" panose="02040503050406030204" pitchFamily="18" charset="0"/>
                                            </a:rPr>
                                            <m:t>′</m:t>
                                          </m:r>
                                        </m:sup>
                                      </m:sSup>
                                    </m:lim>
                                  </m:limLow>
                                </m:fName>
                                <m:e>
                                  <m:r>
                                    <a:rPr lang="en-US" i="1" dirty="0" err="1" smtClean="0">
                                      <a:latin typeface="Cambria Math" panose="02040503050406030204" pitchFamily="18" charset="0"/>
                                    </a:rPr>
                                    <m:t>𝑄</m:t>
                                  </m:r>
                                  <m:d>
                                    <m:dPr>
                                      <m:ctrlPr>
                                        <a:rPr lang="en-US" i="1" dirty="0" smtClean="0">
                                          <a:latin typeface="Cambria Math" panose="02040503050406030204" pitchFamily="18" charset="0"/>
                                        </a:rPr>
                                      </m:ctrlPr>
                                    </m:dPr>
                                    <m:e>
                                      <m:sSup>
                                        <m:sSupPr>
                                          <m:ctrlPr>
                                            <a:rPr lang="en-US" i="1" dirty="0" err="1" smtClean="0">
                                              <a:latin typeface="Cambria Math" panose="02040503050406030204" pitchFamily="18" charset="0"/>
                                            </a:rPr>
                                          </m:ctrlPr>
                                        </m:sSupPr>
                                        <m:e>
                                          <m:r>
                                            <a:rPr lang="en-US" i="1" dirty="0" err="1" smtClean="0">
                                              <a:latin typeface="Cambria Math" panose="02040503050406030204" pitchFamily="18" charset="0"/>
                                            </a:rPr>
                                            <m:t>𝑠</m:t>
                                          </m:r>
                                        </m:e>
                                        <m:sup>
                                          <m:r>
                                            <a:rPr lang="en-US" i="1" dirty="0" err="1" smtClean="0">
                                              <a:latin typeface="Cambria Math" panose="02040503050406030204" pitchFamily="18" charset="0"/>
                                            </a:rPr>
                                            <m:t>′</m:t>
                                          </m:r>
                                        </m:sup>
                                      </m:sSup>
                                      <m:r>
                                        <a:rPr lang="en-US" i="1" dirty="0" err="1"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err="1" smtClean="0">
                                              <a:latin typeface="Cambria Math" panose="02040503050406030204" pitchFamily="18" charset="0"/>
                                            </a:rPr>
                                            <m:t>𝑎</m:t>
                                          </m:r>
                                        </m:e>
                                        <m:sup>
                                          <m:r>
                                            <a:rPr lang="en-US" i="1" dirty="0" smtClean="0">
                                              <a:latin typeface="Cambria Math" panose="02040503050406030204" pitchFamily="18" charset="0"/>
                                            </a:rPr>
                                            <m:t>′</m:t>
                                          </m:r>
                                        </m:sup>
                                      </m:sSup>
                                    </m:e>
                                  </m:d>
                                </m:e>
                              </m:func>
                            </m:e>
                          </m:func>
                        </m:e>
                      </m:d>
                    </m:oMath>
                  </m:oMathPara>
                </a14:m>
                <a:endParaRPr lang="en-US" dirty="0"/>
              </a:p>
              <a:p>
                <a:pPr marL="628650" lvl="1" indent="-171450">
                  <a:buFont typeface="Arial" panose="020B0604020202020204" pitchFamily="34" charset="0"/>
                  <a:buChar char="•"/>
                </a:pPr>
                <a:endParaRPr lang="en-US" dirty="0"/>
              </a:p>
              <a:p>
                <a:pPr marL="628650" lvl="1"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𝛼</m:t>
                    </m:r>
                  </m:oMath>
                </a14:m>
                <a:r>
                  <a:rPr lang="en-US" dirty="0"/>
                  <a:t>: Learning rate</a:t>
                </a:r>
              </a:p>
              <a:p>
                <a:pPr marL="628650" lvl="1" indent="-171450">
                  <a:buFont typeface="Arial" panose="020B0604020202020204" pitchFamily="34" charset="0"/>
                  <a:buChar char="•"/>
                </a:pPr>
                <a:r>
                  <a:rPr lang="en-US" dirty="0"/>
                  <a:t>γ: Discount factor</a:t>
                </a:r>
              </a:p>
              <a:p>
                <a:pPr marL="628650" lvl="1" indent="-171450">
                  <a:buFont typeface="Arial" panose="020B0604020202020204" pitchFamily="34" charset="0"/>
                  <a:buChar char="•"/>
                </a:pPr>
                <a:r>
                  <a:rPr lang="en-US" dirty="0"/>
                  <a:t>r: Immediate reward</a:t>
                </a:r>
              </a:p>
              <a:p>
                <a:pPr marL="628650" lvl="1" indent="-171450">
                  <a:buFont typeface="Arial" panose="020B0604020202020204" pitchFamily="34" charset="0"/>
                  <a:buChar char="•"/>
                </a:pPr>
                <a14:m>
                  <m:oMath xmlns:m="http://schemas.openxmlformats.org/officeDocument/2006/math">
                    <m:limLow>
                      <m:limLowPr>
                        <m:ctrlPr>
                          <a:rPr lang="en-US" i="1" dirty="0" smtClean="0">
                            <a:latin typeface="Cambria Math" panose="02040503050406030204" pitchFamily="18" charset="0"/>
                          </a:rPr>
                        </m:ctrlPr>
                      </m:limLowPr>
                      <m:e>
                        <m:r>
                          <m:rPr>
                            <m:sty m:val="p"/>
                          </m:rPr>
                          <a:rPr lang="en-US" i="0" dirty="0" smtClean="0">
                            <a:latin typeface="Cambria Math" panose="02040503050406030204" pitchFamily="18" charset="0"/>
                          </a:rPr>
                          <m:t>min</m:t>
                        </m:r>
                      </m:e>
                      <m:lim>
                        <m:r>
                          <a:rPr lang="en-US" i="1" dirty="0" smtClean="0">
                            <a:latin typeface="Cambria Math" panose="02040503050406030204" pitchFamily="18" charset="0"/>
                          </a:rPr>
                          <m:t>𝑏</m:t>
                        </m:r>
                      </m:lim>
                    </m:limLow>
                  </m:oMath>
                </a14:m>
                <a:r>
                  <a:rPr lang="en-US" dirty="0"/>
                  <a:t>: Represents the opponent's optimal strategy (minimizing agent’s reward).</a:t>
                </a:r>
              </a:p>
              <a:p>
                <a:pPr marL="628650" lvl="1" indent="-171450">
                  <a:buFont typeface="Arial" panose="020B0604020202020204" pitchFamily="34" charset="0"/>
                  <a:buChar char="•"/>
                </a:pPr>
                <a14:m>
                  <m:oMath xmlns:m="http://schemas.openxmlformats.org/officeDocument/2006/math">
                    <m:limLow>
                      <m:limLowPr>
                        <m:ctrlPr>
                          <a:rPr lang="en-US" i="1" dirty="0" smtClean="0">
                            <a:latin typeface="Cambria Math" panose="02040503050406030204" pitchFamily="18" charset="0"/>
                          </a:rPr>
                        </m:ctrlPr>
                      </m:limLowPr>
                      <m:e>
                        <m:r>
                          <m:rPr>
                            <m:sty m:val="p"/>
                          </m:rPr>
                          <a:rPr lang="en-US" i="0" dirty="0" smtClean="0">
                            <a:latin typeface="Cambria Math" panose="02040503050406030204" pitchFamily="18" charset="0"/>
                          </a:rPr>
                          <m:t>max</m:t>
                        </m:r>
                      </m:e>
                      <m:lim>
                        <m:r>
                          <a:rPr lang="en-US" i="1" dirty="0" smtClean="0">
                            <a:latin typeface="Cambria Math" panose="02040503050406030204" pitchFamily="18" charset="0"/>
                          </a:rPr>
                          <m:t>𝑎</m:t>
                        </m:r>
                        <m:r>
                          <a:rPr lang="en-US" i="1" dirty="0" smtClean="0">
                            <a:latin typeface="Cambria Math" panose="02040503050406030204" pitchFamily="18" charset="0"/>
                          </a:rPr>
                          <m:t>′</m:t>
                        </m:r>
                      </m:lim>
                    </m:limLow>
                  </m:oMath>
                </a14:m>
                <a:r>
                  <a:rPr lang="en-US" dirty="0"/>
                  <a:t>: Represents the agent’s best response to the opponent's strategy.</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1" dirty="0"/>
                  <a:t>How Minimax Q-learning Works:</a:t>
                </a:r>
              </a:p>
              <a:p>
                <a:r>
                  <a:rPr lang="en-US" dirty="0"/>
                  <a:t>In a traditional Q-learning setting, an agent learns the value of state-action pairs (Q(s, a)) to maximize its expected cumulative reward. However, in a zero-sum game, the agent's reward depends on both its own actions and the opponent's actions. Minimax Q-learning modifies the value update mechanism to account for the worst-case scenario, assuming that the opponent is playing optimally to minimize the agent's reward.</a:t>
                </a:r>
              </a:p>
              <a:p>
                <a:endParaRPr lang="en-US" dirty="0"/>
              </a:p>
              <a:p>
                <a:r>
                  <a:rPr lang="en-US" b="1" dirty="0"/>
                  <a:t>Key Components:</a:t>
                </a:r>
              </a:p>
              <a:p>
                <a:pPr marL="628650" lvl="1" indent="-171450">
                  <a:buFont typeface="Arial" panose="020B0604020202020204" pitchFamily="34" charset="0"/>
                  <a:buChar char="•"/>
                </a:pPr>
                <a:r>
                  <a:rPr lang="en-US" b="1" dirty="0"/>
                  <a:t>State s</a:t>
                </a:r>
                <a:r>
                  <a:rPr lang="en-US" dirty="0"/>
                  <a:t>: Represents the current situation of the game or environment.</a:t>
                </a:r>
              </a:p>
              <a:p>
                <a:pPr marL="628650" lvl="1" indent="-171450">
                  <a:buFont typeface="Arial" panose="020B0604020202020204" pitchFamily="34" charset="0"/>
                  <a:buChar char="•"/>
                </a:pPr>
                <a:r>
                  <a:rPr lang="en-US" b="1" dirty="0"/>
                  <a:t>Action a</a:t>
                </a:r>
                <a:r>
                  <a:rPr lang="en-US" dirty="0"/>
                  <a:t>: The action taken by the agent.</a:t>
                </a:r>
              </a:p>
              <a:p>
                <a:pPr marL="628650" lvl="1" indent="-171450">
                  <a:buFont typeface="Arial" panose="020B0604020202020204" pitchFamily="34" charset="0"/>
                  <a:buChar char="•"/>
                </a:pPr>
                <a:r>
                  <a:rPr lang="en-US" b="1" dirty="0"/>
                  <a:t>Opponent's Action b</a:t>
                </a:r>
                <a:r>
                  <a:rPr lang="en-US" dirty="0"/>
                  <a:t>: The action taken by the opponent, often represented as a "maximization" problem for the opponent.</a:t>
                </a:r>
              </a:p>
              <a:p>
                <a:pPr marL="628650" lvl="1" indent="-171450">
                  <a:buFont typeface="Arial" panose="020B0604020202020204" pitchFamily="34" charset="0"/>
                  <a:buChar char="•"/>
                </a:pPr>
                <a:r>
                  <a:rPr lang="en-US" b="1" dirty="0"/>
                  <a:t>Q-values</a:t>
                </a:r>
                <a:r>
                  <a:rPr lang="en-US" dirty="0"/>
                  <a:t>: Instead of a standard Q-value update, the agent computes the </a:t>
                </a:r>
                <a:r>
                  <a:rPr lang="en-US" b="1" dirty="0"/>
                  <a:t>minimax value</a:t>
                </a:r>
                <a:r>
                  <a:rPr lang="en-US" dirty="0"/>
                  <a:t> of the state, which is the worst-case expected reward assuming the opponent chooses the action that minimizes the agent's reward.</a:t>
                </a:r>
              </a:p>
              <a:p>
                <a:pPr marL="457200" lvl="1" indent="0">
                  <a:buFont typeface="Arial" panose="020B0604020202020204" pitchFamily="34" charset="0"/>
                  <a:buNone/>
                </a:pPr>
                <a:endParaRPr lang="en-US" dirty="0"/>
              </a:p>
              <a:p>
                <a:r>
                  <a:rPr lang="en-US" dirty="0"/>
                  <a:t>The agent learns the optimal policy by choosing actions that maximize the </a:t>
                </a:r>
                <a:r>
                  <a:rPr lang="en-US" b="1" dirty="0"/>
                  <a:t>minimax</a:t>
                </a:r>
                <a:r>
                  <a:rPr lang="en-US" dirty="0"/>
                  <a:t> value of the Q-function:</a:t>
                </a:r>
              </a:p>
              <a:p>
                <a:pPr marL="457200" lvl="1" indent="0">
                  <a:buFont typeface="Arial" panose="020B0604020202020204" pitchFamily="34" charset="0"/>
                  <a:buNone/>
                </a:pPr>
                <a:r>
                  <a:rPr lang="en-US" i="0" dirty="0">
                    <a:latin typeface="Cambria Math" panose="02040503050406030204" pitchFamily="18" charset="0"/>
                  </a:rPr>
                  <a:t>𝑄(</a:t>
                </a:r>
                <a:r>
                  <a:rPr lang="en-US" i="0" dirty="0" err="1">
                    <a:latin typeface="Cambria Math" panose="02040503050406030204" pitchFamily="18" charset="0"/>
                  </a:rPr>
                  <a:t>𝑠,𝑎</a:t>
                </a:r>
                <a:r>
                  <a:rPr lang="en-US" i="0" dirty="0">
                    <a:latin typeface="Cambria Math" panose="02040503050406030204" pitchFamily="18" charset="0"/>
                  </a:rPr>
                  <a:t>)←(1−𝛼)𝑄(</a:t>
                </a:r>
                <a:r>
                  <a:rPr lang="en-US" i="0" dirty="0" err="1">
                    <a:latin typeface="Cambria Math" panose="02040503050406030204" pitchFamily="18" charset="0"/>
                  </a:rPr>
                  <a:t>𝑠,𝑎</a:t>
                </a:r>
                <a:r>
                  <a:rPr lang="en-US" i="0" dirty="0">
                    <a:latin typeface="Cambria Math" panose="02040503050406030204" pitchFamily="18" charset="0"/>
                  </a:rPr>
                  <a:t>)+𝛼(</a:t>
                </a:r>
                <a:r>
                  <a:rPr lang="en-US" i="0" dirty="0" err="1">
                    <a:latin typeface="Cambria Math" panose="02040503050406030204" pitchFamily="18" charset="0"/>
                  </a:rPr>
                  <a:t>𝑟+𝛾⋅min</a:t>
                </a:r>
                <a:r>
                  <a:rPr lang="en-US" b="0" i="0" dirty="0">
                    <a:latin typeface="Cambria Math" panose="02040503050406030204" pitchFamily="18" charset="0"/>
                  </a:rPr>
                  <a:t>_𝑏</a:t>
                </a:r>
                <a:r>
                  <a:rPr lang="en-US" b="0" i="0" dirty="0" err="1">
                    <a:latin typeface="Cambria Math" panose="02040503050406030204" pitchFamily="18" charset="0"/>
                  </a:rPr>
                  <a:t>⁡</a:t>
                </a:r>
                <a:r>
                  <a:rPr lang="en-US" i="0" dirty="0" err="1">
                    <a:latin typeface="Cambria Math" panose="02040503050406030204" pitchFamily="18" charset="0"/>
                  </a:rPr>
                  <a:t>max</a:t>
                </a:r>
                <a:r>
                  <a:rPr lang="en-US" b="0" i="0" dirty="0">
                    <a:latin typeface="Cambria Math" panose="02040503050406030204" pitchFamily="18" charset="0"/>
                  </a:rPr>
                  <a:t>_(</a:t>
                </a:r>
                <a:r>
                  <a:rPr lang="en-US" i="0" dirty="0" err="1">
                    <a:latin typeface="Cambria Math" panose="02040503050406030204" pitchFamily="18" charset="0"/>
                  </a:rPr>
                  <a:t>𝑎</a:t>
                </a:r>
                <a:r>
                  <a:rPr lang="en-US" i="0" dirty="0">
                    <a:latin typeface="Cambria Math" panose="02040503050406030204" pitchFamily="18" charset="0"/>
                  </a:rPr>
                  <a:t>^</a:t>
                </a:r>
                <a:r>
                  <a:rPr lang="en-US" i="0" dirty="0" err="1">
                    <a:latin typeface="Cambria Math" panose="02040503050406030204" pitchFamily="18" charset="0"/>
                  </a:rPr>
                  <a:t>′</a:t>
                </a:r>
                <a:r>
                  <a:rPr lang="en-US" b="0" i="0" dirty="0">
                    <a:latin typeface="Cambria Math" panose="02040503050406030204" pitchFamily="18" charset="0"/>
                  </a:rPr>
                  <a:t> )⁡</a:t>
                </a:r>
                <a:r>
                  <a:rPr lang="en-US" i="0" dirty="0" err="1">
                    <a:latin typeface="Cambria Math" panose="02040503050406030204" pitchFamily="18" charset="0"/>
                  </a:rPr>
                  <a:t>𝑄</a:t>
                </a:r>
                <a:r>
                  <a:rPr lang="en-US" i="0" dirty="0">
                    <a:latin typeface="Cambria Math" panose="02040503050406030204" pitchFamily="18" charset="0"/>
                  </a:rPr>
                  <a:t>(</a:t>
                </a:r>
                <a:r>
                  <a:rPr lang="en-US" i="0" dirty="0" err="1">
                    <a:latin typeface="Cambria Math" panose="02040503050406030204" pitchFamily="18" charset="0"/>
                  </a:rPr>
                  <a:t>𝑠^′,𝑎</a:t>
                </a:r>
                <a:r>
                  <a:rPr lang="en-US" i="0" dirty="0">
                    <a:latin typeface="Cambria Math" panose="02040503050406030204" pitchFamily="18" charset="0"/>
                  </a:rPr>
                  <a:t>^′ )</a:t>
                </a:r>
                <a:r>
                  <a:rPr lang="en-US" i="0" dirty="0" err="1">
                    <a:latin typeface="Cambria Math" panose="02040503050406030204" pitchFamily="18" charset="0"/>
                  </a:rPr>
                  <a:t> </a:t>
                </a:r>
                <a:r>
                  <a:rPr lang="en-US" i="0" dirty="0">
                    <a:latin typeface="Cambria Math" panose="02040503050406030204" pitchFamily="18" charset="0"/>
                  </a:rPr>
                  <a:t> )</a:t>
                </a:r>
                <a:endParaRPr lang="en-US" dirty="0"/>
              </a:p>
              <a:p>
                <a:pPr marL="628650" lvl="1" indent="-171450">
                  <a:buFont typeface="Arial" panose="020B0604020202020204" pitchFamily="34" charset="0"/>
                  <a:buChar char="•"/>
                </a:pPr>
                <a:endParaRPr lang="en-US" dirty="0"/>
              </a:p>
              <a:p>
                <a:pPr marL="628650" lvl="1" indent="-171450">
                  <a:buFont typeface="Arial" panose="020B0604020202020204" pitchFamily="34" charset="0"/>
                  <a:buChar char="•"/>
                </a:pPr>
                <a:r>
                  <a:rPr lang="en-US" i="0" dirty="0">
                    <a:latin typeface="Cambria Math" panose="02040503050406030204" pitchFamily="18" charset="0"/>
                  </a:rPr>
                  <a:t>𝛼</a:t>
                </a:r>
                <a:r>
                  <a:rPr lang="en-US" dirty="0"/>
                  <a:t>: Learning rate</a:t>
                </a:r>
              </a:p>
              <a:p>
                <a:pPr marL="628650" lvl="1" indent="-171450">
                  <a:buFont typeface="Arial" panose="020B0604020202020204" pitchFamily="34" charset="0"/>
                  <a:buChar char="•"/>
                </a:pPr>
                <a:r>
                  <a:rPr lang="en-US" dirty="0"/>
                  <a:t>γ: Discount factor</a:t>
                </a:r>
              </a:p>
              <a:p>
                <a:pPr marL="628650" lvl="1" indent="-171450">
                  <a:buFont typeface="Arial" panose="020B0604020202020204" pitchFamily="34" charset="0"/>
                  <a:buChar char="•"/>
                </a:pPr>
                <a:r>
                  <a:rPr lang="en-US" dirty="0"/>
                  <a:t>r: Immediate reward</a:t>
                </a:r>
              </a:p>
              <a:p>
                <a:pPr marL="628650" lvl="1" indent="-171450">
                  <a:buFont typeface="Arial" panose="020B0604020202020204" pitchFamily="34" charset="0"/>
                  <a:buChar char="•"/>
                </a:pPr>
                <a:r>
                  <a:rPr lang="en-US" i="0" dirty="0">
                    <a:latin typeface="Cambria Math" panose="02040503050406030204" pitchFamily="18" charset="0"/>
                  </a:rPr>
                  <a:t>min_𝑏</a:t>
                </a:r>
                <a:r>
                  <a:rPr lang="en-US" dirty="0"/>
                  <a:t>: Represents the opponent's optimal strategy (minimizing agent’s reward).</a:t>
                </a:r>
              </a:p>
              <a:p>
                <a:pPr marL="628650" lvl="1" indent="-171450">
                  <a:buFont typeface="Arial" panose="020B0604020202020204" pitchFamily="34" charset="0"/>
                  <a:buChar char="•"/>
                </a:pPr>
                <a:r>
                  <a:rPr lang="en-US" i="0" dirty="0">
                    <a:latin typeface="Cambria Math" panose="02040503050406030204" pitchFamily="18" charset="0"/>
                  </a:rPr>
                  <a:t>max_𝑎′</a:t>
                </a:r>
                <a:r>
                  <a:rPr lang="en-US" dirty="0"/>
                  <a:t>: Represents the agent’s best response to the opponent's strategy.</a:t>
                </a:r>
              </a:p>
              <a:p>
                <a:endParaRPr dirty="0"/>
              </a:p>
            </p:txBody>
          </p:sp>
        </mc:Fallback>
      </mc:AlternateContent>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 theorem can be interpreted in the context of stochastic games, which generalize repeated games to dynamic environments where players' actions not only determine their immediate payoffs but also influence the state of the game in the future. Here's a breakdown of the key elements of the theorem:</a:t>
            </a:r>
          </a:p>
          <a:p>
            <a:endParaRPr lang="en-US" dirty="0"/>
          </a:p>
          <a:p>
            <a:r>
              <a:rPr lang="en-US" b="1" dirty="0"/>
              <a:t>Theorem:</a:t>
            </a:r>
          </a:p>
          <a:p>
            <a:r>
              <a:rPr lang="en-US" dirty="0"/>
              <a:t>Every two-player, general-sum, average reward, irreducible stochastic game has a Nash equilibrium.</a:t>
            </a:r>
          </a:p>
          <a:p>
            <a:endParaRPr lang="en-US" dirty="0"/>
          </a:p>
          <a:p>
            <a:r>
              <a:rPr lang="en-US" b="1" dirty="0"/>
              <a:t>Key Components:</a:t>
            </a:r>
          </a:p>
          <a:p>
            <a:pPr marL="228600" indent="-228600">
              <a:buFont typeface="+mj-lt"/>
              <a:buAutoNum type="arabicPeriod"/>
            </a:pPr>
            <a:r>
              <a:rPr lang="en-US" b="1" dirty="0"/>
              <a:t>Two-player</a:t>
            </a:r>
            <a:r>
              <a:rPr lang="en-US" dirty="0"/>
              <a:t>: The game involves two participants (players), who make decisions based on their strategies.</a:t>
            </a:r>
          </a:p>
          <a:p>
            <a:pPr marL="228600" indent="-228600">
              <a:buFont typeface="+mj-lt"/>
              <a:buAutoNum type="arabicPeriod"/>
            </a:pPr>
            <a:r>
              <a:rPr lang="en-US" b="1" dirty="0"/>
              <a:t>General-sum</a:t>
            </a:r>
            <a:r>
              <a:rPr lang="en-US" dirty="0"/>
              <a:t>: The players' payoffs are not necessarily oppositional as in zero-sum games. The sum of the payoffs can vary depending on the strategies chosen by the players, allowing for potential cooperation or competition.</a:t>
            </a:r>
          </a:p>
          <a:p>
            <a:pPr marL="228600" indent="-228600">
              <a:buFont typeface="+mj-lt"/>
              <a:buAutoNum type="arabicPeriod"/>
            </a:pPr>
            <a:r>
              <a:rPr lang="en-US" b="1" dirty="0"/>
              <a:t>Average reward</a:t>
            </a:r>
            <a:r>
              <a:rPr lang="en-US" dirty="0"/>
              <a:t>: The goal of each player is to maximize their long-term average reward (also known as the expected average reward per step). Unlike finite games or discounted-reward settings, the focus is on the sustained performance over time rather than immediate payoffs or rewards that diminish over time.</a:t>
            </a:r>
          </a:p>
          <a:p>
            <a:pPr marL="228600" indent="-228600">
              <a:buFont typeface="+mj-lt"/>
              <a:buAutoNum type="arabicPeriod"/>
            </a:pPr>
            <a:r>
              <a:rPr lang="en-US" b="1" dirty="0"/>
              <a:t>Irreducible stochastic game</a:t>
            </a:r>
            <a:r>
              <a:rPr lang="en-US" dirty="0"/>
              <a:t>:</a:t>
            </a:r>
          </a:p>
          <a:p>
            <a:pPr marL="685800" lvl="1" indent="-228600">
              <a:buFont typeface="Arial" panose="020B0604020202020204" pitchFamily="34" charset="0"/>
              <a:buChar char="•"/>
            </a:pPr>
            <a:r>
              <a:rPr lang="en-US" b="1" dirty="0"/>
              <a:t>Stochastic game</a:t>
            </a:r>
            <a:r>
              <a:rPr lang="en-US" dirty="0"/>
              <a:t>: The game is dynamic, meaning it evolves across different states. In each state, players choose actions, which determine both their rewards and the next state of the game, according to some probability distribution.</a:t>
            </a:r>
          </a:p>
          <a:p>
            <a:pPr marL="685800" lvl="1" indent="-228600">
              <a:buFont typeface="Arial" panose="020B0604020202020204" pitchFamily="34" charset="0"/>
              <a:buChar char="•"/>
            </a:pPr>
            <a:r>
              <a:rPr lang="en-US" b="1" dirty="0"/>
              <a:t>Irreducible</a:t>
            </a:r>
            <a:r>
              <a:rPr lang="en-US" dirty="0"/>
              <a:t>: This means that the Markov Chain representing the state transitions of the game is irreducible. In other words, starting from any state, it's always possible to reach any other state (though not necessarily in one step). This ensures that the game does not get "stuck" in any subset of states and that all parts of the game are eventually accessible, regardless of the strategies employed by the players.</a:t>
            </a:r>
          </a:p>
          <a:p>
            <a:pPr marL="228600" indent="-228600">
              <a:buFont typeface="+mj-lt"/>
              <a:buAutoNum type="arabicPeriod"/>
            </a:pPr>
            <a:r>
              <a:rPr lang="en-US" b="1" dirty="0"/>
              <a:t>Nash equilibrium</a:t>
            </a:r>
            <a:r>
              <a:rPr lang="en-US" dirty="0"/>
              <a:t>: A Nash equilibrium is a set of strategies (one for each player) where no player can unilaterally improve their average reward by deviating from their strategy, given that the other player sticks to theirs.</a:t>
            </a:r>
          </a:p>
          <a:p>
            <a:pPr marL="0" indent="0">
              <a:buFont typeface="+mj-lt"/>
              <a:buNone/>
            </a:pPr>
            <a:endParaRPr lang="en-US" dirty="0"/>
          </a:p>
          <a:p>
            <a:r>
              <a:rPr lang="en-US" b="1" dirty="0"/>
              <a:t>What the theorem says:</a:t>
            </a:r>
          </a:p>
          <a:p>
            <a:r>
              <a:rPr lang="en-US" dirty="0"/>
              <a:t>In an irreducible, stochastic game with two players, the players will always have a </a:t>
            </a:r>
            <a:r>
              <a:rPr lang="en-US" b="1" dirty="0"/>
              <a:t>Nash equilibrium</a:t>
            </a:r>
            <a:r>
              <a:rPr lang="en-US" dirty="0"/>
              <a:t> strategy. This means that there exists a strategy pair (one for each player) such that neither player has an incentive to change their strategy, assuming the other player doesn’t change theirs. The fact that the game is </a:t>
            </a:r>
            <a:r>
              <a:rPr lang="en-US" b="1" dirty="0"/>
              <a:t>irreducible</a:t>
            </a:r>
            <a:r>
              <a:rPr lang="en-US" dirty="0"/>
              <a:t> ensures that all states of the game are accessible, which is critical for ensuring that long-term equilibria exist under the average reward criterion.</a:t>
            </a:r>
          </a:p>
          <a:p>
            <a:endParaRPr lang="en-US" dirty="0"/>
          </a:p>
          <a:p>
            <a:r>
              <a:rPr lang="en-US" b="1" dirty="0"/>
              <a:t>Importance of Irreducibility:</a:t>
            </a:r>
          </a:p>
          <a:p>
            <a:r>
              <a:rPr lang="en-US" dirty="0"/>
              <a:t>Irreducibility guarantees that no matter what strategies the players choose, every part of the game's state space remains reachable. Without this condition, it's possible that certain strategies could effectively "trap" the game in a subset of states, potentially undermining the existence of a well-defined long-term average reward or equilibrium strategy.</a:t>
            </a:r>
          </a:p>
          <a:p>
            <a:endParaRPr lang="en-US" dirty="0"/>
          </a:p>
          <a:p>
            <a:r>
              <a:rPr lang="en-US" b="1" dirty="0"/>
              <a:t>Implications:</a:t>
            </a:r>
          </a:p>
          <a:p>
            <a:r>
              <a:rPr lang="en-US" dirty="0"/>
              <a:t>The theorem is significant because it ensures that even in complex dynamic environments where players' actions affect both their immediate rewards and the future states of the game, there will always be at least one stable pair of strategies (a Nash equilibrium) that satisfies the average reward criterion. This provides a strong theoretical foundation for analyzing long-term strategic behavior in dynamic settings.</a:t>
            </a:r>
          </a:p>
          <a:p>
            <a:endParaRPr lang="en-US" dirty="0"/>
          </a:p>
          <a:p>
            <a:r>
              <a:rPr lang="en-US" dirty="0"/>
              <a:t>The existence of a Nash equilibrium in such games is foundational for the study of multi-agent systems, economic models, and game-theoretic applications in artificial intelligence, where decisions made by agents today affect the future dynamics of the environment.</a:t>
            </a:r>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This is the Q-learning we saw earlier in RL part. It was applicable for single-agent game. We only have one player with one action at each step.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dirty="0"/>
                  <a:t>The equation represents the update rule for the </a:t>
                </a:r>
                <a:r>
                  <a:rPr lang="en-US" b="1" dirty="0"/>
                  <a:t>Q-value</a:t>
                </a:r>
                <a:r>
                  <a:rPr lang="en-US" dirty="0"/>
                  <a:t> of an agent </a:t>
                </a:r>
                <a:r>
                  <a:rPr lang="en-US" dirty="0" err="1"/>
                  <a:t>i</a:t>
                </a:r>
                <a:r>
                  <a:rPr lang="en-US" dirty="0"/>
                  <a:t> in a multi-agent environment, where the agent is learning to act in a stochastic setting. Here's a breakdown of the terms and a step-by-step derivation:</a:t>
                </a:r>
              </a:p>
              <a:p>
                <a:endParaRPr lang="en-US" dirty="0"/>
              </a:p>
              <a:p>
                <a:r>
                  <a:rPr lang="en-US" b="1" dirty="0"/>
                  <a:t>Terms:</a:t>
                </a:r>
              </a:p>
              <a:p>
                <a:pPr marL="628650" lvl="1" indent="-171450">
                  <a:buFont typeface="Arial" panose="020B0604020202020204" pitchFamily="34" charset="0"/>
                  <a:buChar char="•"/>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oMath>
                </a14:m>
                <a:r>
                  <a:rPr lang="en-US" dirty="0"/>
                  <a:t>: The </a:t>
                </a:r>
                <a:r>
                  <a:rPr lang="en-US" b="1" dirty="0"/>
                  <a:t>Q-value</a:t>
                </a:r>
                <a:r>
                  <a:rPr lang="en-US" dirty="0"/>
                  <a:t> at time step </a:t>
                </a:r>
                <a14:m>
                  <m:oMath xmlns:m="http://schemas.openxmlformats.org/officeDocument/2006/math">
                    <m:r>
                      <a:rPr lang="en-US" i="1" dirty="0" smtClean="0">
                        <a:latin typeface="Cambria Math" panose="02040503050406030204" pitchFamily="18" charset="0"/>
                      </a:rPr>
                      <m:t>𝑡</m:t>
                    </m:r>
                  </m:oMath>
                </a14:m>
                <a:r>
                  <a:rPr lang="en-US" dirty="0"/>
                  <a:t> for agent </a:t>
                </a:r>
                <a14:m>
                  <m:oMath xmlns:m="http://schemas.openxmlformats.org/officeDocument/2006/math">
                    <m:r>
                      <a:rPr lang="en-US" i="1" dirty="0" smtClean="0">
                        <a:latin typeface="Cambria Math" panose="02040503050406030204" pitchFamily="18" charset="0"/>
                      </a:rPr>
                      <m:t>𝑖</m:t>
                    </m:r>
                  </m:oMath>
                </a14:m>
                <a:r>
                  <a:rPr lang="en-US" dirty="0"/>
                  <a:t>, representing the expected utility (reward) of taking joint action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i="1" dirty="0" smtClean="0">
                            <a:latin typeface="Cambria Math" panose="02040503050406030204" pitchFamily="18" charset="0"/>
                          </a:rPr>
                          <m:t>𝑡</m:t>
                        </m:r>
                        <m:r>
                          <a:rPr lang="en-US" i="1" dirty="0" smtClean="0">
                            <a:latin typeface="Cambria Math" panose="02040503050406030204" pitchFamily="18" charset="0"/>
                          </a:rPr>
                          <m:t>​</m:t>
                        </m:r>
                      </m:sub>
                    </m:sSub>
                  </m:oMath>
                </a14:m>
                <a:r>
                  <a:rPr lang="en-US" dirty="0"/>
                  <a:t> in state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𝑡</m:t>
                        </m:r>
                      </m:sub>
                    </m:sSub>
                  </m:oMath>
                </a14:m>
                <a:r>
                  <a:rPr lang="en-US" dirty="0"/>
                  <a:t>​, given observation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𝑜</m:t>
                        </m:r>
                      </m:e>
                      <m:sub>
                        <m:r>
                          <a:rPr lang="en-US" i="1" dirty="0" smtClean="0">
                            <a:latin typeface="Cambria Math" panose="02040503050406030204" pitchFamily="18" charset="0"/>
                          </a:rPr>
                          <m:t>𝑡</m:t>
                        </m:r>
                      </m:sub>
                    </m:sSub>
                  </m:oMath>
                </a14:m>
                <a:r>
                  <a:rPr lang="en-US" dirty="0"/>
                  <a:t>​.</a:t>
                </a:r>
              </a:p>
              <a:p>
                <a:pPr marL="628650" lvl="1" indent="-171450">
                  <a:buFont typeface="Arial" panose="020B0604020202020204" pitchFamily="34" charset="0"/>
                  <a:buChar char="•"/>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𝛼</m:t>
                        </m:r>
                      </m:e>
                      <m:sub>
                        <m:r>
                          <a:rPr lang="en-US" i="1" dirty="0" err="1" smtClean="0">
                            <a:latin typeface="Cambria Math" panose="02040503050406030204" pitchFamily="18" charset="0"/>
                          </a:rPr>
                          <m:t>𝑡</m:t>
                        </m:r>
                      </m:sub>
                    </m:sSub>
                  </m:oMath>
                </a14:m>
                <a:r>
                  <a:rPr lang="en-US" dirty="0"/>
                  <a:t>​: The </a:t>
                </a:r>
                <a:r>
                  <a:rPr lang="en-US" b="1" dirty="0"/>
                  <a:t>learning rate</a:t>
                </a:r>
                <a:r>
                  <a:rPr lang="en-US" dirty="0"/>
                  <a:t> at time step </a:t>
                </a:r>
                <a14:m>
                  <m:oMath xmlns:m="http://schemas.openxmlformats.org/officeDocument/2006/math">
                    <m:r>
                      <a:rPr lang="en-US" i="1" dirty="0" smtClean="0">
                        <a:latin typeface="Cambria Math" panose="02040503050406030204" pitchFamily="18" charset="0"/>
                      </a:rPr>
                      <m:t>𝑡</m:t>
                    </m:r>
                  </m:oMath>
                </a14:m>
                <a:r>
                  <a:rPr lang="en-US" dirty="0"/>
                  <a:t>, controlling how much the agent's new experience influences the updated Q-value.</a:t>
                </a:r>
              </a:p>
              <a:p>
                <a:pPr marL="628650" lvl="1" indent="-171450">
                  <a:buFont typeface="Arial" panose="020B0604020202020204" pitchFamily="34" charset="0"/>
                  <a:buChar char="•"/>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i="1" dirty="0" smtClean="0">
                            <a:latin typeface="Cambria Math" panose="02040503050406030204" pitchFamily="18" charset="0"/>
                          </a:rPr>
                          <m:t>𝑖</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oMath>
                </a14:m>
                <a:r>
                  <a:rPr lang="en-US" dirty="0"/>
                  <a:t>: The </a:t>
                </a:r>
                <a:r>
                  <a:rPr lang="en-US" b="1" dirty="0"/>
                  <a:t>immediate reward</a:t>
                </a:r>
                <a:r>
                  <a:rPr lang="en-US" dirty="0"/>
                  <a:t> received by agent </a:t>
                </a:r>
                <a14:m>
                  <m:oMath xmlns:m="http://schemas.openxmlformats.org/officeDocument/2006/math">
                    <m:r>
                      <a:rPr lang="en-US" i="1" dirty="0" smtClean="0">
                        <a:latin typeface="Cambria Math" panose="02040503050406030204" pitchFamily="18" charset="0"/>
                      </a:rPr>
                      <m:t>𝑖</m:t>
                    </m:r>
                  </m:oMath>
                </a14:m>
                <a:r>
                  <a:rPr lang="en-US" dirty="0"/>
                  <a:t> at time </a:t>
                </a:r>
                <a14:m>
                  <m:oMath xmlns:m="http://schemas.openxmlformats.org/officeDocument/2006/math">
                    <m:r>
                      <a:rPr lang="en-US" i="1" dirty="0" smtClean="0">
                        <a:latin typeface="Cambria Math" panose="02040503050406030204" pitchFamily="18" charset="0"/>
                      </a:rPr>
                      <m:t>𝑡</m:t>
                    </m:r>
                  </m:oMath>
                </a14:m>
                <a:r>
                  <a:rPr lang="en-US" dirty="0"/>
                  <a:t> after taking joint action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i="1" dirty="0" smtClean="0">
                            <a:latin typeface="Cambria Math" panose="02040503050406030204" pitchFamily="18" charset="0"/>
                          </a:rPr>
                          <m:t>𝑡</m:t>
                        </m:r>
                        <m:r>
                          <a:rPr lang="en-US" i="1" dirty="0" smtClean="0">
                            <a:latin typeface="Cambria Math" panose="02040503050406030204" pitchFamily="18" charset="0"/>
                          </a:rPr>
                          <m:t>​</m:t>
                        </m:r>
                      </m:sub>
                    </m:sSub>
                  </m:oMath>
                </a14:m>
                <a:r>
                  <a:rPr lang="en-US" dirty="0"/>
                  <a:t> in state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𝑡</m:t>
                        </m:r>
                      </m:sub>
                    </m:sSub>
                  </m:oMath>
                </a14:m>
                <a:r>
                  <a:rPr lang="en-US" dirty="0"/>
                  <a:t>​, given observation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𝑜</m:t>
                        </m:r>
                      </m:e>
                      <m:sub>
                        <m:r>
                          <a:rPr lang="en-US" i="1" dirty="0" smtClean="0">
                            <a:latin typeface="Cambria Math" panose="02040503050406030204" pitchFamily="18" charset="0"/>
                          </a:rPr>
                          <m:t>𝑡</m:t>
                        </m:r>
                      </m:sub>
                    </m:sSub>
                  </m:oMath>
                </a14:m>
                <a:r>
                  <a:rPr lang="en-US" dirty="0"/>
                  <a:t>​</a:t>
                </a:r>
              </a:p>
              <a:p>
                <a:pPr marL="628650" lvl="1"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𝛽</m:t>
                    </m:r>
                  </m:oMath>
                </a14:m>
                <a:r>
                  <a:rPr lang="en-US" dirty="0"/>
                  <a:t>: The </a:t>
                </a:r>
                <a:r>
                  <a:rPr lang="en-US" b="1" dirty="0"/>
                  <a:t>discount factor</a:t>
                </a:r>
                <a:r>
                  <a:rPr lang="en-US" dirty="0"/>
                  <a:t>, determining how much future rewards influence the current decision.</a:t>
                </a:r>
              </a:p>
              <a:p>
                <a:pPr marL="628650" lvl="1" indent="-171450">
                  <a:buFont typeface="Arial" panose="020B0604020202020204" pitchFamily="34" charset="0"/>
                  <a:buChar char="•"/>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𝑉</m:t>
                        </m:r>
                      </m:e>
                      <m:sub>
                        <m:r>
                          <a:rPr lang="en-US" i="1" dirty="0" smtClean="0">
                            <a:latin typeface="Cambria Math" panose="02040503050406030204" pitchFamily="18" charset="0"/>
                          </a:rPr>
                          <m:t>𝑡</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𝑡</m:t>
                        </m:r>
                        <m:r>
                          <a:rPr lang="en-US" b="0" i="1" dirty="0" smtClean="0">
                            <a:latin typeface="Cambria Math" panose="02040503050406030204" pitchFamily="18" charset="0"/>
                          </a:rPr>
                          <m:t>+1</m:t>
                        </m:r>
                      </m:sub>
                    </m:sSub>
                    <m:r>
                      <a:rPr lang="en-US" i="1" dirty="0" smtClean="0">
                        <a:latin typeface="Cambria Math" panose="02040503050406030204" pitchFamily="18" charset="0"/>
                      </a:rPr>
                      <m:t>)</m:t>
                    </m:r>
                  </m:oMath>
                </a14:m>
                <a:r>
                  <a:rPr lang="en-US" dirty="0"/>
                  <a:t>: The </a:t>
                </a:r>
                <a:r>
                  <a:rPr lang="en-US" b="1" dirty="0"/>
                  <a:t>value function</a:t>
                </a:r>
                <a:r>
                  <a:rPr lang="en-US" dirty="0"/>
                  <a:t> at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 representing the expected future reward starting from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a:t>
                </a:r>
              </a:p>
              <a:p>
                <a:pPr marL="628650" lvl="1" indent="-171450">
                  <a:buFont typeface="Arial" panose="020B0604020202020204" pitchFamily="34" charset="0"/>
                  <a:buChar char="•"/>
                </a:pP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1 − </m:t>
                        </m:r>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𝛼</m:t>
                            </m:r>
                          </m:e>
                          <m:sub>
                            <m:r>
                              <a:rPr lang="en-US" i="1" dirty="0" err="1" smtClean="0">
                                <a:latin typeface="Cambria Math" panose="02040503050406030204" pitchFamily="18" charset="0"/>
                              </a:rPr>
                              <m:t>𝑡</m:t>
                            </m:r>
                          </m:sub>
                        </m:sSub>
                      </m:e>
                    </m:d>
                  </m:oMath>
                </a14:m>
                <a:r>
                  <a:rPr lang="en-US" dirty="0"/>
                  <a:t>: The factor representing how much of the old Q-value is retained after updating.</a:t>
                </a:r>
              </a:p>
              <a:p>
                <a:pPr marL="457200" lvl="1" indent="0">
                  <a:buFont typeface="Arial" panose="020B0604020202020204" pitchFamily="34" charset="0"/>
                  <a:buNone/>
                </a:pPr>
                <a:endParaRPr lang="en-US" dirty="0"/>
              </a:p>
              <a:p>
                <a:r>
                  <a:rPr lang="en-US" b="1" dirty="0"/>
                  <a:t>Update Rule Interpretation:</a:t>
                </a:r>
              </a:p>
              <a:p>
                <a:r>
                  <a:rPr lang="en-US" dirty="0"/>
                  <a:t>The equation can be written as:</a:t>
                </a:r>
              </a:p>
              <a:p>
                <a:endParaRPr lang="en-US" dirty="0"/>
              </a:p>
              <a:p>
                <a:pPr>
                  <a:buFont typeface="+mj-lt"/>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 </m:t>
                      </m:r>
                      <m:d>
                        <m:dPr>
                          <m:ctrlPr>
                            <a:rPr lang="en-US" i="1" dirty="0" smtClean="0">
                              <a:latin typeface="Cambria Math" panose="02040503050406030204" pitchFamily="18" charset="0"/>
                            </a:rPr>
                          </m:ctrlPr>
                        </m:dPr>
                        <m:e>
                          <m:r>
                            <a:rPr lang="en-US" i="1" dirty="0" smtClean="0">
                              <a:latin typeface="Cambria Math" panose="02040503050406030204" pitchFamily="18" charset="0"/>
                            </a:rPr>
                            <m:t>1 −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e>
                      </m:d>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r>
                        <a:rPr lang="en-US" i="1" dirty="0"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𝑟</m:t>
                              </m:r>
                            </m:e>
                            <m:sub>
                              <m:r>
                                <a:rPr lang="en-US" i="1" dirty="0" err="1" smtClean="0">
                                  <a:latin typeface="Cambria Math" panose="02040503050406030204" pitchFamily="18" charset="0"/>
                                </a:rPr>
                                <m:t>𝑖</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r>
                            <a:rPr lang="en-US" i="1" dirty="0" smtClean="0">
                              <a:latin typeface="Cambria Math" panose="02040503050406030204" pitchFamily="18" charset="0"/>
                            </a:rPr>
                            <m:t>+</m:t>
                          </m:r>
                          <m:r>
                            <a:rPr lang="en-US" i="1" dirty="0" smtClean="0">
                              <a:latin typeface="Cambria Math" panose="02040503050406030204" pitchFamily="18" charset="0"/>
                            </a:rPr>
                            <m:t>𝛽</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𝑉</m:t>
                              </m:r>
                            </m:e>
                            <m:sub>
                              <m:r>
                                <a:rPr lang="en-US" i="1" dirty="0" err="1"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e>
                          </m:d>
                        </m:e>
                      </m:d>
                    </m:oMath>
                  </m:oMathPara>
                </a14:m>
                <a:endParaRPr lang="en-US" dirty="0"/>
              </a:p>
              <a:p>
                <a:pPr>
                  <a:buFont typeface="+mj-lt"/>
                  <a:buNone/>
                </a:pPr>
                <a:endParaRPr lang="en-US" dirty="0"/>
              </a:p>
              <a:p>
                <a:pPr marL="685800" lvl="1" indent="-228600">
                  <a:buFont typeface="+mj-lt"/>
                  <a:buAutoNum type="arabicPeriod"/>
                </a:pPr>
                <a:r>
                  <a:rPr lang="en-US" b="1" dirty="0"/>
                  <a:t>Old Q-value weighting</a:t>
                </a:r>
                <a:r>
                  <a:rPr lang="en-US" dirty="0"/>
                  <a:t>: The term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e>
                    </m:d>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r>
                      <a:rPr lang="en-US" i="1" dirty="0"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oMath>
                </a14:m>
                <a:r>
                  <a:rPr lang="en-US" dirty="0"/>
                  <a:t>keeps a fraction of the old Q-value (how much depends on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oMath>
                </a14:m>
                <a:r>
                  <a:rPr lang="en-US" dirty="0"/>
                  <a:t>​). This prevents the new experience from completely overriding the old Q-value.</a:t>
                </a:r>
              </a:p>
              <a:p>
                <a:pPr marL="685800" lvl="1" indent="-228600">
                  <a:buFont typeface="+mj-lt"/>
                  <a:buAutoNum type="arabicPeriod"/>
                </a:pPr>
                <a:r>
                  <a:rPr lang="en-US" b="1" dirty="0"/>
                  <a:t>New experience weighting</a:t>
                </a:r>
                <a:r>
                  <a:rPr lang="en-US" dirty="0"/>
                  <a:t>: The term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𝑟</m:t>
                            </m:r>
                          </m:e>
                          <m:sub>
                            <m:r>
                              <a:rPr lang="en-US" i="1" dirty="0" err="1" smtClean="0">
                                <a:latin typeface="Cambria Math" panose="02040503050406030204" pitchFamily="18" charset="0"/>
                              </a:rPr>
                              <m:t>𝑖</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r>
                          <a:rPr lang="en-US" i="1" dirty="0" smtClean="0">
                            <a:latin typeface="Cambria Math" panose="02040503050406030204" pitchFamily="18" charset="0"/>
                          </a:rPr>
                          <m:t>+</m:t>
                        </m:r>
                        <m:r>
                          <a:rPr lang="en-US" i="1" dirty="0" smtClean="0">
                            <a:latin typeface="Cambria Math" panose="02040503050406030204" pitchFamily="18" charset="0"/>
                          </a:rPr>
                          <m:t>𝛽</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𝑉</m:t>
                            </m:r>
                          </m:e>
                          <m:sub>
                            <m:r>
                              <a:rPr lang="en-US" i="1" dirty="0" err="1"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e>
                        </m:d>
                      </m:e>
                    </m:d>
                  </m:oMath>
                </a14:m>
                <a:r>
                  <a:rPr lang="en-US" dirty="0"/>
                  <a:t> incorporates the new experience, where the agent observes the reward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i="1" dirty="0" smtClean="0">
                            <a:latin typeface="Cambria Math" panose="02040503050406030204" pitchFamily="18" charset="0"/>
                          </a:rPr>
                          <m:t>𝑖</m:t>
                        </m:r>
                      </m:sub>
                    </m:sSub>
                  </m:oMath>
                </a14:m>
                <a:r>
                  <a:rPr lang="en-US" dirty="0"/>
                  <a:t> and the future expected reward </a:t>
                </a:r>
                <a14:m>
                  <m:oMath xmlns:m="http://schemas.openxmlformats.org/officeDocument/2006/math">
                    <m:sSub>
                      <m:sSubPr>
                        <m:ctrlPr>
                          <a:rPr lang="en-US" i="1" dirty="0" smtClean="0">
                            <a:latin typeface="Cambria Math" panose="02040503050406030204" pitchFamily="18" charset="0"/>
                          </a:rPr>
                        </m:ctrlPr>
                      </m:sSubPr>
                      <m:e>
                        <m:r>
                          <a:rPr lang="en-US" i="1" dirty="0" err="1" smtClean="0">
                            <a:latin typeface="Cambria Math" panose="02040503050406030204" pitchFamily="18" charset="0"/>
                          </a:rPr>
                          <m:t>𝑉</m:t>
                        </m:r>
                      </m:e>
                      <m:sub>
                        <m:r>
                          <a:rPr lang="en-US" i="1" dirty="0" err="1"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e>
                    </m:d>
                  </m:oMath>
                </a14:m>
                <a:r>
                  <a:rPr lang="en-US" dirty="0"/>
                  <a:t> discounted by </a:t>
                </a:r>
                <a14:m>
                  <m:oMath xmlns:m="http://schemas.openxmlformats.org/officeDocument/2006/math">
                    <m:r>
                      <a:rPr lang="en-US" i="1" dirty="0" smtClean="0">
                        <a:latin typeface="Cambria Math" panose="02040503050406030204" pitchFamily="18" charset="0"/>
                      </a:rPr>
                      <m:t>𝛽</m:t>
                    </m:r>
                  </m:oMath>
                </a14:m>
                <a:r>
                  <a:rPr lang="en-US" dirty="0"/>
                  <a:t>. The learning rate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oMath>
                </a14:m>
                <a:r>
                  <a:rPr lang="en-US" dirty="0"/>
                  <a:t>​​ controls how much this new experience updates the Q-value.</a:t>
                </a:r>
              </a:p>
              <a:p>
                <a:pPr>
                  <a:buFont typeface="+mj-lt"/>
                  <a:buNone/>
                </a:pPr>
                <a:endParaRPr lang="en-US" dirty="0"/>
              </a:p>
              <a:p>
                <a:r>
                  <a:rPr lang="en-US" b="1" dirty="0"/>
                  <a:t>Derivation:</a:t>
                </a:r>
              </a:p>
              <a:p>
                <a:r>
                  <a:rPr lang="en-US" dirty="0"/>
                  <a:t>The </a:t>
                </a:r>
                <a:r>
                  <a:rPr lang="en-US" b="1" dirty="0"/>
                  <a:t>Q-value</a:t>
                </a:r>
                <a:r>
                  <a:rPr lang="en-US" dirty="0"/>
                  <a:t> update rule is derived from the </a:t>
                </a:r>
                <a:r>
                  <a:rPr lang="en-US" b="1" dirty="0"/>
                  <a:t>Bellman equation</a:t>
                </a:r>
                <a:r>
                  <a:rPr lang="en-US" dirty="0"/>
                  <a:t> for reinforcement learning. The idea is to recursively estimate the Q-value based on new information at each step. Specifically:</a:t>
                </a:r>
              </a:p>
              <a:p>
                <a:endParaRPr lang="en-US" dirty="0"/>
              </a:p>
              <a:p>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r>
                        <a:rPr lang="en-US" i="1" dirty="0" smtClean="0">
                          <a:latin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𝔼</m:t>
                      </m:r>
                      <m:d>
                        <m:dPr>
                          <m:begChr m:val="["/>
                          <m:endChr m:val="]"/>
                          <m:ctrlPr>
                            <a:rPr lang="en-US" i="1" dirty="0" smtClean="0">
                              <a:latin typeface="Cambria Math" panose="02040503050406030204" pitchFamily="18" charset="0"/>
                              <a:ea typeface="Cambria Math" panose="02040503050406030204" pitchFamily="18" charset="0"/>
                            </a:rPr>
                          </m:ctrlPr>
                        </m:dPr>
                        <m:e>
                          <m:r>
                            <a:rPr lang="en-US" i="1" dirty="0" smtClean="0">
                              <a:latin typeface="Cambria Math" panose="02040503050406030204" pitchFamily="18" charset="0"/>
                            </a:rPr>
                            <m:t> </m:t>
                          </m:r>
                          <m:sSub>
                            <m:sSubPr>
                              <m:ctrlPr>
                                <a:rPr lang="en-US" i="1" dirty="0" err="1" smtClean="0">
                                  <a:latin typeface="Cambria Math" panose="02040503050406030204" pitchFamily="18" charset="0"/>
                                  <a:ea typeface="Cambria Math" panose="02040503050406030204" pitchFamily="18" charset="0"/>
                                </a:rPr>
                              </m:ctrlPr>
                            </m:sSubPr>
                            <m:e>
                              <m:r>
                                <a:rPr lang="en-US" i="1" dirty="0" err="1" smtClean="0">
                                  <a:latin typeface="Cambria Math" panose="02040503050406030204" pitchFamily="18" charset="0"/>
                                </a:rPr>
                                <m:t>𝑟</m:t>
                              </m:r>
                            </m:e>
                            <m:sub>
                              <m:r>
                                <a:rPr lang="en-US" i="1" dirty="0" err="1" smtClean="0">
                                  <a:latin typeface="Cambria Math" panose="02040503050406030204" pitchFamily="18" charset="0"/>
                                </a:rPr>
                                <m:t>𝑖</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r>
                            <a:rPr lang="en-US" i="1" dirty="0" smtClean="0">
                              <a:latin typeface="Cambria Math" panose="02040503050406030204" pitchFamily="18" charset="0"/>
                            </a:rPr>
                            <m:t>+</m:t>
                          </m:r>
                          <m:r>
                            <a:rPr lang="en-US" i="1" dirty="0" smtClean="0">
                              <a:latin typeface="Cambria Math" panose="02040503050406030204" pitchFamily="18" charset="0"/>
                            </a:rPr>
                            <m:t>𝛽</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𝑉</m:t>
                              </m:r>
                            </m:e>
                            <m:sub>
                              <m:r>
                                <a:rPr lang="en-US" i="1" dirty="0" err="1"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𝑡</m:t>
                                  </m:r>
                                  <m:r>
                                    <a:rPr lang="en-US" b="0" i="1" dirty="0" smtClean="0">
                                      <a:latin typeface="Cambria Math" panose="02040503050406030204" pitchFamily="18" charset="0"/>
                                    </a:rPr>
                                    <m:t>+1</m:t>
                                  </m:r>
                                </m:sub>
                              </m:sSub>
                            </m:e>
                          </m:d>
                        </m:e>
                      </m:d>
                      <m:r>
                        <a:rPr lang="en-US" i="1" dirty="0" smtClean="0">
                          <a:latin typeface="Cambria Math" panose="02040503050406030204" pitchFamily="18" charset="0"/>
                        </a:rPr>
                        <m:t> </m:t>
                      </m:r>
                    </m:oMath>
                  </m:oMathPara>
                </a14:m>
                <a:endParaRPr lang="en-US" dirty="0"/>
              </a:p>
              <a:p>
                <a:endParaRPr lang="en-US" dirty="0"/>
              </a:p>
              <a:p>
                <a:r>
                  <a:rPr lang="en-US" dirty="0"/>
                  <a:t>This means the Q-value is an estimate of the expected reward after taking action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i="1" dirty="0" smtClean="0">
                            <a:latin typeface="Cambria Math" panose="02040503050406030204" pitchFamily="18" charset="0"/>
                          </a:rPr>
                          <m:t>𝑡</m:t>
                        </m:r>
                      </m:sub>
                    </m:sSub>
                  </m:oMath>
                </a14:m>
                <a:r>
                  <a:rPr lang="en-US" dirty="0"/>
                  <a:t> in state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𝑡</m:t>
                        </m:r>
                      </m:sub>
                    </m:sSub>
                  </m:oMath>
                </a14:m>
                <a:r>
                  <a:rPr lang="en-US" dirty="0"/>
                  <a:t>, considering both the immediate reward and the future expected rewards.</a:t>
                </a:r>
              </a:p>
              <a:p>
                <a:endParaRPr lang="en-US" dirty="0"/>
              </a:p>
              <a:p>
                <a:r>
                  <a:rPr lang="en-US" dirty="0"/>
                  <a:t>The update rule combines:</a:t>
                </a:r>
              </a:p>
              <a:p>
                <a:pPr marL="685800" lvl="1" indent="-228600">
                  <a:buFont typeface="+mj-lt"/>
                  <a:buAutoNum type="arabicPeriod"/>
                </a:pPr>
                <a:r>
                  <a:rPr lang="en-US" b="1" dirty="0"/>
                  <a:t>Old estimate</a:t>
                </a:r>
                <a:r>
                  <a:rPr lang="en-US" dirty="0"/>
                  <a:t>: The previous Q-value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oMath>
                </a14:m>
                <a:endParaRPr lang="en-US" dirty="0"/>
              </a:p>
              <a:p>
                <a:pPr marL="685800" lvl="1" indent="-228600">
                  <a:buFont typeface="+mj-lt"/>
                  <a:buAutoNum type="arabicPeriod"/>
                </a:pPr>
                <a:r>
                  <a:rPr lang="en-US" b="1" dirty="0"/>
                  <a:t>New information</a:t>
                </a:r>
                <a:r>
                  <a:rPr lang="en-US" dirty="0"/>
                  <a:t>: The immediate reward </a:t>
                </a:r>
                <a14:m>
                  <m:oMath xmlns:m="http://schemas.openxmlformats.org/officeDocument/2006/math">
                    <m:r>
                      <a:rPr lang="en-US" i="1" dirty="0" smtClean="0">
                        <a:latin typeface="Cambria Math" panose="02040503050406030204" pitchFamily="18" charset="0"/>
                      </a:rPr>
                      <m:t> </m:t>
                    </m:r>
                    <m:sSub>
                      <m:sSubPr>
                        <m:ctrlPr>
                          <a:rPr lang="en-US" i="1" dirty="0" err="1" smtClean="0">
                            <a:latin typeface="Cambria Math" panose="02040503050406030204" pitchFamily="18" charset="0"/>
                            <a:ea typeface="Cambria Math" panose="02040503050406030204" pitchFamily="18" charset="0"/>
                          </a:rPr>
                        </m:ctrlPr>
                      </m:sSubPr>
                      <m:e>
                        <m:r>
                          <a:rPr lang="en-US" i="1" dirty="0" err="1" smtClean="0">
                            <a:latin typeface="Cambria Math" panose="02040503050406030204" pitchFamily="18" charset="0"/>
                          </a:rPr>
                          <m:t>𝑟</m:t>
                        </m:r>
                      </m:e>
                      <m:sub>
                        <m:r>
                          <a:rPr lang="en-US" i="1" dirty="0" err="1" smtClean="0">
                            <a:latin typeface="Cambria Math" panose="02040503050406030204" pitchFamily="18" charset="0"/>
                          </a:rPr>
                          <m:t>𝑖</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oMath>
                </a14:m>
                <a:r>
                  <a:rPr lang="en-US" dirty="0"/>
                  <a:t> and the future reward estimate </a:t>
                </a:r>
                <a14:m>
                  <m:oMath xmlns:m="http://schemas.openxmlformats.org/officeDocument/2006/math">
                    <m:sSub>
                      <m:sSubPr>
                        <m:ctrlPr>
                          <a:rPr lang="en-US" i="1" dirty="0" smtClean="0">
                            <a:latin typeface="Cambria Math" panose="02040503050406030204" pitchFamily="18" charset="0"/>
                          </a:rPr>
                        </m:ctrlPr>
                      </m:sSubPr>
                      <m:e>
                        <m:r>
                          <a:rPr lang="en-US" i="1" dirty="0" err="1" smtClean="0">
                            <a:latin typeface="Cambria Math" panose="02040503050406030204" pitchFamily="18" charset="0"/>
                          </a:rPr>
                          <m:t>𝑉</m:t>
                        </m:r>
                      </m:e>
                      <m:sub>
                        <m:r>
                          <a:rPr lang="en-US" i="1" dirty="0" err="1"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𝑡</m:t>
                            </m:r>
                            <m:r>
                              <a:rPr lang="en-US" b="0" i="1" dirty="0" smtClean="0">
                                <a:latin typeface="Cambria Math" panose="02040503050406030204" pitchFamily="18" charset="0"/>
                              </a:rPr>
                              <m:t>+1</m:t>
                            </m:r>
                          </m:sub>
                        </m:sSub>
                      </m:e>
                    </m:d>
                  </m:oMath>
                </a14:m>
                <a:r>
                  <a:rPr lang="en-US" dirty="0"/>
                  <a:t>.</a:t>
                </a:r>
              </a:p>
              <a:p>
                <a:pPr marL="457200" lvl="1" indent="0">
                  <a:buFont typeface="+mj-lt"/>
                  <a:buNone/>
                </a:pPr>
                <a:endParaRPr lang="en-US" dirty="0"/>
              </a:p>
              <a:p>
                <a:r>
                  <a:rPr lang="en-US" dirty="0"/>
                  <a:t>To update the Q-value, we use a weighted average between the old Q-value and the new estimate of the total expected reward:</a:t>
                </a:r>
              </a:p>
              <a:p>
                <a:endParaRPr lang="en-US" dirty="0"/>
              </a:p>
              <a:p>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 </m:t>
                      </m:r>
                      <m:d>
                        <m:dPr>
                          <m:ctrlPr>
                            <a:rPr lang="en-US" i="1" dirty="0" smtClean="0">
                              <a:latin typeface="Cambria Math" panose="02040503050406030204" pitchFamily="18" charset="0"/>
                            </a:rPr>
                          </m:ctrlPr>
                        </m:dPr>
                        <m:e>
                          <m:r>
                            <a:rPr lang="en-US" i="1" dirty="0" smtClean="0">
                              <a:latin typeface="Cambria Math" panose="02040503050406030204" pitchFamily="18" charset="0"/>
                            </a:rPr>
                            <m:t>1 −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e>
                      </m:d>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r>
                        <a:rPr lang="en-US" i="1" dirty="0"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𝛼</m:t>
                          </m:r>
                        </m:e>
                        <m:sub>
                          <m:r>
                            <a:rPr lang="en-US" b="0" i="1" dirty="0" smtClean="0">
                              <a:latin typeface="Cambria Math" panose="02040503050406030204" pitchFamily="18" charset="0"/>
                            </a:rPr>
                            <m:t>𝑡</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𝑟</m:t>
                              </m:r>
                            </m:e>
                            <m:sub>
                              <m:r>
                                <a:rPr lang="en-US" i="1" dirty="0" err="1" smtClean="0">
                                  <a:latin typeface="Cambria Math" panose="02040503050406030204" pitchFamily="18" charset="0"/>
                                </a:rPr>
                                <m:t>𝑖</m:t>
                              </m:r>
                            </m:sub>
                          </m:sSub>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𝑎</m:t>
                                  </m:r>
                                </m:e>
                                <m:sub>
                                  <m:r>
                                    <a:rPr lang="en-US" i="1" dirty="0" err="1" smtClean="0">
                                      <a:latin typeface="Cambria Math" panose="02040503050406030204" pitchFamily="18" charset="0"/>
                                    </a:rPr>
                                    <m:t>𝑡</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𝑜</m:t>
                                  </m:r>
                                </m:e>
                                <m:sub>
                                  <m:r>
                                    <a:rPr lang="en-US" i="1" dirty="0" err="1" smtClean="0">
                                      <a:latin typeface="Cambria Math" panose="02040503050406030204" pitchFamily="18" charset="0"/>
                                    </a:rPr>
                                    <m:t>𝑡</m:t>
                                  </m:r>
                                </m:sub>
                              </m:sSub>
                            </m:e>
                          </m:d>
                          <m:r>
                            <a:rPr lang="en-US" i="1" dirty="0" smtClean="0">
                              <a:latin typeface="Cambria Math" panose="02040503050406030204" pitchFamily="18" charset="0"/>
                            </a:rPr>
                            <m:t>+</m:t>
                          </m:r>
                          <m:r>
                            <a:rPr lang="en-US" i="1" dirty="0" smtClean="0">
                              <a:latin typeface="Cambria Math" panose="02040503050406030204" pitchFamily="18" charset="0"/>
                            </a:rPr>
                            <m:t>𝛽</m:t>
                          </m:r>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𝑉</m:t>
                              </m:r>
                            </m:e>
                            <m:sub>
                              <m:r>
                                <a:rPr lang="en-US" i="1" dirty="0" err="1" smtClean="0">
                                  <a:latin typeface="Cambria Math" panose="02040503050406030204" pitchFamily="18" charset="0"/>
                                </a:rPr>
                                <m:t>𝑡</m:t>
                              </m:r>
                            </m:sub>
                          </m:sSub>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e>
                          </m:d>
                        </m:e>
                      </m:d>
                    </m:oMath>
                  </m:oMathPara>
                </a14:m>
                <a:endParaRPr lang="en-US" dirty="0"/>
              </a:p>
              <a:p>
                <a:endParaRPr lang="en-US" dirty="0"/>
              </a:p>
              <a:p>
                <a:r>
                  <a:rPr lang="en-US" dirty="0"/>
                  <a:t>This is a standard form of </a:t>
                </a:r>
                <a:r>
                  <a:rPr lang="en-US" b="1" dirty="0"/>
                  <a:t>Q-learning</a:t>
                </a:r>
                <a:r>
                  <a:rPr lang="en-US" dirty="0"/>
                  <a:t> or </a:t>
                </a:r>
                <a:r>
                  <a:rPr lang="en-US" b="1" dirty="0"/>
                  <a:t>temporal difference learning</a:t>
                </a:r>
                <a:r>
                  <a:rPr lang="en-US" dirty="0"/>
                  <a:t> used in both single-agent and multi-agent settings. In multi-agent systems, the joint action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i="1" dirty="0" smtClean="0">
                            <a:latin typeface="Cambria Math" panose="02040503050406030204" pitchFamily="18" charset="0"/>
                          </a:rPr>
                          <m:t>𝑡</m:t>
                        </m:r>
                      </m:sub>
                    </m:sSub>
                  </m:oMath>
                </a14:m>
                <a:r>
                  <a:rPr lang="en-US" dirty="0"/>
                  <a:t> may include the actions of other agents, but the structure of the update remains similar.</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dirty="0"/>
                  <a:t>The equation represents the update rule for the </a:t>
                </a:r>
                <a:r>
                  <a:rPr lang="en-US" b="1" dirty="0"/>
                  <a:t>Q-value</a:t>
                </a:r>
                <a:r>
                  <a:rPr lang="en-US" dirty="0"/>
                  <a:t> of an agent </a:t>
                </a:r>
                <a:r>
                  <a:rPr lang="en-US" dirty="0" err="1"/>
                  <a:t>i</a:t>
                </a:r>
                <a:r>
                  <a:rPr lang="en-US" dirty="0"/>
                  <a:t> in a multi-agent environment, where the agent is learning to act in a stochastic setting. Here's a breakdown of the terms and a step-by-step derivation:</a:t>
                </a:r>
              </a:p>
              <a:p>
                <a:endParaRPr lang="en-US" dirty="0"/>
              </a:p>
              <a:p>
                <a:r>
                  <a:rPr lang="en-US" b="1" dirty="0"/>
                  <a:t>Terms:</a:t>
                </a:r>
              </a:p>
              <a:p>
                <a:pPr marL="628650" lvl="1" indent="-171450">
                  <a:buFont typeface="Arial" panose="020B0604020202020204" pitchFamily="34" charset="0"/>
                  <a:buChar char="•"/>
                </a:pPr>
                <a:r>
                  <a:rPr lang="en-US" i="0" dirty="0">
                    <a:latin typeface="Cambria Math" panose="02040503050406030204" pitchFamily="18" charset="0"/>
                  </a:rPr>
                  <a:t>𝑄_(𝑖</a:t>
                </a:r>
                <a:r>
                  <a:rPr lang="en-US" b="0" i="0" dirty="0">
                    <a:latin typeface="Cambria Math" panose="02040503050406030204" pitchFamily="18" charset="0"/>
                  </a:rPr>
                  <a:t>,𝑡)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a:t>
                </a:r>
                <a:r>
                  <a:rPr lang="en-US" dirty="0"/>
                  <a:t>: The </a:t>
                </a:r>
                <a:r>
                  <a:rPr lang="en-US" b="1" dirty="0"/>
                  <a:t>Q-value</a:t>
                </a:r>
                <a:r>
                  <a:rPr lang="en-US" dirty="0"/>
                  <a:t> at time step </a:t>
                </a:r>
                <a:r>
                  <a:rPr lang="en-US" i="0" dirty="0">
                    <a:latin typeface="Cambria Math" panose="02040503050406030204" pitchFamily="18" charset="0"/>
                  </a:rPr>
                  <a:t>𝑡</a:t>
                </a:r>
                <a:r>
                  <a:rPr lang="en-US" dirty="0"/>
                  <a:t> for agent </a:t>
                </a:r>
                <a:r>
                  <a:rPr lang="en-US" i="0" dirty="0">
                    <a:latin typeface="Cambria Math" panose="02040503050406030204" pitchFamily="18" charset="0"/>
                  </a:rPr>
                  <a:t>𝑖</a:t>
                </a:r>
                <a:r>
                  <a:rPr lang="en-US" dirty="0"/>
                  <a:t>, representing the expected utility (reward) of taking joint action </a:t>
                </a:r>
                <a:r>
                  <a:rPr lang="en-US" i="0" dirty="0">
                    <a:latin typeface="Cambria Math" panose="02040503050406030204" pitchFamily="18" charset="0"/>
                  </a:rPr>
                  <a:t>𝑎_𝑡​</a:t>
                </a:r>
                <a:r>
                  <a:rPr lang="en-US" dirty="0"/>
                  <a:t> in state </a:t>
                </a:r>
                <a:r>
                  <a:rPr lang="en-US" i="0" dirty="0">
                    <a:latin typeface="Cambria Math" panose="02040503050406030204" pitchFamily="18" charset="0"/>
                  </a:rPr>
                  <a:t>𝑠_𝑡</a:t>
                </a:r>
                <a:r>
                  <a:rPr lang="en-US" dirty="0"/>
                  <a:t>​, given observation </a:t>
                </a:r>
                <a:r>
                  <a:rPr lang="en-US" i="0" dirty="0">
                    <a:latin typeface="Cambria Math" panose="02040503050406030204" pitchFamily="18" charset="0"/>
                  </a:rPr>
                  <a:t>𝑜_𝑡</a:t>
                </a:r>
                <a:r>
                  <a:rPr lang="en-US" dirty="0"/>
                  <a:t>​.</a:t>
                </a:r>
              </a:p>
              <a:p>
                <a:pPr marL="628650" lvl="1" indent="-171450">
                  <a:buFont typeface="Arial" panose="020B0604020202020204" pitchFamily="34" charset="0"/>
                  <a:buChar char="•"/>
                </a:pPr>
                <a:r>
                  <a:rPr lang="en-US" i="0" dirty="0">
                    <a:latin typeface="Cambria Math" panose="02040503050406030204" pitchFamily="18" charset="0"/>
                  </a:rPr>
                  <a:t>𝛼_</a:t>
                </a:r>
                <a:r>
                  <a:rPr lang="en-US" i="0" dirty="0" err="1">
                    <a:latin typeface="Cambria Math" panose="02040503050406030204" pitchFamily="18" charset="0"/>
                  </a:rPr>
                  <a:t>𝑡</a:t>
                </a:r>
                <a:r>
                  <a:rPr lang="en-US" dirty="0"/>
                  <a:t>​: The </a:t>
                </a:r>
                <a:r>
                  <a:rPr lang="en-US" b="1" dirty="0"/>
                  <a:t>learning rate</a:t>
                </a:r>
                <a:r>
                  <a:rPr lang="en-US" dirty="0"/>
                  <a:t> at time step </a:t>
                </a:r>
                <a:r>
                  <a:rPr lang="en-US" i="0" dirty="0">
                    <a:latin typeface="Cambria Math" panose="02040503050406030204" pitchFamily="18" charset="0"/>
                  </a:rPr>
                  <a:t>𝑡</a:t>
                </a:r>
                <a:r>
                  <a:rPr lang="en-US" dirty="0"/>
                  <a:t>, controlling how much the agent's new experience influences the updated Q-value.</a:t>
                </a:r>
              </a:p>
              <a:p>
                <a:pPr marL="628650" lvl="1" indent="-171450">
                  <a:buFont typeface="Arial" panose="020B0604020202020204" pitchFamily="34" charset="0"/>
                  <a:buChar char="•"/>
                </a:pPr>
                <a:r>
                  <a:rPr lang="en-US" i="0" dirty="0">
                    <a:latin typeface="Cambria Math" panose="02040503050406030204" pitchFamily="18" charset="0"/>
                  </a:rPr>
                  <a:t>𝑟_𝑖 (</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a:t>
                </a:r>
                <a:r>
                  <a:rPr lang="en-US" dirty="0"/>
                  <a:t>: The </a:t>
                </a:r>
                <a:r>
                  <a:rPr lang="en-US" b="1" dirty="0"/>
                  <a:t>immediate reward</a:t>
                </a:r>
                <a:r>
                  <a:rPr lang="en-US" dirty="0"/>
                  <a:t> received by agent </a:t>
                </a:r>
                <a:r>
                  <a:rPr lang="en-US" i="0" dirty="0">
                    <a:latin typeface="Cambria Math" panose="02040503050406030204" pitchFamily="18" charset="0"/>
                  </a:rPr>
                  <a:t>𝑖</a:t>
                </a:r>
                <a:r>
                  <a:rPr lang="en-US" dirty="0"/>
                  <a:t> at time </a:t>
                </a:r>
                <a:r>
                  <a:rPr lang="en-US" i="0" dirty="0">
                    <a:latin typeface="Cambria Math" panose="02040503050406030204" pitchFamily="18" charset="0"/>
                  </a:rPr>
                  <a:t>𝑡</a:t>
                </a:r>
                <a:r>
                  <a:rPr lang="en-US" dirty="0"/>
                  <a:t> after taking joint action </a:t>
                </a:r>
                <a:r>
                  <a:rPr lang="en-US" i="0" dirty="0">
                    <a:latin typeface="Cambria Math" panose="02040503050406030204" pitchFamily="18" charset="0"/>
                  </a:rPr>
                  <a:t>𝑎_𝑡​</a:t>
                </a:r>
                <a:r>
                  <a:rPr lang="en-US" dirty="0"/>
                  <a:t> in state </a:t>
                </a:r>
                <a:r>
                  <a:rPr lang="en-US" i="0" dirty="0">
                    <a:latin typeface="Cambria Math" panose="02040503050406030204" pitchFamily="18" charset="0"/>
                  </a:rPr>
                  <a:t>𝑠_𝑡</a:t>
                </a:r>
                <a:r>
                  <a:rPr lang="en-US" dirty="0"/>
                  <a:t>​, given observation </a:t>
                </a:r>
                <a:r>
                  <a:rPr lang="en-US" i="0" dirty="0">
                    <a:latin typeface="Cambria Math" panose="02040503050406030204" pitchFamily="18" charset="0"/>
                  </a:rPr>
                  <a:t>𝑜_𝑡</a:t>
                </a:r>
                <a:r>
                  <a:rPr lang="en-US" dirty="0"/>
                  <a:t>​</a:t>
                </a:r>
              </a:p>
              <a:p>
                <a:pPr marL="628650" lvl="1" indent="-171450">
                  <a:buFont typeface="Arial" panose="020B0604020202020204" pitchFamily="34" charset="0"/>
                  <a:buChar char="•"/>
                </a:pPr>
                <a:r>
                  <a:rPr lang="en-US" i="0" dirty="0">
                    <a:latin typeface="Cambria Math" panose="02040503050406030204" pitchFamily="18" charset="0"/>
                  </a:rPr>
                  <a:t>𝛽</a:t>
                </a:r>
                <a:r>
                  <a:rPr lang="en-US" dirty="0"/>
                  <a:t>: The </a:t>
                </a:r>
                <a:r>
                  <a:rPr lang="en-US" b="1" dirty="0"/>
                  <a:t>discount factor</a:t>
                </a:r>
                <a:r>
                  <a:rPr lang="en-US" dirty="0"/>
                  <a:t>, determining how much future rewards influence the current decision.</a:t>
                </a:r>
              </a:p>
              <a:p>
                <a:pPr marL="628650" lvl="1" indent="-171450">
                  <a:buFont typeface="Arial" panose="020B0604020202020204" pitchFamily="34" charset="0"/>
                  <a:buChar char="•"/>
                </a:pPr>
                <a:r>
                  <a:rPr lang="en-US" i="0" dirty="0">
                    <a:latin typeface="Cambria Math" panose="02040503050406030204" pitchFamily="18" charset="0"/>
                  </a:rPr>
                  <a:t>𝑉_𝑡 (𝑠_(𝑡</a:t>
                </a:r>
                <a:r>
                  <a:rPr lang="en-US" b="0" i="0" dirty="0">
                    <a:latin typeface="Cambria Math" panose="02040503050406030204" pitchFamily="18" charset="0"/>
                  </a:rPr>
                  <a:t>+1)</a:t>
                </a:r>
                <a:r>
                  <a:rPr lang="en-US" i="0" dirty="0">
                    <a:latin typeface="Cambria Math" panose="02040503050406030204" pitchFamily="18" charset="0"/>
                  </a:rPr>
                  <a:t>)</a:t>
                </a:r>
                <a:r>
                  <a:rPr lang="en-US" dirty="0"/>
                  <a:t>: The </a:t>
                </a:r>
                <a:r>
                  <a:rPr lang="en-US" b="1" dirty="0"/>
                  <a:t>value function</a:t>
                </a:r>
                <a:r>
                  <a:rPr lang="en-US" dirty="0"/>
                  <a:t> at state </a:t>
                </a:r>
                <a:r>
                  <a:rPr lang="en-US" b="0" i="0">
                    <a:latin typeface="Cambria Math" panose="02040503050406030204" pitchFamily="18" charset="0"/>
                  </a:rPr>
                  <a:t>𝑠_(𝑡+1)</a:t>
                </a:r>
                <a:r>
                  <a:rPr lang="en-US" dirty="0"/>
                  <a:t>​, representing the expected future reward starting from state </a:t>
                </a:r>
                <a:r>
                  <a:rPr lang="en-US" b="0" i="0">
                    <a:latin typeface="Cambria Math" panose="02040503050406030204" pitchFamily="18" charset="0"/>
                  </a:rPr>
                  <a:t>𝑠_(𝑡+1)</a:t>
                </a:r>
                <a:r>
                  <a:rPr lang="en-US" dirty="0"/>
                  <a:t>​.</a:t>
                </a:r>
              </a:p>
              <a:p>
                <a:pPr marL="628650" lvl="1" indent="-171450">
                  <a:buFont typeface="Arial" panose="020B0604020202020204" pitchFamily="34" charset="0"/>
                  <a:buChar char="•"/>
                </a:pPr>
                <a:r>
                  <a:rPr lang="en-US" i="0" dirty="0">
                    <a:latin typeface="Cambria Math" panose="02040503050406030204" pitchFamily="18" charset="0"/>
                  </a:rPr>
                  <a:t>(1 − 𝛼</a:t>
                </a:r>
                <a:r>
                  <a:rPr lang="en-US" i="0" dirty="0" err="1">
                    <a:latin typeface="Cambria Math" panose="02040503050406030204" pitchFamily="18" charset="0"/>
                  </a:rPr>
                  <a:t>_𝑡</a:t>
                </a:r>
                <a:r>
                  <a:rPr lang="en-US" i="0" dirty="0">
                    <a:latin typeface="Cambria Math" panose="02040503050406030204" pitchFamily="18" charset="0"/>
                  </a:rPr>
                  <a:t> )</a:t>
                </a:r>
                <a:r>
                  <a:rPr lang="en-US" dirty="0"/>
                  <a:t>: The factor representing how much of the old Q-value is retained after updating.</a:t>
                </a:r>
              </a:p>
              <a:p>
                <a:pPr marL="457200" lvl="1" indent="0">
                  <a:buFont typeface="Arial" panose="020B0604020202020204" pitchFamily="34" charset="0"/>
                  <a:buNone/>
                </a:pPr>
                <a:endParaRPr lang="en-US" dirty="0"/>
              </a:p>
              <a:p>
                <a:r>
                  <a:rPr lang="en-US" b="1" dirty="0"/>
                  <a:t>Update Rule Interpretation:</a:t>
                </a:r>
              </a:p>
              <a:p>
                <a:r>
                  <a:rPr lang="en-US" dirty="0"/>
                  <a:t>The equation can be written as:</a:t>
                </a:r>
              </a:p>
              <a:p>
                <a:endParaRPr lang="en-US" dirty="0"/>
              </a:p>
              <a:p>
                <a:pPr>
                  <a:buFont typeface="+mj-lt"/>
                  <a:buNone/>
                </a:pPr>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,𝑡+1)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 (1 −</a:t>
                </a:r>
                <a:r>
                  <a:rPr lang="en-US" b="0" i="0" dirty="0">
                    <a:latin typeface="Cambria Math" panose="02040503050406030204" pitchFamily="18" charset="0"/>
                  </a:rPr>
                  <a:t>𝛼_𝑡 ) </a:t>
                </a:r>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a:t>
                </a:r>
                <a:r>
                  <a:rPr lang="en-US" b="0" i="0" dirty="0">
                    <a:latin typeface="Cambria Math" panose="02040503050406030204" pitchFamily="18" charset="0"/>
                  </a:rPr>
                  <a:t>𝛼_𝑡 </a:t>
                </a:r>
                <a:r>
                  <a:rPr lang="en-US" i="0" dirty="0">
                    <a:latin typeface="Cambria Math" panose="02040503050406030204" pitchFamily="18" charset="0"/>
                  </a:rPr>
                  <a:t>( </a:t>
                </a:r>
                <a:r>
                  <a:rPr lang="en-US" i="0" dirty="0" err="1">
                    <a:latin typeface="Cambria Math" panose="02040503050406030204" pitchFamily="18" charset="0"/>
                  </a:rPr>
                  <a:t>𝑟_𝑖</a:t>
                </a:r>
                <a:r>
                  <a:rPr lang="en-US" i="0" dirty="0">
                    <a:latin typeface="Cambria Math" panose="02040503050406030204" pitchFamily="18" charset="0"/>
                  </a:rPr>
                  <a:t> (</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)+𝛽 </a:t>
                </a:r>
                <a:r>
                  <a:rPr lang="en-US" i="0" dirty="0" err="1">
                    <a:latin typeface="Cambria Math" panose="02040503050406030204" pitchFamily="18" charset="0"/>
                  </a:rPr>
                  <a:t>𝑉_𝑡</a:t>
                </a:r>
                <a:r>
                  <a:rPr lang="en-US" i="0" dirty="0">
                    <a:latin typeface="Cambria Math" panose="02040503050406030204" pitchFamily="18" charset="0"/>
                  </a:rPr>
                  <a:t> (𝑠_(</a:t>
                </a:r>
                <a:r>
                  <a:rPr lang="en-US" b="0" i="0" dirty="0">
                    <a:latin typeface="Cambria Math" panose="02040503050406030204" pitchFamily="18" charset="0"/>
                  </a:rPr>
                  <a:t>𝑡+1) ))</a:t>
                </a:r>
                <a:endParaRPr lang="en-US" dirty="0"/>
              </a:p>
              <a:p>
                <a:pPr>
                  <a:buFont typeface="+mj-lt"/>
                  <a:buNone/>
                </a:pPr>
                <a:endParaRPr lang="en-US" dirty="0"/>
              </a:p>
              <a:p>
                <a:pPr marL="685800" lvl="1" indent="-228600">
                  <a:buFont typeface="+mj-lt"/>
                  <a:buAutoNum type="arabicPeriod"/>
                </a:pPr>
                <a:r>
                  <a:rPr lang="en-US" b="1" dirty="0"/>
                  <a:t>Old Q-value weighting</a:t>
                </a:r>
                <a:r>
                  <a:rPr lang="en-US" dirty="0"/>
                  <a:t>: The term </a:t>
                </a:r>
                <a:r>
                  <a:rPr lang="en-US" i="0" dirty="0">
                    <a:latin typeface="Cambria Math" panose="02040503050406030204" pitchFamily="18" charset="0"/>
                  </a:rPr>
                  <a:t>(1 −</a:t>
                </a:r>
                <a:r>
                  <a:rPr lang="en-US" b="0" i="0" dirty="0">
                    <a:latin typeface="Cambria Math" panose="02040503050406030204" pitchFamily="18" charset="0"/>
                  </a:rPr>
                  <a:t>𝛼_𝑡 ) </a:t>
                </a:r>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a:t>
                </a:r>
                <a:r>
                  <a:rPr lang="en-US" dirty="0"/>
                  <a:t>keeps a fraction of the old Q-value (how much depends on </a:t>
                </a:r>
                <a:r>
                  <a:rPr lang="en-US" b="0" i="0" dirty="0">
                    <a:latin typeface="Cambria Math" panose="02040503050406030204" pitchFamily="18" charset="0"/>
                  </a:rPr>
                  <a:t>𝛼_𝑡</a:t>
                </a:r>
                <a:r>
                  <a:rPr lang="en-US" dirty="0"/>
                  <a:t>​). This prevents the new experience from completely overriding the old Q-value.</a:t>
                </a:r>
              </a:p>
              <a:p>
                <a:pPr marL="685800" lvl="1" indent="-228600">
                  <a:buFont typeface="+mj-lt"/>
                  <a:buAutoNum type="arabicPeriod"/>
                </a:pPr>
                <a:r>
                  <a:rPr lang="en-US" b="1" dirty="0"/>
                  <a:t>New experience weighting</a:t>
                </a:r>
                <a:r>
                  <a:rPr lang="en-US" dirty="0"/>
                  <a:t>: The term </a:t>
                </a:r>
                <a:r>
                  <a:rPr lang="en-US" b="0" i="0" dirty="0">
                    <a:latin typeface="Cambria Math" panose="02040503050406030204" pitchFamily="18" charset="0"/>
                  </a:rPr>
                  <a:t>𝛼_𝑡 </a:t>
                </a:r>
                <a:r>
                  <a:rPr lang="en-US" i="0" dirty="0">
                    <a:latin typeface="Cambria Math" panose="02040503050406030204" pitchFamily="18" charset="0"/>
                  </a:rPr>
                  <a:t>( </a:t>
                </a:r>
                <a:r>
                  <a:rPr lang="en-US" i="0" dirty="0" err="1">
                    <a:latin typeface="Cambria Math" panose="02040503050406030204" pitchFamily="18" charset="0"/>
                  </a:rPr>
                  <a:t>𝑟_𝑖</a:t>
                </a:r>
                <a:r>
                  <a:rPr lang="en-US" i="0" dirty="0">
                    <a:latin typeface="Cambria Math" panose="02040503050406030204" pitchFamily="18" charset="0"/>
                  </a:rPr>
                  <a:t> (</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 )</a:t>
                </a:r>
                <a:r>
                  <a:rPr lang="en-US" i="0" dirty="0">
                    <a:latin typeface="Cambria Math" panose="02040503050406030204" pitchFamily="18" charset="0"/>
                  </a:rPr>
                  <a:t>+𝛽 </a:t>
                </a:r>
                <a:r>
                  <a:rPr lang="en-US" i="0" dirty="0" err="1">
                    <a:latin typeface="Cambria Math" panose="02040503050406030204" pitchFamily="18" charset="0"/>
                  </a:rPr>
                  <a:t>𝑉_𝑡</a:t>
                </a:r>
                <a:r>
                  <a:rPr lang="en-US" i="0" dirty="0">
                    <a:latin typeface="Cambria Math" panose="02040503050406030204" pitchFamily="18" charset="0"/>
                  </a:rPr>
                  <a:t> (𝑠_(</a:t>
                </a:r>
                <a:r>
                  <a:rPr lang="en-US" b="0" i="0" dirty="0">
                    <a:latin typeface="Cambria Math" panose="02040503050406030204" pitchFamily="18" charset="0"/>
                  </a:rPr>
                  <a:t>𝑡+1) ))</a:t>
                </a:r>
                <a:r>
                  <a:rPr lang="en-US" dirty="0"/>
                  <a:t> incorporates the new experience, where the agent observes the reward </a:t>
                </a:r>
                <a:r>
                  <a:rPr lang="en-US" i="0" dirty="0">
                    <a:latin typeface="Cambria Math" panose="02040503050406030204" pitchFamily="18" charset="0"/>
                  </a:rPr>
                  <a:t>𝑟_𝑖</a:t>
                </a:r>
                <a:r>
                  <a:rPr lang="en-US" dirty="0"/>
                  <a:t> and the future expected reward </a:t>
                </a:r>
                <a:r>
                  <a:rPr lang="en-US" i="0" dirty="0" err="1">
                    <a:latin typeface="Cambria Math" panose="02040503050406030204" pitchFamily="18" charset="0"/>
                  </a:rPr>
                  <a:t>𝑉</a:t>
                </a:r>
                <a:r>
                  <a:rPr lang="en-US" i="0" dirty="0">
                    <a:latin typeface="Cambria Math" panose="02040503050406030204" pitchFamily="18" charset="0"/>
                  </a:rPr>
                  <a:t>_</a:t>
                </a:r>
                <a:r>
                  <a:rPr lang="en-US" i="0" dirty="0" err="1">
                    <a:latin typeface="Cambria Math" panose="02040503050406030204" pitchFamily="18" charset="0"/>
                  </a:rPr>
                  <a:t>𝑡</a:t>
                </a:r>
                <a:r>
                  <a:rPr lang="en-US" i="0" dirty="0">
                    <a:latin typeface="Cambria Math" panose="02040503050406030204" pitchFamily="18" charset="0"/>
                  </a:rPr>
                  <a:t> (𝑠_(</a:t>
                </a:r>
                <a:r>
                  <a:rPr lang="en-US" b="0" i="0" dirty="0">
                    <a:latin typeface="Cambria Math" panose="02040503050406030204" pitchFamily="18" charset="0"/>
                  </a:rPr>
                  <a:t>𝑡+1) )</a:t>
                </a:r>
                <a:r>
                  <a:rPr lang="en-US" dirty="0"/>
                  <a:t> discounted by </a:t>
                </a:r>
                <a:r>
                  <a:rPr lang="en-US" i="0" dirty="0">
                    <a:latin typeface="Cambria Math" panose="02040503050406030204" pitchFamily="18" charset="0"/>
                  </a:rPr>
                  <a:t>𝛽</a:t>
                </a:r>
                <a:r>
                  <a:rPr lang="en-US" dirty="0"/>
                  <a:t>. The learning rate </a:t>
                </a:r>
                <a:r>
                  <a:rPr lang="en-US" b="0" i="0" dirty="0">
                    <a:latin typeface="Cambria Math" panose="02040503050406030204" pitchFamily="18" charset="0"/>
                  </a:rPr>
                  <a:t>𝛼_𝑡</a:t>
                </a:r>
                <a:r>
                  <a:rPr lang="en-US" dirty="0"/>
                  <a:t>​​ controls how much this new experience updates the Q-value.</a:t>
                </a:r>
              </a:p>
              <a:p>
                <a:pPr>
                  <a:buFont typeface="+mj-lt"/>
                  <a:buNone/>
                </a:pPr>
                <a:endParaRPr lang="en-US" dirty="0"/>
              </a:p>
              <a:p>
                <a:r>
                  <a:rPr lang="en-US" b="1" dirty="0"/>
                  <a:t>Derivation:</a:t>
                </a:r>
              </a:p>
              <a:p>
                <a:r>
                  <a:rPr lang="en-US" dirty="0"/>
                  <a:t>The </a:t>
                </a:r>
                <a:r>
                  <a:rPr lang="en-US" b="1" dirty="0"/>
                  <a:t>Q-value</a:t>
                </a:r>
                <a:r>
                  <a:rPr lang="en-US" dirty="0"/>
                  <a:t> update rule is derived from the </a:t>
                </a:r>
                <a:r>
                  <a:rPr lang="en-US" b="1" dirty="0"/>
                  <a:t>Bellman equation</a:t>
                </a:r>
                <a:r>
                  <a:rPr lang="en-US" dirty="0"/>
                  <a:t> for reinforcement learning. The idea is to recursively estimate the Q-value based on new information at each step. Specifically:</a:t>
                </a:r>
              </a:p>
              <a:p>
                <a:endParaRPr lang="en-US" dirty="0"/>
              </a:p>
              <a:p>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a:t>
                </a:r>
                <a:r>
                  <a:rPr lang="en-US" i="0" dirty="0">
                    <a:latin typeface="Cambria Math" panose="02040503050406030204" pitchFamily="18" charset="0"/>
                    <a:ea typeface="Cambria Math" panose="02040503050406030204" pitchFamily="18" charset="0"/>
                  </a:rPr>
                  <a:t>𝔼[</a:t>
                </a:r>
                <a:r>
                  <a:rPr lang="en-US" i="0" dirty="0">
                    <a:latin typeface="Cambria Math" panose="02040503050406030204" pitchFamily="18" charset="0"/>
                  </a:rPr>
                  <a:t> </a:t>
                </a:r>
                <a:r>
                  <a:rPr lang="en-US" i="0" dirty="0" err="1">
                    <a:latin typeface="Cambria Math" panose="02040503050406030204" pitchFamily="18" charset="0"/>
                  </a:rPr>
                  <a:t>𝑟</a:t>
                </a:r>
                <a:r>
                  <a:rPr lang="en-US" i="0" dirty="0" err="1">
                    <a:latin typeface="Cambria Math" panose="02040503050406030204" pitchFamily="18" charset="0"/>
                    <a:ea typeface="Cambria Math" panose="02040503050406030204" pitchFamily="18" charset="0"/>
                  </a:rPr>
                  <a:t>_</a:t>
                </a:r>
                <a:r>
                  <a:rPr lang="en-US" i="0" dirty="0" err="1">
                    <a:latin typeface="Cambria Math" panose="02040503050406030204" pitchFamily="18" charset="0"/>
                  </a:rPr>
                  <a:t>𝑖</a:t>
                </a:r>
                <a:r>
                  <a:rPr lang="en-US" i="0" dirty="0">
                    <a:latin typeface="Cambria Math" panose="02040503050406030204" pitchFamily="18" charset="0"/>
                  </a:rPr>
                  <a:t> (</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)+𝛽 </a:t>
                </a:r>
                <a:r>
                  <a:rPr lang="en-US" i="0" dirty="0" err="1">
                    <a:latin typeface="Cambria Math" panose="02040503050406030204" pitchFamily="18" charset="0"/>
                  </a:rPr>
                  <a:t>𝑉_𝑡</a:t>
                </a:r>
                <a:r>
                  <a:rPr lang="en-US" i="0" dirty="0">
                    <a:latin typeface="Cambria Math" panose="02040503050406030204" pitchFamily="18" charset="0"/>
                  </a:rPr>
                  <a:t> (𝑠_(𝑡</a:t>
                </a:r>
                <a:r>
                  <a:rPr lang="en-US" b="0" i="0" dirty="0">
                    <a:latin typeface="Cambria Math" panose="02040503050406030204" pitchFamily="18" charset="0"/>
                  </a:rPr>
                  <a:t>+1) )] </a:t>
                </a:r>
                <a:r>
                  <a:rPr lang="en-US" i="0" dirty="0">
                    <a:latin typeface="Cambria Math" panose="02040503050406030204" pitchFamily="18" charset="0"/>
                  </a:rPr>
                  <a:t> </a:t>
                </a:r>
                <a:endParaRPr lang="en-US" dirty="0"/>
              </a:p>
              <a:p>
                <a:endParaRPr lang="en-US" dirty="0"/>
              </a:p>
              <a:p>
                <a:r>
                  <a:rPr lang="en-US" dirty="0"/>
                  <a:t>This means the Q-value is an estimate of the expected reward after taking action </a:t>
                </a:r>
                <a:r>
                  <a:rPr lang="en-US" i="0" dirty="0">
                    <a:latin typeface="Cambria Math" panose="02040503050406030204" pitchFamily="18" charset="0"/>
                  </a:rPr>
                  <a:t>𝑎_𝑡</a:t>
                </a:r>
                <a:r>
                  <a:rPr lang="en-US" dirty="0"/>
                  <a:t> in state </a:t>
                </a:r>
                <a:r>
                  <a:rPr lang="en-US" i="0" dirty="0">
                    <a:latin typeface="Cambria Math" panose="02040503050406030204" pitchFamily="18" charset="0"/>
                  </a:rPr>
                  <a:t>𝑠_𝑡</a:t>
                </a:r>
                <a:r>
                  <a:rPr lang="en-US" dirty="0"/>
                  <a:t>, considering both the immediate reward and the future expected rewards.</a:t>
                </a:r>
              </a:p>
              <a:p>
                <a:endParaRPr lang="en-US" dirty="0"/>
              </a:p>
              <a:p>
                <a:r>
                  <a:rPr lang="en-US" dirty="0"/>
                  <a:t>The update rule combines:</a:t>
                </a:r>
              </a:p>
              <a:p>
                <a:pPr marL="685800" lvl="1" indent="-228600">
                  <a:buFont typeface="+mj-lt"/>
                  <a:buAutoNum type="arabicPeriod"/>
                </a:pPr>
                <a:r>
                  <a:rPr lang="en-US" b="1" dirty="0"/>
                  <a:t>Old estimate</a:t>
                </a:r>
                <a:r>
                  <a:rPr lang="en-US" dirty="0"/>
                  <a:t>: The previous Q-value </a:t>
                </a:r>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 )</a:t>
                </a:r>
                <a:endParaRPr lang="en-US" dirty="0"/>
              </a:p>
              <a:p>
                <a:pPr marL="685800" lvl="1" indent="-228600">
                  <a:buFont typeface="+mj-lt"/>
                  <a:buAutoNum type="arabicPeriod"/>
                </a:pPr>
                <a:r>
                  <a:rPr lang="en-US" b="1" dirty="0"/>
                  <a:t>New information</a:t>
                </a:r>
                <a:r>
                  <a:rPr lang="en-US" dirty="0"/>
                  <a:t>: The immediate reward </a:t>
                </a:r>
                <a:r>
                  <a:rPr lang="en-US" i="0" dirty="0">
                    <a:latin typeface="Cambria Math" panose="02040503050406030204" pitchFamily="18" charset="0"/>
                  </a:rPr>
                  <a:t> </a:t>
                </a:r>
                <a:r>
                  <a:rPr lang="en-US" i="0" dirty="0" err="1">
                    <a:latin typeface="Cambria Math" panose="02040503050406030204" pitchFamily="18" charset="0"/>
                  </a:rPr>
                  <a:t>𝑟</a:t>
                </a:r>
                <a:r>
                  <a:rPr lang="en-US" i="0" dirty="0" err="1">
                    <a:latin typeface="Cambria Math" panose="02040503050406030204" pitchFamily="18" charset="0"/>
                    <a:ea typeface="Cambria Math" panose="02040503050406030204" pitchFamily="18" charset="0"/>
                  </a:rPr>
                  <a:t>_</a:t>
                </a:r>
                <a:r>
                  <a:rPr lang="en-US" i="0" dirty="0" err="1">
                    <a:latin typeface="Cambria Math" panose="02040503050406030204" pitchFamily="18" charset="0"/>
                  </a:rPr>
                  <a:t>𝑖</a:t>
                </a:r>
                <a:r>
                  <a:rPr lang="en-US" i="0" dirty="0">
                    <a:latin typeface="Cambria Math" panose="02040503050406030204" pitchFamily="18" charset="0"/>
                  </a:rPr>
                  <a:t> (</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 )</a:t>
                </a:r>
                <a:r>
                  <a:rPr lang="en-US" dirty="0"/>
                  <a:t> and the future reward estimate </a:t>
                </a:r>
                <a:r>
                  <a:rPr lang="en-US" i="0" dirty="0" err="1">
                    <a:latin typeface="Cambria Math" panose="02040503050406030204" pitchFamily="18" charset="0"/>
                  </a:rPr>
                  <a:t>𝑉</a:t>
                </a:r>
                <a:r>
                  <a:rPr lang="en-US" i="0" dirty="0">
                    <a:latin typeface="Cambria Math" panose="02040503050406030204" pitchFamily="18" charset="0"/>
                  </a:rPr>
                  <a:t>_</a:t>
                </a:r>
                <a:r>
                  <a:rPr lang="en-US" i="0" dirty="0" err="1">
                    <a:latin typeface="Cambria Math" panose="02040503050406030204" pitchFamily="18" charset="0"/>
                  </a:rPr>
                  <a:t>𝑡</a:t>
                </a:r>
                <a:r>
                  <a:rPr lang="en-US" i="0" dirty="0">
                    <a:latin typeface="Cambria Math" panose="02040503050406030204" pitchFamily="18" charset="0"/>
                  </a:rPr>
                  <a:t> (𝑠_(𝑡</a:t>
                </a:r>
                <a:r>
                  <a:rPr lang="en-US" b="0" i="0" dirty="0">
                    <a:latin typeface="Cambria Math" panose="02040503050406030204" pitchFamily="18" charset="0"/>
                  </a:rPr>
                  <a:t>+1) )</a:t>
                </a:r>
                <a:r>
                  <a:rPr lang="en-US" dirty="0"/>
                  <a:t>.</a:t>
                </a:r>
              </a:p>
              <a:p>
                <a:pPr marL="457200" lvl="1" indent="0">
                  <a:buFont typeface="+mj-lt"/>
                  <a:buNone/>
                </a:pPr>
                <a:endParaRPr lang="en-US" dirty="0"/>
              </a:p>
              <a:p>
                <a:r>
                  <a:rPr lang="en-US" dirty="0"/>
                  <a:t>To update the Q-value, we use a weighted average between the old Q-value and the new estimate of the total expected reward:</a:t>
                </a:r>
              </a:p>
              <a:p>
                <a:endParaRPr lang="en-US" dirty="0"/>
              </a:p>
              <a:p>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,𝑡+1)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 (1 −</a:t>
                </a:r>
                <a:r>
                  <a:rPr lang="en-US" b="0" i="0" dirty="0">
                    <a:latin typeface="Cambria Math" panose="02040503050406030204" pitchFamily="18" charset="0"/>
                  </a:rPr>
                  <a:t>𝛼_𝑡 ) </a:t>
                </a:r>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 </a:t>
                </a:r>
                <a:r>
                  <a:rPr lang="en-US" i="0" dirty="0">
                    <a:latin typeface="Cambria Math" panose="02040503050406030204" pitchFamily="18" charset="0"/>
                  </a:rPr>
                  <a:t>(</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a:t>
                </a:r>
                <a:r>
                  <a:rPr lang="en-US" i="0" dirty="0">
                    <a:latin typeface="Cambria Math" panose="02040503050406030204" pitchFamily="18" charset="0"/>
                  </a:rPr>
                  <a:t>) +</a:t>
                </a:r>
                <a:r>
                  <a:rPr lang="en-US" b="0" i="0" dirty="0">
                    <a:latin typeface="Cambria Math" panose="02040503050406030204" pitchFamily="18" charset="0"/>
                  </a:rPr>
                  <a:t>𝛼_𝑡 </a:t>
                </a:r>
                <a:r>
                  <a:rPr lang="en-US" i="0" dirty="0">
                    <a:latin typeface="Cambria Math" panose="02040503050406030204" pitchFamily="18" charset="0"/>
                  </a:rPr>
                  <a:t>( </a:t>
                </a:r>
                <a:r>
                  <a:rPr lang="en-US" i="0" dirty="0" err="1">
                    <a:latin typeface="Cambria Math" panose="02040503050406030204" pitchFamily="18" charset="0"/>
                  </a:rPr>
                  <a:t>𝑟_𝑖</a:t>
                </a:r>
                <a:r>
                  <a:rPr lang="en-US" i="0" dirty="0">
                    <a:latin typeface="Cambria Math" panose="02040503050406030204" pitchFamily="18" charset="0"/>
                  </a:rPr>
                  <a:t> (</a:t>
                </a:r>
                <a:r>
                  <a:rPr lang="en-US" i="0" dirty="0" err="1">
                    <a:latin typeface="Cambria Math" panose="02040503050406030204" pitchFamily="18" charset="0"/>
                  </a:rPr>
                  <a:t>𝑠_𝑡</a:t>
                </a:r>
                <a:r>
                  <a:rPr lang="en-US" i="0" dirty="0">
                    <a:latin typeface="Cambria Math" panose="02040503050406030204" pitchFamily="18" charset="0"/>
                  </a:rPr>
                  <a:t>, </a:t>
                </a:r>
                <a:r>
                  <a:rPr lang="en-US" i="0" dirty="0" err="1">
                    <a:latin typeface="Cambria Math" panose="02040503050406030204" pitchFamily="18" charset="0"/>
                  </a:rPr>
                  <a:t>𝑎_𝑡</a:t>
                </a:r>
                <a:r>
                  <a:rPr lang="en-US" i="0" dirty="0">
                    <a:latin typeface="Cambria Math" panose="02040503050406030204" pitchFamily="18" charset="0"/>
                  </a:rPr>
                  <a:t>, </a:t>
                </a:r>
                <a:r>
                  <a:rPr lang="en-US" i="0" dirty="0" err="1">
                    <a:latin typeface="Cambria Math" panose="02040503050406030204" pitchFamily="18" charset="0"/>
                  </a:rPr>
                  <a:t>𝑜_𝑡 )</a:t>
                </a:r>
                <a:r>
                  <a:rPr lang="en-US" i="0" dirty="0">
                    <a:latin typeface="Cambria Math" panose="02040503050406030204" pitchFamily="18" charset="0"/>
                  </a:rPr>
                  <a:t>+𝛽 </a:t>
                </a:r>
                <a:r>
                  <a:rPr lang="en-US" i="0" dirty="0" err="1">
                    <a:latin typeface="Cambria Math" panose="02040503050406030204" pitchFamily="18" charset="0"/>
                  </a:rPr>
                  <a:t>𝑉_𝑡</a:t>
                </a:r>
                <a:r>
                  <a:rPr lang="en-US" i="0" dirty="0">
                    <a:latin typeface="Cambria Math" panose="02040503050406030204" pitchFamily="18" charset="0"/>
                  </a:rPr>
                  <a:t> (𝑠_(</a:t>
                </a:r>
                <a:r>
                  <a:rPr lang="en-US" b="0" i="0" dirty="0">
                    <a:latin typeface="Cambria Math" panose="02040503050406030204" pitchFamily="18" charset="0"/>
                  </a:rPr>
                  <a:t>𝑡+1) ))</a:t>
                </a:r>
                <a:endParaRPr lang="en-US" dirty="0"/>
              </a:p>
              <a:p>
                <a:endParaRPr lang="en-US" dirty="0"/>
              </a:p>
              <a:p>
                <a:r>
                  <a:rPr lang="en-US" dirty="0"/>
                  <a:t>This is a standard form of </a:t>
                </a:r>
                <a:r>
                  <a:rPr lang="en-US" b="1" dirty="0"/>
                  <a:t>Q-learning</a:t>
                </a:r>
                <a:r>
                  <a:rPr lang="en-US" dirty="0"/>
                  <a:t> or </a:t>
                </a:r>
                <a:r>
                  <a:rPr lang="en-US" b="1" dirty="0"/>
                  <a:t>temporal difference learning</a:t>
                </a:r>
                <a:r>
                  <a:rPr lang="en-US" dirty="0"/>
                  <a:t> used in both single-agent and multi-agent settings. In multi-agent systems, the joint action </a:t>
                </a:r>
                <a:r>
                  <a:rPr lang="en-US" i="0" dirty="0">
                    <a:latin typeface="Cambria Math" panose="02040503050406030204" pitchFamily="18" charset="0"/>
                  </a:rPr>
                  <a:t>𝑎_𝑡</a:t>
                </a:r>
                <a:r>
                  <a:rPr lang="en-US" dirty="0"/>
                  <a:t> may include the actions of other agents, but the structure of the update remains similar.</a:t>
                </a:r>
              </a:p>
              <a:p>
                <a:endParaRPr dirty="0"/>
              </a:p>
            </p:txBody>
          </p:sp>
        </mc:Fallback>
      </mc:AlternateContent>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dirty="0"/>
                  <a:t>In </a:t>
                </a:r>
                <a:r>
                  <a:rPr lang="en-US" dirty="0" err="1"/>
                  <a:t>MiniMax</a:t>
                </a:r>
                <a:r>
                  <a:rPr lang="en-US" dirty="0"/>
                  <a:t> Q-learning for two-player zero-sum games, the value update for state </a:t>
                </a:r>
                <a14:m>
                  <m:oMath xmlns:m="http://schemas.openxmlformats.org/officeDocument/2006/math">
                    <m:r>
                      <a:rPr lang="en-US" i="1" dirty="0" smtClean="0">
                        <a:latin typeface="Cambria Math" panose="02040503050406030204" pitchFamily="18" charset="0"/>
                      </a:rPr>
                      <m:t>𝑠</m:t>
                    </m:r>
                  </m:oMath>
                </a14:m>
                <a:r>
                  <a:rPr lang="en-US" dirty="0"/>
                  <a:t> follows a </a:t>
                </a:r>
                <a:r>
                  <a:rPr lang="en-US" b="1" dirty="0" err="1"/>
                  <a:t>MiniMax</a:t>
                </a:r>
                <a:r>
                  <a:rPr lang="en-US" b="1" dirty="0"/>
                  <a:t> approach</a:t>
                </a:r>
                <a:r>
                  <a:rPr lang="en-US" dirty="0"/>
                  <a:t>, reflecting the adversarial nature of such games. Here's how the update works:</a:t>
                </a:r>
              </a:p>
              <a:p>
                <a:endParaRPr lang="en-US" dirty="0"/>
              </a:p>
              <a:p>
                <a:r>
                  <a:rPr lang="en-US" b="1" dirty="0"/>
                  <a:t>Value Update Rule:</a:t>
                </a:r>
              </a:p>
              <a:p>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𝑉</m:t>
                          </m:r>
                        </m:e>
                        <m:sub>
                          <m:r>
                            <a:rPr lang="en-US" i="1" dirty="0" smtClean="0">
                              <a:latin typeface="Cambria Math" panose="02040503050406030204" pitchFamily="18" charset="0"/>
                            </a:rPr>
                            <m:t>𝑡</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e>
                      </m:d>
                      <m:r>
                        <a:rPr lang="en-US" i="1" dirty="0" smtClean="0">
                          <a:latin typeface="Cambria Math" panose="02040503050406030204" pitchFamily="18" charset="0"/>
                        </a:rPr>
                        <m:t>=</m:t>
                      </m:r>
                      <m:limLow>
                        <m:limLowPr>
                          <m:ctrlPr>
                            <a:rPr lang="en-US" i="1" dirty="0" smtClean="0">
                              <a:latin typeface="Cambria Math" panose="02040503050406030204" pitchFamily="18" charset="0"/>
                            </a:rPr>
                          </m:ctrlPr>
                        </m:limLowPr>
                        <m:e>
                          <m:r>
                            <m:rPr>
                              <m:sty m:val="p"/>
                            </m:rPr>
                            <a:rPr lang="en-US" i="0" dirty="0" smtClean="0">
                              <a:latin typeface="Cambria Math" panose="02040503050406030204" pitchFamily="18" charset="0"/>
                            </a:rPr>
                            <m:t>max</m:t>
                          </m:r>
                        </m:e>
                        <m:lim>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Π</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 </m:t>
                          </m:r>
                        </m:lim>
                      </m:limLow>
                      <m:limLow>
                        <m:limLowPr>
                          <m:ctrlPr>
                            <a:rPr lang="en-US" i="1" dirty="0" err="1" smtClean="0">
                              <a:latin typeface="Cambria Math" panose="02040503050406030204" pitchFamily="18" charset="0"/>
                            </a:rPr>
                          </m:ctrlPr>
                        </m:limLowPr>
                        <m:e>
                          <m:r>
                            <a:rPr lang="en-US" b="0" i="0" dirty="0" smtClean="0">
                              <a:latin typeface="Cambria Math" panose="02040503050406030204" pitchFamily="18" charset="0"/>
                            </a:rPr>
                            <m:t> </m:t>
                          </m:r>
                          <m:r>
                            <m:rPr>
                              <m:sty m:val="p"/>
                            </m:rPr>
                            <a:rPr lang="en-US" i="0" dirty="0" err="1" smtClean="0">
                              <a:latin typeface="Cambria Math" panose="02040503050406030204" pitchFamily="18" charset="0"/>
                            </a:rPr>
                            <m:t>min</m:t>
                          </m:r>
                        </m:e>
                        <m:lim>
                          <m:r>
                            <a:rPr lang="en-US" i="1" dirty="0" err="1" smtClean="0">
                              <a:latin typeface="Cambria Math" panose="02040503050406030204" pitchFamily="18" charset="0"/>
                            </a:rPr>
                            <m:t>𝑜</m:t>
                          </m:r>
                        </m:lim>
                      </m:limLow>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Π</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smtClean="0">
                          <a:latin typeface="Cambria Math" panose="02040503050406030204" pitchFamily="18" charset="0"/>
                        </a:rPr>
                        <m:t>𝑜</m:t>
                      </m:r>
                      <m:r>
                        <a:rPr lang="en-US" i="1" dirty="0" smtClean="0">
                          <a:latin typeface="Cambria Math" panose="02040503050406030204" pitchFamily="18" charset="0"/>
                        </a:rPr>
                        <m:t>)</m:t>
                      </m:r>
                    </m:oMath>
                  </m:oMathPara>
                </a14:m>
                <a:endParaRPr lang="en-US" dirty="0"/>
              </a:p>
              <a:p>
                <a:r>
                  <a:rPr lang="en-US" dirty="0"/>
                  <a:t>Where:</a:t>
                </a:r>
              </a:p>
              <a:p>
                <a:pPr marL="628650" lvl="1" indent="-171450">
                  <a:buFont typeface="Arial" panose="020B0604020202020204" pitchFamily="34" charset="0"/>
                  <a:buChar char="•"/>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𝑉</m:t>
                        </m:r>
                      </m:e>
                      <m:sub>
                        <m:r>
                          <a:rPr lang="en-US" i="1" dirty="0" smtClean="0">
                            <a:latin typeface="Cambria Math" panose="02040503050406030204" pitchFamily="18" charset="0"/>
                          </a:rPr>
                          <m:t>𝑡</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e>
                    </m:d>
                  </m:oMath>
                </a14:m>
                <a:r>
                  <a:rPr lang="en-US" dirty="0"/>
                  <a:t>: The value of the state </a:t>
                </a:r>
                <a14:m>
                  <m:oMath xmlns:m="http://schemas.openxmlformats.org/officeDocument/2006/math">
                    <m:r>
                      <a:rPr lang="en-US" i="1" dirty="0" smtClean="0">
                        <a:latin typeface="Cambria Math" panose="02040503050406030204" pitchFamily="18" charset="0"/>
                      </a:rPr>
                      <m:t>𝑠</m:t>
                    </m:r>
                  </m:oMath>
                </a14:m>
                <a:r>
                  <a:rPr lang="en-US" dirty="0"/>
                  <a:t> at time </a:t>
                </a:r>
                <a14:m>
                  <m:oMath xmlns:m="http://schemas.openxmlformats.org/officeDocument/2006/math">
                    <m:r>
                      <a:rPr lang="en-US" i="1" dirty="0" smtClean="0">
                        <a:latin typeface="Cambria Math" panose="02040503050406030204" pitchFamily="18" charset="0"/>
                      </a:rPr>
                      <m:t>𝑡</m:t>
                    </m:r>
                  </m:oMath>
                </a14:m>
                <a:r>
                  <a:rPr lang="en-US" dirty="0"/>
                  <a:t>, representing the maximum value that player </a:t>
                </a:r>
                <a14:m>
                  <m:oMath xmlns:m="http://schemas.openxmlformats.org/officeDocument/2006/math">
                    <m:r>
                      <a:rPr lang="en-US" i="1" dirty="0" smtClean="0">
                        <a:latin typeface="Cambria Math" panose="02040503050406030204" pitchFamily="18" charset="0"/>
                      </a:rPr>
                      <m:t>𝑖</m:t>
                    </m:r>
                  </m:oMath>
                </a14:m>
                <a:r>
                  <a:rPr lang="en-US" dirty="0"/>
                  <a:t> (the row player) can guarantee, considering the worst possible response from player </a:t>
                </a:r>
                <a14:m>
                  <m:oMath xmlns:m="http://schemas.openxmlformats.org/officeDocument/2006/math">
                    <m:r>
                      <a:rPr lang="en-US" i="1" dirty="0" smtClean="0">
                        <a:latin typeface="Cambria Math" panose="02040503050406030204" pitchFamily="18" charset="0"/>
                      </a:rPr>
                      <m:t>𝑜</m:t>
                    </m:r>
                  </m:oMath>
                </a14:m>
                <a:r>
                  <a:rPr lang="en-US" dirty="0"/>
                  <a:t> (the column player).</a:t>
                </a:r>
              </a:p>
              <a:p>
                <a:pPr marL="628650" lvl="1" indent="-1714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Player </a:t>
                </a:r>
                <a14:m>
                  <m:oMath xmlns:m="http://schemas.openxmlformats.org/officeDocument/2006/math">
                    <m:r>
                      <a:rPr lang="en-US" i="1" dirty="0" smtClean="0">
                        <a:latin typeface="Cambria Math" panose="02040503050406030204" pitchFamily="18" charset="0"/>
                      </a:rPr>
                      <m:t>𝑖</m:t>
                    </m:r>
                  </m:oMath>
                </a14:m>
                <a:r>
                  <a:rPr lang="en-US" dirty="0"/>
                  <a:t>'s policy, which defines the action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that player </a:t>
                </a:r>
                <a14:m>
                  <m:oMath xmlns:m="http://schemas.openxmlformats.org/officeDocument/2006/math">
                    <m:r>
                      <a:rPr lang="en-US" i="1" dirty="0" smtClean="0">
                        <a:latin typeface="Cambria Math" panose="02040503050406030204" pitchFamily="18" charset="0"/>
                      </a:rPr>
                      <m:t>𝑖</m:t>
                    </m:r>
                  </m:oMath>
                </a14:m>
                <a:r>
                  <a:rPr lang="en-US" dirty="0"/>
                  <a:t> will take in state </a:t>
                </a:r>
                <a14:m>
                  <m:oMath xmlns:m="http://schemas.openxmlformats.org/officeDocument/2006/math">
                    <m:r>
                      <a:rPr lang="en-US" i="1" dirty="0" smtClean="0">
                        <a:latin typeface="Cambria Math" panose="02040503050406030204" pitchFamily="18" charset="0"/>
                      </a:rPr>
                      <m:t>𝑠</m:t>
                    </m:r>
                  </m:oMath>
                </a14:m>
                <a:r>
                  <a:rPr lang="en-US"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𝑄</m:t>
                        </m:r>
                      </m:e>
                      <m:sub>
                        <m:r>
                          <a:rPr lang="en-US" i="1" dirty="0" err="1"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𝑡</m:t>
                        </m:r>
                      </m:sub>
                    </m:sSub>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Π</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smtClean="0">
                        <a:latin typeface="Cambria Math" panose="02040503050406030204" pitchFamily="18" charset="0"/>
                      </a:rPr>
                      <m:t>𝑜</m:t>
                    </m:r>
                    <m:r>
                      <a:rPr lang="en-US" i="1" dirty="0" smtClean="0">
                        <a:latin typeface="Cambria Math" panose="02040503050406030204" pitchFamily="18" charset="0"/>
                      </a:rPr>
                      <m:t>)</m:t>
                    </m:r>
                  </m:oMath>
                </a14:m>
                <a:r>
                  <a:rPr lang="en-US" dirty="0"/>
                  <a:t>: The Q-value of the joint action, representing the expected reward when player </a:t>
                </a:r>
                <a14:m>
                  <m:oMath xmlns:m="http://schemas.openxmlformats.org/officeDocument/2006/math">
                    <m:r>
                      <a:rPr lang="en-US" i="1" dirty="0" smtClean="0">
                        <a:latin typeface="Cambria Math" panose="02040503050406030204" pitchFamily="18" charset="0"/>
                      </a:rPr>
                      <m:t>𝑖</m:t>
                    </m:r>
                  </m:oMath>
                </a14:m>
                <a:r>
                  <a:rPr lang="en-US" dirty="0"/>
                  <a:t> chooses action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and the opponent </a:t>
                </a:r>
                <a14:m>
                  <m:oMath xmlns:m="http://schemas.openxmlformats.org/officeDocument/2006/math">
                    <m:r>
                      <a:rPr lang="en-US" i="1" dirty="0" smtClean="0">
                        <a:latin typeface="Cambria Math" panose="02040503050406030204" pitchFamily="18" charset="0"/>
                      </a:rPr>
                      <m:t>𝑜</m:t>
                    </m:r>
                  </m:oMath>
                </a14:m>
                <a:r>
                  <a:rPr lang="en-US" dirty="0"/>
                  <a:t> responds with their action.</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r>
                  <a:rPr lang="en-US" b="1" dirty="0" err="1"/>
                  <a:t>MiniMax</a:t>
                </a:r>
                <a:r>
                  <a:rPr lang="en-US" b="1" dirty="0"/>
                  <a:t> Explanation:</a:t>
                </a:r>
              </a:p>
              <a:p>
                <a:pPr marL="628650" lvl="1" indent="-171450">
                  <a:buFont typeface="Arial" panose="020B0604020202020204" pitchFamily="34" charset="0"/>
                  <a:buChar char="•"/>
                </a:pPr>
                <a:r>
                  <a:rPr lang="en-US" b="1" dirty="0"/>
                  <a:t>Maximization</a:t>
                </a:r>
                <a:r>
                  <a:rPr lang="en-US" dirty="0"/>
                  <a:t>: Player </a:t>
                </a:r>
                <a14:m>
                  <m:oMath xmlns:m="http://schemas.openxmlformats.org/officeDocument/2006/math">
                    <m:r>
                      <a:rPr lang="en-US" i="1" dirty="0" smtClean="0">
                        <a:latin typeface="Cambria Math" panose="02040503050406030204" pitchFamily="18" charset="0"/>
                      </a:rPr>
                      <m:t>𝑖</m:t>
                    </m:r>
                  </m:oMath>
                </a14:m>
                <a:r>
                  <a:rPr lang="en-US" dirty="0"/>
                  <a:t> (the maximizer) tries to choose the policy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a:rPr lang="en-US" b="0" i="1" smtClean="0">
                            <a:latin typeface="Cambria Math" panose="02040503050406030204" pitchFamily="18" charset="0"/>
                          </a:rPr>
                          <m:t>𝑖</m:t>
                        </m:r>
                      </m:sub>
                    </m:sSub>
                  </m:oMath>
                </a14:m>
                <a:r>
                  <a:rPr lang="en-US" dirty="0"/>
                  <a:t> that maximizes their minimum possible payoff.</a:t>
                </a:r>
              </a:p>
              <a:p>
                <a:pPr marL="628650" lvl="1" indent="-171450">
                  <a:buFont typeface="Arial" panose="020B0604020202020204" pitchFamily="34" charset="0"/>
                  <a:buChar char="•"/>
                </a:pPr>
                <a:r>
                  <a:rPr lang="en-US" b="1" dirty="0"/>
                  <a:t>Minimization</a:t>
                </a:r>
                <a:r>
                  <a:rPr lang="en-US" dirty="0"/>
                  <a:t>: Player </a:t>
                </a:r>
                <a14:m>
                  <m:oMath xmlns:m="http://schemas.openxmlformats.org/officeDocument/2006/math">
                    <m:r>
                      <a:rPr lang="en-US" i="1" dirty="0" smtClean="0">
                        <a:latin typeface="Cambria Math" panose="02040503050406030204" pitchFamily="18" charset="0"/>
                      </a:rPr>
                      <m:t>𝑜</m:t>
                    </m:r>
                  </m:oMath>
                </a14:m>
                <a:r>
                  <a:rPr lang="en-US" dirty="0"/>
                  <a:t> (the opponent, or minimizer) tries to minimize player </a:t>
                </a:r>
                <a14:m>
                  <m:oMath xmlns:m="http://schemas.openxmlformats.org/officeDocument/2006/math">
                    <m:r>
                      <a:rPr lang="en-US" i="1" dirty="0" smtClean="0">
                        <a:latin typeface="Cambria Math" panose="02040503050406030204" pitchFamily="18" charset="0"/>
                      </a:rPr>
                      <m:t>𝑖</m:t>
                    </m:r>
                  </m:oMath>
                </a14:m>
                <a:r>
                  <a:rPr lang="en-US" dirty="0"/>
                  <a:t>'s payoff, acting in an adversarial manner.</a:t>
                </a:r>
              </a:p>
              <a:p>
                <a:pPr marL="457200" lvl="1" indent="0">
                  <a:buFont typeface="Arial" panose="020B0604020202020204" pitchFamily="34" charset="0"/>
                  <a:buNone/>
                </a:pPr>
                <a:endParaRPr lang="en-US" dirty="0"/>
              </a:p>
              <a:p>
                <a:r>
                  <a:rPr lang="en-US" dirty="0"/>
                  <a:t>Thus, the goal for player </a:t>
                </a:r>
                <a14:m>
                  <m:oMath xmlns:m="http://schemas.openxmlformats.org/officeDocument/2006/math">
                    <m:r>
                      <a:rPr lang="en-US" i="1" dirty="0" smtClean="0">
                        <a:latin typeface="Cambria Math" panose="02040503050406030204" pitchFamily="18" charset="0"/>
                      </a:rPr>
                      <m:t>𝑖</m:t>
                    </m:r>
                  </m:oMath>
                </a14:m>
                <a:r>
                  <a:rPr lang="en-US" dirty="0"/>
                  <a:t> is to maximize their guaranteed reward, taking into account that their opponent </a:t>
                </a:r>
                <a14:m>
                  <m:oMath xmlns:m="http://schemas.openxmlformats.org/officeDocument/2006/math">
                    <m:r>
                      <a:rPr lang="en-US" i="1" dirty="0" smtClean="0">
                        <a:latin typeface="Cambria Math" panose="02040503050406030204" pitchFamily="18" charset="0"/>
                      </a:rPr>
                      <m:t>𝑜</m:t>
                    </m:r>
                  </m:oMath>
                </a14:m>
                <a:r>
                  <a:rPr lang="en-US" dirty="0"/>
                  <a:t> will act optimally to minimize their payoff.</a:t>
                </a:r>
              </a:p>
              <a:p>
                <a:endParaRPr lang="en-US" dirty="0"/>
              </a:p>
              <a:p>
                <a:r>
                  <a:rPr lang="en-US" b="1" dirty="0" err="1"/>
                  <a:t>MiniMax</a:t>
                </a:r>
                <a:r>
                  <a:rPr lang="en-US" b="1" dirty="0"/>
                  <a:t> in Practice:</a:t>
                </a:r>
              </a:p>
              <a:p>
                <a:pPr marL="685800" lvl="1" indent="-228600">
                  <a:buFont typeface="+mj-lt"/>
                  <a:buAutoNum type="arabicPeriod"/>
                </a:pPr>
                <a:r>
                  <a:rPr lang="en-US" b="1" dirty="0"/>
                  <a:t>Linear Solver</a:t>
                </a:r>
                <a:r>
                  <a:rPr lang="en-US" dirty="0"/>
                  <a:t>: In practice, computing this update requires solving a </a:t>
                </a:r>
                <a:r>
                  <a:rPr lang="en-US" b="1" dirty="0"/>
                  <a:t>linear programming problem</a:t>
                </a:r>
                <a:r>
                  <a:rPr lang="en-US" dirty="0"/>
                  <a:t> at each step. The linear solver is used to find the </a:t>
                </a:r>
                <a:r>
                  <a:rPr lang="en-US" dirty="0" err="1"/>
                  <a:t>MiniMax</a:t>
                </a:r>
                <a:r>
                  <a:rPr lang="en-US" dirty="0"/>
                  <a:t> solution by solving for the mixed strategies (probability distributions over actions) that player iii and the opponent </a:t>
                </a:r>
                <a14:m>
                  <m:oMath xmlns:m="http://schemas.openxmlformats.org/officeDocument/2006/math">
                    <m:r>
                      <a:rPr lang="en-US" i="1" dirty="0" smtClean="0">
                        <a:latin typeface="Cambria Math" panose="02040503050406030204" pitchFamily="18" charset="0"/>
                      </a:rPr>
                      <m:t>𝑜</m:t>
                    </m:r>
                  </m:oMath>
                </a14:m>
                <a:r>
                  <a:rPr lang="en-US" dirty="0"/>
                  <a:t> will use to optimize their strategies.</a:t>
                </a:r>
              </a:p>
              <a:p>
                <a:pPr marL="685800" lvl="1" indent="-228600">
                  <a:buFont typeface="+mj-lt"/>
                  <a:buAutoNum type="arabicPeriod"/>
                </a:pPr>
                <a:r>
                  <a:rPr lang="en-US" b="1" dirty="0"/>
                  <a:t>Q-iteration</a:t>
                </a:r>
                <a:r>
                  <a:rPr lang="en-US" dirty="0"/>
                  <a:t>: The algorithm iteratively updates the Q-values and state values over time. At each step </a:t>
                </a:r>
                <a14:m>
                  <m:oMath xmlns:m="http://schemas.openxmlformats.org/officeDocument/2006/math">
                    <m:r>
                      <a:rPr lang="en-US" i="1" dirty="0" smtClean="0">
                        <a:latin typeface="Cambria Math" panose="02040503050406030204" pitchFamily="18" charset="0"/>
                      </a:rPr>
                      <m:t>𝑡</m:t>
                    </m:r>
                  </m:oMath>
                </a14:m>
                <a:r>
                  <a:rPr lang="en-US" dirty="0"/>
                  <a:t>, the algorithm computes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𝑉</m:t>
                        </m:r>
                      </m:e>
                      <m:sub>
                        <m:r>
                          <a:rPr lang="en-US" i="1" dirty="0" smtClean="0">
                            <a:latin typeface="Cambria Math" panose="02040503050406030204" pitchFamily="18" charset="0"/>
                          </a:rPr>
                          <m:t>𝑡</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e>
                    </m:d>
                  </m:oMath>
                </a14:m>
                <a:r>
                  <a:rPr lang="en-US" dirty="0"/>
                  <a:t> using the </a:t>
                </a:r>
                <a:r>
                  <a:rPr lang="en-US" dirty="0" err="1"/>
                  <a:t>MiniMax</a:t>
                </a:r>
                <a:r>
                  <a:rPr lang="en-US" dirty="0"/>
                  <a:t> formulation, then updates the Q-values based on new information from the game environment.</a:t>
                </a:r>
              </a:p>
              <a:p>
                <a:pPr marL="457200" lvl="1" indent="0">
                  <a:buFont typeface="+mj-lt"/>
                  <a:buNone/>
                </a:pPr>
                <a:endParaRPr lang="en-US" dirty="0"/>
              </a:p>
              <a:p>
                <a:r>
                  <a:rPr lang="en-US" b="1" dirty="0"/>
                  <a:t>Summary of the Process:</a:t>
                </a:r>
              </a:p>
              <a:p>
                <a:pPr marL="628650" lvl="1" indent="-171450">
                  <a:buFont typeface="Arial" panose="020B0604020202020204" pitchFamily="34" charset="0"/>
                  <a:buChar char="•"/>
                </a:pPr>
                <a:r>
                  <a:rPr lang="en-US" dirty="0"/>
                  <a:t>At each state </a:t>
                </a:r>
                <a14:m>
                  <m:oMath xmlns:m="http://schemas.openxmlformats.org/officeDocument/2006/math">
                    <m:r>
                      <a:rPr lang="en-US" i="1" dirty="0" smtClean="0">
                        <a:latin typeface="Cambria Math" panose="02040503050406030204" pitchFamily="18" charset="0"/>
                      </a:rPr>
                      <m:t>𝑠</m:t>
                    </m:r>
                  </m:oMath>
                </a14:m>
                <a:r>
                  <a:rPr lang="en-US" dirty="0"/>
                  <a:t>, player </a:t>
                </a:r>
                <a14:m>
                  <m:oMath xmlns:m="http://schemas.openxmlformats.org/officeDocument/2006/math">
                    <m:r>
                      <a:rPr lang="en-US" i="1" dirty="0" smtClean="0">
                        <a:latin typeface="Cambria Math" panose="02040503050406030204" pitchFamily="18" charset="0"/>
                      </a:rPr>
                      <m:t>𝑖</m:t>
                    </m:r>
                  </m:oMath>
                </a14:m>
                <a:r>
                  <a:rPr lang="en-US" dirty="0"/>
                  <a:t> looks for the best policy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knowing that the opponent will respond with the action that minimizes their payoff.</a:t>
                </a:r>
              </a:p>
              <a:p>
                <a:pPr marL="628650" lvl="1" indent="-171450">
                  <a:buFont typeface="Arial" panose="020B0604020202020204" pitchFamily="34" charset="0"/>
                  <a:buChar char="•"/>
                </a:pPr>
                <a:r>
                  <a:rPr lang="en-US" dirty="0"/>
                  <a:t>The value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𝑉</m:t>
                        </m:r>
                      </m:e>
                      <m:sub>
                        <m:r>
                          <a:rPr lang="en-US" i="1" dirty="0" smtClean="0">
                            <a:latin typeface="Cambria Math" panose="02040503050406030204" pitchFamily="18" charset="0"/>
                          </a:rPr>
                          <m:t>𝑡</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e>
                    </m:d>
                  </m:oMath>
                </a14:m>
                <a:r>
                  <a:rPr lang="en-US" dirty="0"/>
                  <a:t> is then the maximum value that player iii can secure, considering the worst-case scenario (i.e., the opponent's best minimizing action).</a:t>
                </a:r>
              </a:p>
              <a:p>
                <a:pPr marL="628650" lvl="1" indent="-171450">
                  <a:buFont typeface="Arial" panose="020B0604020202020204" pitchFamily="34" charset="0"/>
                  <a:buChar char="•"/>
                </a:pPr>
                <a:r>
                  <a:rPr lang="en-US" dirty="0"/>
                  <a:t>This iterative process continues, using a linear solver to compute the </a:t>
                </a:r>
                <a:r>
                  <a:rPr lang="en-US" dirty="0" err="1"/>
                  <a:t>MiniMax</a:t>
                </a:r>
                <a:r>
                  <a:rPr lang="en-US" dirty="0"/>
                  <a:t> solution at each step, eventually converging to the optimal strategies for both players.</a:t>
                </a:r>
              </a:p>
              <a:p>
                <a:pPr marL="457200" lvl="1" indent="0">
                  <a:buFont typeface="Arial" panose="020B0604020202020204" pitchFamily="34" charset="0"/>
                  <a:buNone/>
                </a:pPr>
                <a:endParaRPr lang="en-US" dirty="0"/>
              </a:p>
              <a:p>
                <a:r>
                  <a:rPr lang="en-US" dirty="0"/>
                  <a:t>This method is well-suited for two-player zero-sum games where each player has opposing objectives, and it leads to finding Nash equilibria in the game.</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dirty="0"/>
                  <a:t>In </a:t>
                </a:r>
                <a:r>
                  <a:rPr lang="en-US" dirty="0" err="1"/>
                  <a:t>MiniMax</a:t>
                </a:r>
                <a:r>
                  <a:rPr lang="en-US" dirty="0"/>
                  <a:t> Q-learning for two-player zero-sum games, the value update for state </a:t>
                </a:r>
                <a:r>
                  <a:rPr lang="en-US" i="0" dirty="0">
                    <a:latin typeface="Cambria Math" panose="02040503050406030204" pitchFamily="18" charset="0"/>
                  </a:rPr>
                  <a:t>𝑠</a:t>
                </a:r>
                <a:r>
                  <a:rPr lang="en-US" dirty="0"/>
                  <a:t> follows a </a:t>
                </a:r>
                <a:r>
                  <a:rPr lang="en-US" b="1" dirty="0" err="1"/>
                  <a:t>MiniMax</a:t>
                </a:r>
                <a:r>
                  <a:rPr lang="en-US" b="1" dirty="0"/>
                  <a:t> approach</a:t>
                </a:r>
                <a:r>
                  <a:rPr lang="en-US" dirty="0"/>
                  <a:t>, reflecting the adversarial nature of such games. Here's how the update works:</a:t>
                </a:r>
              </a:p>
              <a:p>
                <a:endParaRPr lang="en-US" dirty="0"/>
              </a:p>
              <a:p>
                <a:r>
                  <a:rPr lang="en-US" b="1" dirty="0"/>
                  <a:t>Value Update Rule:</a:t>
                </a:r>
              </a:p>
              <a:p>
                <a:r>
                  <a:rPr lang="en-US" i="0" dirty="0">
                    <a:latin typeface="Cambria Math" panose="02040503050406030204" pitchFamily="18" charset="0"/>
                  </a:rPr>
                  <a:t>𝑉_𝑡</a:t>
                </a:r>
                <a:r>
                  <a:rPr lang="en-US" b="0" i="0" dirty="0">
                    <a:latin typeface="Cambria Math" panose="02040503050406030204" pitchFamily="18" charset="0"/>
                  </a:rPr>
                  <a:t> (𝑠)</a:t>
                </a:r>
                <a:r>
                  <a:rPr lang="en-US" i="0" dirty="0">
                    <a:latin typeface="Cambria Math" panose="02040503050406030204" pitchFamily="18" charset="0"/>
                  </a:rPr>
                  <a:t>=max_(</a:t>
                </a:r>
                <a:r>
                  <a:rPr lang="en-US" b="0" i="0" dirty="0">
                    <a:latin typeface="Cambria Math" panose="02040503050406030204" pitchFamily="18" charset="0"/>
                  </a:rPr>
                  <a:t>Π_𝑖  )</a:t>
                </a:r>
                <a:r>
                  <a:rPr lang="en-US" b="0" i="0" dirty="0" err="1">
                    <a:latin typeface="Cambria Math" panose="02040503050406030204" pitchFamily="18" charset="0"/>
                  </a:rPr>
                  <a:t> </a:t>
                </a:r>
                <a:r>
                  <a:rPr lang="en-US" b="0" i="0" dirty="0">
                    <a:latin typeface="Cambria Math" panose="02040503050406030204" pitchFamily="18" charset="0"/>
                  </a:rPr>
                  <a:t> </a:t>
                </a:r>
                <a:r>
                  <a:rPr lang="en-US" b="0" i="0" dirty="0" err="1">
                    <a:latin typeface="Cambria Math" panose="02040503050406030204" pitchFamily="18" charset="0"/>
                  </a:rPr>
                  <a:t>(</a:t>
                </a:r>
                <a:r>
                  <a:rPr lang="en-US" b="0" i="0" dirty="0">
                    <a:latin typeface="Cambria Math" panose="02040503050406030204" pitchFamily="18" charset="0"/>
                  </a:rPr>
                  <a:t> </a:t>
                </a:r>
                <a:r>
                  <a:rPr lang="en-US" i="0" dirty="0" err="1">
                    <a:latin typeface="Cambria Math" panose="02040503050406030204" pitchFamily="18" charset="0"/>
                  </a:rPr>
                  <a:t>min)_𝑜</a:t>
                </a:r>
                <a:r>
                  <a:rPr lang="en-US" i="0" dirty="0">
                    <a:latin typeface="Cambria Math" panose="02040503050406030204" pitchFamily="18" charset="0"/>
                  </a:rPr>
                  <a:t>  𝑄_(</a:t>
                </a:r>
                <a:r>
                  <a:rPr lang="en-US" i="0" dirty="0" err="1">
                    <a:latin typeface="Cambria Math" panose="02040503050406030204" pitchFamily="18" charset="0"/>
                  </a:rPr>
                  <a:t>𝑖</a:t>
                </a:r>
                <a:r>
                  <a:rPr lang="en-US" b="0" i="0" dirty="0">
                    <a:latin typeface="Cambria Math" panose="02040503050406030204" pitchFamily="18" charset="0"/>
                  </a:rPr>
                  <a:t>,𝑡) </a:t>
                </a:r>
                <a:r>
                  <a:rPr lang="en-US" i="0" dirty="0">
                    <a:latin typeface="Cambria Math" panose="02040503050406030204" pitchFamily="18" charset="0"/>
                  </a:rPr>
                  <a:t>(𝑠, </a:t>
                </a:r>
                <a:r>
                  <a:rPr lang="en-US" b="0" i="0" dirty="0">
                    <a:latin typeface="Cambria Math" panose="02040503050406030204" pitchFamily="18" charset="0"/>
                  </a:rPr>
                  <a:t>Π_𝑖 </a:t>
                </a:r>
                <a:r>
                  <a:rPr lang="en-US" i="0" dirty="0">
                    <a:latin typeface="Cambria Math" panose="02040503050406030204" pitchFamily="18" charset="0"/>
                  </a:rPr>
                  <a:t>(𝑠), 𝑜)</a:t>
                </a:r>
                <a:endParaRPr lang="en-US" dirty="0"/>
              </a:p>
              <a:p>
                <a:r>
                  <a:rPr lang="en-US" dirty="0"/>
                  <a:t>Where:</a:t>
                </a:r>
              </a:p>
              <a:p>
                <a:pPr marL="628650" lvl="1" indent="-171450">
                  <a:buFont typeface="Arial" panose="020B0604020202020204" pitchFamily="34" charset="0"/>
                  <a:buChar char="•"/>
                </a:pPr>
                <a:r>
                  <a:rPr lang="en-US" i="0" dirty="0">
                    <a:latin typeface="Cambria Math" panose="02040503050406030204" pitchFamily="18" charset="0"/>
                  </a:rPr>
                  <a:t>𝑉_𝑡</a:t>
                </a:r>
                <a:r>
                  <a:rPr lang="en-US" b="0" i="0" dirty="0">
                    <a:latin typeface="Cambria Math" panose="02040503050406030204" pitchFamily="18" charset="0"/>
                  </a:rPr>
                  <a:t> (𝑠)</a:t>
                </a:r>
                <a:r>
                  <a:rPr lang="en-US" dirty="0"/>
                  <a:t>: The value of the state </a:t>
                </a:r>
                <a:r>
                  <a:rPr lang="en-US" i="0" dirty="0">
                    <a:latin typeface="Cambria Math" panose="02040503050406030204" pitchFamily="18" charset="0"/>
                  </a:rPr>
                  <a:t>𝑠</a:t>
                </a:r>
                <a:r>
                  <a:rPr lang="en-US" dirty="0"/>
                  <a:t> at time </a:t>
                </a:r>
                <a:r>
                  <a:rPr lang="en-US" i="0" dirty="0">
                    <a:latin typeface="Cambria Math" panose="02040503050406030204" pitchFamily="18" charset="0"/>
                  </a:rPr>
                  <a:t>𝑡</a:t>
                </a:r>
                <a:r>
                  <a:rPr lang="en-US" dirty="0"/>
                  <a:t>, representing the maximum value that player </a:t>
                </a:r>
                <a:r>
                  <a:rPr lang="en-US" i="0" dirty="0">
                    <a:latin typeface="Cambria Math" panose="02040503050406030204" pitchFamily="18" charset="0"/>
                  </a:rPr>
                  <a:t>𝑖</a:t>
                </a:r>
                <a:r>
                  <a:rPr lang="en-US" dirty="0"/>
                  <a:t> (the row player) can guarantee, considering the worst possible response from player </a:t>
                </a:r>
                <a:r>
                  <a:rPr lang="en-US" i="0" dirty="0">
                    <a:latin typeface="Cambria Math" panose="02040503050406030204" pitchFamily="18" charset="0"/>
                  </a:rPr>
                  <a:t>𝑜</a:t>
                </a:r>
                <a:r>
                  <a:rPr lang="en-US" dirty="0"/>
                  <a:t> (the column player).</a:t>
                </a:r>
              </a:p>
              <a:p>
                <a:pPr marL="628650" lvl="1" indent="-171450">
                  <a:buFont typeface="Arial" panose="020B0604020202020204" pitchFamily="34" charset="0"/>
                  <a:buChar char="•"/>
                </a:pPr>
                <a:r>
                  <a:rPr lang="en-US" b="0" i="0">
                    <a:latin typeface="Cambria Math" panose="02040503050406030204" pitchFamily="18" charset="0"/>
                  </a:rPr>
                  <a:t>Π_𝑖 (𝑠)</a:t>
                </a:r>
                <a:r>
                  <a:rPr lang="en-US" dirty="0"/>
                  <a:t>: Player </a:t>
                </a:r>
                <a:r>
                  <a:rPr lang="en-US" i="0" dirty="0">
                    <a:latin typeface="Cambria Math" panose="02040503050406030204" pitchFamily="18" charset="0"/>
                  </a:rPr>
                  <a:t>𝑖</a:t>
                </a:r>
                <a:r>
                  <a:rPr lang="en-US" dirty="0"/>
                  <a:t>'s policy, which defines the action </a:t>
                </a:r>
                <a:r>
                  <a:rPr lang="en-US" b="0" i="0">
                    <a:latin typeface="Cambria Math" panose="02040503050406030204" pitchFamily="18" charset="0"/>
                  </a:rPr>
                  <a:t>Π_𝑖 (𝑠)</a:t>
                </a:r>
                <a:r>
                  <a:rPr lang="en-US" dirty="0"/>
                  <a:t> that player </a:t>
                </a:r>
                <a:r>
                  <a:rPr lang="en-US" i="0" dirty="0">
                    <a:latin typeface="Cambria Math" panose="02040503050406030204" pitchFamily="18" charset="0"/>
                  </a:rPr>
                  <a:t>𝑖</a:t>
                </a:r>
                <a:r>
                  <a:rPr lang="en-US" dirty="0"/>
                  <a:t> will take in state </a:t>
                </a:r>
                <a:r>
                  <a:rPr lang="en-US" i="0" dirty="0">
                    <a:latin typeface="Cambria Math" panose="02040503050406030204" pitchFamily="18" charset="0"/>
                  </a:rPr>
                  <a:t>𝑠</a:t>
                </a:r>
                <a:r>
                  <a:rPr lang="en-US"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latin typeface="Cambria Math" panose="02040503050406030204" pitchFamily="18" charset="0"/>
                  </a:rPr>
                  <a:t>𝑄_(</a:t>
                </a:r>
                <a:r>
                  <a:rPr lang="en-US" i="0" dirty="0" err="1">
                    <a:latin typeface="Cambria Math" panose="02040503050406030204" pitchFamily="18" charset="0"/>
                  </a:rPr>
                  <a:t>𝑖</a:t>
                </a:r>
                <a:r>
                  <a:rPr lang="en-US" b="0" i="0" dirty="0">
                    <a:latin typeface="Cambria Math" panose="02040503050406030204" pitchFamily="18" charset="0"/>
                  </a:rPr>
                  <a:t>,𝑡) </a:t>
                </a:r>
                <a:r>
                  <a:rPr lang="en-US" i="0" dirty="0">
                    <a:latin typeface="Cambria Math" panose="02040503050406030204" pitchFamily="18" charset="0"/>
                  </a:rPr>
                  <a:t>(𝑠, </a:t>
                </a:r>
                <a:r>
                  <a:rPr lang="en-US" b="0" i="0" dirty="0">
                    <a:latin typeface="Cambria Math" panose="02040503050406030204" pitchFamily="18" charset="0"/>
                  </a:rPr>
                  <a:t>Π_𝑖 </a:t>
                </a:r>
                <a:r>
                  <a:rPr lang="en-US" i="0" dirty="0">
                    <a:latin typeface="Cambria Math" panose="02040503050406030204" pitchFamily="18" charset="0"/>
                  </a:rPr>
                  <a:t>(𝑠), 𝑜)</a:t>
                </a:r>
                <a:r>
                  <a:rPr lang="en-US" dirty="0"/>
                  <a:t>: The Q-value of the joint action, representing the expected reward when player </a:t>
                </a:r>
                <a:r>
                  <a:rPr lang="en-US" i="0" dirty="0">
                    <a:latin typeface="Cambria Math" panose="02040503050406030204" pitchFamily="18" charset="0"/>
                  </a:rPr>
                  <a:t>𝑖</a:t>
                </a:r>
                <a:r>
                  <a:rPr lang="en-US" dirty="0"/>
                  <a:t> chooses action </a:t>
                </a:r>
                <a:r>
                  <a:rPr lang="en-US" b="0" i="0">
                    <a:latin typeface="Cambria Math" panose="02040503050406030204" pitchFamily="18" charset="0"/>
                  </a:rPr>
                  <a:t>Π_𝑖 (𝑠)</a:t>
                </a:r>
                <a:r>
                  <a:rPr lang="en-US" dirty="0"/>
                  <a:t>and the opponent </a:t>
                </a:r>
                <a:r>
                  <a:rPr lang="en-US" i="0" dirty="0">
                    <a:latin typeface="Cambria Math" panose="02040503050406030204" pitchFamily="18" charset="0"/>
                  </a:rPr>
                  <a:t>𝑜</a:t>
                </a:r>
                <a:r>
                  <a:rPr lang="en-US" dirty="0"/>
                  <a:t> responds with their action.</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r>
                  <a:rPr lang="en-US" b="1" dirty="0" err="1"/>
                  <a:t>MiniMax</a:t>
                </a:r>
                <a:r>
                  <a:rPr lang="en-US" b="1" dirty="0"/>
                  <a:t> Explanation:</a:t>
                </a:r>
              </a:p>
              <a:p>
                <a:pPr marL="628650" lvl="1" indent="-171450">
                  <a:buFont typeface="Arial" panose="020B0604020202020204" pitchFamily="34" charset="0"/>
                  <a:buChar char="•"/>
                </a:pPr>
                <a:r>
                  <a:rPr lang="en-US" b="1" dirty="0"/>
                  <a:t>Maximization</a:t>
                </a:r>
                <a:r>
                  <a:rPr lang="en-US" dirty="0"/>
                  <a:t>: Player </a:t>
                </a:r>
                <a:r>
                  <a:rPr lang="en-US" i="0" dirty="0">
                    <a:latin typeface="Cambria Math" panose="02040503050406030204" pitchFamily="18" charset="0"/>
                  </a:rPr>
                  <a:t>𝑖</a:t>
                </a:r>
                <a:r>
                  <a:rPr lang="en-US" dirty="0"/>
                  <a:t> (the maximizer) tries to choose the policy </a:t>
                </a:r>
                <a:r>
                  <a:rPr lang="en-US" b="0" i="0">
                    <a:latin typeface="Cambria Math" panose="02040503050406030204" pitchFamily="18" charset="0"/>
                  </a:rPr>
                  <a:t>Π_𝑖</a:t>
                </a:r>
                <a:r>
                  <a:rPr lang="en-US" dirty="0"/>
                  <a:t> that maximizes their minimum possible payoff.</a:t>
                </a:r>
              </a:p>
              <a:p>
                <a:pPr marL="628650" lvl="1" indent="-171450">
                  <a:buFont typeface="Arial" panose="020B0604020202020204" pitchFamily="34" charset="0"/>
                  <a:buChar char="•"/>
                </a:pPr>
                <a:r>
                  <a:rPr lang="en-US" b="1" dirty="0"/>
                  <a:t>Minimization</a:t>
                </a:r>
                <a:r>
                  <a:rPr lang="en-US" dirty="0"/>
                  <a:t>: Player </a:t>
                </a:r>
                <a:r>
                  <a:rPr lang="en-US" i="0" dirty="0">
                    <a:latin typeface="Cambria Math" panose="02040503050406030204" pitchFamily="18" charset="0"/>
                  </a:rPr>
                  <a:t>𝑜</a:t>
                </a:r>
                <a:r>
                  <a:rPr lang="en-US" dirty="0"/>
                  <a:t> (the opponent, or minimizer) tries to minimize player </a:t>
                </a:r>
                <a:r>
                  <a:rPr lang="en-US" i="0" dirty="0">
                    <a:latin typeface="Cambria Math" panose="02040503050406030204" pitchFamily="18" charset="0"/>
                  </a:rPr>
                  <a:t>𝑖</a:t>
                </a:r>
                <a:r>
                  <a:rPr lang="en-US" dirty="0"/>
                  <a:t>'s payoff, acting in an adversarial manner.</a:t>
                </a:r>
              </a:p>
              <a:p>
                <a:pPr marL="457200" lvl="1" indent="0">
                  <a:buFont typeface="Arial" panose="020B0604020202020204" pitchFamily="34" charset="0"/>
                  <a:buNone/>
                </a:pPr>
                <a:endParaRPr lang="en-US" dirty="0"/>
              </a:p>
              <a:p>
                <a:r>
                  <a:rPr lang="en-US" dirty="0"/>
                  <a:t>Thus, the goal for player </a:t>
                </a:r>
                <a:r>
                  <a:rPr lang="en-US" i="0" dirty="0">
                    <a:latin typeface="Cambria Math" panose="02040503050406030204" pitchFamily="18" charset="0"/>
                  </a:rPr>
                  <a:t>𝑖</a:t>
                </a:r>
                <a:r>
                  <a:rPr lang="en-US" dirty="0"/>
                  <a:t> is to maximize their guaranteed reward, taking into account that their opponent </a:t>
                </a:r>
                <a:r>
                  <a:rPr lang="en-US" i="0" dirty="0">
                    <a:latin typeface="Cambria Math" panose="02040503050406030204" pitchFamily="18" charset="0"/>
                  </a:rPr>
                  <a:t>𝑜</a:t>
                </a:r>
                <a:r>
                  <a:rPr lang="en-US" dirty="0"/>
                  <a:t> will act optimally to minimize their payoff.</a:t>
                </a:r>
              </a:p>
              <a:p>
                <a:endParaRPr lang="en-US" dirty="0"/>
              </a:p>
              <a:p>
                <a:r>
                  <a:rPr lang="en-US" b="1" dirty="0" err="1"/>
                  <a:t>MiniMax</a:t>
                </a:r>
                <a:r>
                  <a:rPr lang="en-US" b="1" dirty="0"/>
                  <a:t> in Practice:</a:t>
                </a:r>
              </a:p>
              <a:p>
                <a:pPr marL="685800" lvl="1" indent="-228600">
                  <a:buFont typeface="+mj-lt"/>
                  <a:buAutoNum type="arabicPeriod"/>
                </a:pPr>
                <a:r>
                  <a:rPr lang="en-US" b="1" dirty="0"/>
                  <a:t>Linear Solver</a:t>
                </a:r>
                <a:r>
                  <a:rPr lang="en-US" dirty="0"/>
                  <a:t>: In practice, computing this update requires solving a </a:t>
                </a:r>
                <a:r>
                  <a:rPr lang="en-US" b="1" dirty="0"/>
                  <a:t>linear programming problem</a:t>
                </a:r>
                <a:r>
                  <a:rPr lang="en-US" dirty="0"/>
                  <a:t> at each step. The linear solver is used to find the </a:t>
                </a:r>
                <a:r>
                  <a:rPr lang="en-US" dirty="0" err="1"/>
                  <a:t>MiniMax</a:t>
                </a:r>
                <a:r>
                  <a:rPr lang="en-US" dirty="0"/>
                  <a:t> solution by solving for the mixed strategies (probability distributions over actions) that player iii and the opponent </a:t>
                </a:r>
                <a:r>
                  <a:rPr lang="en-US" i="0" dirty="0">
                    <a:latin typeface="Cambria Math" panose="02040503050406030204" pitchFamily="18" charset="0"/>
                  </a:rPr>
                  <a:t>𝑜</a:t>
                </a:r>
                <a:r>
                  <a:rPr lang="en-US" dirty="0"/>
                  <a:t> will use to optimize their strategies.</a:t>
                </a:r>
              </a:p>
              <a:p>
                <a:pPr marL="685800" lvl="1" indent="-228600">
                  <a:buFont typeface="+mj-lt"/>
                  <a:buAutoNum type="arabicPeriod"/>
                </a:pPr>
                <a:r>
                  <a:rPr lang="en-US" b="1" dirty="0"/>
                  <a:t>Q-iteration</a:t>
                </a:r>
                <a:r>
                  <a:rPr lang="en-US" dirty="0"/>
                  <a:t>: The algorithm iteratively updates the Q-values and state values over time. At each step </a:t>
                </a:r>
                <a:r>
                  <a:rPr lang="en-US" i="0" dirty="0">
                    <a:latin typeface="Cambria Math" panose="02040503050406030204" pitchFamily="18" charset="0"/>
                  </a:rPr>
                  <a:t>𝑡</a:t>
                </a:r>
                <a:r>
                  <a:rPr lang="en-US" dirty="0"/>
                  <a:t>, the algorithm computes </a:t>
                </a:r>
                <a:r>
                  <a:rPr lang="en-US" i="0" dirty="0">
                    <a:latin typeface="Cambria Math" panose="02040503050406030204" pitchFamily="18" charset="0"/>
                  </a:rPr>
                  <a:t>𝑉_𝑡</a:t>
                </a:r>
                <a:r>
                  <a:rPr lang="en-US" b="0" i="0" dirty="0">
                    <a:latin typeface="Cambria Math" panose="02040503050406030204" pitchFamily="18" charset="0"/>
                  </a:rPr>
                  <a:t> (𝑠)</a:t>
                </a:r>
                <a:r>
                  <a:rPr lang="en-US" dirty="0"/>
                  <a:t> using the </a:t>
                </a:r>
                <a:r>
                  <a:rPr lang="en-US" dirty="0" err="1"/>
                  <a:t>MiniMax</a:t>
                </a:r>
                <a:r>
                  <a:rPr lang="en-US" dirty="0"/>
                  <a:t> formulation, then updates the Q-values based on new information from the game environment.</a:t>
                </a:r>
              </a:p>
              <a:p>
                <a:pPr marL="457200" lvl="1" indent="0">
                  <a:buFont typeface="+mj-lt"/>
                  <a:buNone/>
                </a:pPr>
                <a:endParaRPr lang="en-US" dirty="0"/>
              </a:p>
              <a:p>
                <a:r>
                  <a:rPr lang="en-US" b="1" dirty="0"/>
                  <a:t>Summary of the Process:</a:t>
                </a:r>
              </a:p>
              <a:p>
                <a:pPr marL="628650" lvl="1" indent="-171450">
                  <a:buFont typeface="Arial" panose="020B0604020202020204" pitchFamily="34" charset="0"/>
                  <a:buChar char="•"/>
                </a:pPr>
                <a:r>
                  <a:rPr lang="en-US" dirty="0"/>
                  <a:t>At each state </a:t>
                </a:r>
                <a:r>
                  <a:rPr lang="en-US" i="0" dirty="0">
                    <a:latin typeface="Cambria Math" panose="02040503050406030204" pitchFamily="18" charset="0"/>
                  </a:rPr>
                  <a:t>𝑠</a:t>
                </a:r>
                <a:r>
                  <a:rPr lang="en-US" dirty="0"/>
                  <a:t>, player </a:t>
                </a:r>
                <a:r>
                  <a:rPr lang="en-US" i="0" dirty="0">
                    <a:latin typeface="Cambria Math" panose="02040503050406030204" pitchFamily="18" charset="0"/>
                  </a:rPr>
                  <a:t>𝑖</a:t>
                </a:r>
                <a:r>
                  <a:rPr lang="en-US" dirty="0"/>
                  <a:t> looks for the best policy </a:t>
                </a:r>
                <a:r>
                  <a:rPr lang="en-US" b="0" i="0">
                    <a:latin typeface="Cambria Math" panose="02040503050406030204" pitchFamily="18" charset="0"/>
                  </a:rPr>
                  <a:t>Π_𝑖 (𝑠)</a:t>
                </a:r>
                <a:r>
                  <a:rPr lang="en-US" dirty="0"/>
                  <a:t>, knowing that the opponent will respond with the action that minimizes their payoff.</a:t>
                </a:r>
              </a:p>
              <a:p>
                <a:pPr marL="628650" lvl="1" indent="-171450">
                  <a:buFont typeface="Arial" panose="020B0604020202020204" pitchFamily="34" charset="0"/>
                  <a:buChar char="•"/>
                </a:pPr>
                <a:r>
                  <a:rPr lang="en-US" dirty="0"/>
                  <a:t>The value </a:t>
                </a:r>
                <a:r>
                  <a:rPr lang="en-US" i="0" dirty="0">
                    <a:latin typeface="Cambria Math" panose="02040503050406030204" pitchFamily="18" charset="0"/>
                  </a:rPr>
                  <a:t>𝑉_𝑡</a:t>
                </a:r>
                <a:r>
                  <a:rPr lang="en-US" b="0" i="0" dirty="0">
                    <a:latin typeface="Cambria Math" panose="02040503050406030204" pitchFamily="18" charset="0"/>
                  </a:rPr>
                  <a:t> (𝑠)</a:t>
                </a:r>
                <a:r>
                  <a:rPr lang="en-US" dirty="0"/>
                  <a:t> is then the maximum value that player iii can secure, considering the worst-case scenario (i.e., the opponent's best minimizing action).</a:t>
                </a:r>
              </a:p>
              <a:p>
                <a:pPr marL="628650" lvl="1" indent="-171450">
                  <a:buFont typeface="Arial" panose="020B0604020202020204" pitchFamily="34" charset="0"/>
                  <a:buChar char="•"/>
                </a:pPr>
                <a:r>
                  <a:rPr lang="en-US" dirty="0"/>
                  <a:t>This iterative process continues, using a linear solver to compute the </a:t>
                </a:r>
                <a:r>
                  <a:rPr lang="en-US" dirty="0" err="1"/>
                  <a:t>MiniMax</a:t>
                </a:r>
                <a:r>
                  <a:rPr lang="en-US" dirty="0"/>
                  <a:t> solution at each step, eventually converging to the optimal strategies for both players.</a:t>
                </a:r>
              </a:p>
              <a:p>
                <a:pPr marL="457200" lvl="1" indent="0">
                  <a:buFont typeface="Arial" panose="020B0604020202020204" pitchFamily="34" charset="0"/>
                  <a:buNone/>
                </a:pPr>
                <a:endParaRPr lang="en-US" dirty="0"/>
              </a:p>
              <a:p>
                <a:r>
                  <a:rPr lang="en-US" dirty="0"/>
                  <a:t>This method is well-suited for two-player zero-sum games where each player has opposing objectives, and it leads to finding Nash equilibria in the game.</a:t>
                </a:r>
              </a:p>
              <a:p>
                <a:endParaRPr dirty="0"/>
              </a:p>
            </p:txBody>
          </p:sp>
        </mc:Fallback>
      </mc:AlternateContent>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1" dirty="0"/>
              <a:t>Initialization:</a:t>
            </a:r>
          </a:p>
          <a:p>
            <a:pPr marL="171450" indent="-171450">
              <a:buFont typeface="Arial" panose="020B0604020202020204" pitchFamily="34" charset="0"/>
              <a:buChar char="•"/>
            </a:pPr>
            <a:r>
              <a:rPr lang="en-US" b="1" dirty="0"/>
              <a:t>Step 1</a:t>
            </a:r>
            <a:r>
              <a:rPr lang="en-US" dirty="0"/>
              <a:t>: For every state s in the state space S, every action a in the action space A, and every opponent action o in the opponent's action space O, initialize the Q-values Q(s, a, o) to a default value (often 0).</a:t>
            </a:r>
            <a:br>
              <a:rPr lang="en-US" dirty="0"/>
            </a:br>
            <a:endParaRPr lang="en-US" dirty="0"/>
          </a:p>
          <a:p>
            <a:r>
              <a:rPr lang="en-US" b="1" dirty="0"/>
              <a:t>Action Selection:</a:t>
            </a:r>
          </a:p>
          <a:p>
            <a:pPr marL="171450" indent="-171450">
              <a:buFont typeface="Arial" panose="020B0604020202020204" pitchFamily="34" charset="0"/>
              <a:buChar char="•"/>
            </a:pPr>
            <a:r>
              <a:rPr lang="en-US" b="1" dirty="0"/>
              <a:t>Step 2</a:t>
            </a:r>
            <a:r>
              <a:rPr lang="en-US" dirty="0"/>
              <a:t>: When the agent is in a given state s, it chooses an action using an exploration-exploitation strategy:</a:t>
            </a:r>
          </a:p>
          <a:p>
            <a:pPr marL="742950" lvl="1" indent="-285750">
              <a:buFont typeface="Arial" panose="020B0604020202020204" pitchFamily="34" charset="0"/>
              <a:buChar char="•"/>
            </a:pPr>
            <a:r>
              <a:rPr lang="en-US" dirty="0"/>
              <a:t>With probability </a:t>
            </a:r>
            <a:r>
              <a:rPr lang="en-US" dirty="0" err="1"/>
              <a:t>explor</a:t>
            </a:r>
            <a:r>
              <a:rPr lang="en-US" dirty="0"/>
              <a:t> (exploration rate), the agent selects an action randomly from all possible actions.</a:t>
            </a:r>
          </a:p>
          <a:p>
            <a:pPr marL="742950" lvl="1" indent="-285750">
              <a:buFont typeface="Arial" panose="020B0604020202020204" pitchFamily="34" charset="0"/>
              <a:buChar char="•"/>
            </a:pPr>
            <a:r>
              <a:rPr lang="en-US" dirty="0"/>
              <a:t>With probability (1 - </a:t>
            </a:r>
            <a:r>
              <a:rPr lang="en-US" dirty="0" err="1"/>
              <a:t>explor</a:t>
            </a:r>
            <a:r>
              <a:rPr lang="en-US" dirty="0"/>
              <a:t>) (exploitation), the agent chooses an action a based on the learned policy Π(s, a), which is computed from the Q-values.</a:t>
            </a:r>
          </a:p>
          <a:p>
            <a:pPr marL="457200" lvl="1" indent="0">
              <a:buFont typeface="Arial" panose="020B0604020202020204" pitchFamily="34" charset="0"/>
              <a:buNone/>
            </a:pPr>
            <a:endParaRPr lang="en-US" dirty="0"/>
          </a:p>
          <a:p>
            <a:r>
              <a:rPr lang="en-US" b="1" dirty="0"/>
              <a:t>Learning and Updating:</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Step 3: </a:t>
            </a:r>
            <a:r>
              <a:rPr lang="en-US" sz="1200" b="0" kern="1200" dirty="0">
                <a:solidFill>
                  <a:schemeClr val="tx1"/>
                </a:solidFill>
                <a:latin typeface="+mn-lt"/>
                <a:ea typeface="+mn-ea"/>
                <a:cs typeface="+mn-cs"/>
              </a:rPr>
              <a:t>After taking action a, observing the opponent's action o, and transitioning from state s to state s', the agent receives a reward </a:t>
            </a:r>
            <a:r>
              <a:rPr lang="en-US" sz="1200" b="0" kern="1200" dirty="0" err="1">
                <a:solidFill>
                  <a:schemeClr val="tx1"/>
                </a:solidFill>
                <a:latin typeface="+mn-lt"/>
                <a:ea typeface="+mn-ea"/>
                <a:cs typeface="+mn-cs"/>
              </a:rPr>
              <a:t>rew</a:t>
            </a:r>
            <a:r>
              <a:rPr lang="en-US" sz="1200" b="0" kern="1200" dirty="0">
                <a:solidFill>
                  <a:schemeClr val="tx1"/>
                </a:solidFill>
                <a:latin typeface="+mn-lt"/>
                <a:ea typeface="+mn-ea"/>
                <a:cs typeface="+mn-cs"/>
              </a:rPr>
              <a:t>. The agent updates the Q-value for the state-action pair (s, a, o) using the following equation:</a:t>
            </a:r>
          </a:p>
          <a:p>
            <a:pPr marL="742950" lvl="1" indent="-285750">
              <a:buFont typeface="Arial" panose="020B0604020202020204" pitchFamily="34" charset="0"/>
              <a:buChar char="•"/>
            </a:pPr>
            <a:r>
              <a:rPr lang="en-US" dirty="0"/>
              <a:t>Q(s, a, o) ← (1 - α) * Q(s, a, o) + α * (</a:t>
            </a:r>
            <a:r>
              <a:rPr lang="en-US" dirty="0" err="1"/>
              <a:t>rew</a:t>
            </a:r>
            <a:r>
              <a:rPr lang="en-US" dirty="0"/>
              <a:t> + γ * V(s'))</a:t>
            </a:r>
          </a:p>
          <a:p>
            <a:pPr marL="1143000" lvl="2" indent="-228600">
              <a:buFont typeface="Arial" panose="020B0604020202020204" pitchFamily="34" charset="0"/>
              <a:buChar char="•"/>
            </a:pPr>
            <a:r>
              <a:rPr lang="en-US" dirty="0"/>
              <a:t>α is the learning rate.</a:t>
            </a:r>
          </a:p>
          <a:p>
            <a:pPr marL="1143000" lvl="2" indent="-228600">
              <a:buFont typeface="Arial" panose="020B0604020202020204" pitchFamily="34" charset="0"/>
              <a:buChar char="•"/>
            </a:pPr>
            <a:r>
              <a:rPr lang="en-US" dirty="0"/>
              <a:t>γ is the discount factor for future rewards.</a:t>
            </a:r>
          </a:p>
          <a:p>
            <a:pPr marL="1143000" lvl="2" indent="-228600">
              <a:buFont typeface="Arial" panose="020B0604020202020204" pitchFamily="34" charset="0"/>
              <a:buChar char="•"/>
            </a:pPr>
            <a:r>
              <a:rPr lang="en-US" dirty="0"/>
              <a:t>V(s') is the value of the next state s' after the action a and opponent's action o.</a:t>
            </a:r>
          </a:p>
          <a:p>
            <a:pPr marL="1143000" lvl="2" indent="-228600">
              <a:buFont typeface="Arial" panose="020B0604020202020204" pitchFamily="34" charset="0"/>
              <a:buChar char="•"/>
            </a:pPr>
            <a:endParaRPr lang="en-US" dirty="0"/>
          </a:p>
          <a:p>
            <a:pPr marL="171450" indent="-171450">
              <a:buFont typeface="Arial" panose="020B0604020202020204" pitchFamily="34" charset="0"/>
              <a:buChar char="•"/>
            </a:pPr>
            <a:r>
              <a:rPr lang="en-US" b="1" dirty="0"/>
              <a:t>Step 4</a:t>
            </a:r>
            <a:r>
              <a:rPr lang="en-US" dirty="0"/>
              <a:t>: The agent then updates its policy Π(s) by solving for the </a:t>
            </a:r>
            <a:r>
              <a:rPr lang="en-US" dirty="0" err="1"/>
              <a:t>MiniMax</a:t>
            </a:r>
            <a:r>
              <a:rPr lang="en-US" dirty="0"/>
              <a:t> value. This can be done through linear programming:</a:t>
            </a:r>
          </a:p>
          <a:p>
            <a:pPr marL="742950" lvl="1" indent="-285750">
              <a:buFont typeface="Arial" panose="020B0604020202020204" pitchFamily="34" charset="0"/>
              <a:buChar char="•"/>
            </a:pPr>
            <a:r>
              <a:rPr lang="en-US" dirty="0"/>
              <a:t>The policy Π(s) is updated by finding the action a' that maximizes the agent’s expected Q-value considering the opponent’s strategy.</a:t>
            </a:r>
          </a:p>
          <a:p>
            <a:pPr marL="742950" lvl="1" indent="-285750">
              <a:buFont typeface="Arial" panose="020B0604020202020204" pitchFamily="34" charset="0"/>
              <a:buChar char="•"/>
            </a:pPr>
            <a:r>
              <a:rPr lang="en-US" dirty="0"/>
              <a:t>In other words, the agent tries to maximize the worst-case scenario (i.e., minimize the maximum loss) by solving a </a:t>
            </a:r>
            <a:r>
              <a:rPr lang="en-US" dirty="0" err="1"/>
              <a:t>MiniMax</a:t>
            </a:r>
            <a:r>
              <a:rPr lang="en-US" dirty="0"/>
              <a:t> problem.</a:t>
            </a:r>
          </a:p>
          <a:p>
            <a:pPr marL="742950" lvl="1" indent="-285750">
              <a:buFont typeface="Arial" panose="020B0604020202020204" pitchFamily="34" charset="0"/>
              <a:buChar char="•"/>
            </a:pPr>
            <a:r>
              <a:rPr lang="en-US" dirty="0"/>
              <a:t>The </a:t>
            </a:r>
            <a:r>
              <a:rPr lang="en-US" dirty="0" err="1"/>
              <a:t>MiniMax</a:t>
            </a:r>
            <a:r>
              <a:rPr lang="en-US" dirty="0"/>
              <a:t> computation involves:</a:t>
            </a:r>
          </a:p>
          <a:p>
            <a:pPr marL="1143000" lvl="2" indent="-228600">
              <a:buFont typeface="Arial" panose="020B0604020202020204" pitchFamily="34" charset="0"/>
              <a:buChar char="•"/>
            </a:pPr>
            <a:r>
              <a:rPr lang="en-US" dirty="0"/>
              <a:t>Maximizing over the agent's actions a'.</a:t>
            </a:r>
          </a:p>
          <a:p>
            <a:pPr marL="1143000" lvl="2" indent="-228600">
              <a:buFont typeface="Arial" panose="020B0604020202020204" pitchFamily="34" charset="0"/>
              <a:buChar char="•"/>
            </a:pPr>
            <a:r>
              <a:rPr lang="en-US" dirty="0"/>
              <a:t>Minimizing over the opponent's actions o.</a:t>
            </a:r>
          </a:p>
          <a:p>
            <a:pPr marL="1143000" lvl="2" indent="-228600">
              <a:buFont typeface="Arial" panose="020B0604020202020204" pitchFamily="34" charset="0"/>
              <a:buChar char="•"/>
            </a:pPr>
            <a:endParaRPr lang="en-US" dirty="0"/>
          </a:p>
          <a:p>
            <a:r>
              <a:rPr lang="en-US" b="1" dirty="0"/>
              <a:t>Final Update:</a:t>
            </a:r>
          </a:p>
          <a:p>
            <a:pPr marL="171450" indent="-171450">
              <a:buFont typeface="Arial" panose="020B0604020202020204" pitchFamily="34" charset="0"/>
              <a:buChar char="•"/>
            </a:pPr>
            <a:r>
              <a:rPr lang="en-US" b="1" dirty="0"/>
              <a:t>Step 5</a:t>
            </a:r>
            <a:r>
              <a:rPr lang="en-US" dirty="0"/>
              <a:t>: The agent updates its value estimate for state s after computing the new Q-values and policies.</a:t>
            </a:r>
          </a:p>
          <a:p>
            <a:pPr marL="0" indent="0">
              <a:buFont typeface="Arial" panose="020B0604020202020204" pitchFamily="34" charset="0"/>
              <a:buNone/>
            </a:pPr>
            <a:endParaRPr lang="en-US" dirty="0"/>
          </a:p>
          <a:p>
            <a:r>
              <a:rPr lang="en-US" b="1" dirty="0"/>
              <a:t>Summary of Key Concepts:</a:t>
            </a:r>
          </a:p>
          <a:p>
            <a:pPr marL="171450" indent="-171450">
              <a:buFont typeface="Arial" panose="020B0604020202020204" pitchFamily="34" charset="0"/>
              <a:buChar char="•"/>
            </a:pPr>
            <a:r>
              <a:rPr lang="en-US" b="1" dirty="0"/>
              <a:t>Q(s, a, o)</a:t>
            </a:r>
            <a:r>
              <a:rPr lang="en-US" dirty="0"/>
              <a:t>: Represents the expected utility of taking action a in state s when the opponent chooses action o.</a:t>
            </a:r>
          </a:p>
          <a:p>
            <a:pPr marL="171450" indent="-171450">
              <a:buFont typeface="Arial" panose="020B0604020202020204" pitchFamily="34" charset="0"/>
              <a:buChar char="•"/>
            </a:pPr>
            <a:r>
              <a:rPr lang="en-US" b="1" dirty="0"/>
              <a:t>Exploration vs. Exploitation</a:t>
            </a:r>
            <a:r>
              <a:rPr lang="en-US" dirty="0"/>
              <a:t>: The agent balances exploring new actions and exploiting known good actions using an exploration rate </a:t>
            </a:r>
            <a:r>
              <a:rPr lang="en-US" dirty="0" err="1"/>
              <a:t>explor</a:t>
            </a:r>
            <a:r>
              <a:rPr lang="en-US" dirty="0"/>
              <a:t>.</a:t>
            </a:r>
          </a:p>
          <a:p>
            <a:pPr marL="171450" indent="-171450">
              <a:buFont typeface="Arial" panose="020B0604020202020204" pitchFamily="34" charset="0"/>
              <a:buChar char="•"/>
            </a:pPr>
            <a:r>
              <a:rPr lang="en-US" b="1" dirty="0"/>
              <a:t>Linear Programming for </a:t>
            </a:r>
            <a:r>
              <a:rPr lang="en-US" b="1" dirty="0" err="1"/>
              <a:t>MiniMax</a:t>
            </a:r>
            <a:r>
              <a:rPr lang="en-US" dirty="0"/>
              <a:t>: To update the policy, the agent solves a </a:t>
            </a:r>
            <a:r>
              <a:rPr lang="en-US" dirty="0" err="1"/>
              <a:t>MiniMax</a:t>
            </a:r>
            <a:r>
              <a:rPr lang="en-US" dirty="0"/>
              <a:t> optimization problem that ensures it prepares for the worst-case opponent action.</a:t>
            </a:r>
          </a:p>
          <a:p>
            <a:pPr marL="171450" indent="-171450">
              <a:buFont typeface="Arial" panose="020B0604020202020204" pitchFamily="34" charset="0"/>
              <a:buChar char="•"/>
            </a:pPr>
            <a:r>
              <a:rPr lang="en-US" b="1" dirty="0"/>
              <a:t>Learning Process</a:t>
            </a:r>
            <a:r>
              <a:rPr lang="en-US" dirty="0"/>
              <a:t>: The agent iteratively updates Q-values and policies as it interacts with the environment and opponent.</a:t>
            </a:r>
          </a:p>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 table provides performance results for four different policies trained using various reinforcement learning (RL) and game-theoretic approaches. </a:t>
            </a:r>
            <a:br>
              <a:rPr lang="en-US" dirty="0"/>
            </a:br>
            <a:br>
              <a:rPr lang="en-US" dirty="0"/>
            </a:br>
            <a:r>
              <a:rPr lang="en-US" b="1" dirty="0"/>
              <a:t>Game Setup:</a:t>
            </a:r>
          </a:p>
          <a:p>
            <a:pPr marL="171450" indent="-171450">
              <a:buFont typeface="Arial" panose="020B0604020202020204" pitchFamily="34" charset="0"/>
              <a:buChar char="•"/>
            </a:pPr>
            <a:r>
              <a:rPr lang="en-US" b="1" dirty="0"/>
              <a:t>Grid</a:t>
            </a:r>
            <a:r>
              <a:rPr lang="en-US" dirty="0"/>
              <a:t>: 4x5 cells, a small soccer field where two players move to achieve their respective goals.</a:t>
            </a:r>
          </a:p>
          <a:p>
            <a:pPr marL="171450" indent="-171450">
              <a:buFont typeface="Arial" panose="020B0604020202020204" pitchFamily="34" charset="0"/>
              <a:buChar char="•"/>
            </a:pPr>
            <a:r>
              <a:rPr lang="en-US" b="1" dirty="0"/>
              <a:t>Players</a:t>
            </a:r>
            <a:r>
              <a:rPr lang="en-US" dirty="0"/>
              <a:t>:</a:t>
            </a:r>
          </a:p>
          <a:p>
            <a:pPr marL="742950" lvl="1" indent="-285750">
              <a:buFont typeface="Arial" panose="020B0604020202020204" pitchFamily="34" charset="0"/>
              <a:buChar char="•"/>
            </a:pPr>
            <a:r>
              <a:rPr lang="en-US" dirty="0"/>
              <a:t>Attacker (A): The goal is to get past the defender and score.</a:t>
            </a:r>
          </a:p>
          <a:p>
            <a:pPr marL="742950" lvl="1" indent="-285750">
              <a:buFont typeface="Arial" panose="020B0604020202020204" pitchFamily="34" charset="0"/>
              <a:buChar char="•"/>
            </a:pPr>
            <a:r>
              <a:rPr lang="en-US" dirty="0"/>
              <a:t>Defender (D): The goal is to stop the attacker from scoring.</a:t>
            </a:r>
          </a:p>
          <a:p>
            <a:pPr marL="171450" indent="-171450">
              <a:buFont typeface="Arial" panose="020B0604020202020204" pitchFamily="34" charset="0"/>
              <a:buChar char="•"/>
            </a:pPr>
            <a:r>
              <a:rPr lang="en-US" b="1" dirty="0"/>
              <a:t>Actions</a:t>
            </a:r>
            <a:r>
              <a:rPr lang="en-US" dirty="0"/>
              <a:t>: Each player can move North, South, East, West, or Stop (remain still). There are 5 actions in total.</a:t>
            </a:r>
          </a:p>
          <a:p>
            <a:pPr marL="171450" indent="-171450">
              <a:buFont typeface="Arial" panose="020B0604020202020204" pitchFamily="34" charset="0"/>
              <a:buChar char="•"/>
            </a:pPr>
            <a:r>
              <a:rPr lang="en-US" b="1" dirty="0"/>
              <a:t>Training Objective</a:t>
            </a:r>
            <a:r>
              <a:rPr lang="en-US" dirty="0"/>
              <a:t>: The attacker learns policies to outmaneuver the defender, while the defender learns to optimally block the attacker.</a:t>
            </a:r>
          </a:p>
          <a:p>
            <a:endParaRPr lang="en-US" dirty="0"/>
          </a:p>
          <a:p>
            <a:r>
              <a:rPr lang="en-US" b="1" dirty="0"/>
              <a:t>Key Observations:</a:t>
            </a:r>
          </a:p>
          <a:p>
            <a:pPr>
              <a:buFont typeface="+mj-lt"/>
              <a:buAutoNum type="arabicPeriod"/>
            </a:pPr>
            <a:r>
              <a:rPr lang="en-US" b="1" dirty="0"/>
              <a:t>Against Random Opponents</a:t>
            </a:r>
            <a:r>
              <a:rPr lang="en-US" dirty="0"/>
              <a:t>:</a:t>
            </a:r>
          </a:p>
          <a:p>
            <a:pPr marL="742950" lvl="1" indent="-285750">
              <a:buFont typeface="+mj-lt"/>
              <a:buAutoNum type="arabicPeriod"/>
            </a:pPr>
            <a:r>
              <a:rPr lang="en-US" dirty="0"/>
              <a:t>All policies perform very well, with win rates around 99%. Since random opponents move unpredictably, both </a:t>
            </a:r>
            <a:r>
              <a:rPr lang="en-US" dirty="0" err="1"/>
              <a:t>MiniMax</a:t>
            </a:r>
            <a:r>
              <a:rPr lang="en-US" dirty="0"/>
              <a:t>-Q and Q-learning policies can easily exploit their mistakes and win most games.</a:t>
            </a:r>
          </a:p>
          <a:p>
            <a:pPr marL="457200" lvl="1" indent="0">
              <a:buFont typeface="+mj-lt"/>
              <a:buNone/>
            </a:pPr>
            <a:endParaRPr lang="en-US" dirty="0"/>
          </a:p>
          <a:p>
            <a:pPr>
              <a:buFont typeface="+mj-lt"/>
              <a:buAutoNum type="arabicPeriod"/>
            </a:pPr>
            <a:r>
              <a:rPr lang="en-US" b="1" dirty="0"/>
              <a:t>Against Hand-built Opponents</a:t>
            </a:r>
            <a:r>
              <a:rPr lang="en-US" dirty="0"/>
              <a:t>:</a:t>
            </a:r>
          </a:p>
          <a:p>
            <a:pPr marL="742950" lvl="1" indent="-285750">
              <a:buFont typeface="+mj-lt"/>
              <a:buAutoNum type="arabicPeriod"/>
            </a:pPr>
            <a:r>
              <a:rPr lang="en-US" dirty="0" err="1"/>
              <a:t>MiniMax</a:t>
            </a:r>
            <a:r>
              <a:rPr lang="en-US" dirty="0"/>
              <a:t>-Q trained policies (MR, MM, and QQ) perform better against hand-built opponents than Q-learning policies (QR and QQ).</a:t>
            </a:r>
          </a:p>
          <a:p>
            <a:pPr marL="742950" lvl="1" indent="-285750">
              <a:buFont typeface="+mj-lt"/>
              <a:buAutoNum type="arabicPeriod"/>
            </a:pPr>
            <a:r>
              <a:rPr lang="en-US" dirty="0"/>
              <a:t>The MM policy (trained against another </a:t>
            </a:r>
            <a:r>
              <a:rPr lang="en-US" dirty="0" err="1"/>
              <a:t>MiniMax</a:t>
            </a:r>
            <a:r>
              <a:rPr lang="en-US" dirty="0"/>
              <a:t>-Q agent) performs better that QR and MR, with a </a:t>
            </a:r>
            <a:r>
              <a:rPr lang="en-US" b="1" dirty="0"/>
              <a:t>53.7% win rate</a:t>
            </a:r>
            <a:r>
              <a:rPr lang="en-US" dirty="0"/>
              <a:t>.</a:t>
            </a:r>
          </a:p>
          <a:p>
            <a:pPr marL="742950" lvl="1" indent="-285750">
              <a:buFont typeface="+mj-lt"/>
              <a:buAutoNum type="arabicPeriod"/>
            </a:pPr>
            <a:r>
              <a:rPr lang="en-US" dirty="0"/>
              <a:t>The QQ policy, surprisingly, performs the best, with a </a:t>
            </a:r>
            <a:r>
              <a:rPr lang="en-US" b="1" dirty="0"/>
              <a:t>76.3% win rate</a:t>
            </a:r>
            <a:r>
              <a:rPr lang="en-US" dirty="0"/>
              <a:t>, potentially indicating that Q-learning models are more effective in handling certain hand-built strategies.</a:t>
            </a:r>
          </a:p>
          <a:p>
            <a:pPr marL="457200" lvl="1" indent="0">
              <a:buFont typeface="+mj-lt"/>
              <a:buNone/>
            </a:pPr>
            <a:endParaRPr lang="en-US" dirty="0"/>
          </a:p>
          <a:p>
            <a:pPr>
              <a:buFont typeface="+mj-lt"/>
              <a:buAutoNum type="arabicPeriod"/>
            </a:pPr>
            <a:r>
              <a:rPr lang="en-US" b="1" dirty="0"/>
              <a:t>Against Other Trained Policies</a:t>
            </a:r>
            <a:r>
              <a:rPr lang="en-US" dirty="0"/>
              <a:t>:</a:t>
            </a:r>
          </a:p>
          <a:p>
            <a:pPr marL="742950" lvl="1" indent="-285750">
              <a:buFont typeface="+mj-lt"/>
              <a:buAutoNum type="arabicPeriod"/>
            </a:pPr>
            <a:r>
              <a:rPr lang="en-US" dirty="0"/>
              <a:t>MR vs. MR: The MR policy won </a:t>
            </a:r>
            <a:r>
              <a:rPr lang="en-US" b="1" dirty="0"/>
              <a:t>35.0%</a:t>
            </a:r>
            <a:r>
              <a:rPr lang="en-US" dirty="0"/>
              <a:t> of the time against an MR-trained challenger. This shows that even </a:t>
            </a:r>
            <a:r>
              <a:rPr lang="en-US" dirty="0" err="1"/>
              <a:t>MiniMax</a:t>
            </a:r>
            <a:r>
              <a:rPr lang="en-US" dirty="0"/>
              <a:t>-Q agents trained against a random opponent can still be relatively effective against each other.</a:t>
            </a:r>
          </a:p>
          <a:p>
            <a:pPr marL="742950" lvl="1" indent="-285750">
              <a:buFont typeface="+mj-lt"/>
              <a:buAutoNum type="arabicPeriod"/>
            </a:pPr>
            <a:r>
              <a:rPr lang="en-US" dirty="0"/>
              <a:t>MM vs. MM: The MM policy won </a:t>
            </a:r>
            <a:r>
              <a:rPr lang="en-US" b="1" dirty="0"/>
              <a:t>37.5%</a:t>
            </a:r>
            <a:r>
              <a:rPr lang="en-US" dirty="0"/>
              <a:t> of games against another MM-trained agent, showing that they can both play well against equally skilled opponents.</a:t>
            </a:r>
          </a:p>
          <a:p>
            <a:pPr marL="742950" lvl="1" indent="-285750">
              <a:buFont typeface="+mj-lt"/>
              <a:buAutoNum type="arabicPeriod"/>
            </a:pPr>
            <a:r>
              <a:rPr lang="en-US" dirty="0"/>
              <a:t>QR vs. QR: When two Q-learning agents trained against random opponents face each other, neither agent wins any games, with a </a:t>
            </a:r>
            <a:r>
              <a:rPr lang="en-US" b="1" dirty="0"/>
              <a:t>0.0%</a:t>
            </a:r>
            <a:r>
              <a:rPr lang="en-US" dirty="0"/>
              <a:t> win rate. This suggests that Q-learning agents trained against random opponents struggle when facing each other.</a:t>
            </a:r>
          </a:p>
          <a:p>
            <a:pPr marL="742950" lvl="1" indent="-285750">
              <a:buFont typeface="+mj-lt"/>
              <a:buAutoNum type="arabicPeriod"/>
            </a:pPr>
            <a:r>
              <a:rPr lang="en-US" dirty="0"/>
              <a:t>QQ vs. QQ: The same outcome occurs for Q-learning agents trained against other Q-learning agents, with a </a:t>
            </a:r>
            <a:r>
              <a:rPr lang="en-US" b="1" dirty="0"/>
              <a:t>0.0%</a:t>
            </a:r>
            <a:r>
              <a:rPr lang="en-US" dirty="0"/>
              <a:t> win rate, meaning no player could consistently win.</a:t>
            </a:r>
          </a:p>
          <a:p>
            <a:endParaRPr lang="en-US" dirty="0"/>
          </a:p>
          <a:p>
            <a:r>
              <a:rPr lang="en-US" b="1" dirty="0"/>
              <a:t>Conclusion:</a:t>
            </a:r>
          </a:p>
          <a:p>
            <a:pPr marL="171450" indent="-171450">
              <a:buFont typeface="Arial" panose="020B0604020202020204" pitchFamily="34" charset="0"/>
              <a:buChar char="•"/>
            </a:pPr>
            <a:r>
              <a:rPr lang="en-US" b="1" dirty="0" err="1"/>
              <a:t>MiniMax</a:t>
            </a:r>
            <a:r>
              <a:rPr lang="en-US" b="1" dirty="0"/>
              <a:t>-Q learning</a:t>
            </a:r>
            <a:r>
              <a:rPr lang="en-US" dirty="0"/>
              <a:t> performs better against strategic opponents because it anticipates the optimal moves of the defender and attacker, leading to more competitive and balanced games.</a:t>
            </a:r>
          </a:p>
          <a:p>
            <a:pPr marL="171450" indent="-171450">
              <a:buFont typeface="Arial" panose="020B0604020202020204" pitchFamily="34" charset="0"/>
              <a:buChar char="•"/>
            </a:pPr>
            <a:r>
              <a:rPr lang="en-US" b="1" dirty="0"/>
              <a:t>Q-learning</a:t>
            </a:r>
            <a:r>
              <a:rPr lang="en-US" dirty="0"/>
              <a:t>, while effective against random opponents, struggles when facing well-trained or strategic agents, leading to zero win rates against trained opponents (QR and QQ).</a:t>
            </a:r>
          </a:p>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1" dirty="0"/>
              <a:t>Convergence and Limitations of </a:t>
            </a:r>
            <a:r>
              <a:rPr lang="en-US" b="1" dirty="0" err="1"/>
              <a:t>MinMax</a:t>
            </a:r>
            <a:r>
              <a:rPr lang="en-US" b="1" dirty="0"/>
              <a:t>-Q:</a:t>
            </a:r>
          </a:p>
          <a:p>
            <a:pPr marL="228600" indent="-228600">
              <a:buFont typeface="+mj-lt"/>
              <a:buAutoNum type="arabicPeriod"/>
            </a:pPr>
            <a:r>
              <a:rPr lang="en-US" b="1" dirty="0" err="1"/>
              <a:t>MinMax</a:t>
            </a:r>
            <a:r>
              <a:rPr lang="en-US" b="1" dirty="0"/>
              <a:t>-Q Convergence</a:t>
            </a:r>
            <a:r>
              <a:rPr lang="en-US" dirty="0"/>
              <a:t>:</a:t>
            </a:r>
            <a:br>
              <a:rPr lang="en-US" dirty="0"/>
            </a:br>
            <a:r>
              <a:rPr lang="en-US" dirty="0" err="1"/>
              <a:t>MinMax</a:t>
            </a:r>
            <a:r>
              <a:rPr lang="en-US" dirty="0"/>
              <a:t>-Q, which is an extension of Q-learning for </a:t>
            </a:r>
            <a:r>
              <a:rPr lang="en-US" b="1" dirty="0"/>
              <a:t>2-player zero-sum games</a:t>
            </a:r>
            <a:r>
              <a:rPr lang="en-US" dirty="0"/>
              <a:t>, converges to the value of the game under the same conditions that assure convergence in traditional Q-learning for Markov Decision Processes (MDPs). These conditions typically include the exploration of all state-action pairs infinitely often and a learning rate that diminishes over time.</a:t>
            </a:r>
          </a:p>
          <a:p>
            <a:pPr marL="0" indent="0">
              <a:buFont typeface="+mj-lt"/>
              <a:buNone/>
            </a:pPr>
            <a:endParaRPr lang="en-US" dirty="0"/>
          </a:p>
          <a:p>
            <a:pPr marL="228600" indent="-228600">
              <a:buFont typeface="+mj-lt"/>
              <a:buAutoNum type="arabicPeriod" startAt="2"/>
            </a:pPr>
            <a:r>
              <a:rPr lang="en-US" b="1" dirty="0"/>
              <a:t>Limitation to 2-Player Zero-Sum Games</a:t>
            </a:r>
            <a:r>
              <a:rPr lang="en-US" dirty="0"/>
              <a:t>:</a:t>
            </a:r>
            <a:br>
              <a:rPr lang="en-US" dirty="0"/>
            </a:br>
            <a:r>
              <a:rPr lang="en-US" dirty="0"/>
              <a:t>The </a:t>
            </a:r>
            <a:r>
              <a:rPr lang="en-US" dirty="0" err="1"/>
              <a:t>MinMax</a:t>
            </a:r>
            <a:r>
              <a:rPr lang="en-US" dirty="0"/>
              <a:t>-Q algorithm is designed specifically for </a:t>
            </a:r>
            <a:r>
              <a:rPr lang="en-US" b="1" dirty="0"/>
              <a:t>two-player zero-sum games</a:t>
            </a:r>
            <a:r>
              <a:rPr lang="en-US" dirty="0"/>
              <a:t> where one player's gain is exactly the other player's loss. It converges in this context because both players are optimizing their policies based on worst-case scenarios (adversarial play). However, in games that are not zero-sum or involve more than two players, the algorithm does not guarantee convergence.</a:t>
            </a:r>
          </a:p>
          <a:p>
            <a:pPr marL="0" indent="0">
              <a:buFont typeface="+mj-lt"/>
              <a:buNone/>
            </a:pPr>
            <a:endParaRPr lang="en-US" dirty="0"/>
          </a:p>
          <a:p>
            <a:r>
              <a:rPr lang="en-US" b="1" dirty="0"/>
              <a:t>Extension to General Sum, n-Player Games:</a:t>
            </a:r>
          </a:p>
          <a:p>
            <a:pPr marL="228600" indent="-228600">
              <a:buFont typeface="+mj-lt"/>
              <a:buAutoNum type="arabicPeriod" startAt="3"/>
            </a:pPr>
            <a:r>
              <a:rPr lang="en-US" b="1" dirty="0"/>
              <a:t>Friend-or-Foe-Q</a:t>
            </a:r>
            <a:r>
              <a:rPr lang="en-US" dirty="0"/>
              <a:t>:</a:t>
            </a:r>
            <a:br>
              <a:rPr lang="en-US" dirty="0"/>
            </a:br>
            <a:r>
              <a:rPr lang="en-US" dirty="0"/>
              <a:t>To handle </a:t>
            </a:r>
            <a:r>
              <a:rPr lang="en-US" b="1" dirty="0"/>
              <a:t>general-sum</a:t>
            </a:r>
            <a:r>
              <a:rPr lang="en-US" dirty="0"/>
              <a:t> games (games where outcomes aren't strictly zero-sum), </a:t>
            </a:r>
            <a:r>
              <a:rPr lang="en-US" b="1" dirty="0"/>
              <a:t>Friend-or-Foe-Q</a:t>
            </a:r>
            <a:r>
              <a:rPr lang="en-US" dirty="0"/>
              <a:t> was introduced. This algorithm extends </a:t>
            </a:r>
            <a:r>
              <a:rPr lang="en-US" dirty="0" err="1"/>
              <a:t>MinMax</a:t>
            </a:r>
            <a:r>
              <a:rPr lang="en-US" dirty="0"/>
              <a:t>-Q to handle </a:t>
            </a:r>
            <a:r>
              <a:rPr lang="en-US" b="1" dirty="0"/>
              <a:t>n-player games</a:t>
            </a:r>
            <a:r>
              <a:rPr lang="en-US" dirty="0"/>
              <a:t> by classifying other players as either:</a:t>
            </a:r>
          </a:p>
          <a:p>
            <a:pPr marL="742950" lvl="1" indent="-285750">
              <a:buFont typeface="Arial" panose="020B0604020202020204" pitchFamily="34" charset="0"/>
              <a:buChar char="•"/>
            </a:pPr>
            <a:r>
              <a:rPr lang="en-US" b="1" dirty="0"/>
              <a:t>Friends</a:t>
            </a:r>
            <a:r>
              <a:rPr lang="en-US" dirty="0"/>
              <a:t>: These players are assumed to be working towards a </a:t>
            </a:r>
            <a:r>
              <a:rPr lang="en-US" b="1" dirty="0"/>
              <a:t>cooperative or coordinated equilibrium</a:t>
            </a:r>
            <a:r>
              <a:rPr lang="en-US" dirty="0"/>
              <a:t>, where they optimize joint strategies.</a:t>
            </a:r>
          </a:p>
          <a:p>
            <a:pPr marL="742950" lvl="1" indent="-285750">
              <a:buFont typeface="Arial" panose="020B0604020202020204" pitchFamily="34" charset="0"/>
              <a:buChar char="•"/>
            </a:pPr>
            <a:r>
              <a:rPr lang="en-US" b="1" dirty="0"/>
              <a:t>Foes</a:t>
            </a:r>
            <a:r>
              <a:rPr lang="en-US" dirty="0"/>
              <a:t>: These players are assumed to be adversaries, where the goal is to minimize the worst-case outcome, similar to zero-sum game dynamics.</a:t>
            </a:r>
          </a:p>
          <a:p>
            <a:pPr marL="0" lvl="0" indent="0">
              <a:buFont typeface="+mj-lt"/>
              <a:buNone/>
            </a:pPr>
            <a:r>
              <a:rPr lang="en-US" dirty="0"/>
              <a:t>Despite this extension, the method still reduces the problem to a form of 2-player dynamic where groups of "friends" work together against "foes," effectively simplifying it to team-based dynamics.</a:t>
            </a:r>
          </a:p>
          <a:p>
            <a:pPr marL="0" indent="0">
              <a:buFont typeface="+mj-lt"/>
              <a:buNone/>
            </a:pPr>
            <a:endParaRPr lang="en-US" dirty="0"/>
          </a:p>
          <a:p>
            <a:pPr marL="228600" indent="-228600">
              <a:buFont typeface="+mj-lt"/>
              <a:buAutoNum type="arabicPeriod" startAt="4"/>
            </a:pPr>
            <a:r>
              <a:rPr lang="en-US" b="1" dirty="0"/>
              <a:t>Limitations of Friend-or-Foe-Q</a:t>
            </a:r>
            <a:r>
              <a:rPr lang="en-US" dirty="0"/>
              <a:t>:</a:t>
            </a:r>
            <a:br>
              <a:rPr lang="en-US" dirty="0"/>
            </a:br>
            <a:r>
              <a:rPr lang="en-US" dirty="0"/>
              <a:t>Friend-or-Foe-Q requires prior knowledge of whether each player is a friend or a foe. This assumption limits its practical application because, in real-world environments, such clear distinctions are rarely known in advance. It also limits the scope of the algorithm to team-based adversarial games, rather than general n-player games with complex, independent strategies.</a:t>
            </a:r>
          </a:p>
          <a:p>
            <a:endParaRPr lang="en-US" b="1" dirty="0"/>
          </a:p>
          <a:p>
            <a:r>
              <a:rPr lang="en-US" b="1" dirty="0"/>
              <a:t>More General Algorithms:</a:t>
            </a:r>
          </a:p>
          <a:p>
            <a:pPr marL="228600" indent="-228600">
              <a:buFont typeface="+mj-lt"/>
              <a:buAutoNum type="arabicPeriod" startAt="5"/>
            </a:pPr>
            <a:r>
              <a:rPr lang="en-US" b="1" dirty="0"/>
              <a:t>General Algorithms for Multi-Agent RL</a:t>
            </a:r>
            <a:r>
              <a:rPr lang="en-US" dirty="0"/>
              <a:t>:</a:t>
            </a:r>
            <a:br>
              <a:rPr lang="en-US" dirty="0"/>
            </a:br>
            <a:r>
              <a:rPr lang="en-US" dirty="0"/>
              <a:t>More general algorithms exist for handling </a:t>
            </a:r>
            <a:r>
              <a:rPr lang="en-US" b="1" dirty="0"/>
              <a:t>multi-agent reinforcement learning</a:t>
            </a:r>
            <a:r>
              <a:rPr lang="en-US" dirty="0"/>
              <a:t> in environments with more than two players or non-zero-sum payoffs. However, these algorithms typically have </a:t>
            </a:r>
            <a:r>
              <a:rPr lang="en-US" b="1" dirty="0"/>
              <a:t>limited convergence guarantees</a:t>
            </a:r>
            <a:r>
              <a:rPr lang="en-US" dirty="0"/>
              <a:t>. They often converge only under very strict conditions, such as well-defined equilibria (e.g., Nash equilibria) or highly structured game environments.</a:t>
            </a:r>
          </a:p>
          <a:p>
            <a:pPr marL="0" indent="0">
              <a:buFont typeface="+mj-lt"/>
              <a:buNone/>
            </a:pPr>
            <a:endParaRPr lang="en-US" dirty="0"/>
          </a:p>
          <a:p>
            <a:pPr marL="228600" indent="-228600">
              <a:buFont typeface="+mj-lt"/>
              <a:buAutoNum type="arabicPeriod" startAt="6"/>
            </a:pPr>
            <a:r>
              <a:rPr lang="en-US" b="1" dirty="0"/>
              <a:t>No Known Solution for General-Sum, n-Player Games</a:t>
            </a:r>
            <a:r>
              <a:rPr lang="en-US" dirty="0"/>
              <a:t>:</a:t>
            </a:r>
            <a:br>
              <a:rPr lang="en-US" dirty="0"/>
            </a:br>
            <a:r>
              <a:rPr lang="en-US" dirty="0"/>
              <a:t>For </a:t>
            </a:r>
            <a:r>
              <a:rPr lang="en-US" b="1" dirty="0"/>
              <a:t>general-sum n-player games</a:t>
            </a:r>
            <a:r>
              <a:rPr lang="en-US" dirty="0"/>
              <a:t>, where players have independent strategies and payoffs aren't strictly zero-sum, no widely accepted reinforcement learning algorithm exists that can guarantee convergence. The inherent complexity and unpredictability of strategies in such games make it extremely difficult to achieve stable learning dynamics that apply universally.</a:t>
            </a:r>
          </a:p>
          <a:p>
            <a:pPr marL="0" indent="0">
              <a:buFont typeface="+mj-lt"/>
              <a:buNone/>
            </a:pPr>
            <a:endParaRPr lang="en-US" dirty="0"/>
          </a:p>
          <a:p>
            <a:r>
              <a:rPr lang="en-US" dirty="0"/>
              <a:t>In summary, </a:t>
            </a:r>
            <a:r>
              <a:rPr lang="en-US" dirty="0" err="1"/>
              <a:t>MinMax</a:t>
            </a:r>
            <a:r>
              <a:rPr lang="en-US" dirty="0"/>
              <a:t>-Q is powerful for 2-player zero-sum games, and Friend-or-Foe-Q offers an extension for team-based games, but the challenge of converging in general-sum, n-player environments remains largely unsolved in the field of multi-agent reinforcement learning.</a:t>
            </a:r>
          </a:p>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125615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Week-5</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300" b="0" i="0">
                <a:solidFill>
                  <a:schemeClr val="tx1"/>
                </a:solidFill>
                <a:latin typeface="Gill Sans MT"/>
                <a:cs typeface="Gill Sans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Week-5</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6964680" y="6477000"/>
            <a:ext cx="2103120" cy="369332"/>
          </a:xfrm>
        </p:spPr>
        <p:txBody>
          <a:bodyPr lIns="0" tIns="0" rIns="0" bIns="0"/>
          <a:lstStyle>
            <a:lvl1pPr algn="r">
              <a:defRPr sz="2400">
                <a:solidFill>
                  <a:schemeClr val="tx1"/>
                </a:solidFill>
              </a:defRPr>
            </a:lvl1pPr>
          </a:lstStyle>
          <a:p>
            <a:fld id="{B6F15528-21DE-4FAA-801E-634DDDAF4B2B}" type="slidenum">
              <a:rPr lang="en-US" smtClean="0"/>
              <a:pPr/>
              <a:t>‹#›</a:t>
            </a:fld>
            <a:r>
              <a:rPr lang="en-US" dirty="0"/>
              <a:t>/14</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Week-5</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8" name="Holder 6">
            <a:extLst>
              <a:ext uri="{FF2B5EF4-FFF2-40B4-BE49-F238E27FC236}">
                <a16:creationId xmlns:a16="http://schemas.microsoft.com/office/drawing/2014/main" id="{924AFA56-4202-7C54-ADB5-7A80D986EE43}"/>
              </a:ext>
            </a:extLst>
          </p:cNvPr>
          <p:cNvSpPr>
            <a:spLocks noGrp="1"/>
          </p:cNvSpPr>
          <p:nvPr>
            <p:ph type="sldNum" sz="quarter" idx="7"/>
          </p:nvPr>
        </p:nvSpPr>
        <p:spPr>
          <a:xfrm>
            <a:off x="6964680" y="6477000"/>
            <a:ext cx="2103120" cy="369332"/>
          </a:xfrm>
        </p:spPr>
        <p:txBody>
          <a:bodyPr lIns="0" tIns="0" rIns="0" bIns="0"/>
          <a:lstStyle>
            <a:lvl1pPr algn="r">
              <a:defRPr sz="2400">
                <a:solidFill>
                  <a:schemeClr val="tx1"/>
                </a:solidFill>
              </a:defRPr>
            </a:lvl1pPr>
          </a:lstStyle>
          <a:p>
            <a:fld id="{B6F15528-21DE-4FAA-801E-634DDDAF4B2B}" type="slidenum">
              <a:rPr lang="en-US" smtClean="0"/>
              <a:pPr/>
              <a:t>‹#›</a:t>
            </a:fld>
            <a:r>
              <a:rPr lang="en-US" dirty="0"/>
              <a:t>/14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Week-5</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a:extLst>
              <a:ext uri="{FF2B5EF4-FFF2-40B4-BE49-F238E27FC236}">
                <a16:creationId xmlns:a16="http://schemas.microsoft.com/office/drawing/2014/main" id="{3DED7860-F54E-854D-F9BD-60F0BB0ABBEB}"/>
              </a:ext>
            </a:extLst>
          </p:cNvPr>
          <p:cNvSpPr>
            <a:spLocks noGrp="1"/>
          </p:cNvSpPr>
          <p:nvPr>
            <p:ph type="sldNum" sz="quarter" idx="7"/>
          </p:nvPr>
        </p:nvSpPr>
        <p:spPr>
          <a:xfrm>
            <a:off x="6964680" y="6477000"/>
            <a:ext cx="2103120" cy="369332"/>
          </a:xfrm>
        </p:spPr>
        <p:txBody>
          <a:bodyPr lIns="0" tIns="0" rIns="0" bIns="0"/>
          <a:lstStyle>
            <a:lvl1pPr algn="r">
              <a:defRPr sz="2400">
                <a:solidFill>
                  <a:schemeClr val="tx1"/>
                </a:solidFill>
              </a:defRPr>
            </a:lvl1pPr>
          </a:lstStyle>
          <a:p>
            <a:fld id="{B6F15528-21DE-4FAA-801E-634DDDAF4B2B}" type="slidenum">
              <a:rPr lang="en-US" smtClean="0"/>
              <a:pPr/>
              <a:t>‹#›</a:t>
            </a:fld>
            <a:r>
              <a:rPr lang="en-US" dirty="0"/>
              <a:t>/14</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837"/>
            <a:ext cx="8515350" cy="3202305"/>
          </a:xfrm>
          <a:custGeom>
            <a:avLst/>
            <a:gdLst/>
            <a:ahLst/>
            <a:cxnLst/>
            <a:rect l="l" t="t" r="r" b="b"/>
            <a:pathLst>
              <a:path w="8515350" h="3202304">
                <a:moveTo>
                  <a:pt x="0" y="3202171"/>
                </a:moveTo>
                <a:lnTo>
                  <a:pt x="8515350" y="3202171"/>
                </a:lnTo>
                <a:lnTo>
                  <a:pt x="8515350" y="0"/>
                </a:lnTo>
                <a:lnTo>
                  <a:pt x="0" y="0"/>
                </a:lnTo>
                <a:lnTo>
                  <a:pt x="0" y="3202171"/>
                </a:lnTo>
                <a:close/>
              </a:path>
            </a:pathLst>
          </a:custGeom>
          <a:solidFill>
            <a:srgbClr val="E7E7E7"/>
          </a:solidFill>
        </p:spPr>
        <p:txBody>
          <a:bodyPr wrap="square" lIns="0" tIns="0" rIns="0" bIns="0" rtlCol="0"/>
          <a:lstStyle/>
          <a:p>
            <a:endParaRPr/>
          </a:p>
        </p:txBody>
      </p:sp>
      <p:sp>
        <p:nvSpPr>
          <p:cNvPr id="17" name="bk object 17"/>
          <p:cNvSpPr/>
          <p:nvPr/>
        </p:nvSpPr>
        <p:spPr>
          <a:xfrm>
            <a:off x="3043836" y="4970623"/>
            <a:ext cx="5471795" cy="1411605"/>
          </a:xfrm>
          <a:custGeom>
            <a:avLst/>
            <a:gdLst/>
            <a:ahLst/>
            <a:cxnLst/>
            <a:rect l="l" t="t" r="r" b="b"/>
            <a:pathLst>
              <a:path w="5471795" h="1411604">
                <a:moveTo>
                  <a:pt x="5236325" y="0"/>
                </a:moveTo>
                <a:lnTo>
                  <a:pt x="235187" y="0"/>
                </a:lnTo>
                <a:lnTo>
                  <a:pt x="215898" y="779"/>
                </a:lnTo>
                <a:lnTo>
                  <a:pt x="160850" y="11990"/>
                </a:lnTo>
                <a:lnTo>
                  <a:pt x="111300" y="35236"/>
                </a:lnTo>
                <a:lnTo>
                  <a:pt x="68884" y="68884"/>
                </a:lnTo>
                <a:lnTo>
                  <a:pt x="35236" y="111300"/>
                </a:lnTo>
                <a:lnTo>
                  <a:pt x="11990" y="160850"/>
                </a:lnTo>
                <a:lnTo>
                  <a:pt x="779" y="215898"/>
                </a:lnTo>
                <a:lnTo>
                  <a:pt x="0" y="235187"/>
                </a:lnTo>
                <a:lnTo>
                  <a:pt x="0" y="1175938"/>
                </a:lnTo>
                <a:lnTo>
                  <a:pt x="3078" y="1214087"/>
                </a:lnTo>
                <a:lnTo>
                  <a:pt x="18482" y="1267484"/>
                </a:lnTo>
                <a:lnTo>
                  <a:pt x="45377" y="1314837"/>
                </a:lnTo>
                <a:lnTo>
                  <a:pt x="82129" y="1354512"/>
                </a:lnTo>
                <a:lnTo>
                  <a:pt x="127105" y="1384875"/>
                </a:lnTo>
                <a:lnTo>
                  <a:pt x="178669" y="1404291"/>
                </a:lnTo>
                <a:lnTo>
                  <a:pt x="235187" y="1411126"/>
                </a:lnTo>
                <a:lnTo>
                  <a:pt x="5236325" y="1411126"/>
                </a:lnTo>
                <a:lnTo>
                  <a:pt x="5274474" y="1408048"/>
                </a:lnTo>
                <a:lnTo>
                  <a:pt x="5327871" y="1392644"/>
                </a:lnTo>
                <a:lnTo>
                  <a:pt x="5375224" y="1365748"/>
                </a:lnTo>
                <a:lnTo>
                  <a:pt x="5414899" y="1328996"/>
                </a:lnTo>
                <a:lnTo>
                  <a:pt x="5445261" y="1284020"/>
                </a:lnTo>
                <a:lnTo>
                  <a:pt x="5464677" y="1232456"/>
                </a:lnTo>
                <a:lnTo>
                  <a:pt x="5471513" y="1175938"/>
                </a:lnTo>
                <a:lnTo>
                  <a:pt x="5471513" y="235187"/>
                </a:lnTo>
                <a:lnTo>
                  <a:pt x="5468434" y="197038"/>
                </a:lnTo>
                <a:lnTo>
                  <a:pt x="5453030" y="143641"/>
                </a:lnTo>
                <a:lnTo>
                  <a:pt x="5426135" y="96288"/>
                </a:lnTo>
                <a:lnTo>
                  <a:pt x="5389383" y="56613"/>
                </a:lnTo>
                <a:lnTo>
                  <a:pt x="5344407" y="26251"/>
                </a:lnTo>
                <a:lnTo>
                  <a:pt x="5292843" y="6835"/>
                </a:lnTo>
                <a:lnTo>
                  <a:pt x="5236325" y="0"/>
                </a:lnTo>
                <a:close/>
              </a:path>
            </a:pathLst>
          </a:custGeom>
          <a:solidFill>
            <a:srgbClr val="E7E7E7"/>
          </a:solidFill>
        </p:spPr>
        <p:txBody>
          <a:bodyPr wrap="square" lIns="0" tIns="0" rIns="0" bIns="0" rtlCol="0"/>
          <a:lstStyle/>
          <a:p>
            <a:endParaRPr/>
          </a:p>
        </p:txBody>
      </p:sp>
      <p:sp>
        <p:nvSpPr>
          <p:cNvPr id="18" name="bk object 18"/>
          <p:cNvSpPr/>
          <p:nvPr/>
        </p:nvSpPr>
        <p:spPr>
          <a:xfrm>
            <a:off x="0" y="3559497"/>
            <a:ext cx="3783329" cy="2822575"/>
          </a:xfrm>
          <a:custGeom>
            <a:avLst/>
            <a:gdLst/>
            <a:ahLst/>
            <a:cxnLst/>
            <a:rect l="l" t="t" r="r" b="b"/>
            <a:pathLst>
              <a:path w="3783329" h="2822575">
                <a:moveTo>
                  <a:pt x="0" y="2822252"/>
                </a:moveTo>
                <a:lnTo>
                  <a:pt x="3783230" y="2822252"/>
                </a:lnTo>
                <a:lnTo>
                  <a:pt x="3783230" y="0"/>
                </a:lnTo>
                <a:lnTo>
                  <a:pt x="0" y="0"/>
                </a:lnTo>
                <a:lnTo>
                  <a:pt x="0" y="2822252"/>
                </a:lnTo>
                <a:close/>
              </a:path>
            </a:pathLst>
          </a:custGeom>
          <a:solidFill>
            <a:srgbClr val="E7E7E7"/>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Week-5</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6">
            <a:extLst>
              <a:ext uri="{FF2B5EF4-FFF2-40B4-BE49-F238E27FC236}">
                <a16:creationId xmlns:a16="http://schemas.microsoft.com/office/drawing/2014/main" id="{E9FEA222-FC14-73E2-027B-F79911150386}"/>
              </a:ext>
            </a:extLst>
          </p:cNvPr>
          <p:cNvSpPr>
            <a:spLocks noGrp="1"/>
          </p:cNvSpPr>
          <p:nvPr>
            <p:ph type="sldNum" sz="quarter" idx="7"/>
          </p:nvPr>
        </p:nvSpPr>
        <p:spPr>
          <a:xfrm>
            <a:off x="6964680" y="6477000"/>
            <a:ext cx="2103120" cy="369332"/>
          </a:xfrm>
        </p:spPr>
        <p:txBody>
          <a:bodyPr lIns="0" tIns="0" rIns="0" bIns="0"/>
          <a:lstStyle>
            <a:lvl1pPr algn="r">
              <a:defRPr sz="2400">
                <a:solidFill>
                  <a:schemeClr val="tx1"/>
                </a:solidFill>
              </a:defRPr>
            </a:lvl1pPr>
          </a:lstStyle>
          <a:p>
            <a:fld id="{B6F15528-21DE-4FAA-801E-634DDDAF4B2B}" type="slidenum">
              <a:rPr lang="en-US" smtClean="0"/>
              <a:pPr/>
              <a:t>‹#›</a:t>
            </a:fld>
            <a:r>
              <a:rPr lang="en-US" dirty="0"/>
              <a:t>/14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37" name="Slide Numbe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/14</a:t>
            </a:r>
          </a:p>
        </p:txBody>
      </p:sp>
      <p:sp>
        <p:nvSpPr>
          <p:cNvPr id="2" name="Holder 5">
            <a:extLst>
              <a:ext uri="{FF2B5EF4-FFF2-40B4-BE49-F238E27FC236}">
                <a16:creationId xmlns:a16="http://schemas.microsoft.com/office/drawing/2014/main" id="{DB3F787B-2650-FFBD-FD7A-E2A4210FA0F7}"/>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424332726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6594326C-47C8-765C-E1AB-3AD36B8A17A2}"/>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/14</a:t>
            </a:r>
          </a:p>
        </p:txBody>
      </p:sp>
      <p:sp>
        <p:nvSpPr>
          <p:cNvPr id="3" name="www.monash.edu.au">
            <a:extLst>
              <a:ext uri="{FF2B5EF4-FFF2-40B4-BE49-F238E27FC236}">
                <a16:creationId xmlns:a16="http://schemas.microsoft.com/office/drawing/2014/main" id="{FCE6EDA5-8335-59CD-BDAF-6052DC1B27AF}"/>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FE018A2-E707-EA9F-7709-1749F33DF0D6}"/>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a:t>Week-5</a:t>
            </a:r>
            <a:endParaRPr lang="en-US" dirty="0"/>
          </a:p>
        </p:txBody>
      </p:sp>
    </p:spTree>
    <p:extLst>
      <p:ext uri="{BB962C8B-B14F-4D97-AF65-F5344CB8AC3E}">
        <p14:creationId xmlns:p14="http://schemas.microsoft.com/office/powerpoint/2010/main" val="401863125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2" name="Slide Number">
            <a:extLst>
              <a:ext uri="{FF2B5EF4-FFF2-40B4-BE49-F238E27FC236}">
                <a16:creationId xmlns:a16="http://schemas.microsoft.com/office/drawing/2014/main" id="{C8178CCA-E30A-0142-22B4-297E197AF055}"/>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/14</a:t>
            </a:r>
          </a:p>
        </p:txBody>
      </p:sp>
      <p:sp>
        <p:nvSpPr>
          <p:cNvPr id="3" name="www.monash.edu.au">
            <a:extLst>
              <a:ext uri="{FF2B5EF4-FFF2-40B4-BE49-F238E27FC236}">
                <a16:creationId xmlns:a16="http://schemas.microsoft.com/office/drawing/2014/main" id="{3B37A0AE-1541-0B10-723C-7A027AF1E9EA}"/>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BF30A43-39AB-A9BC-E1CC-A2B13E6992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105394242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3C45F9E4-5BEB-6948-F8CF-3C29115FC191}"/>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/14</a:t>
            </a:r>
          </a:p>
        </p:txBody>
      </p:sp>
      <p:sp>
        <p:nvSpPr>
          <p:cNvPr id="4" name="www.monash.edu.au">
            <a:extLst>
              <a:ext uri="{FF2B5EF4-FFF2-40B4-BE49-F238E27FC236}">
                <a16:creationId xmlns:a16="http://schemas.microsoft.com/office/drawing/2014/main" id="{B531494C-4EA5-CC74-0BC8-C86C213D04DD}"/>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5" name="Holder 5">
            <a:extLst>
              <a:ext uri="{FF2B5EF4-FFF2-40B4-BE49-F238E27FC236}">
                <a16:creationId xmlns:a16="http://schemas.microsoft.com/office/drawing/2014/main" id="{9F9C374D-EC99-6398-336B-7FAC80D65F18}"/>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163041313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2" name="Slide Number">
            <a:extLst>
              <a:ext uri="{FF2B5EF4-FFF2-40B4-BE49-F238E27FC236}">
                <a16:creationId xmlns:a16="http://schemas.microsoft.com/office/drawing/2014/main" id="{ADDC5FF1-A624-1E24-9ED8-5D93F35E60E3}"/>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/14</a:t>
            </a:r>
          </a:p>
        </p:txBody>
      </p:sp>
      <p:sp>
        <p:nvSpPr>
          <p:cNvPr id="3" name="www.monash.edu.au">
            <a:extLst>
              <a:ext uri="{FF2B5EF4-FFF2-40B4-BE49-F238E27FC236}">
                <a16:creationId xmlns:a16="http://schemas.microsoft.com/office/drawing/2014/main" id="{11A7D92C-6F1D-9843-664F-0C120FB19EB2}"/>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F64EAD79-E313-A233-DB43-C97EEDEE63EF}"/>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367721705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2" name="Slide Number">
            <a:extLst>
              <a:ext uri="{FF2B5EF4-FFF2-40B4-BE49-F238E27FC236}">
                <a16:creationId xmlns:a16="http://schemas.microsoft.com/office/drawing/2014/main" id="{8D240F42-515F-7243-BFFE-63148E30BE96}"/>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/14</a:t>
            </a:r>
          </a:p>
        </p:txBody>
      </p:sp>
      <p:sp>
        <p:nvSpPr>
          <p:cNvPr id="3" name="www.monash.edu.au">
            <a:extLst>
              <a:ext uri="{FF2B5EF4-FFF2-40B4-BE49-F238E27FC236}">
                <a16:creationId xmlns:a16="http://schemas.microsoft.com/office/drawing/2014/main" id="{3B7C9770-2A48-6B16-CC9D-53795C67336B}"/>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85B1ED07-1625-C101-2440-D9146E5DAD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2627107987"/>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31777"/>
            <a:ext cx="9144000" cy="5016500"/>
          </a:xfrm>
          <a:custGeom>
            <a:avLst/>
            <a:gdLst/>
            <a:ahLst/>
            <a:cxnLst/>
            <a:rect l="l" t="t" r="r" b="b"/>
            <a:pathLst>
              <a:path w="9144000" h="5016500">
                <a:moveTo>
                  <a:pt x="0" y="0"/>
                </a:moveTo>
                <a:lnTo>
                  <a:pt x="0" y="5015981"/>
                </a:lnTo>
                <a:lnTo>
                  <a:pt x="9143999" y="5015981"/>
                </a:lnTo>
                <a:lnTo>
                  <a:pt x="9144000" y="0"/>
                </a:lnTo>
                <a:lnTo>
                  <a:pt x="0" y="0"/>
                </a:lnTo>
              </a:path>
            </a:pathLst>
          </a:custGeom>
          <a:solidFill>
            <a:srgbClr val="E7E7E7"/>
          </a:solidFill>
        </p:spPr>
        <p:txBody>
          <a:bodyPr wrap="square" lIns="0" tIns="0" rIns="0" bIns="0" rtlCol="0"/>
          <a:lstStyle/>
          <a:p>
            <a:endParaRPr/>
          </a:p>
        </p:txBody>
      </p:sp>
      <p:sp>
        <p:nvSpPr>
          <p:cNvPr id="17" name="bk object 17"/>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2"/>
                </a:lnTo>
                <a:lnTo>
                  <a:pt x="107903" y="2102528"/>
                </a:lnTo>
                <a:lnTo>
                  <a:pt x="150829" y="2139351"/>
                </a:lnTo>
                <a:lnTo>
                  <a:pt x="199101" y="2169311"/>
                </a:lnTo>
                <a:lnTo>
                  <a:pt x="201644" y="2170506"/>
                </a:lnTo>
                <a:lnTo>
                  <a:pt x="6100240" y="2170506"/>
                </a:lnTo>
                <a:lnTo>
                  <a:pt x="6100240" y="0"/>
                </a:lnTo>
                <a:close/>
              </a:path>
            </a:pathLst>
          </a:custGeom>
          <a:solidFill>
            <a:srgbClr val="E7E7E7"/>
          </a:solidFill>
        </p:spPr>
        <p:txBody>
          <a:bodyPr wrap="square" lIns="0" tIns="0" rIns="0" bIns="0" rtlCol="0"/>
          <a:lstStyle/>
          <a:p>
            <a:endParaRPr/>
          </a:p>
        </p:txBody>
      </p:sp>
      <p:sp>
        <p:nvSpPr>
          <p:cNvPr id="18" name="bk object 18"/>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path>
            </a:pathLst>
          </a:custGeom>
          <a:solidFill>
            <a:srgbClr val="E7E7E7"/>
          </a:solidFill>
        </p:spPr>
        <p:txBody>
          <a:bodyPr wrap="square" lIns="0" tIns="0" rIns="0" bIns="0" rtlCol="0"/>
          <a:lstStyle/>
          <a:p>
            <a:endParaRPr/>
          </a:p>
        </p:txBody>
      </p:sp>
      <p:sp>
        <p:nvSpPr>
          <p:cNvPr id="19" name="bk object 19"/>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2" name="Holder 2"/>
          <p:cNvSpPr>
            <a:spLocks noGrp="1"/>
          </p:cNvSpPr>
          <p:nvPr>
            <p:ph type="title"/>
          </p:nvPr>
        </p:nvSpPr>
        <p:spPr>
          <a:xfrm>
            <a:off x="423227" y="320571"/>
            <a:ext cx="8297544" cy="4318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355277" y="2791423"/>
            <a:ext cx="8433444" cy="1983739"/>
          </a:xfrm>
          <a:prstGeom prst="rect">
            <a:avLst/>
          </a:prstGeom>
        </p:spPr>
        <p:txBody>
          <a:bodyPr wrap="square" lIns="0" tIns="0" rIns="0" bIns="0">
            <a:spAutoFit/>
          </a:bodyPr>
          <a:lstStyle>
            <a:lvl1pPr>
              <a:defRPr sz="2300" b="0" i="0">
                <a:solidFill>
                  <a:schemeClr val="tx1"/>
                </a:solidFill>
                <a:latin typeface="Gill Sans MT"/>
                <a:cs typeface="Gill Sans MT"/>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r>
              <a:rPr lang="en-US"/>
              <a:t>Week-5</a:t>
            </a:r>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2" name="www.monash.edu.au">
            <a:extLst>
              <a:ext uri="{FF2B5EF4-FFF2-40B4-BE49-F238E27FC236}">
                <a16:creationId xmlns:a16="http://schemas.microsoft.com/office/drawing/2014/main" id="{6C5A1932-339F-2B59-AA68-9DC6C40F9AA6}"/>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13" name="Slide Number">
            <a:extLst>
              <a:ext uri="{FF2B5EF4-FFF2-40B4-BE49-F238E27FC236}">
                <a16:creationId xmlns:a16="http://schemas.microsoft.com/office/drawing/2014/main" id="{670A58DF-E724-EC06-E22C-E44FE03E2DB5}"/>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/14</a:t>
            </a:r>
          </a:p>
        </p:txBody>
      </p:sp>
      <p:sp>
        <p:nvSpPr>
          <p:cNvPr id="14" name="Holder 5">
            <a:extLst>
              <a:ext uri="{FF2B5EF4-FFF2-40B4-BE49-F238E27FC236}">
                <a16:creationId xmlns:a16="http://schemas.microsoft.com/office/drawing/2014/main" id="{5DE556A7-82F5-38D7-3AE7-A005596FBCDD}"/>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79706667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spd="med"/>
  <p:hf hdr="0" ft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pic>
        <p:nvPicPr>
          <p:cNvPr id="118" name="A4 Mast_IT.jpg" descr="A4 Mast_IT.jpg"/>
          <p:cNvPicPr>
            <a:picLocks/>
          </p:cNvPicPr>
          <p:nvPr/>
        </p:nvPicPr>
        <p:blipFill>
          <a:blip r:embed="rId3"/>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Prepared by: </a:t>
            </a: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Bernd Meyer</a:t>
            </a: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 Edited by: Fuad Noman</a:t>
            </a:r>
            <a:endPar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endParaRPr>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2877150"/>
            <a:chOff x="-1" y="2861721"/>
            <a:chExt cx="8515351" cy="2877150"/>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669D"/>
                  </a:solidFill>
                  <a:effectLst/>
                  <a:uLnTx/>
                  <a:uFillTx/>
                  <a:latin typeface="Arial"/>
                  <a:cs typeface="Arial"/>
                  <a:sym typeface="Gill Sans"/>
                </a:rPr>
                <a:t>Multi-agent System &amp; Collective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Behaviour</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5126572"/>
              <a:ext cx="8515350" cy="612299"/>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0000"/>
                  </a:solidFill>
                  <a:effectLst/>
                  <a:uLnTx/>
                  <a:uFillTx/>
                  <a:latin typeface="Arial"/>
                  <a:cs typeface="Arial"/>
                  <a:sym typeface="Gill Sans"/>
                </a:rPr>
                <a:t>Week 9: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MiniMax</a:t>
              </a:r>
              <a:r>
                <a:rPr kumimoji="0" lang="en-US" sz="3200" b="0" i="0" u="none" strike="noStrike" kern="0" cap="none" spc="0" normalizeH="0" baseline="0" noProof="0" dirty="0">
                  <a:ln>
                    <a:noFill/>
                  </a:ln>
                  <a:solidFill>
                    <a:srgbClr val="00669D"/>
                  </a:solidFill>
                  <a:effectLst/>
                  <a:uLnTx/>
                  <a:uFillTx/>
                  <a:latin typeface="Arial"/>
                  <a:cs typeface="Arial"/>
                  <a:sym typeface="Gill Sans"/>
                </a:rPr>
                <a:t> Q-Learning</a:t>
              </a: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sym typeface="Gill San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5"/>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FIT3155-S2-2024</a:t>
            </a:r>
            <a:endPar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3227" y="320571"/>
            <a:ext cx="8297544" cy="492443"/>
          </a:xfrm>
          <a:prstGeom prst="rect">
            <a:avLst/>
          </a:prstGeom>
        </p:spPr>
        <p:txBody>
          <a:bodyPr vert="horz" wrap="square" lIns="0" tIns="0" rIns="0" bIns="0" rtlCol="0">
            <a:spAutoFit/>
          </a:bodyPr>
          <a:lstStyle/>
          <a:p>
            <a:pPr marL="12700">
              <a:lnSpc>
                <a:spcPct val="100000"/>
              </a:lnSpc>
            </a:pPr>
            <a:r>
              <a:rPr dirty="0"/>
              <a:t>Example</a:t>
            </a:r>
            <a:r>
              <a:rPr lang="en-US" spc="-5" dirty="0"/>
              <a:t>: Robo Soccer </a:t>
            </a:r>
            <a:r>
              <a:rPr spc="-30" dirty="0"/>
              <a:t>G</a:t>
            </a:r>
            <a:r>
              <a:rPr dirty="0"/>
              <a:t>ame</a:t>
            </a:r>
          </a:p>
        </p:txBody>
      </p:sp>
      <p:sp>
        <p:nvSpPr>
          <p:cNvPr id="3" name="object 3"/>
          <p:cNvSpPr/>
          <p:nvPr/>
        </p:nvSpPr>
        <p:spPr>
          <a:xfrm>
            <a:off x="6013529" y="2656370"/>
            <a:ext cx="2707242" cy="2035082"/>
          </a:xfrm>
          <a:prstGeom prst="rect">
            <a:avLst/>
          </a:prstGeom>
          <a:blipFill>
            <a:blip r:embed="rId3" cstate="print"/>
            <a:stretch>
              <a:fillRect l="-212587" t="-7491" r="-5629" b="-13716"/>
            </a:stretch>
          </a:blipFill>
        </p:spPr>
        <p:txBody>
          <a:bodyPr wrap="square" lIns="0" tIns="0" rIns="0" bIns="0" rtlCol="0"/>
          <a:lstStyle/>
          <a:p>
            <a:endParaRPr dirty="0"/>
          </a:p>
        </p:txBody>
      </p:sp>
      <p:sp>
        <p:nvSpPr>
          <p:cNvPr id="6" name="Rectangle 5">
            <a:extLst>
              <a:ext uri="{FF2B5EF4-FFF2-40B4-BE49-F238E27FC236}">
                <a16:creationId xmlns:a16="http://schemas.microsoft.com/office/drawing/2014/main" id="{EE00B8B7-E9F0-B6B1-43A2-CD3D32B6914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7" name="Rectangle 6">
            <a:extLst>
              <a:ext uri="{FF2B5EF4-FFF2-40B4-BE49-F238E27FC236}">
                <a16:creationId xmlns:a16="http://schemas.microsoft.com/office/drawing/2014/main" id="{2CB95B7F-AC65-5441-7739-D69E4C0B1B9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8" name="Rectangle 7">
            <a:extLst>
              <a:ext uri="{FF2B5EF4-FFF2-40B4-BE49-F238E27FC236}">
                <a16:creationId xmlns:a16="http://schemas.microsoft.com/office/drawing/2014/main" id="{B892AFC0-E147-2F66-9BA1-FFD90F85BDA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9">
            <a:extLst>
              <a:ext uri="{FF2B5EF4-FFF2-40B4-BE49-F238E27FC236}">
                <a16:creationId xmlns:a16="http://schemas.microsoft.com/office/drawing/2014/main" id="{9E33FC38-E451-5271-2177-19F9DF24BDF0}"/>
              </a:ext>
            </a:extLst>
          </p:cNvPr>
          <p:cNvSpPr>
            <a:spLocks noGrp="1"/>
          </p:cNvSpPr>
          <p:nvPr>
            <p:ph type="sldNum" sz="quarter" idx="7"/>
          </p:nvPr>
        </p:nvSpPr>
        <p:spPr/>
        <p:txBody>
          <a:bodyPr/>
          <a:lstStyle/>
          <a:p>
            <a:fld id="{B6F15528-21DE-4FAA-801E-634DDDAF4B2B}" type="slidenum">
              <a:rPr lang="en-US" smtClean="0"/>
              <a:pPr/>
              <a:t>2</a:t>
            </a:fld>
            <a:r>
              <a:rPr lang="en-US" dirty="0"/>
              <a:t>/14</a:t>
            </a:r>
          </a:p>
        </p:txBody>
      </p:sp>
      <p:sp>
        <p:nvSpPr>
          <p:cNvPr id="11" name="TextBox 10">
            <a:extLst>
              <a:ext uri="{FF2B5EF4-FFF2-40B4-BE49-F238E27FC236}">
                <a16:creationId xmlns:a16="http://schemas.microsoft.com/office/drawing/2014/main" id="{479C9A08-14E0-25B7-66D1-87563C69BAA6}"/>
              </a:ext>
            </a:extLst>
          </p:cNvPr>
          <p:cNvSpPr txBox="1"/>
          <p:nvPr/>
        </p:nvSpPr>
        <p:spPr>
          <a:xfrm>
            <a:off x="0" y="1443841"/>
            <a:ext cx="5410200" cy="3970318"/>
          </a:xfrm>
          <a:prstGeom prst="rect">
            <a:avLst/>
          </a:prstGeom>
          <a:noFill/>
        </p:spPr>
        <p:txBody>
          <a:bodyPr wrap="square">
            <a:spAutoFit/>
          </a:bodyPr>
          <a:lstStyle/>
          <a:p>
            <a:r>
              <a:rPr lang="en-US" b="1" dirty="0"/>
              <a:t>Challenges in Multi-Agent Settings:</a:t>
            </a:r>
          </a:p>
          <a:p>
            <a:r>
              <a:rPr lang="en-US" dirty="0"/>
              <a:t>In a </a:t>
            </a:r>
            <a:r>
              <a:rPr lang="en-US" b="1" dirty="0"/>
              <a:t>multi-agent</a:t>
            </a:r>
            <a:r>
              <a:rPr lang="en-US" dirty="0"/>
              <a:t> game like Robo Soccer, both players (the attacker and the defender) act simultaneously, which introduces additional complexity:</a:t>
            </a:r>
          </a:p>
          <a:p>
            <a:pPr marL="342900" indent="-342900">
              <a:buFont typeface="+mj-lt"/>
              <a:buAutoNum type="arabicPeriod"/>
              <a:tabLst>
                <a:tab pos="1539875" algn="l"/>
              </a:tabLst>
            </a:pPr>
            <a:r>
              <a:rPr lang="en-US" b="1" dirty="0"/>
              <a:t>Dynamic Environment</a:t>
            </a:r>
            <a:r>
              <a:rPr lang="en-US" dirty="0"/>
              <a:t>: Each agent's next state depends not only on its own actions but also on the actions of the other agent. This means that from the perspective of one agent, the environment is non-stationary (since the other agent's actions are changing over time).</a:t>
            </a:r>
          </a:p>
          <a:p>
            <a:pPr marL="342900" indent="-342900">
              <a:buFont typeface="+mj-lt"/>
              <a:buAutoNum type="arabicPeriod"/>
              <a:tabLst>
                <a:tab pos="1539875" algn="l"/>
              </a:tabLst>
            </a:pPr>
            <a:r>
              <a:rPr lang="en-US" b="1" dirty="0"/>
              <a:t>Opposing Objectives</a:t>
            </a:r>
            <a:r>
              <a:rPr lang="en-US" dirty="0"/>
              <a:t>: The agents often have conflicting goals, such as one player trying to score a goal (the attacker) and the other trying to block (the defender).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Mul</a:t>
            </a:r>
            <a:r>
              <a:rPr spc="-15" dirty="0"/>
              <a:t>t</a:t>
            </a:r>
            <a:r>
              <a:rPr dirty="0"/>
              <a:t>i-Agen</a:t>
            </a:r>
            <a:r>
              <a:rPr spc="-15" dirty="0"/>
              <a:t>t</a:t>
            </a:r>
            <a:r>
              <a:rPr dirty="0"/>
              <a:t>-Environmen</a:t>
            </a:r>
            <a:r>
              <a:rPr spc="-10" dirty="0"/>
              <a:t>t</a:t>
            </a:r>
            <a:r>
              <a:rPr spc="-5" dirty="0"/>
              <a:t> </a:t>
            </a:r>
            <a:r>
              <a:rPr spc="-15" dirty="0"/>
              <a:t>I</a:t>
            </a:r>
            <a:r>
              <a:rPr dirty="0"/>
              <a:t>n</a:t>
            </a:r>
            <a:r>
              <a:rPr spc="-15" dirty="0"/>
              <a:t>t</a:t>
            </a:r>
            <a:r>
              <a:rPr dirty="0"/>
              <a:t>era</a:t>
            </a:r>
            <a:r>
              <a:rPr spc="-20" dirty="0"/>
              <a:t>c</a:t>
            </a:r>
            <a:r>
              <a:rPr spc="-15" dirty="0"/>
              <a:t>t</a:t>
            </a:r>
            <a:r>
              <a:rPr dirty="0"/>
              <a:t>ion</a:t>
            </a:r>
          </a:p>
        </p:txBody>
      </p:sp>
      <p:sp>
        <p:nvSpPr>
          <p:cNvPr id="3" name="object 3"/>
          <p:cNvSpPr/>
          <p:nvPr/>
        </p:nvSpPr>
        <p:spPr>
          <a:xfrm>
            <a:off x="304800" y="1177201"/>
            <a:ext cx="8509000" cy="5575300"/>
          </a:xfrm>
          <a:prstGeom prst="rect">
            <a:avLst/>
          </a:prstGeom>
          <a:blipFill>
            <a:blip r:embed="rId3" cstate="print"/>
            <a:stretch>
              <a:fillRect/>
            </a:stretch>
          </a:blipFill>
        </p:spPr>
        <p:txBody>
          <a:bodyPr wrap="square" lIns="0" tIns="0" rIns="0" bIns="0" rtlCol="0"/>
          <a:lstStyle/>
          <a:p>
            <a:endParaRPr/>
          </a:p>
        </p:txBody>
      </p:sp>
      <p:sp>
        <p:nvSpPr>
          <p:cNvPr id="4" name="Rectangle 3">
            <a:extLst>
              <a:ext uri="{FF2B5EF4-FFF2-40B4-BE49-F238E27FC236}">
                <a16:creationId xmlns:a16="http://schemas.microsoft.com/office/drawing/2014/main" id="{B56583AB-F9BC-40EA-9FCF-B57F1200384A}"/>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5" name="Rectangle 4">
            <a:extLst>
              <a:ext uri="{FF2B5EF4-FFF2-40B4-BE49-F238E27FC236}">
                <a16:creationId xmlns:a16="http://schemas.microsoft.com/office/drawing/2014/main" id="{AC1FEA2B-2311-2B53-3F2F-33F787FC274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6" name="Rectangle 5">
            <a:extLst>
              <a:ext uri="{FF2B5EF4-FFF2-40B4-BE49-F238E27FC236}">
                <a16:creationId xmlns:a16="http://schemas.microsoft.com/office/drawing/2014/main" id="{2D73D8AD-7778-F057-2026-45B3D048091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Slide Number Placeholder 7">
            <a:extLst>
              <a:ext uri="{FF2B5EF4-FFF2-40B4-BE49-F238E27FC236}">
                <a16:creationId xmlns:a16="http://schemas.microsoft.com/office/drawing/2014/main" id="{949B46B9-89AF-162C-94F9-24F2BB6E2E67}"/>
              </a:ext>
            </a:extLst>
          </p:cNvPr>
          <p:cNvSpPr>
            <a:spLocks noGrp="1"/>
          </p:cNvSpPr>
          <p:nvPr>
            <p:ph type="sldNum" sz="quarter" idx="7"/>
          </p:nvPr>
        </p:nvSpPr>
        <p:spPr/>
        <p:txBody>
          <a:bodyPr/>
          <a:lstStyle/>
          <a:p>
            <a:fld id="{B6F15528-21DE-4FAA-801E-634DDDAF4B2B}" type="slidenum">
              <a:rPr lang="en-US" smtClean="0"/>
              <a:pPr/>
              <a:t>3</a:t>
            </a:fld>
            <a:r>
              <a:rPr lang="en-US" dirty="0"/>
              <a:t>/14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Markov</a:t>
            </a:r>
            <a:r>
              <a:rPr spc="-5" dirty="0"/>
              <a:t> </a:t>
            </a:r>
            <a:r>
              <a:rPr spc="-30" dirty="0"/>
              <a:t>G</a:t>
            </a:r>
            <a:r>
              <a:rPr dirty="0"/>
              <a:t>ames</a:t>
            </a:r>
          </a:p>
        </p:txBody>
      </p:sp>
      <p:sp>
        <p:nvSpPr>
          <p:cNvPr id="3" name="object 3"/>
          <p:cNvSpPr/>
          <p:nvPr/>
        </p:nvSpPr>
        <p:spPr>
          <a:xfrm>
            <a:off x="400050" y="1107351"/>
            <a:ext cx="7767572" cy="50359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638301" y="6169303"/>
            <a:ext cx="7291070" cy="191135"/>
          </a:xfrm>
          <a:prstGeom prst="rect">
            <a:avLst/>
          </a:prstGeom>
        </p:spPr>
        <p:txBody>
          <a:bodyPr vert="horz" wrap="square" lIns="0" tIns="0" rIns="0" bIns="0" rtlCol="0">
            <a:spAutoFit/>
          </a:bodyPr>
          <a:lstStyle/>
          <a:p>
            <a:pPr marL="12700">
              <a:lnSpc>
                <a:spcPct val="100000"/>
              </a:lnSpc>
            </a:pPr>
            <a:r>
              <a:rPr sz="1300" spc="-5" dirty="0">
                <a:latin typeface="Gill Sans MT"/>
                <a:cs typeface="Gill Sans MT"/>
              </a:rPr>
              <a:t>f</a:t>
            </a:r>
            <a:r>
              <a:rPr sz="1300" spc="-45" dirty="0">
                <a:latin typeface="Gill Sans MT"/>
                <a:cs typeface="Gill Sans MT"/>
              </a:rPr>
              <a:t>r</a:t>
            </a:r>
            <a:r>
              <a:rPr sz="1300" spc="-10" dirty="0">
                <a:latin typeface="Gill Sans MT"/>
                <a:cs typeface="Gill Sans MT"/>
              </a:rPr>
              <a:t>om</a:t>
            </a:r>
            <a:r>
              <a:rPr sz="1300" spc="-5" dirty="0">
                <a:latin typeface="Gill Sans MT"/>
                <a:cs typeface="Gill Sans MT"/>
              </a:rPr>
              <a:t> </a:t>
            </a:r>
            <a:r>
              <a:rPr sz="1300" spc="30" dirty="0">
                <a:latin typeface="Gill Sans MT"/>
                <a:cs typeface="Gill Sans MT"/>
              </a:rPr>
              <a:t>C</a:t>
            </a:r>
            <a:r>
              <a:rPr sz="1300" dirty="0">
                <a:latin typeface="Gill Sans MT"/>
                <a:cs typeface="Gill Sans MT"/>
              </a:rPr>
              <a:t>.</a:t>
            </a:r>
            <a:r>
              <a:rPr sz="1300" spc="-135" dirty="0">
                <a:latin typeface="Gill Sans MT"/>
                <a:cs typeface="Gill Sans MT"/>
              </a:rPr>
              <a:t> </a:t>
            </a:r>
            <a:r>
              <a:rPr sz="1300" spc="-10" dirty="0">
                <a:latin typeface="Gill Sans MT"/>
                <a:cs typeface="Gill Sans MT"/>
              </a:rPr>
              <a:t>Deng</a:t>
            </a:r>
            <a:r>
              <a:rPr sz="1300" spc="-5" dirty="0">
                <a:latin typeface="Gill Sans MT"/>
                <a:cs typeface="Gill Sans MT"/>
              </a:rPr>
              <a:t> </a:t>
            </a:r>
            <a:r>
              <a:rPr sz="1300" dirty="0">
                <a:latin typeface="Gill Sans MT"/>
                <a:cs typeface="Gill Sans MT"/>
              </a:rPr>
              <a:t>et</a:t>
            </a:r>
            <a:r>
              <a:rPr sz="1300" spc="-5" dirty="0">
                <a:latin typeface="Gill Sans MT"/>
                <a:cs typeface="Gill Sans MT"/>
              </a:rPr>
              <a:t> </a:t>
            </a:r>
            <a:r>
              <a:rPr sz="1300" spc="-10" dirty="0">
                <a:latin typeface="Gill Sans MT"/>
                <a:cs typeface="Gill Sans MT"/>
              </a:rPr>
              <a:t>a</a:t>
            </a:r>
            <a:r>
              <a:rPr sz="1300" dirty="0">
                <a:latin typeface="Gill Sans MT"/>
                <a:cs typeface="Gill Sans MT"/>
              </a:rPr>
              <a:t>l:</a:t>
            </a:r>
            <a:r>
              <a:rPr sz="1300" spc="-135" dirty="0">
                <a:latin typeface="Gill Sans MT"/>
                <a:cs typeface="Gill Sans MT"/>
              </a:rPr>
              <a:t> </a:t>
            </a:r>
            <a:r>
              <a:rPr sz="1300" i="1" dirty="0">
                <a:latin typeface="Gill Sans MT"/>
                <a:cs typeface="Gill Sans MT"/>
              </a:rPr>
              <a:t>Modelin</a:t>
            </a:r>
            <a:r>
              <a:rPr sz="1300" i="1" spc="-10" dirty="0">
                <a:latin typeface="Gill Sans MT"/>
                <a:cs typeface="Gill Sans MT"/>
              </a:rPr>
              <a:t>g</a:t>
            </a:r>
            <a:r>
              <a:rPr sz="1300" i="1" spc="-5" dirty="0">
                <a:latin typeface="Gill Sans MT"/>
                <a:cs typeface="Gill Sans MT"/>
              </a:rPr>
              <a:t> </a:t>
            </a:r>
            <a:r>
              <a:rPr sz="1300" i="1" spc="-10" dirty="0">
                <a:latin typeface="Gill Sans MT"/>
                <a:cs typeface="Gill Sans MT"/>
              </a:rPr>
              <a:t>R</a:t>
            </a:r>
            <a:r>
              <a:rPr sz="1300" i="1" dirty="0">
                <a:latin typeface="Gill Sans MT"/>
                <a:cs typeface="Gill Sans MT"/>
              </a:rPr>
              <a:t>ep</a:t>
            </a:r>
            <a:r>
              <a:rPr sz="1300" i="1" spc="-5" dirty="0">
                <a:latin typeface="Gill Sans MT"/>
                <a:cs typeface="Gill Sans MT"/>
              </a:rPr>
              <a:t>lic</a:t>
            </a:r>
            <a:r>
              <a:rPr sz="1300" i="1" dirty="0">
                <a:latin typeface="Gill Sans MT"/>
                <a:cs typeface="Gill Sans MT"/>
              </a:rPr>
              <a:t>a</a:t>
            </a:r>
            <a:r>
              <a:rPr sz="1300" i="1" spc="-5" dirty="0">
                <a:latin typeface="Gill Sans MT"/>
                <a:cs typeface="Gill Sans MT"/>
              </a:rPr>
              <a:t>t</a:t>
            </a:r>
            <a:r>
              <a:rPr sz="1300" i="1" dirty="0">
                <a:latin typeface="Gill Sans MT"/>
                <a:cs typeface="Gill Sans MT"/>
              </a:rPr>
              <a:t>o</a:t>
            </a:r>
            <a:r>
              <a:rPr sz="1300" i="1" spc="-5" dirty="0">
                <a:latin typeface="Gill Sans MT"/>
                <a:cs typeface="Gill Sans MT"/>
              </a:rPr>
              <a:t>r </a:t>
            </a:r>
            <a:r>
              <a:rPr sz="1300" i="1" spc="-10" dirty="0">
                <a:latin typeface="Gill Sans MT"/>
                <a:cs typeface="Gill Sans MT"/>
              </a:rPr>
              <a:t>D</a:t>
            </a:r>
            <a:r>
              <a:rPr sz="1300" i="1" dirty="0">
                <a:latin typeface="Gill Sans MT"/>
                <a:cs typeface="Gill Sans MT"/>
              </a:rPr>
              <a:t>ynam</a:t>
            </a:r>
            <a:r>
              <a:rPr sz="1300" i="1" spc="-5" dirty="0">
                <a:latin typeface="Gill Sans MT"/>
                <a:cs typeface="Gill Sans MT"/>
              </a:rPr>
              <a:t>ic</a:t>
            </a:r>
            <a:r>
              <a:rPr sz="1300" i="1" dirty="0">
                <a:latin typeface="Gill Sans MT"/>
                <a:cs typeface="Gill Sans MT"/>
              </a:rPr>
              <a:t>s</a:t>
            </a:r>
            <a:r>
              <a:rPr sz="1300" i="1" spc="-5" dirty="0">
                <a:latin typeface="Gill Sans MT"/>
                <a:cs typeface="Gill Sans MT"/>
              </a:rPr>
              <a:t> </a:t>
            </a:r>
            <a:r>
              <a:rPr sz="1300" i="1" dirty="0">
                <a:latin typeface="Gill Sans MT"/>
                <a:cs typeface="Gill Sans MT"/>
              </a:rPr>
              <a:t>in</a:t>
            </a:r>
            <a:r>
              <a:rPr sz="1300" i="1" spc="-5" dirty="0">
                <a:latin typeface="Gill Sans MT"/>
                <a:cs typeface="Gill Sans MT"/>
              </a:rPr>
              <a:t> St</a:t>
            </a:r>
            <a:r>
              <a:rPr sz="1300" i="1" dirty="0">
                <a:latin typeface="Gill Sans MT"/>
                <a:cs typeface="Gill Sans MT"/>
              </a:rPr>
              <a:t>o</a:t>
            </a:r>
            <a:r>
              <a:rPr sz="1300" i="1" spc="20" dirty="0">
                <a:latin typeface="Gill Sans MT"/>
                <a:cs typeface="Gill Sans MT"/>
              </a:rPr>
              <a:t>c</a:t>
            </a:r>
            <a:r>
              <a:rPr sz="1300" i="1" dirty="0">
                <a:latin typeface="Gill Sans MT"/>
                <a:cs typeface="Gill Sans MT"/>
              </a:rPr>
              <a:t>ha</a:t>
            </a:r>
            <a:r>
              <a:rPr sz="1300" i="1" spc="-5" dirty="0">
                <a:latin typeface="Gill Sans MT"/>
                <a:cs typeface="Gill Sans MT"/>
              </a:rPr>
              <a:t>stic </a:t>
            </a:r>
            <a:r>
              <a:rPr sz="1300" i="1" dirty="0">
                <a:latin typeface="Gill Sans MT"/>
                <a:cs typeface="Gill Sans MT"/>
              </a:rPr>
              <a:t>Gam</a:t>
            </a:r>
            <a:r>
              <a:rPr sz="1300" i="1" spc="-10" dirty="0">
                <a:latin typeface="Gill Sans MT"/>
                <a:cs typeface="Gill Sans MT"/>
              </a:rPr>
              <a:t>es</a:t>
            </a:r>
            <a:r>
              <a:rPr sz="1300" i="1" spc="-5" dirty="0">
                <a:latin typeface="Gill Sans MT"/>
                <a:cs typeface="Gill Sans MT"/>
              </a:rPr>
              <a:t> </a:t>
            </a:r>
            <a:r>
              <a:rPr sz="1300" i="1" spc="-10" dirty="0">
                <a:latin typeface="Gill Sans MT"/>
                <a:cs typeface="Gill Sans MT"/>
              </a:rPr>
              <a:t>U</a:t>
            </a:r>
            <a:r>
              <a:rPr sz="1300" i="1" dirty="0">
                <a:latin typeface="Gill Sans MT"/>
                <a:cs typeface="Gill Sans MT"/>
              </a:rPr>
              <a:t>sin</a:t>
            </a:r>
            <a:r>
              <a:rPr sz="1300" i="1" spc="-10" dirty="0">
                <a:latin typeface="Gill Sans MT"/>
                <a:cs typeface="Gill Sans MT"/>
              </a:rPr>
              <a:t>g</a:t>
            </a:r>
            <a:r>
              <a:rPr sz="1300" i="1" spc="-5" dirty="0">
                <a:latin typeface="Gill Sans MT"/>
                <a:cs typeface="Gill Sans MT"/>
              </a:rPr>
              <a:t> </a:t>
            </a:r>
            <a:r>
              <a:rPr sz="1300" i="1" dirty="0">
                <a:latin typeface="Gill Sans MT"/>
                <a:cs typeface="Gill Sans MT"/>
              </a:rPr>
              <a:t>Ma</a:t>
            </a:r>
            <a:r>
              <a:rPr sz="1300" i="1" spc="-5" dirty="0">
                <a:latin typeface="Gill Sans MT"/>
                <a:cs typeface="Gill Sans MT"/>
              </a:rPr>
              <a:t>r</a:t>
            </a:r>
            <a:r>
              <a:rPr sz="1300" i="1" spc="-50" dirty="0">
                <a:latin typeface="Gill Sans MT"/>
                <a:cs typeface="Gill Sans MT"/>
              </a:rPr>
              <a:t>k</a:t>
            </a:r>
            <a:r>
              <a:rPr sz="1300" i="1" spc="-30" dirty="0">
                <a:latin typeface="Gill Sans MT"/>
                <a:cs typeface="Gill Sans MT"/>
              </a:rPr>
              <a:t>o</a:t>
            </a:r>
            <a:r>
              <a:rPr sz="1300" i="1" dirty="0">
                <a:latin typeface="Gill Sans MT"/>
                <a:cs typeface="Gill Sans MT"/>
              </a:rPr>
              <a:t>v</a:t>
            </a:r>
            <a:r>
              <a:rPr sz="1300" i="1" spc="-5" dirty="0">
                <a:latin typeface="Gill Sans MT"/>
                <a:cs typeface="Gill Sans MT"/>
              </a:rPr>
              <a:t> </a:t>
            </a:r>
            <a:r>
              <a:rPr sz="1300" i="1" spc="-10" dirty="0">
                <a:latin typeface="Gill Sans MT"/>
                <a:cs typeface="Gill Sans MT"/>
              </a:rPr>
              <a:t>C</a:t>
            </a:r>
            <a:r>
              <a:rPr sz="1300" i="1" dirty="0">
                <a:latin typeface="Gill Sans MT"/>
                <a:cs typeface="Gill Sans MT"/>
              </a:rPr>
              <a:t>hain</a:t>
            </a:r>
            <a:r>
              <a:rPr sz="1300" i="1" spc="-5" dirty="0">
                <a:latin typeface="Gill Sans MT"/>
                <a:cs typeface="Gill Sans MT"/>
              </a:rPr>
              <a:t> </a:t>
            </a:r>
            <a:r>
              <a:rPr sz="1300" i="1" spc="-10" dirty="0">
                <a:latin typeface="Gill Sans MT"/>
                <a:cs typeface="Gill Sans MT"/>
              </a:rPr>
              <a:t>Met</a:t>
            </a:r>
            <a:r>
              <a:rPr sz="1300" i="1" dirty="0">
                <a:latin typeface="Gill Sans MT"/>
                <a:cs typeface="Gill Sans MT"/>
              </a:rPr>
              <a:t>hod</a:t>
            </a:r>
            <a:r>
              <a:rPr sz="1300" spc="100" dirty="0">
                <a:latin typeface="Gill Sans MT"/>
                <a:cs typeface="Gill Sans MT"/>
              </a:rPr>
              <a:t>.</a:t>
            </a:r>
            <a:r>
              <a:rPr sz="1300" spc="-10" dirty="0">
                <a:latin typeface="Gill Sans MT"/>
                <a:cs typeface="Gill Sans MT"/>
              </a:rPr>
              <a:t>AAM</a:t>
            </a:r>
            <a:r>
              <a:rPr sz="1300" dirty="0">
                <a:latin typeface="Gill Sans MT"/>
                <a:cs typeface="Gill Sans MT"/>
              </a:rPr>
              <a:t>AS</a:t>
            </a:r>
            <a:r>
              <a:rPr sz="1300" spc="-5" dirty="0">
                <a:latin typeface="Gill Sans MT"/>
                <a:cs typeface="Gill Sans MT"/>
              </a:rPr>
              <a:t> </a:t>
            </a:r>
            <a:r>
              <a:rPr sz="1300" dirty="0">
                <a:latin typeface="Gill Sans MT"/>
                <a:cs typeface="Gill Sans MT"/>
              </a:rPr>
              <a:t>2021</a:t>
            </a:r>
          </a:p>
        </p:txBody>
      </p:sp>
      <p:sp>
        <p:nvSpPr>
          <p:cNvPr id="5" name="Rectangle 4">
            <a:extLst>
              <a:ext uri="{FF2B5EF4-FFF2-40B4-BE49-F238E27FC236}">
                <a16:creationId xmlns:a16="http://schemas.microsoft.com/office/drawing/2014/main" id="{F61B53F3-02E9-FBBC-2E1C-45D292BD024D}"/>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6" name="Rectangle 5">
            <a:extLst>
              <a:ext uri="{FF2B5EF4-FFF2-40B4-BE49-F238E27FC236}">
                <a16:creationId xmlns:a16="http://schemas.microsoft.com/office/drawing/2014/main" id="{38451AFE-609C-21B9-9D3D-C71BFBC96D43}"/>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7" name="Rectangle 6">
            <a:extLst>
              <a:ext uri="{FF2B5EF4-FFF2-40B4-BE49-F238E27FC236}">
                <a16:creationId xmlns:a16="http://schemas.microsoft.com/office/drawing/2014/main" id="{E305940E-E356-30DC-6597-5114146B536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FFC1BB5F-ABCF-A76F-1C3B-51A2387057F1}"/>
              </a:ext>
            </a:extLst>
          </p:cNvPr>
          <p:cNvSpPr>
            <a:spLocks noGrp="1"/>
          </p:cNvSpPr>
          <p:nvPr>
            <p:ph type="sldNum" sz="quarter" idx="7"/>
          </p:nvPr>
        </p:nvSpPr>
        <p:spPr/>
        <p:txBody>
          <a:bodyPr/>
          <a:lstStyle/>
          <a:p>
            <a:fld id="{B6F15528-21DE-4FAA-801E-634DDDAF4B2B}" type="slidenum">
              <a:rPr lang="en-US" smtClean="0"/>
              <a:pPr/>
              <a:t>4</a:t>
            </a:fld>
            <a:r>
              <a:rPr lang="en-US" dirty="0"/>
              <a:t>/14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3227" y="320571"/>
            <a:ext cx="8297544" cy="492443"/>
          </a:xfrm>
          <a:prstGeom prst="rect">
            <a:avLst/>
          </a:prstGeom>
        </p:spPr>
        <p:txBody>
          <a:bodyPr vert="horz" wrap="square" lIns="0" tIns="0" rIns="0" bIns="0" rtlCol="0">
            <a:spAutoFit/>
          </a:bodyPr>
          <a:lstStyle/>
          <a:p>
            <a:pPr marL="12700">
              <a:lnSpc>
                <a:spcPct val="100000"/>
              </a:lnSpc>
            </a:pPr>
            <a:r>
              <a:rPr dirty="0"/>
              <a:t>Example</a:t>
            </a:r>
            <a:r>
              <a:rPr lang="en-US" spc="-5" dirty="0"/>
              <a:t> of a Markov </a:t>
            </a:r>
            <a:r>
              <a:rPr spc="-30" dirty="0"/>
              <a:t>G</a:t>
            </a:r>
            <a:r>
              <a:rPr dirty="0"/>
              <a:t>ame</a:t>
            </a:r>
          </a:p>
        </p:txBody>
      </p:sp>
      <p:sp>
        <p:nvSpPr>
          <p:cNvPr id="3" name="object 3"/>
          <p:cNvSpPr/>
          <p:nvPr/>
        </p:nvSpPr>
        <p:spPr>
          <a:xfrm>
            <a:off x="3405415" y="2627466"/>
            <a:ext cx="2707242" cy="2035082"/>
          </a:xfrm>
          <a:prstGeom prst="rect">
            <a:avLst/>
          </a:prstGeom>
          <a:blipFill>
            <a:blip r:embed="rId3" cstate="print"/>
            <a:stretch>
              <a:fillRect l="-212587" t="-7491" r="-5629" b="-13716"/>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EE00B8B7-E9F0-B6B1-43A2-CD3D32B6914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rPr>
              <a:t>FIT3155-S2-2024</a:t>
            </a:r>
          </a:p>
        </p:txBody>
      </p:sp>
      <p:sp>
        <p:nvSpPr>
          <p:cNvPr id="7" name="Rectangle 6">
            <a:extLst>
              <a:ext uri="{FF2B5EF4-FFF2-40B4-BE49-F238E27FC236}">
                <a16:creationId xmlns:a16="http://schemas.microsoft.com/office/drawing/2014/main" id="{2CB95B7F-AC65-5441-7739-D69E4C0B1B9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Week-9</a:t>
            </a:r>
          </a:p>
        </p:txBody>
      </p:sp>
      <p:sp>
        <p:nvSpPr>
          <p:cNvPr id="8" name="Rectangle 7">
            <a:extLst>
              <a:ext uri="{FF2B5EF4-FFF2-40B4-BE49-F238E27FC236}">
                <a16:creationId xmlns:a16="http://schemas.microsoft.com/office/drawing/2014/main" id="{B892AFC0-E147-2F66-9BA1-FFD90F85BDA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9">
            <a:extLst>
              <a:ext uri="{FF2B5EF4-FFF2-40B4-BE49-F238E27FC236}">
                <a16:creationId xmlns:a16="http://schemas.microsoft.com/office/drawing/2014/main" id="{9E33FC38-E451-5271-2177-19F9DF24BDF0}"/>
              </a:ext>
            </a:extLst>
          </p:cNvPr>
          <p:cNvSpPr>
            <a:spLocks noGrp="1"/>
          </p:cNvSpPr>
          <p:nvPr>
            <p:ph type="sldNum" sz="quarter" idx="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2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r>
              <a:rPr kumimoji="0" lang="en-US" sz="2400" b="0" i="0" u="none" strike="noStrike" kern="1200" cap="none" spc="0" normalizeH="0" baseline="0" noProof="0" dirty="0">
                <a:ln>
                  <a:noFill/>
                </a:ln>
                <a:solidFill>
                  <a:prstClr val="black"/>
                </a:solidFill>
                <a:effectLst/>
                <a:uLnTx/>
                <a:uFillTx/>
                <a:latin typeface="Calibri"/>
                <a:ea typeface="+mn-ea"/>
                <a:cs typeface="+mn-cs"/>
              </a:rPr>
              <a:t>/14</a:t>
            </a:r>
          </a:p>
        </p:txBody>
      </p:sp>
    </p:spTree>
    <p:extLst>
      <p:ext uri="{BB962C8B-B14F-4D97-AF65-F5344CB8AC3E}">
        <p14:creationId xmlns:p14="http://schemas.microsoft.com/office/powerpoint/2010/main" val="4180187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Markov</a:t>
            </a:r>
            <a:r>
              <a:rPr spc="-5" dirty="0"/>
              <a:t> </a:t>
            </a:r>
            <a:r>
              <a:rPr spc="-30" dirty="0"/>
              <a:t>G</a:t>
            </a:r>
            <a:r>
              <a:rPr dirty="0"/>
              <a:t>ame</a:t>
            </a:r>
            <a:r>
              <a:rPr spc="-10" dirty="0"/>
              <a:t>:</a:t>
            </a:r>
            <a:r>
              <a:rPr spc="-5" dirty="0"/>
              <a:t> </a:t>
            </a:r>
            <a:r>
              <a:rPr dirty="0"/>
              <a:t>De</a:t>
            </a:r>
            <a:r>
              <a:rPr spc="-15" dirty="0"/>
              <a:t>f</a:t>
            </a:r>
            <a:r>
              <a:rPr dirty="0"/>
              <a:t>ini</a:t>
            </a:r>
            <a:r>
              <a:rPr spc="-15" dirty="0"/>
              <a:t>t</a:t>
            </a:r>
            <a:r>
              <a:rPr dirty="0"/>
              <a:t>ion</a:t>
            </a:r>
          </a:p>
        </p:txBody>
      </p:sp>
      <p:sp>
        <p:nvSpPr>
          <p:cNvPr id="3" name="object 3"/>
          <p:cNvSpPr/>
          <p:nvPr/>
        </p:nvSpPr>
        <p:spPr>
          <a:xfrm>
            <a:off x="0" y="1507886"/>
            <a:ext cx="9144000" cy="3842226"/>
          </a:xfrm>
          <a:prstGeom prst="rect">
            <a:avLst/>
          </a:prstGeom>
          <a:blipFill>
            <a:blip r:embed="rId3" cstate="print"/>
            <a:stretch>
              <a:fillRect/>
            </a:stretch>
          </a:blipFill>
        </p:spPr>
        <p:txBody>
          <a:bodyPr wrap="square" lIns="0" tIns="0" rIns="0" bIns="0" rtlCol="0"/>
          <a:lstStyle/>
          <a:p>
            <a:endParaRPr/>
          </a:p>
        </p:txBody>
      </p:sp>
      <p:sp>
        <p:nvSpPr>
          <p:cNvPr id="4" name="Rectangle 3">
            <a:extLst>
              <a:ext uri="{FF2B5EF4-FFF2-40B4-BE49-F238E27FC236}">
                <a16:creationId xmlns:a16="http://schemas.microsoft.com/office/drawing/2014/main" id="{505973BC-0556-0A11-9F83-803FCC2F4E3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5" name="Rectangle 4">
            <a:extLst>
              <a:ext uri="{FF2B5EF4-FFF2-40B4-BE49-F238E27FC236}">
                <a16:creationId xmlns:a16="http://schemas.microsoft.com/office/drawing/2014/main" id="{B80D4D75-76D3-4B99-0509-3FF9B59E21D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6" name="Rectangle 5">
            <a:extLst>
              <a:ext uri="{FF2B5EF4-FFF2-40B4-BE49-F238E27FC236}">
                <a16:creationId xmlns:a16="http://schemas.microsoft.com/office/drawing/2014/main" id="{80D3BCF4-7D91-0261-A777-01C1F5A84C2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Slide Number Placeholder 7">
            <a:extLst>
              <a:ext uri="{FF2B5EF4-FFF2-40B4-BE49-F238E27FC236}">
                <a16:creationId xmlns:a16="http://schemas.microsoft.com/office/drawing/2014/main" id="{DE03095F-7D48-B838-9722-23A45C678525}"/>
              </a:ext>
            </a:extLst>
          </p:cNvPr>
          <p:cNvSpPr>
            <a:spLocks noGrp="1"/>
          </p:cNvSpPr>
          <p:nvPr>
            <p:ph type="sldNum" sz="quarter" idx="7"/>
          </p:nvPr>
        </p:nvSpPr>
        <p:spPr/>
        <p:txBody>
          <a:bodyPr/>
          <a:lstStyle/>
          <a:p>
            <a:fld id="{B6F15528-21DE-4FAA-801E-634DDDAF4B2B}" type="slidenum">
              <a:rPr lang="en-US" smtClean="0"/>
              <a:pPr/>
              <a:t>6</a:t>
            </a:fld>
            <a:r>
              <a:rPr lang="en-US" dirty="0"/>
              <a:t>/14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Nash</a:t>
            </a:r>
            <a:r>
              <a:rPr spc="-5" dirty="0"/>
              <a:t> </a:t>
            </a:r>
            <a:r>
              <a:rPr dirty="0"/>
              <a:t>in</a:t>
            </a:r>
            <a:r>
              <a:rPr spc="-5" dirty="0"/>
              <a:t> </a:t>
            </a:r>
            <a:r>
              <a:rPr dirty="0"/>
              <a:t>Markov</a:t>
            </a:r>
            <a:r>
              <a:rPr spc="-5" dirty="0"/>
              <a:t> </a:t>
            </a:r>
            <a:r>
              <a:rPr spc="-30" dirty="0"/>
              <a:t>G</a:t>
            </a:r>
            <a:r>
              <a:rPr dirty="0"/>
              <a:t>ames</a:t>
            </a:r>
          </a:p>
        </p:txBody>
      </p:sp>
      <p:sp>
        <p:nvSpPr>
          <p:cNvPr id="3" name="object 3"/>
          <p:cNvSpPr txBox="1"/>
          <p:nvPr/>
        </p:nvSpPr>
        <p:spPr>
          <a:xfrm>
            <a:off x="444475" y="1780107"/>
            <a:ext cx="8324850" cy="1600200"/>
          </a:xfrm>
          <a:prstGeom prst="rect">
            <a:avLst/>
          </a:prstGeom>
        </p:spPr>
        <p:txBody>
          <a:bodyPr vert="horz" wrap="square" lIns="0" tIns="0" rIns="0" bIns="0" rtlCol="0">
            <a:spAutoFit/>
          </a:bodyPr>
          <a:lstStyle/>
          <a:p>
            <a:pPr marL="12700">
              <a:lnSpc>
                <a:spcPct val="100000"/>
              </a:lnSpc>
            </a:pPr>
            <a:r>
              <a:rPr sz="2800" spc="-15" dirty="0">
                <a:latin typeface="Gill Sans MT"/>
                <a:cs typeface="Gill Sans MT"/>
              </a:rPr>
              <a:t>Theo</a:t>
            </a:r>
            <a:r>
              <a:rPr sz="2800" spc="-75" dirty="0">
                <a:latin typeface="Gill Sans MT"/>
                <a:cs typeface="Gill Sans MT"/>
              </a:rPr>
              <a:t>r</a:t>
            </a:r>
            <a:r>
              <a:rPr sz="2800" dirty="0">
                <a:latin typeface="Gill Sans MT"/>
                <a:cs typeface="Gill Sans MT"/>
              </a:rPr>
              <a:t>em:</a:t>
            </a:r>
          </a:p>
          <a:p>
            <a:pPr>
              <a:lnSpc>
                <a:spcPct val="100000"/>
              </a:lnSpc>
              <a:spcBef>
                <a:spcPts val="2"/>
              </a:spcBef>
            </a:pPr>
            <a:endParaRPr sz="2850" dirty="0">
              <a:latin typeface="Times New Roman"/>
              <a:cs typeface="Times New Roman"/>
            </a:endParaRPr>
          </a:p>
          <a:p>
            <a:pPr marL="12700" marR="5080">
              <a:lnSpc>
                <a:spcPts val="3200"/>
              </a:lnSpc>
            </a:pPr>
            <a:r>
              <a:rPr sz="2800" spc="-15" dirty="0">
                <a:latin typeface="Gill Sans MT"/>
                <a:cs typeface="Gill Sans MT"/>
              </a:rPr>
              <a:t>E</a:t>
            </a:r>
            <a:r>
              <a:rPr sz="2800" spc="-75" dirty="0">
                <a:latin typeface="Gill Sans MT"/>
                <a:cs typeface="Gill Sans MT"/>
              </a:rPr>
              <a:t>v</a:t>
            </a:r>
            <a:r>
              <a:rPr sz="2800" dirty="0">
                <a:latin typeface="Gill Sans MT"/>
                <a:cs typeface="Gill Sans MT"/>
              </a:rPr>
              <a:t>e</a:t>
            </a:r>
            <a:r>
              <a:rPr sz="2800" spc="80" dirty="0">
                <a:latin typeface="Gill Sans MT"/>
                <a:cs typeface="Gill Sans MT"/>
              </a:rPr>
              <a:t>r</a:t>
            </a:r>
            <a:r>
              <a:rPr sz="2800" spc="-15" dirty="0">
                <a:latin typeface="Gill Sans MT"/>
                <a:cs typeface="Gill Sans MT"/>
              </a:rPr>
              <a:t>y</a:t>
            </a:r>
            <a:r>
              <a:rPr sz="2800" spc="-5" dirty="0">
                <a:latin typeface="Gill Sans MT"/>
                <a:cs typeface="Gill Sans MT"/>
              </a:rPr>
              <a:t> </a:t>
            </a:r>
            <a:r>
              <a:rPr sz="2800" dirty="0">
                <a:latin typeface="Gill Sans MT"/>
                <a:cs typeface="Gill Sans MT"/>
              </a:rPr>
              <a:t>t</a:t>
            </a:r>
            <a:r>
              <a:rPr sz="2800" spc="-60" dirty="0">
                <a:latin typeface="Gill Sans MT"/>
                <a:cs typeface="Gill Sans MT"/>
              </a:rPr>
              <a:t>w</a:t>
            </a:r>
            <a:r>
              <a:rPr sz="2800" spc="-20" dirty="0">
                <a:latin typeface="Gill Sans MT"/>
                <a:cs typeface="Gill Sans MT"/>
              </a:rPr>
              <a:t>o</a:t>
            </a:r>
            <a:r>
              <a:rPr sz="2800" spc="-5" dirty="0">
                <a:latin typeface="Gill Sans MT"/>
                <a:cs typeface="Gill Sans MT"/>
              </a:rPr>
              <a:t>-</a:t>
            </a:r>
            <a:r>
              <a:rPr sz="2800" dirty="0">
                <a:latin typeface="Gill Sans MT"/>
                <a:cs typeface="Gill Sans MT"/>
              </a:rPr>
              <a:t>p</a:t>
            </a:r>
            <a:r>
              <a:rPr sz="2800" spc="-5" dirty="0">
                <a:latin typeface="Gill Sans MT"/>
                <a:cs typeface="Gill Sans MT"/>
              </a:rPr>
              <a:t>l</a:t>
            </a:r>
            <a:r>
              <a:rPr sz="2800" spc="-130" dirty="0">
                <a:latin typeface="Gill Sans MT"/>
                <a:cs typeface="Gill Sans MT"/>
              </a:rPr>
              <a:t>a</a:t>
            </a:r>
            <a:r>
              <a:rPr sz="2800" spc="-75" dirty="0">
                <a:latin typeface="Gill Sans MT"/>
                <a:cs typeface="Gill Sans MT"/>
              </a:rPr>
              <a:t>y</a:t>
            </a:r>
            <a:r>
              <a:rPr sz="2800" dirty="0">
                <a:latin typeface="Gill Sans MT"/>
                <a:cs typeface="Gill Sans MT"/>
              </a:rPr>
              <a:t>e</a:t>
            </a:r>
            <a:r>
              <a:rPr sz="2800" spc="-300" dirty="0">
                <a:latin typeface="Gill Sans MT"/>
                <a:cs typeface="Gill Sans MT"/>
              </a:rPr>
              <a:t>r</a:t>
            </a:r>
            <a:r>
              <a:rPr sz="2800" dirty="0">
                <a:latin typeface="Gill Sans MT"/>
                <a:cs typeface="Gill Sans MT"/>
              </a:rPr>
              <a:t>,</a:t>
            </a:r>
            <a:r>
              <a:rPr sz="2800" spc="-285" dirty="0">
                <a:latin typeface="Gill Sans MT"/>
                <a:cs typeface="Gill Sans MT"/>
              </a:rPr>
              <a:t> </a:t>
            </a:r>
            <a:r>
              <a:rPr sz="2800" spc="-15" dirty="0">
                <a:latin typeface="Gill Sans MT"/>
                <a:cs typeface="Gill Sans MT"/>
              </a:rPr>
              <a:t>genera</a:t>
            </a:r>
            <a:r>
              <a:rPr sz="2800" spc="-5" dirty="0">
                <a:latin typeface="Gill Sans MT"/>
                <a:cs typeface="Gill Sans MT"/>
              </a:rPr>
              <a:t>l-</a:t>
            </a:r>
            <a:r>
              <a:rPr sz="2800" spc="-15" dirty="0">
                <a:latin typeface="Gill Sans MT"/>
                <a:cs typeface="Gill Sans MT"/>
              </a:rPr>
              <a:t>s</a:t>
            </a:r>
            <a:r>
              <a:rPr sz="2800" dirty="0">
                <a:latin typeface="Gill Sans MT"/>
                <a:cs typeface="Gill Sans MT"/>
              </a:rPr>
              <a:t>um,</a:t>
            </a:r>
            <a:r>
              <a:rPr sz="2800" spc="-285" dirty="0">
                <a:latin typeface="Gill Sans MT"/>
                <a:cs typeface="Gill Sans MT"/>
              </a:rPr>
              <a:t> </a:t>
            </a:r>
            <a:r>
              <a:rPr sz="2800" spc="-114" dirty="0">
                <a:latin typeface="Gill Sans MT"/>
                <a:cs typeface="Gill Sans MT"/>
              </a:rPr>
              <a:t>a</a:t>
            </a:r>
            <a:r>
              <a:rPr sz="2800" spc="-75" dirty="0">
                <a:latin typeface="Gill Sans MT"/>
                <a:cs typeface="Gill Sans MT"/>
              </a:rPr>
              <a:t>v</a:t>
            </a:r>
            <a:r>
              <a:rPr sz="2800" spc="-15" dirty="0">
                <a:latin typeface="Gill Sans MT"/>
                <a:cs typeface="Gill Sans MT"/>
              </a:rPr>
              <a:t>erag</a:t>
            </a:r>
            <a:r>
              <a:rPr sz="2800" dirty="0">
                <a:latin typeface="Gill Sans MT"/>
                <a:cs typeface="Gill Sans MT"/>
              </a:rPr>
              <a:t>e</a:t>
            </a:r>
            <a:r>
              <a:rPr sz="2800" spc="-5" dirty="0">
                <a:latin typeface="Gill Sans MT"/>
                <a:cs typeface="Gill Sans MT"/>
              </a:rPr>
              <a:t> </a:t>
            </a:r>
            <a:r>
              <a:rPr sz="2800" spc="-75" dirty="0">
                <a:latin typeface="Gill Sans MT"/>
                <a:cs typeface="Gill Sans MT"/>
              </a:rPr>
              <a:t>r</a:t>
            </a:r>
            <a:r>
              <a:rPr sz="2800" spc="-45" dirty="0">
                <a:latin typeface="Gill Sans MT"/>
                <a:cs typeface="Gill Sans MT"/>
              </a:rPr>
              <a:t>e</a:t>
            </a:r>
            <a:r>
              <a:rPr sz="2800" spc="-5" dirty="0">
                <a:latin typeface="Gill Sans MT"/>
                <a:cs typeface="Gill Sans MT"/>
              </a:rPr>
              <a:t>w</a:t>
            </a:r>
            <a:r>
              <a:rPr sz="2800" spc="-15" dirty="0">
                <a:latin typeface="Gill Sans MT"/>
                <a:cs typeface="Gill Sans MT"/>
              </a:rPr>
              <a:t>a</a:t>
            </a:r>
            <a:r>
              <a:rPr sz="2800" spc="-60" dirty="0">
                <a:latin typeface="Gill Sans MT"/>
                <a:cs typeface="Gill Sans MT"/>
              </a:rPr>
              <a:t>r</a:t>
            </a:r>
            <a:r>
              <a:rPr sz="2800" spc="-15" dirty="0">
                <a:latin typeface="Gill Sans MT"/>
                <a:cs typeface="Gill Sans MT"/>
              </a:rPr>
              <a:t>d</a:t>
            </a:r>
            <a:r>
              <a:rPr sz="2800" dirty="0">
                <a:latin typeface="Gill Sans MT"/>
                <a:cs typeface="Gill Sans MT"/>
              </a:rPr>
              <a:t>,</a:t>
            </a:r>
            <a:r>
              <a:rPr sz="2800" spc="-285" dirty="0">
                <a:latin typeface="Gill Sans MT"/>
                <a:cs typeface="Gill Sans MT"/>
              </a:rPr>
              <a:t> </a:t>
            </a:r>
            <a:r>
              <a:rPr sz="2800" spc="-5" dirty="0">
                <a:latin typeface="Gill Sans MT"/>
                <a:cs typeface="Gill Sans MT"/>
              </a:rPr>
              <a:t>i</a:t>
            </a:r>
            <a:r>
              <a:rPr sz="2800" spc="-45" dirty="0">
                <a:latin typeface="Gill Sans MT"/>
                <a:cs typeface="Gill Sans MT"/>
              </a:rPr>
              <a:t>r</a:t>
            </a:r>
            <a:r>
              <a:rPr sz="2800" spc="-75" dirty="0">
                <a:latin typeface="Gill Sans MT"/>
                <a:cs typeface="Gill Sans MT"/>
              </a:rPr>
              <a:t>r</a:t>
            </a:r>
            <a:r>
              <a:rPr sz="2800" spc="-15" dirty="0">
                <a:latin typeface="Gill Sans MT"/>
                <a:cs typeface="Gill Sans MT"/>
              </a:rPr>
              <a:t>ed</a:t>
            </a:r>
            <a:r>
              <a:rPr sz="2800" dirty="0">
                <a:latin typeface="Gill Sans MT"/>
                <a:cs typeface="Gill Sans MT"/>
              </a:rPr>
              <a:t>ucib</a:t>
            </a:r>
            <a:r>
              <a:rPr sz="2800" spc="-5" dirty="0">
                <a:latin typeface="Gill Sans MT"/>
                <a:cs typeface="Gill Sans MT"/>
              </a:rPr>
              <a:t>l</a:t>
            </a:r>
            <a:r>
              <a:rPr sz="2800" dirty="0">
                <a:latin typeface="Gill Sans MT"/>
                <a:cs typeface="Gill Sans MT"/>
              </a:rPr>
              <a:t>e </a:t>
            </a:r>
            <a:r>
              <a:rPr sz="2800" spc="-15" dirty="0">
                <a:latin typeface="Gill Sans MT"/>
                <a:cs typeface="Gill Sans MT"/>
              </a:rPr>
              <a:t>stochas</a:t>
            </a:r>
            <a:r>
              <a:rPr sz="2800" dirty="0">
                <a:latin typeface="Gill Sans MT"/>
                <a:cs typeface="Gill Sans MT"/>
              </a:rPr>
              <a:t>t</a:t>
            </a:r>
            <a:r>
              <a:rPr sz="2800" spc="-5" dirty="0">
                <a:latin typeface="Gill Sans MT"/>
                <a:cs typeface="Gill Sans MT"/>
              </a:rPr>
              <a:t>i</a:t>
            </a:r>
            <a:r>
              <a:rPr sz="2800" spc="-15" dirty="0">
                <a:latin typeface="Gill Sans MT"/>
                <a:cs typeface="Gill Sans MT"/>
              </a:rPr>
              <a:t>c</a:t>
            </a:r>
            <a:r>
              <a:rPr sz="2800" spc="-5" dirty="0">
                <a:latin typeface="Gill Sans MT"/>
                <a:cs typeface="Gill Sans MT"/>
              </a:rPr>
              <a:t> </a:t>
            </a:r>
            <a:r>
              <a:rPr sz="2800" spc="-15" dirty="0">
                <a:latin typeface="Gill Sans MT"/>
                <a:cs typeface="Gill Sans MT"/>
              </a:rPr>
              <a:t>ga</a:t>
            </a:r>
            <a:r>
              <a:rPr sz="2800" dirty="0">
                <a:latin typeface="Gill Sans MT"/>
                <a:cs typeface="Gill Sans MT"/>
              </a:rPr>
              <a:t>me</a:t>
            </a:r>
            <a:r>
              <a:rPr sz="2800" spc="-5" dirty="0">
                <a:latin typeface="Gill Sans MT"/>
                <a:cs typeface="Gill Sans MT"/>
              </a:rPr>
              <a:t> </a:t>
            </a:r>
            <a:r>
              <a:rPr sz="2800" spc="-15" dirty="0">
                <a:latin typeface="Gill Sans MT"/>
                <a:cs typeface="Gill Sans MT"/>
              </a:rPr>
              <a:t>has</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 </a:t>
            </a:r>
            <a:r>
              <a:rPr sz="2800" spc="-15" dirty="0">
                <a:latin typeface="Gill Sans MT"/>
                <a:cs typeface="Gill Sans MT"/>
              </a:rPr>
              <a:t>Nas</a:t>
            </a:r>
            <a:r>
              <a:rPr sz="2800" dirty="0">
                <a:latin typeface="Gill Sans MT"/>
                <a:cs typeface="Gill Sans MT"/>
              </a:rPr>
              <a:t>h</a:t>
            </a:r>
            <a:r>
              <a:rPr sz="2800" spc="-5" dirty="0">
                <a:latin typeface="Gill Sans MT"/>
                <a:cs typeface="Gill Sans MT"/>
              </a:rPr>
              <a:t> </a:t>
            </a:r>
            <a:r>
              <a:rPr sz="2800" dirty="0">
                <a:latin typeface="Gill Sans MT"/>
                <a:cs typeface="Gill Sans MT"/>
              </a:rPr>
              <a:t>equi</a:t>
            </a:r>
            <a:r>
              <a:rPr sz="2800" spc="-5" dirty="0">
                <a:latin typeface="Gill Sans MT"/>
                <a:cs typeface="Gill Sans MT"/>
              </a:rPr>
              <a:t>li</a:t>
            </a:r>
            <a:r>
              <a:rPr sz="2800" dirty="0">
                <a:latin typeface="Gill Sans MT"/>
                <a:cs typeface="Gill Sans MT"/>
              </a:rPr>
              <a:t>bri</a:t>
            </a:r>
            <a:r>
              <a:rPr sz="2800" spc="-20" dirty="0">
                <a:latin typeface="Gill Sans MT"/>
                <a:cs typeface="Gill Sans MT"/>
              </a:rPr>
              <a:t>um</a:t>
            </a:r>
            <a:endParaRPr sz="2800" dirty="0">
              <a:latin typeface="Gill Sans MT"/>
              <a:cs typeface="Gill Sans MT"/>
            </a:endParaRPr>
          </a:p>
        </p:txBody>
      </p:sp>
      <p:sp>
        <p:nvSpPr>
          <p:cNvPr id="4" name="object 4"/>
          <p:cNvSpPr txBox="1"/>
          <p:nvPr/>
        </p:nvSpPr>
        <p:spPr>
          <a:xfrm>
            <a:off x="482600" y="4995593"/>
            <a:ext cx="7678420" cy="977900"/>
          </a:xfrm>
          <a:prstGeom prst="rect">
            <a:avLst/>
          </a:prstGeom>
        </p:spPr>
        <p:txBody>
          <a:bodyPr vert="horz" wrap="square" lIns="0" tIns="0" rIns="0" bIns="0" rtlCol="0">
            <a:spAutoFit/>
          </a:bodyPr>
          <a:lstStyle/>
          <a:p>
            <a:pPr marL="12700" marR="5080">
              <a:lnSpc>
                <a:spcPts val="2600"/>
              </a:lnSpc>
            </a:pPr>
            <a:r>
              <a:rPr sz="2300" i="1" spc="-10" dirty="0">
                <a:latin typeface="Gill Sans MT"/>
                <a:cs typeface="Gill Sans MT"/>
              </a:rPr>
              <a:t>“ir</a:t>
            </a:r>
            <a:r>
              <a:rPr sz="2300" i="1" spc="-35" dirty="0">
                <a:latin typeface="Gill Sans MT"/>
                <a:cs typeface="Gill Sans MT"/>
              </a:rPr>
              <a:t>r</a:t>
            </a:r>
            <a:r>
              <a:rPr sz="2300" i="1" dirty="0">
                <a:latin typeface="Gill Sans MT"/>
                <a:cs typeface="Gill Sans MT"/>
              </a:rPr>
              <a:t>edu</a:t>
            </a:r>
            <a:r>
              <a:rPr sz="2300" i="1" spc="-10" dirty="0">
                <a:latin typeface="Gill Sans MT"/>
                <a:cs typeface="Gill Sans MT"/>
              </a:rPr>
              <a:t>c</a:t>
            </a:r>
            <a:r>
              <a:rPr sz="2300" i="1" dirty="0">
                <a:latin typeface="Gill Sans MT"/>
                <a:cs typeface="Gill Sans MT"/>
              </a:rPr>
              <a:t>ib</a:t>
            </a:r>
            <a:r>
              <a:rPr sz="2300" i="1" spc="-10" dirty="0">
                <a:latin typeface="Gill Sans MT"/>
                <a:cs typeface="Gill Sans MT"/>
              </a:rPr>
              <a:t>le”</a:t>
            </a:r>
            <a:r>
              <a:rPr sz="2300" i="1" spc="-235" dirty="0">
                <a:latin typeface="Gill Sans MT"/>
                <a:cs typeface="Gill Sans MT"/>
              </a:rPr>
              <a:t> </a:t>
            </a:r>
            <a:r>
              <a:rPr sz="2300" i="1" dirty="0">
                <a:latin typeface="Gill Sans MT"/>
                <a:cs typeface="Gill Sans MT"/>
              </a:rPr>
              <a:t>means</a:t>
            </a:r>
            <a:r>
              <a:rPr sz="2300" i="1" spc="-5" dirty="0">
                <a:latin typeface="Gill Sans MT"/>
                <a:cs typeface="Gill Sans MT"/>
              </a:rPr>
              <a:t> </a:t>
            </a:r>
            <a:r>
              <a:rPr sz="2300" i="1" dirty="0">
                <a:latin typeface="Gill Sans MT"/>
                <a:cs typeface="Gill Sans MT"/>
              </a:rPr>
              <a:t>h</a:t>
            </a:r>
            <a:r>
              <a:rPr sz="2300" i="1" spc="-10" dirty="0">
                <a:latin typeface="Gill Sans MT"/>
                <a:cs typeface="Gill Sans MT"/>
              </a:rPr>
              <a:t>e</a:t>
            </a:r>
            <a:r>
              <a:rPr sz="2300" i="1" spc="-35" dirty="0">
                <a:latin typeface="Gill Sans MT"/>
                <a:cs typeface="Gill Sans MT"/>
              </a:rPr>
              <a:t>r</a:t>
            </a:r>
            <a:r>
              <a:rPr sz="2300" i="1" spc="-10" dirty="0">
                <a:latin typeface="Gill Sans MT"/>
                <a:cs typeface="Gill Sans MT"/>
              </a:rPr>
              <a:t>e</a:t>
            </a:r>
            <a:r>
              <a:rPr sz="2300" i="1" spc="-5" dirty="0">
                <a:latin typeface="Gill Sans MT"/>
                <a:cs typeface="Gill Sans MT"/>
              </a:rPr>
              <a:t> </a:t>
            </a:r>
            <a:r>
              <a:rPr sz="2300" i="1" spc="-10" dirty="0">
                <a:latin typeface="Gill Sans MT"/>
                <a:cs typeface="Gill Sans MT"/>
              </a:rPr>
              <a:t>t</a:t>
            </a:r>
            <a:r>
              <a:rPr sz="2300" i="1" dirty="0">
                <a:latin typeface="Gill Sans MT"/>
                <a:cs typeface="Gill Sans MT"/>
              </a:rPr>
              <a:t>ha</a:t>
            </a:r>
            <a:r>
              <a:rPr sz="2300" i="1" spc="-10" dirty="0">
                <a:latin typeface="Gill Sans MT"/>
                <a:cs typeface="Gill Sans MT"/>
              </a:rPr>
              <a:t>t</a:t>
            </a:r>
            <a:r>
              <a:rPr sz="2300" i="1" spc="-5" dirty="0">
                <a:latin typeface="Gill Sans MT"/>
                <a:cs typeface="Gill Sans MT"/>
              </a:rPr>
              <a:t> </a:t>
            </a:r>
            <a:r>
              <a:rPr sz="2300" i="1" spc="-10" dirty="0">
                <a:latin typeface="Gill Sans MT"/>
                <a:cs typeface="Gill Sans MT"/>
              </a:rPr>
              <a:t>t</a:t>
            </a:r>
            <a:r>
              <a:rPr sz="2300" i="1" dirty="0">
                <a:latin typeface="Gill Sans MT"/>
                <a:cs typeface="Gill Sans MT"/>
              </a:rPr>
              <a:t>h</a:t>
            </a:r>
            <a:r>
              <a:rPr sz="2300" i="1" spc="-10" dirty="0">
                <a:latin typeface="Gill Sans MT"/>
                <a:cs typeface="Gill Sans MT"/>
              </a:rPr>
              <a:t>e</a:t>
            </a:r>
            <a:r>
              <a:rPr sz="2300" i="1" spc="-5" dirty="0">
                <a:latin typeface="Gill Sans MT"/>
                <a:cs typeface="Gill Sans MT"/>
              </a:rPr>
              <a:t> </a:t>
            </a:r>
            <a:r>
              <a:rPr sz="2300" i="1" dirty="0">
                <a:latin typeface="Gill Sans MT"/>
                <a:cs typeface="Gill Sans MT"/>
              </a:rPr>
              <a:t>Ma</a:t>
            </a:r>
            <a:r>
              <a:rPr sz="2300" i="1" spc="-10" dirty="0">
                <a:latin typeface="Gill Sans MT"/>
                <a:cs typeface="Gill Sans MT"/>
              </a:rPr>
              <a:t>r</a:t>
            </a:r>
            <a:r>
              <a:rPr sz="2300" i="1" spc="-85" dirty="0">
                <a:latin typeface="Gill Sans MT"/>
                <a:cs typeface="Gill Sans MT"/>
              </a:rPr>
              <a:t>k</a:t>
            </a:r>
            <a:r>
              <a:rPr sz="2300" i="1" spc="-50" dirty="0">
                <a:latin typeface="Gill Sans MT"/>
                <a:cs typeface="Gill Sans MT"/>
              </a:rPr>
              <a:t>o</a:t>
            </a:r>
            <a:r>
              <a:rPr sz="2300" i="1" dirty="0">
                <a:latin typeface="Gill Sans MT"/>
                <a:cs typeface="Gill Sans MT"/>
              </a:rPr>
              <a:t>v</a:t>
            </a:r>
            <a:r>
              <a:rPr sz="2300" i="1" spc="-5" dirty="0">
                <a:latin typeface="Gill Sans MT"/>
                <a:cs typeface="Gill Sans MT"/>
              </a:rPr>
              <a:t> </a:t>
            </a:r>
            <a:r>
              <a:rPr sz="2300" i="1" spc="-15" dirty="0">
                <a:latin typeface="Gill Sans MT"/>
                <a:cs typeface="Gill Sans MT"/>
              </a:rPr>
              <a:t>C</a:t>
            </a:r>
            <a:r>
              <a:rPr sz="2300" i="1" dirty="0">
                <a:latin typeface="Gill Sans MT"/>
                <a:cs typeface="Gill Sans MT"/>
              </a:rPr>
              <a:t>hain</a:t>
            </a:r>
            <a:r>
              <a:rPr sz="2300" i="1" spc="-5" dirty="0">
                <a:latin typeface="Gill Sans MT"/>
                <a:cs typeface="Gill Sans MT"/>
              </a:rPr>
              <a:t> </a:t>
            </a:r>
            <a:r>
              <a:rPr sz="2300" i="1" dirty="0">
                <a:latin typeface="Gill Sans MT"/>
                <a:cs typeface="Gill Sans MT"/>
              </a:rPr>
              <a:t>o</a:t>
            </a:r>
            <a:r>
              <a:rPr sz="2300" i="1" spc="-10" dirty="0">
                <a:latin typeface="Gill Sans MT"/>
                <a:cs typeface="Gill Sans MT"/>
              </a:rPr>
              <a:t>f</a:t>
            </a:r>
            <a:r>
              <a:rPr sz="2300" i="1" spc="-5" dirty="0">
                <a:latin typeface="Gill Sans MT"/>
                <a:cs typeface="Gill Sans MT"/>
              </a:rPr>
              <a:t> </a:t>
            </a:r>
            <a:r>
              <a:rPr sz="2300" i="1" spc="-10" dirty="0">
                <a:latin typeface="Gill Sans MT"/>
                <a:cs typeface="Gill Sans MT"/>
              </a:rPr>
              <a:t>g</a:t>
            </a:r>
            <a:r>
              <a:rPr sz="2300" i="1" dirty="0">
                <a:latin typeface="Gill Sans MT"/>
                <a:cs typeface="Gill Sans MT"/>
              </a:rPr>
              <a:t>am</a:t>
            </a:r>
            <a:r>
              <a:rPr sz="2300" i="1" spc="-10" dirty="0">
                <a:latin typeface="Gill Sans MT"/>
                <a:cs typeface="Gill Sans MT"/>
              </a:rPr>
              <a:t>es</a:t>
            </a:r>
            <a:r>
              <a:rPr sz="2300" i="1" spc="-5" dirty="0">
                <a:latin typeface="Gill Sans MT"/>
                <a:cs typeface="Gill Sans MT"/>
              </a:rPr>
              <a:t> </a:t>
            </a:r>
            <a:r>
              <a:rPr sz="2300" i="1" spc="-25" dirty="0">
                <a:latin typeface="Gill Sans MT"/>
                <a:cs typeface="Gill Sans MT"/>
              </a:rPr>
              <a:t>m</a:t>
            </a:r>
            <a:r>
              <a:rPr sz="2300" i="1" dirty="0">
                <a:latin typeface="Gill Sans MT"/>
                <a:cs typeface="Gill Sans MT"/>
              </a:rPr>
              <a:t>u</a:t>
            </a:r>
            <a:r>
              <a:rPr sz="2300" i="1" spc="-10" dirty="0">
                <a:latin typeface="Gill Sans MT"/>
                <a:cs typeface="Gill Sans MT"/>
              </a:rPr>
              <a:t>st</a:t>
            </a:r>
            <a:r>
              <a:rPr sz="2300" i="1" spc="-5" dirty="0">
                <a:latin typeface="Gill Sans MT"/>
                <a:cs typeface="Gill Sans MT"/>
              </a:rPr>
              <a:t> </a:t>
            </a:r>
            <a:r>
              <a:rPr sz="2300" i="1" dirty="0">
                <a:latin typeface="Gill Sans MT"/>
                <a:cs typeface="Gill Sans MT"/>
              </a:rPr>
              <a:t>b</a:t>
            </a:r>
            <a:r>
              <a:rPr sz="2300" i="1" spc="-10" dirty="0">
                <a:latin typeface="Gill Sans MT"/>
                <a:cs typeface="Gill Sans MT"/>
              </a:rPr>
              <a:t>e ir</a:t>
            </a:r>
            <a:r>
              <a:rPr sz="2300" i="1" spc="-35" dirty="0">
                <a:latin typeface="Gill Sans MT"/>
                <a:cs typeface="Gill Sans MT"/>
              </a:rPr>
              <a:t>r</a:t>
            </a:r>
            <a:r>
              <a:rPr sz="2300" i="1" dirty="0">
                <a:latin typeface="Gill Sans MT"/>
                <a:cs typeface="Gill Sans MT"/>
              </a:rPr>
              <a:t>edu</a:t>
            </a:r>
            <a:r>
              <a:rPr sz="2300" i="1" spc="-10" dirty="0">
                <a:latin typeface="Gill Sans MT"/>
                <a:cs typeface="Gill Sans MT"/>
              </a:rPr>
              <a:t>c</a:t>
            </a:r>
            <a:r>
              <a:rPr sz="2300" i="1" dirty="0">
                <a:latin typeface="Gill Sans MT"/>
                <a:cs typeface="Gill Sans MT"/>
              </a:rPr>
              <a:t>ib</a:t>
            </a:r>
            <a:r>
              <a:rPr sz="2300" i="1" spc="-5" dirty="0">
                <a:latin typeface="Gill Sans MT"/>
                <a:cs typeface="Gill Sans MT"/>
              </a:rPr>
              <a:t>l</a:t>
            </a:r>
            <a:r>
              <a:rPr sz="2300" i="1" spc="50" dirty="0">
                <a:latin typeface="Gill Sans MT"/>
                <a:cs typeface="Gill Sans MT"/>
              </a:rPr>
              <a:t>e</a:t>
            </a:r>
            <a:r>
              <a:rPr sz="2300" i="1" dirty="0">
                <a:latin typeface="Gill Sans MT"/>
                <a:cs typeface="Gill Sans MT"/>
              </a:rPr>
              <a:t>,</a:t>
            </a:r>
            <a:r>
              <a:rPr sz="2300" i="1" spc="-235" dirty="0">
                <a:latin typeface="Gill Sans MT"/>
                <a:cs typeface="Gill Sans MT"/>
              </a:rPr>
              <a:t> </a:t>
            </a:r>
            <a:r>
              <a:rPr sz="2300" i="1" dirty="0">
                <a:latin typeface="Gill Sans MT"/>
                <a:cs typeface="Gill Sans MT"/>
              </a:rPr>
              <a:t>in</a:t>
            </a:r>
            <a:r>
              <a:rPr sz="2300" i="1" spc="-5" dirty="0">
                <a:latin typeface="Gill Sans MT"/>
                <a:cs typeface="Gill Sans MT"/>
              </a:rPr>
              <a:t> </a:t>
            </a:r>
            <a:r>
              <a:rPr sz="2300" i="1" dirty="0">
                <a:latin typeface="Gill Sans MT"/>
                <a:cs typeface="Gill Sans MT"/>
              </a:rPr>
              <a:t>o</a:t>
            </a:r>
            <a:r>
              <a:rPr sz="2300" i="1" spc="-10" dirty="0">
                <a:latin typeface="Gill Sans MT"/>
                <a:cs typeface="Gill Sans MT"/>
              </a:rPr>
              <a:t>t</a:t>
            </a:r>
            <a:r>
              <a:rPr sz="2300" i="1" dirty="0">
                <a:latin typeface="Gill Sans MT"/>
                <a:cs typeface="Gill Sans MT"/>
              </a:rPr>
              <a:t>h</a:t>
            </a:r>
            <a:r>
              <a:rPr sz="2300" i="1" spc="-10" dirty="0">
                <a:latin typeface="Gill Sans MT"/>
                <a:cs typeface="Gill Sans MT"/>
              </a:rPr>
              <a:t>er</a:t>
            </a:r>
            <a:r>
              <a:rPr sz="2300" i="1" spc="-5" dirty="0">
                <a:latin typeface="Gill Sans MT"/>
                <a:cs typeface="Gill Sans MT"/>
              </a:rPr>
              <a:t> </a:t>
            </a:r>
            <a:r>
              <a:rPr sz="2300" i="1" dirty="0">
                <a:latin typeface="Gill Sans MT"/>
                <a:cs typeface="Gill Sans MT"/>
              </a:rPr>
              <a:t>wo</a:t>
            </a:r>
            <a:r>
              <a:rPr sz="2300" i="1" spc="-60" dirty="0">
                <a:latin typeface="Gill Sans MT"/>
                <a:cs typeface="Gill Sans MT"/>
              </a:rPr>
              <a:t>r</a:t>
            </a:r>
            <a:r>
              <a:rPr sz="2300" i="1" dirty="0">
                <a:latin typeface="Gill Sans MT"/>
                <a:cs typeface="Gill Sans MT"/>
              </a:rPr>
              <a:t>d</a:t>
            </a:r>
            <a:r>
              <a:rPr sz="2300" i="1" spc="65" dirty="0">
                <a:latin typeface="Gill Sans MT"/>
                <a:cs typeface="Gill Sans MT"/>
              </a:rPr>
              <a:t>s</a:t>
            </a:r>
            <a:r>
              <a:rPr sz="2300" i="1" dirty="0">
                <a:latin typeface="Gill Sans MT"/>
                <a:cs typeface="Gill Sans MT"/>
              </a:rPr>
              <a:t>,</a:t>
            </a:r>
            <a:r>
              <a:rPr sz="2300" i="1" spc="-235" dirty="0">
                <a:latin typeface="Gill Sans MT"/>
                <a:cs typeface="Gill Sans MT"/>
              </a:rPr>
              <a:t> </a:t>
            </a:r>
            <a:r>
              <a:rPr sz="2300" i="1" spc="-45" dirty="0">
                <a:latin typeface="Gill Sans MT"/>
                <a:cs typeface="Gill Sans MT"/>
              </a:rPr>
              <a:t>e</a:t>
            </a:r>
            <a:r>
              <a:rPr sz="2300" i="1" spc="-10" dirty="0">
                <a:latin typeface="Gill Sans MT"/>
                <a:cs typeface="Gill Sans MT"/>
              </a:rPr>
              <a:t>ve</a:t>
            </a:r>
            <a:r>
              <a:rPr sz="2300" i="1" spc="75" dirty="0">
                <a:latin typeface="Gill Sans MT"/>
                <a:cs typeface="Gill Sans MT"/>
              </a:rPr>
              <a:t>r</a:t>
            </a:r>
            <a:r>
              <a:rPr sz="2300" i="1" dirty="0">
                <a:latin typeface="Gill Sans MT"/>
                <a:cs typeface="Gill Sans MT"/>
              </a:rPr>
              <a:t>y</a:t>
            </a:r>
            <a:r>
              <a:rPr sz="2300" i="1" spc="-5" dirty="0">
                <a:latin typeface="Gill Sans MT"/>
                <a:cs typeface="Gill Sans MT"/>
              </a:rPr>
              <a:t> </a:t>
            </a:r>
            <a:r>
              <a:rPr sz="2300" i="1" spc="-10" dirty="0">
                <a:latin typeface="Gill Sans MT"/>
                <a:cs typeface="Gill Sans MT"/>
              </a:rPr>
              <a:t>g</a:t>
            </a:r>
            <a:r>
              <a:rPr sz="2300" i="1" dirty="0">
                <a:latin typeface="Gill Sans MT"/>
                <a:cs typeface="Gill Sans MT"/>
              </a:rPr>
              <a:t>am</a:t>
            </a:r>
            <a:r>
              <a:rPr sz="2300" i="1" spc="-10" dirty="0">
                <a:latin typeface="Gill Sans MT"/>
                <a:cs typeface="Gill Sans MT"/>
              </a:rPr>
              <a:t>e</a:t>
            </a:r>
            <a:r>
              <a:rPr sz="2300" i="1" spc="-5" dirty="0">
                <a:latin typeface="Gill Sans MT"/>
                <a:cs typeface="Gill Sans MT"/>
              </a:rPr>
              <a:t> </a:t>
            </a:r>
            <a:r>
              <a:rPr sz="2300" i="1" spc="-25" dirty="0">
                <a:latin typeface="Gill Sans MT"/>
                <a:cs typeface="Gill Sans MT"/>
              </a:rPr>
              <a:t>m</a:t>
            </a:r>
            <a:r>
              <a:rPr sz="2300" i="1" dirty="0">
                <a:latin typeface="Gill Sans MT"/>
                <a:cs typeface="Gill Sans MT"/>
              </a:rPr>
              <a:t>u</a:t>
            </a:r>
            <a:r>
              <a:rPr sz="2300" i="1" spc="-10" dirty="0">
                <a:latin typeface="Gill Sans MT"/>
                <a:cs typeface="Gill Sans MT"/>
              </a:rPr>
              <a:t>st</a:t>
            </a:r>
            <a:r>
              <a:rPr sz="2300" i="1" spc="-5" dirty="0">
                <a:latin typeface="Gill Sans MT"/>
                <a:cs typeface="Gill Sans MT"/>
              </a:rPr>
              <a:t> </a:t>
            </a:r>
            <a:r>
              <a:rPr sz="2300" i="1" dirty="0">
                <a:latin typeface="Gill Sans MT"/>
                <a:cs typeface="Gill Sans MT"/>
              </a:rPr>
              <a:t>al</a:t>
            </a:r>
            <a:r>
              <a:rPr sz="2300" i="1" spc="-50" dirty="0">
                <a:latin typeface="Gill Sans MT"/>
                <a:cs typeface="Gill Sans MT"/>
              </a:rPr>
              <a:t>w</a:t>
            </a:r>
            <a:r>
              <a:rPr sz="2300" i="1" dirty="0">
                <a:latin typeface="Gill Sans MT"/>
                <a:cs typeface="Gill Sans MT"/>
              </a:rPr>
              <a:t>ays</a:t>
            </a:r>
            <a:r>
              <a:rPr sz="2300" i="1" spc="-5" dirty="0">
                <a:latin typeface="Gill Sans MT"/>
                <a:cs typeface="Gill Sans MT"/>
              </a:rPr>
              <a:t> </a:t>
            </a:r>
            <a:r>
              <a:rPr sz="2300" i="1" spc="-35" dirty="0">
                <a:latin typeface="Gill Sans MT"/>
                <a:cs typeface="Gill Sans MT"/>
              </a:rPr>
              <a:t>r</a:t>
            </a:r>
            <a:r>
              <a:rPr sz="2300" i="1" dirty="0">
                <a:latin typeface="Gill Sans MT"/>
                <a:cs typeface="Gill Sans MT"/>
              </a:rPr>
              <a:t>emain</a:t>
            </a:r>
            <a:r>
              <a:rPr sz="2300" i="1" spc="-5" dirty="0">
                <a:latin typeface="Gill Sans MT"/>
                <a:cs typeface="Gill Sans MT"/>
              </a:rPr>
              <a:t> </a:t>
            </a:r>
            <a:r>
              <a:rPr sz="2300" i="1" spc="-35" dirty="0">
                <a:latin typeface="Gill Sans MT"/>
                <a:cs typeface="Gill Sans MT"/>
              </a:rPr>
              <a:t>r</a:t>
            </a:r>
            <a:r>
              <a:rPr sz="2300" i="1" dirty="0">
                <a:latin typeface="Gill Sans MT"/>
                <a:cs typeface="Gill Sans MT"/>
              </a:rPr>
              <a:t>ea</a:t>
            </a:r>
            <a:r>
              <a:rPr sz="2300" i="1" spc="30" dirty="0">
                <a:latin typeface="Gill Sans MT"/>
                <a:cs typeface="Gill Sans MT"/>
              </a:rPr>
              <a:t>c</a:t>
            </a:r>
            <a:r>
              <a:rPr sz="2300" i="1" dirty="0">
                <a:latin typeface="Gill Sans MT"/>
                <a:cs typeface="Gill Sans MT"/>
              </a:rPr>
              <a:t>hab</a:t>
            </a:r>
            <a:r>
              <a:rPr sz="2300" i="1" spc="-5" dirty="0">
                <a:latin typeface="Gill Sans MT"/>
                <a:cs typeface="Gill Sans MT"/>
              </a:rPr>
              <a:t>l</a:t>
            </a:r>
            <a:r>
              <a:rPr sz="2300" i="1" spc="50" dirty="0">
                <a:latin typeface="Gill Sans MT"/>
                <a:cs typeface="Gill Sans MT"/>
              </a:rPr>
              <a:t>e</a:t>
            </a:r>
            <a:r>
              <a:rPr sz="2300" i="1" dirty="0">
                <a:latin typeface="Gill Sans MT"/>
                <a:cs typeface="Gill Sans MT"/>
              </a:rPr>
              <a:t>, </a:t>
            </a:r>
            <a:r>
              <a:rPr sz="2300" i="1" spc="-35" dirty="0">
                <a:latin typeface="Gill Sans MT"/>
                <a:cs typeface="Gill Sans MT"/>
              </a:rPr>
              <a:t>r</a:t>
            </a:r>
            <a:r>
              <a:rPr sz="2300" i="1" spc="-10" dirty="0">
                <a:latin typeface="Gill Sans MT"/>
                <a:cs typeface="Gill Sans MT"/>
              </a:rPr>
              <a:t>eg</a:t>
            </a:r>
            <a:r>
              <a:rPr sz="2300" i="1" dirty="0">
                <a:latin typeface="Gill Sans MT"/>
                <a:cs typeface="Gill Sans MT"/>
              </a:rPr>
              <a:t>a</a:t>
            </a:r>
            <a:r>
              <a:rPr sz="2300" i="1" spc="-60" dirty="0">
                <a:latin typeface="Gill Sans MT"/>
                <a:cs typeface="Gill Sans MT"/>
              </a:rPr>
              <a:t>r</a:t>
            </a:r>
            <a:r>
              <a:rPr sz="2300" i="1" dirty="0">
                <a:latin typeface="Gill Sans MT"/>
                <a:cs typeface="Gill Sans MT"/>
              </a:rPr>
              <a:t>d</a:t>
            </a:r>
            <a:r>
              <a:rPr sz="2300" i="1" spc="-10" dirty="0">
                <a:latin typeface="Gill Sans MT"/>
                <a:cs typeface="Gill Sans MT"/>
              </a:rPr>
              <a:t>less</a:t>
            </a:r>
            <a:r>
              <a:rPr sz="2300" i="1" spc="-5" dirty="0">
                <a:latin typeface="Gill Sans MT"/>
                <a:cs typeface="Gill Sans MT"/>
              </a:rPr>
              <a:t> </a:t>
            </a:r>
            <a:r>
              <a:rPr sz="2300" i="1" dirty="0">
                <a:latin typeface="Gill Sans MT"/>
                <a:cs typeface="Gill Sans MT"/>
              </a:rPr>
              <a:t>o</a:t>
            </a:r>
            <a:r>
              <a:rPr sz="2300" i="1" spc="-10" dirty="0">
                <a:latin typeface="Gill Sans MT"/>
                <a:cs typeface="Gill Sans MT"/>
              </a:rPr>
              <a:t>f</a:t>
            </a:r>
            <a:r>
              <a:rPr sz="2300" i="1" spc="-5" dirty="0">
                <a:latin typeface="Gill Sans MT"/>
                <a:cs typeface="Gill Sans MT"/>
              </a:rPr>
              <a:t> </a:t>
            </a:r>
            <a:r>
              <a:rPr sz="2300" i="1" dirty="0">
                <a:latin typeface="Gill Sans MT"/>
                <a:cs typeface="Gill Sans MT"/>
              </a:rPr>
              <a:t>wh</a:t>
            </a:r>
            <a:r>
              <a:rPr sz="2300" i="1" spc="-5" dirty="0">
                <a:latin typeface="Gill Sans MT"/>
                <a:cs typeface="Gill Sans MT"/>
              </a:rPr>
              <a:t>i</a:t>
            </a:r>
            <a:r>
              <a:rPr sz="2300" i="1" spc="30" dirty="0">
                <a:latin typeface="Gill Sans MT"/>
                <a:cs typeface="Gill Sans MT"/>
              </a:rPr>
              <a:t>c</a:t>
            </a:r>
            <a:r>
              <a:rPr sz="2300" i="1" dirty="0">
                <a:latin typeface="Gill Sans MT"/>
                <a:cs typeface="Gill Sans MT"/>
              </a:rPr>
              <a:t>h</a:t>
            </a:r>
            <a:r>
              <a:rPr sz="2300" i="1" spc="-5" dirty="0">
                <a:latin typeface="Gill Sans MT"/>
                <a:cs typeface="Gill Sans MT"/>
              </a:rPr>
              <a:t> </a:t>
            </a:r>
            <a:r>
              <a:rPr sz="2300" i="1" spc="-10" dirty="0">
                <a:latin typeface="Gill Sans MT"/>
                <a:cs typeface="Gill Sans MT"/>
              </a:rPr>
              <a:t>st</a:t>
            </a:r>
            <a:r>
              <a:rPr sz="2300" i="1" spc="-60" dirty="0">
                <a:latin typeface="Gill Sans MT"/>
                <a:cs typeface="Gill Sans MT"/>
              </a:rPr>
              <a:t>r</a:t>
            </a:r>
            <a:r>
              <a:rPr sz="2300" i="1" dirty="0">
                <a:latin typeface="Gill Sans MT"/>
                <a:cs typeface="Gill Sans MT"/>
              </a:rPr>
              <a:t>a</a:t>
            </a:r>
            <a:r>
              <a:rPr sz="2300" i="1" spc="-10" dirty="0">
                <a:latin typeface="Gill Sans MT"/>
                <a:cs typeface="Gill Sans MT"/>
              </a:rPr>
              <a:t>tegies</a:t>
            </a:r>
            <a:r>
              <a:rPr sz="2300" i="1" spc="-5" dirty="0">
                <a:latin typeface="Gill Sans MT"/>
                <a:cs typeface="Gill Sans MT"/>
              </a:rPr>
              <a:t> </a:t>
            </a:r>
            <a:r>
              <a:rPr sz="2300" i="1" dirty="0">
                <a:latin typeface="Gill Sans MT"/>
                <a:cs typeface="Gill Sans MT"/>
              </a:rPr>
              <a:t>a</a:t>
            </a:r>
            <a:r>
              <a:rPr sz="2300" i="1" spc="-35" dirty="0">
                <a:latin typeface="Gill Sans MT"/>
                <a:cs typeface="Gill Sans MT"/>
              </a:rPr>
              <a:t>r</a:t>
            </a:r>
            <a:r>
              <a:rPr sz="2300" i="1" spc="-10" dirty="0">
                <a:latin typeface="Gill Sans MT"/>
                <a:cs typeface="Gill Sans MT"/>
              </a:rPr>
              <a:t>e</a:t>
            </a:r>
            <a:r>
              <a:rPr sz="2300" i="1" spc="-5" dirty="0">
                <a:latin typeface="Gill Sans MT"/>
                <a:cs typeface="Gill Sans MT"/>
              </a:rPr>
              <a:t> </a:t>
            </a:r>
            <a:r>
              <a:rPr sz="2300" i="1" dirty="0">
                <a:latin typeface="Gill Sans MT"/>
                <a:cs typeface="Gill Sans MT"/>
              </a:rPr>
              <a:t>pla</a:t>
            </a:r>
            <a:r>
              <a:rPr sz="2300" i="1" spc="-50" dirty="0">
                <a:latin typeface="Gill Sans MT"/>
                <a:cs typeface="Gill Sans MT"/>
              </a:rPr>
              <a:t>y</a:t>
            </a:r>
            <a:r>
              <a:rPr sz="2300" i="1" dirty="0">
                <a:latin typeface="Gill Sans MT"/>
                <a:cs typeface="Gill Sans MT"/>
              </a:rPr>
              <a:t>ed.</a:t>
            </a:r>
            <a:endParaRPr sz="2300" dirty="0">
              <a:latin typeface="Gill Sans MT"/>
              <a:cs typeface="Gill Sans MT"/>
            </a:endParaRPr>
          </a:p>
        </p:txBody>
      </p:sp>
      <p:sp>
        <p:nvSpPr>
          <p:cNvPr id="5" name="Rectangle 4">
            <a:extLst>
              <a:ext uri="{FF2B5EF4-FFF2-40B4-BE49-F238E27FC236}">
                <a16:creationId xmlns:a16="http://schemas.microsoft.com/office/drawing/2014/main" id="{3A3260FA-F6FD-8F8B-C4A5-8959733F5AC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6" name="Rectangle 5">
            <a:extLst>
              <a:ext uri="{FF2B5EF4-FFF2-40B4-BE49-F238E27FC236}">
                <a16:creationId xmlns:a16="http://schemas.microsoft.com/office/drawing/2014/main" id="{8C0DF1E5-418D-DD73-DDDA-0B83FCA4CE4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7" name="Rectangle 6">
            <a:extLst>
              <a:ext uri="{FF2B5EF4-FFF2-40B4-BE49-F238E27FC236}">
                <a16:creationId xmlns:a16="http://schemas.microsoft.com/office/drawing/2014/main" id="{93F7E11C-4540-2E10-607A-55D6F621411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231C1EB1-1F35-4A73-2814-5D5CAA960BC0}"/>
              </a:ext>
            </a:extLst>
          </p:cNvPr>
          <p:cNvSpPr>
            <a:spLocks noGrp="1"/>
          </p:cNvSpPr>
          <p:nvPr>
            <p:ph type="sldNum" sz="quarter" idx="7"/>
          </p:nvPr>
        </p:nvSpPr>
        <p:spPr/>
        <p:txBody>
          <a:bodyPr/>
          <a:lstStyle/>
          <a:p>
            <a:fld id="{B6F15528-21DE-4FAA-801E-634DDDAF4B2B}" type="slidenum">
              <a:rPr lang="en-US" smtClean="0"/>
              <a:pPr/>
              <a:t>7</a:t>
            </a:fld>
            <a:r>
              <a:rPr lang="en-US" dirty="0"/>
              <a:t>/14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S</a:t>
            </a:r>
            <a:r>
              <a:rPr spc="-15" dirty="0"/>
              <a:t>t</a:t>
            </a:r>
            <a:r>
              <a:rPr dirty="0"/>
              <a:t>andard</a:t>
            </a:r>
            <a:r>
              <a:rPr spc="-5" dirty="0"/>
              <a:t> </a:t>
            </a:r>
            <a:r>
              <a:rPr spc="-30" dirty="0"/>
              <a:t>Q</a:t>
            </a:r>
            <a:r>
              <a:rPr dirty="0"/>
              <a:t>-Learning</a:t>
            </a:r>
          </a:p>
        </p:txBody>
      </p:sp>
      <p:sp>
        <p:nvSpPr>
          <p:cNvPr id="3" name="object 3"/>
          <p:cNvSpPr/>
          <p:nvPr/>
        </p:nvSpPr>
        <p:spPr>
          <a:xfrm>
            <a:off x="357187" y="2803725"/>
            <a:ext cx="8204200" cy="3520875"/>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431006" y="1541878"/>
            <a:ext cx="7683500" cy="901700"/>
          </a:xfrm>
          <a:prstGeom prst="rect">
            <a:avLst/>
          </a:prstGeom>
        </p:spPr>
        <p:txBody>
          <a:bodyPr vert="horz" wrap="square" lIns="0" tIns="0" rIns="0" bIns="0" rtlCol="0">
            <a:spAutoFit/>
          </a:bodyPr>
          <a:lstStyle/>
          <a:p>
            <a:pPr marL="12700">
              <a:lnSpc>
                <a:spcPct val="100000"/>
              </a:lnSpc>
            </a:pPr>
            <a:r>
              <a:rPr sz="2100" spc="-15" dirty="0">
                <a:latin typeface="Gill Sans MT"/>
                <a:cs typeface="Gill Sans MT"/>
              </a:rPr>
              <a:t>Recall</a:t>
            </a:r>
            <a:r>
              <a:rPr sz="2100" spc="-5" dirty="0">
                <a:latin typeface="Gill Sans MT"/>
                <a:cs typeface="Gill Sans MT"/>
              </a:rPr>
              <a:t> </a:t>
            </a:r>
            <a:r>
              <a:rPr sz="2100" spc="-10" dirty="0">
                <a:latin typeface="Gill Sans MT"/>
                <a:cs typeface="Gill Sans MT"/>
              </a:rPr>
              <a:t>standa</a:t>
            </a:r>
            <a:r>
              <a:rPr sz="2100" spc="-45" dirty="0">
                <a:latin typeface="Gill Sans MT"/>
                <a:cs typeface="Gill Sans MT"/>
              </a:rPr>
              <a:t>r</a:t>
            </a:r>
            <a:r>
              <a:rPr sz="2100" spc="-15" dirty="0">
                <a:latin typeface="Gill Sans MT"/>
                <a:cs typeface="Gill Sans MT"/>
              </a:rPr>
              <a:t>d</a:t>
            </a:r>
            <a:r>
              <a:rPr sz="2100" spc="-5" dirty="0">
                <a:latin typeface="Gill Sans MT"/>
                <a:cs typeface="Gill Sans MT"/>
              </a:rPr>
              <a:t> </a:t>
            </a:r>
            <a:r>
              <a:rPr sz="2100" dirty="0">
                <a:latin typeface="Gill Sans MT"/>
                <a:cs typeface="Gill Sans MT"/>
              </a:rPr>
              <a:t>Q-L</a:t>
            </a:r>
            <a:r>
              <a:rPr sz="2100" spc="-10" dirty="0">
                <a:latin typeface="Gill Sans MT"/>
                <a:cs typeface="Gill Sans MT"/>
              </a:rPr>
              <a:t>ea</a:t>
            </a:r>
            <a:r>
              <a:rPr sz="2100" dirty="0">
                <a:latin typeface="Gill Sans MT"/>
                <a:cs typeface="Gill Sans MT"/>
              </a:rPr>
              <a:t>rni</a:t>
            </a:r>
            <a:r>
              <a:rPr sz="2100" spc="-10" dirty="0">
                <a:latin typeface="Gill Sans MT"/>
                <a:cs typeface="Gill Sans MT"/>
              </a:rPr>
              <a:t>ng</a:t>
            </a:r>
            <a:r>
              <a:rPr sz="2100" spc="-5" dirty="0">
                <a:latin typeface="Gill Sans MT"/>
                <a:cs typeface="Gill Sans MT"/>
              </a:rPr>
              <a:t> </a:t>
            </a:r>
            <a:r>
              <a:rPr sz="2100" dirty="0">
                <a:latin typeface="Gill Sans MT"/>
                <a:cs typeface="Gill Sans MT"/>
              </a:rPr>
              <a:t>(he</a:t>
            </a:r>
            <a:r>
              <a:rPr sz="2100" spc="-45" dirty="0">
                <a:latin typeface="Gill Sans MT"/>
                <a:cs typeface="Gill Sans MT"/>
              </a:rPr>
              <a:t>r</a:t>
            </a:r>
            <a:r>
              <a:rPr sz="2100" dirty="0">
                <a:latin typeface="Gill Sans MT"/>
                <a:cs typeface="Gill Sans MT"/>
              </a:rPr>
              <a:t>e</a:t>
            </a:r>
            <a:r>
              <a:rPr sz="2100" spc="-5" dirty="0">
                <a:latin typeface="Gill Sans MT"/>
                <a:cs typeface="Gill Sans MT"/>
              </a:rPr>
              <a:t> </a:t>
            </a:r>
            <a:r>
              <a:rPr sz="2100" dirty="0">
                <a:latin typeface="Gill Sans MT"/>
                <a:cs typeface="Gill Sans MT"/>
              </a:rPr>
              <a:t>in</a:t>
            </a:r>
            <a:r>
              <a:rPr sz="2100" spc="-5" dirty="0">
                <a:latin typeface="Gill Sans MT"/>
                <a:cs typeface="Gill Sans MT"/>
              </a:rPr>
              <a:t> </a:t>
            </a:r>
            <a:r>
              <a:rPr sz="2100" dirty="0">
                <a:latin typeface="Gill Sans MT"/>
                <a:cs typeface="Gill Sans MT"/>
              </a:rPr>
              <a:t>the</a:t>
            </a:r>
            <a:r>
              <a:rPr sz="2100" spc="-5" dirty="0">
                <a:latin typeface="Gill Sans MT"/>
                <a:cs typeface="Gill Sans MT"/>
              </a:rPr>
              <a:t> </a:t>
            </a:r>
            <a:r>
              <a:rPr sz="2100" spc="-25" dirty="0">
                <a:latin typeface="Gill Sans MT"/>
                <a:cs typeface="Gill Sans MT"/>
              </a:rPr>
              <a:t>f</a:t>
            </a:r>
            <a:r>
              <a:rPr sz="2100" spc="-10" dirty="0">
                <a:latin typeface="Gill Sans MT"/>
                <a:cs typeface="Gill Sans MT"/>
              </a:rPr>
              <a:t>or</a:t>
            </a:r>
            <a:r>
              <a:rPr sz="2100" spc="-45" dirty="0">
                <a:latin typeface="Gill Sans MT"/>
                <a:cs typeface="Gill Sans MT"/>
              </a:rPr>
              <a:t>m</a:t>
            </a:r>
            <a:r>
              <a:rPr sz="2100" dirty="0">
                <a:latin typeface="Gill Sans MT"/>
                <a:cs typeface="Gill Sans MT"/>
              </a:rPr>
              <a:t>ul</a:t>
            </a:r>
            <a:r>
              <a:rPr sz="2100" spc="-10" dirty="0">
                <a:latin typeface="Gill Sans MT"/>
                <a:cs typeface="Gill Sans MT"/>
              </a:rPr>
              <a:t>a</a:t>
            </a:r>
            <a:r>
              <a:rPr sz="2100" dirty="0">
                <a:latin typeface="Gill Sans MT"/>
                <a:cs typeface="Gill Sans MT"/>
              </a:rPr>
              <a:t>ti</a:t>
            </a:r>
            <a:r>
              <a:rPr sz="2100" spc="-15" dirty="0">
                <a:latin typeface="Gill Sans MT"/>
                <a:cs typeface="Gill Sans MT"/>
              </a:rPr>
              <a:t>o</a:t>
            </a:r>
            <a:r>
              <a:rPr sz="2100" dirty="0">
                <a:latin typeface="Gill Sans MT"/>
                <a:cs typeface="Gill Sans MT"/>
              </a:rPr>
              <a:t>n</a:t>
            </a:r>
            <a:r>
              <a:rPr sz="2100" spc="-5" dirty="0">
                <a:latin typeface="Gill Sans MT"/>
                <a:cs typeface="Gill Sans MT"/>
              </a:rPr>
              <a:t> </a:t>
            </a:r>
            <a:r>
              <a:rPr sz="2100" spc="-10" dirty="0">
                <a:latin typeface="Gill Sans MT"/>
                <a:cs typeface="Gill Sans MT"/>
              </a:rPr>
              <a:t>f</a:t>
            </a:r>
            <a:r>
              <a:rPr sz="2100" spc="-65" dirty="0">
                <a:latin typeface="Gill Sans MT"/>
                <a:cs typeface="Gill Sans MT"/>
              </a:rPr>
              <a:t>r</a:t>
            </a:r>
            <a:r>
              <a:rPr sz="2100" spc="-15" dirty="0">
                <a:latin typeface="Gill Sans MT"/>
                <a:cs typeface="Gill Sans MT"/>
              </a:rPr>
              <a:t>om</a:t>
            </a:r>
            <a:r>
              <a:rPr sz="2100" spc="-5" dirty="0">
                <a:latin typeface="Gill Sans MT"/>
                <a:cs typeface="Gill Sans MT"/>
              </a:rPr>
              <a:t> </a:t>
            </a:r>
            <a:r>
              <a:rPr sz="2100" dirty="0">
                <a:latin typeface="Gill Sans MT"/>
                <a:cs typeface="Gill Sans MT"/>
              </a:rPr>
              <a:t>SLB).</a:t>
            </a:r>
            <a:endParaRPr sz="2100">
              <a:latin typeface="Gill Sans MT"/>
              <a:cs typeface="Gill Sans MT"/>
            </a:endParaRPr>
          </a:p>
          <a:p>
            <a:pPr>
              <a:lnSpc>
                <a:spcPct val="100000"/>
              </a:lnSpc>
              <a:spcBef>
                <a:spcPts val="37"/>
              </a:spcBef>
            </a:pPr>
            <a:endParaRPr sz="1950">
              <a:latin typeface="Times New Roman"/>
              <a:cs typeface="Times New Roman"/>
            </a:endParaRPr>
          </a:p>
          <a:p>
            <a:pPr marL="12700">
              <a:lnSpc>
                <a:spcPct val="100000"/>
              </a:lnSpc>
            </a:pPr>
            <a:r>
              <a:rPr sz="2100" dirty="0">
                <a:latin typeface="Gill Sans MT"/>
                <a:cs typeface="Gill Sans MT"/>
              </a:rPr>
              <a:t>Thi</a:t>
            </a:r>
            <a:r>
              <a:rPr sz="2100" spc="-10" dirty="0">
                <a:latin typeface="Gill Sans MT"/>
                <a:cs typeface="Gill Sans MT"/>
              </a:rPr>
              <a:t>s</a:t>
            </a:r>
            <a:r>
              <a:rPr sz="2100" spc="-5" dirty="0">
                <a:latin typeface="Gill Sans MT"/>
                <a:cs typeface="Gill Sans MT"/>
              </a:rPr>
              <a:t> </a:t>
            </a:r>
            <a:r>
              <a:rPr sz="2100" spc="-10" dirty="0">
                <a:latin typeface="Gill Sans MT"/>
                <a:cs typeface="Gill Sans MT"/>
              </a:rPr>
              <a:t>ca</a:t>
            </a:r>
            <a:r>
              <a:rPr sz="2100" dirty="0">
                <a:latin typeface="Gill Sans MT"/>
                <a:cs typeface="Gill Sans MT"/>
              </a:rPr>
              <a:t>n</a:t>
            </a:r>
            <a:r>
              <a:rPr sz="2100" spc="-5" dirty="0">
                <a:latin typeface="Gill Sans MT"/>
                <a:cs typeface="Gill Sans MT"/>
              </a:rPr>
              <a:t> </a:t>
            </a:r>
            <a:r>
              <a:rPr sz="2100" dirty="0">
                <a:latin typeface="Gill Sans MT"/>
                <a:cs typeface="Gill Sans MT"/>
              </a:rPr>
              <a:t>be</a:t>
            </a:r>
            <a:r>
              <a:rPr sz="2100" spc="-5" dirty="0">
                <a:latin typeface="Gill Sans MT"/>
                <a:cs typeface="Gill Sans MT"/>
              </a:rPr>
              <a:t> </a:t>
            </a:r>
            <a:r>
              <a:rPr sz="2100" spc="-10" dirty="0">
                <a:latin typeface="Gill Sans MT"/>
                <a:cs typeface="Gill Sans MT"/>
              </a:rPr>
              <a:t>ad</a:t>
            </a:r>
            <a:r>
              <a:rPr sz="2100" spc="-35" dirty="0">
                <a:latin typeface="Gill Sans MT"/>
                <a:cs typeface="Gill Sans MT"/>
              </a:rPr>
              <a:t>a</a:t>
            </a:r>
            <a:r>
              <a:rPr sz="2100" spc="-10" dirty="0">
                <a:latin typeface="Gill Sans MT"/>
                <a:cs typeface="Gill Sans MT"/>
              </a:rPr>
              <a:t>pted</a:t>
            </a:r>
            <a:r>
              <a:rPr sz="2100" spc="-5" dirty="0">
                <a:latin typeface="Gill Sans MT"/>
                <a:cs typeface="Gill Sans MT"/>
              </a:rPr>
              <a:t> </a:t>
            </a:r>
            <a:r>
              <a:rPr sz="2100" spc="-10" dirty="0">
                <a:latin typeface="Gill Sans MT"/>
                <a:cs typeface="Gill Sans MT"/>
              </a:rPr>
              <a:t>to</a:t>
            </a:r>
            <a:r>
              <a:rPr sz="2100" spc="-5" dirty="0">
                <a:latin typeface="Gill Sans MT"/>
                <a:cs typeface="Gill Sans MT"/>
              </a:rPr>
              <a:t> </a:t>
            </a:r>
            <a:r>
              <a:rPr sz="2100" dirty="0">
                <a:latin typeface="Gill Sans MT"/>
                <a:cs typeface="Gill Sans MT"/>
              </a:rPr>
              <a:t>2-pl</a:t>
            </a:r>
            <a:r>
              <a:rPr sz="2100" spc="-95" dirty="0">
                <a:latin typeface="Gill Sans MT"/>
                <a:cs typeface="Gill Sans MT"/>
              </a:rPr>
              <a:t>a</a:t>
            </a:r>
            <a:r>
              <a:rPr sz="2100" spc="-55" dirty="0">
                <a:latin typeface="Gill Sans MT"/>
                <a:cs typeface="Gill Sans MT"/>
              </a:rPr>
              <a:t>y</a:t>
            </a:r>
            <a:r>
              <a:rPr sz="2100" dirty="0">
                <a:latin typeface="Gill Sans MT"/>
                <a:cs typeface="Gill Sans MT"/>
              </a:rPr>
              <a:t>er</a:t>
            </a:r>
            <a:r>
              <a:rPr sz="2100" spc="-5" dirty="0">
                <a:latin typeface="Gill Sans MT"/>
                <a:cs typeface="Gill Sans MT"/>
              </a:rPr>
              <a:t> </a:t>
            </a:r>
            <a:r>
              <a:rPr sz="2100" spc="-10" dirty="0">
                <a:latin typeface="Gill Sans MT"/>
                <a:cs typeface="Gill Sans MT"/>
              </a:rPr>
              <a:t>ze</a:t>
            </a:r>
            <a:r>
              <a:rPr sz="2100" spc="-65" dirty="0">
                <a:latin typeface="Gill Sans MT"/>
                <a:cs typeface="Gill Sans MT"/>
              </a:rPr>
              <a:t>r</a:t>
            </a:r>
            <a:r>
              <a:rPr sz="2100" spc="-15" dirty="0">
                <a:latin typeface="Gill Sans MT"/>
                <a:cs typeface="Gill Sans MT"/>
              </a:rPr>
              <a:t>o</a:t>
            </a:r>
            <a:r>
              <a:rPr sz="2100" dirty="0">
                <a:latin typeface="Gill Sans MT"/>
                <a:cs typeface="Gill Sans MT"/>
              </a:rPr>
              <a:t>-</a:t>
            </a:r>
            <a:r>
              <a:rPr sz="2100" spc="-15" dirty="0">
                <a:latin typeface="Gill Sans MT"/>
                <a:cs typeface="Gill Sans MT"/>
              </a:rPr>
              <a:t>sum</a:t>
            </a:r>
            <a:r>
              <a:rPr sz="2100" spc="-5" dirty="0">
                <a:latin typeface="Gill Sans MT"/>
                <a:cs typeface="Gill Sans MT"/>
              </a:rPr>
              <a:t> </a:t>
            </a:r>
            <a:r>
              <a:rPr sz="2100" spc="-15" dirty="0">
                <a:latin typeface="Gill Sans MT"/>
                <a:cs typeface="Gill Sans MT"/>
              </a:rPr>
              <a:t>games</a:t>
            </a:r>
            <a:r>
              <a:rPr sz="2100" spc="-5" dirty="0">
                <a:latin typeface="Gill Sans MT"/>
                <a:cs typeface="Gill Sans MT"/>
              </a:rPr>
              <a:t> </a:t>
            </a:r>
            <a:r>
              <a:rPr sz="2100" spc="-55" dirty="0">
                <a:latin typeface="Gill Sans MT"/>
                <a:cs typeface="Gill Sans MT"/>
              </a:rPr>
              <a:t>r</a:t>
            </a:r>
            <a:r>
              <a:rPr sz="2100" dirty="0">
                <a:latin typeface="Gill Sans MT"/>
                <a:cs typeface="Gill Sans MT"/>
              </a:rPr>
              <a:t>el</a:t>
            </a:r>
            <a:r>
              <a:rPr sz="2100" spc="-10" dirty="0">
                <a:latin typeface="Gill Sans MT"/>
                <a:cs typeface="Gill Sans MT"/>
              </a:rPr>
              <a:t>a</a:t>
            </a:r>
            <a:r>
              <a:rPr sz="2100" dirty="0">
                <a:latin typeface="Gill Sans MT"/>
                <a:cs typeface="Gill Sans MT"/>
              </a:rPr>
              <a:t>ti</a:t>
            </a:r>
            <a:r>
              <a:rPr sz="2100" spc="-55" dirty="0">
                <a:latin typeface="Gill Sans MT"/>
                <a:cs typeface="Gill Sans MT"/>
              </a:rPr>
              <a:t>v</a:t>
            </a:r>
            <a:r>
              <a:rPr sz="2100" dirty="0">
                <a:latin typeface="Gill Sans MT"/>
                <a:cs typeface="Gill Sans MT"/>
              </a:rPr>
              <a:t>e</a:t>
            </a:r>
            <a:r>
              <a:rPr sz="2100" spc="-25" dirty="0">
                <a:latin typeface="Gill Sans MT"/>
                <a:cs typeface="Gill Sans MT"/>
              </a:rPr>
              <a:t>l</a:t>
            </a:r>
            <a:r>
              <a:rPr sz="2100" spc="-10" dirty="0">
                <a:latin typeface="Gill Sans MT"/>
                <a:cs typeface="Gill Sans MT"/>
              </a:rPr>
              <a:t>y</a:t>
            </a:r>
            <a:r>
              <a:rPr sz="2100" spc="-5" dirty="0">
                <a:latin typeface="Gill Sans MT"/>
                <a:cs typeface="Gill Sans MT"/>
              </a:rPr>
              <a:t> </a:t>
            </a:r>
            <a:r>
              <a:rPr sz="2100" dirty="0">
                <a:latin typeface="Gill Sans MT"/>
                <a:cs typeface="Gill Sans MT"/>
              </a:rPr>
              <a:t>i</a:t>
            </a:r>
            <a:r>
              <a:rPr sz="2100" spc="-15" dirty="0">
                <a:latin typeface="Gill Sans MT"/>
                <a:cs typeface="Gill Sans MT"/>
              </a:rPr>
              <a:t>mmed</a:t>
            </a:r>
            <a:r>
              <a:rPr sz="2100" dirty="0">
                <a:latin typeface="Gill Sans MT"/>
                <a:cs typeface="Gill Sans MT"/>
              </a:rPr>
              <a:t>i</a:t>
            </a:r>
            <a:r>
              <a:rPr sz="2100" spc="-10" dirty="0">
                <a:latin typeface="Gill Sans MT"/>
                <a:cs typeface="Gill Sans MT"/>
              </a:rPr>
              <a:t>a</a:t>
            </a:r>
            <a:r>
              <a:rPr sz="2100" dirty="0">
                <a:latin typeface="Gill Sans MT"/>
                <a:cs typeface="Gill Sans MT"/>
              </a:rPr>
              <a:t>te</a:t>
            </a:r>
            <a:r>
              <a:rPr sz="2100" spc="-25" dirty="0">
                <a:latin typeface="Gill Sans MT"/>
                <a:cs typeface="Gill Sans MT"/>
              </a:rPr>
              <a:t>l</a:t>
            </a:r>
            <a:r>
              <a:rPr sz="2100" spc="-180" dirty="0">
                <a:latin typeface="Gill Sans MT"/>
                <a:cs typeface="Gill Sans MT"/>
              </a:rPr>
              <a:t>y</a:t>
            </a:r>
            <a:r>
              <a:rPr sz="2100" dirty="0">
                <a:latin typeface="Gill Sans MT"/>
                <a:cs typeface="Gill Sans MT"/>
              </a:rPr>
              <a:t>.</a:t>
            </a:r>
            <a:endParaRPr sz="2100">
              <a:latin typeface="Gill Sans MT"/>
              <a:cs typeface="Gill Sans MT"/>
            </a:endParaRPr>
          </a:p>
        </p:txBody>
      </p:sp>
      <p:sp>
        <p:nvSpPr>
          <p:cNvPr id="5" name="Rectangle 4">
            <a:extLst>
              <a:ext uri="{FF2B5EF4-FFF2-40B4-BE49-F238E27FC236}">
                <a16:creationId xmlns:a16="http://schemas.microsoft.com/office/drawing/2014/main" id="{4A9C77D2-7191-4186-E544-318B942AE81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6" name="Rectangle 5">
            <a:extLst>
              <a:ext uri="{FF2B5EF4-FFF2-40B4-BE49-F238E27FC236}">
                <a16:creationId xmlns:a16="http://schemas.microsoft.com/office/drawing/2014/main" id="{618B9B12-DA15-FB40-C859-DCB99EF5E6E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7" name="Rectangle 6">
            <a:extLst>
              <a:ext uri="{FF2B5EF4-FFF2-40B4-BE49-F238E27FC236}">
                <a16:creationId xmlns:a16="http://schemas.microsoft.com/office/drawing/2014/main" id="{B5DDB293-2423-5EB7-7594-F42ECDCEA6E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BC31577A-299F-DC94-CE9B-CAE44AE55CF8}"/>
              </a:ext>
            </a:extLst>
          </p:cNvPr>
          <p:cNvSpPr>
            <a:spLocks noGrp="1"/>
          </p:cNvSpPr>
          <p:nvPr>
            <p:ph type="sldNum" sz="quarter" idx="7"/>
          </p:nvPr>
        </p:nvSpPr>
        <p:spPr/>
        <p:txBody>
          <a:bodyPr/>
          <a:lstStyle/>
          <a:p>
            <a:fld id="{B6F15528-21DE-4FAA-801E-634DDDAF4B2B}" type="slidenum">
              <a:rPr lang="en-US" smtClean="0"/>
              <a:pPr/>
              <a:t>8</a:t>
            </a:fld>
            <a:r>
              <a:rPr lang="en-US" dirty="0"/>
              <a:t>/14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0" dirty="0"/>
              <a:t>Q</a:t>
            </a:r>
            <a:r>
              <a:rPr dirty="0"/>
              <a:t>-value</a:t>
            </a:r>
            <a:r>
              <a:rPr spc="-5" dirty="0"/>
              <a:t> </a:t>
            </a:r>
            <a:r>
              <a:rPr dirty="0"/>
              <a:t>deriva</a:t>
            </a:r>
            <a:r>
              <a:rPr spc="-15" dirty="0"/>
              <a:t>t</a:t>
            </a:r>
            <a:r>
              <a:rPr dirty="0"/>
              <a:t>ion</a:t>
            </a:r>
            <a:r>
              <a:rPr spc="-5" dirty="0"/>
              <a:t> </a:t>
            </a:r>
            <a:r>
              <a:rPr spc="-15" dirty="0"/>
              <a:t>f</a:t>
            </a:r>
            <a:r>
              <a:rPr dirty="0"/>
              <a:t>or</a:t>
            </a:r>
            <a:r>
              <a:rPr spc="-5" dirty="0"/>
              <a:t> </a:t>
            </a:r>
            <a:r>
              <a:rPr dirty="0"/>
              <a:t>known</a:t>
            </a:r>
            <a:r>
              <a:rPr spc="-5" dirty="0"/>
              <a:t> </a:t>
            </a:r>
            <a:r>
              <a:rPr i="1" dirty="0">
                <a:latin typeface="Arial"/>
                <a:cs typeface="Arial"/>
              </a:rPr>
              <a:t>joint</a:t>
            </a:r>
            <a:r>
              <a:rPr i="1" spc="-5" dirty="0">
                <a:latin typeface="Arial"/>
                <a:cs typeface="Arial"/>
              </a:rPr>
              <a:t> </a:t>
            </a:r>
            <a:r>
              <a:rPr dirty="0"/>
              <a:t>a</a:t>
            </a:r>
            <a:r>
              <a:rPr spc="-20" dirty="0"/>
              <a:t>c</a:t>
            </a:r>
            <a:r>
              <a:rPr spc="-15" dirty="0"/>
              <a:t>t</a:t>
            </a:r>
            <a:r>
              <a:rPr dirty="0"/>
              <a:t>ion</a:t>
            </a:r>
          </a:p>
        </p:txBody>
      </p:sp>
      <p:sp>
        <p:nvSpPr>
          <p:cNvPr id="3" name="object 3"/>
          <p:cNvSpPr/>
          <p:nvPr/>
        </p:nvSpPr>
        <p:spPr>
          <a:xfrm>
            <a:off x="0" y="1641712"/>
            <a:ext cx="9144000" cy="760943"/>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body" idx="1"/>
          </p:nvPr>
        </p:nvSpPr>
        <p:spPr>
          <a:xfrm>
            <a:off x="355277" y="2791423"/>
            <a:ext cx="8433444" cy="2069797"/>
          </a:xfrm>
          <a:prstGeom prst="rect">
            <a:avLst/>
          </a:prstGeom>
        </p:spPr>
        <p:txBody>
          <a:bodyPr vert="horz" wrap="square" lIns="0" tIns="0" rIns="0" bIns="0" rtlCol="0">
            <a:spAutoFit/>
          </a:bodyPr>
          <a:lstStyle/>
          <a:p>
            <a:pPr marL="12700">
              <a:lnSpc>
                <a:spcPct val="100000"/>
              </a:lnSpc>
            </a:pPr>
            <a:r>
              <a:rPr sz="2400" i="1" spc="20" dirty="0">
                <a:latin typeface="Arial Narrow"/>
                <a:cs typeface="Arial Narrow"/>
              </a:rPr>
              <a:t>a</a:t>
            </a:r>
            <a:r>
              <a:rPr sz="2550" i="1" spc="127" baseline="-19607" dirty="0">
                <a:latin typeface="Arial Narrow"/>
                <a:cs typeface="Arial Narrow"/>
              </a:rPr>
              <a:t>t</a:t>
            </a:r>
            <a:r>
              <a:rPr sz="2550" i="1" baseline="-19607" dirty="0">
                <a:latin typeface="Arial Narrow"/>
                <a:cs typeface="Arial Narrow"/>
              </a:rPr>
              <a:t> </a:t>
            </a:r>
            <a:r>
              <a:rPr sz="2550" i="1" spc="-209" baseline="-19607" dirty="0">
                <a:latin typeface="Arial Narrow"/>
                <a:cs typeface="Arial Narrow"/>
              </a:rPr>
              <a:t> </a:t>
            </a:r>
            <a:r>
              <a:rPr sz="2300" dirty="0"/>
              <a:t>i</a:t>
            </a:r>
            <a:r>
              <a:rPr sz="2300" spc="-10" dirty="0"/>
              <a:t>s</a:t>
            </a:r>
            <a:r>
              <a:rPr sz="2300" spc="-5" dirty="0"/>
              <a:t> </a:t>
            </a:r>
            <a:r>
              <a:rPr sz="2300" dirty="0"/>
              <a:t>the</a:t>
            </a:r>
            <a:r>
              <a:rPr sz="2300" spc="-5" dirty="0"/>
              <a:t> </a:t>
            </a:r>
            <a:r>
              <a:rPr sz="2300" dirty="0"/>
              <a:t>pl</a:t>
            </a:r>
            <a:r>
              <a:rPr sz="2300" spc="-105" dirty="0"/>
              <a:t>a</a:t>
            </a:r>
            <a:r>
              <a:rPr sz="2300" spc="-60" dirty="0"/>
              <a:t>y</a:t>
            </a:r>
            <a:r>
              <a:rPr sz="2300" dirty="0"/>
              <a:t>er</a:t>
            </a:r>
            <a:r>
              <a:rPr sz="2300" spc="-185" dirty="0"/>
              <a:t>’</a:t>
            </a:r>
            <a:r>
              <a:rPr sz="2300" spc="-10" dirty="0"/>
              <a:t>s</a:t>
            </a:r>
            <a:r>
              <a:rPr sz="2300" spc="-5" dirty="0"/>
              <a:t> </a:t>
            </a:r>
            <a:r>
              <a:rPr sz="2300" spc="-40" dirty="0"/>
              <a:t>o</a:t>
            </a:r>
            <a:r>
              <a:rPr sz="2300" dirty="0"/>
              <a:t>wn</a:t>
            </a:r>
            <a:r>
              <a:rPr sz="2300" spc="-5" dirty="0"/>
              <a:t> </a:t>
            </a:r>
            <a:r>
              <a:rPr sz="2300" spc="-10" dirty="0"/>
              <a:t>a</a:t>
            </a:r>
            <a:r>
              <a:rPr sz="2300" dirty="0"/>
              <a:t>ct</a:t>
            </a:r>
            <a:r>
              <a:rPr sz="2300" spc="-5" dirty="0"/>
              <a:t>i</a:t>
            </a:r>
            <a:r>
              <a:rPr sz="2300" spc="-15" dirty="0"/>
              <a:t>o</a:t>
            </a:r>
            <a:r>
              <a:rPr sz="2300" dirty="0"/>
              <a:t>n,</a:t>
            </a:r>
            <a:r>
              <a:rPr sz="2300" spc="-235" dirty="0"/>
              <a:t> </a:t>
            </a:r>
            <a:r>
              <a:rPr sz="2400" i="1" spc="20" dirty="0">
                <a:latin typeface="Arial Narrow"/>
                <a:cs typeface="Arial Narrow"/>
              </a:rPr>
              <a:t>o</a:t>
            </a:r>
            <a:r>
              <a:rPr sz="2550" i="1" spc="127" baseline="-19607" dirty="0">
                <a:latin typeface="Arial Narrow"/>
                <a:cs typeface="Arial Narrow"/>
              </a:rPr>
              <a:t>t</a:t>
            </a:r>
            <a:r>
              <a:rPr sz="2550" i="1" baseline="-19607" dirty="0">
                <a:latin typeface="Arial Narrow"/>
                <a:cs typeface="Arial Narrow"/>
              </a:rPr>
              <a:t> </a:t>
            </a:r>
            <a:r>
              <a:rPr sz="2550" i="1" spc="-209" baseline="-19607" dirty="0">
                <a:latin typeface="Arial Narrow"/>
                <a:cs typeface="Arial Narrow"/>
              </a:rPr>
              <a:t> </a:t>
            </a:r>
            <a:r>
              <a:rPr sz="2300" spc="-10" dirty="0"/>
              <a:t>tha</a:t>
            </a:r>
            <a:r>
              <a:rPr sz="2300" dirty="0"/>
              <a:t>t</a:t>
            </a:r>
            <a:r>
              <a:rPr sz="2300" spc="-5" dirty="0"/>
              <a:t> </a:t>
            </a:r>
            <a:r>
              <a:rPr sz="2300" spc="-15" dirty="0"/>
              <a:t>o</a:t>
            </a:r>
            <a:r>
              <a:rPr sz="2300" dirty="0"/>
              <a:t>f</a:t>
            </a:r>
            <a:r>
              <a:rPr sz="2300" spc="-5" dirty="0"/>
              <a:t> </a:t>
            </a:r>
            <a:r>
              <a:rPr sz="2300" dirty="0"/>
              <a:t>the</a:t>
            </a:r>
            <a:r>
              <a:rPr sz="2300" spc="-5" dirty="0"/>
              <a:t> </a:t>
            </a:r>
            <a:r>
              <a:rPr sz="2300" spc="-15" dirty="0"/>
              <a:t>oppo</a:t>
            </a:r>
            <a:r>
              <a:rPr sz="2300" dirty="0"/>
              <a:t>nent.</a:t>
            </a:r>
            <a:endParaRPr sz="2300" dirty="0">
              <a:latin typeface="Arial Narrow"/>
              <a:cs typeface="Arial Narrow"/>
            </a:endParaRPr>
          </a:p>
          <a:p>
            <a:pPr>
              <a:lnSpc>
                <a:spcPct val="100000"/>
              </a:lnSpc>
            </a:pPr>
            <a:endParaRPr sz="2800" dirty="0">
              <a:latin typeface="Times New Roman"/>
              <a:cs typeface="Times New Roman"/>
            </a:endParaRPr>
          </a:p>
          <a:p>
            <a:pPr marL="12700" marR="5080">
              <a:lnSpc>
                <a:spcPts val="2600"/>
              </a:lnSpc>
              <a:spcBef>
                <a:spcPts val="2110"/>
              </a:spcBef>
            </a:pPr>
            <a:r>
              <a:rPr spc="-20" dirty="0"/>
              <a:t>Nothi</a:t>
            </a:r>
            <a:r>
              <a:rPr spc="-15" dirty="0"/>
              <a:t>ng</a:t>
            </a:r>
            <a:r>
              <a:rPr spc="-5" dirty="0"/>
              <a:t> </a:t>
            </a:r>
            <a:r>
              <a:rPr spc="-10" dirty="0"/>
              <a:t>has</a:t>
            </a:r>
            <a:r>
              <a:rPr spc="-5" dirty="0"/>
              <a:t> </a:t>
            </a:r>
            <a:r>
              <a:rPr spc="-15" dirty="0"/>
              <a:t>changed</a:t>
            </a:r>
            <a:r>
              <a:rPr spc="-5" dirty="0"/>
              <a:t> </a:t>
            </a:r>
            <a:r>
              <a:rPr dirty="0"/>
              <a:t>except</a:t>
            </a:r>
            <a:r>
              <a:rPr spc="-5" dirty="0"/>
              <a:t> </a:t>
            </a:r>
            <a:r>
              <a:rPr spc="-25" dirty="0"/>
              <a:t>f</a:t>
            </a:r>
            <a:r>
              <a:rPr spc="-15" dirty="0"/>
              <a:t>or</a:t>
            </a:r>
            <a:r>
              <a:rPr spc="-5" dirty="0"/>
              <a:t> </a:t>
            </a:r>
            <a:r>
              <a:rPr spc="-35" dirty="0"/>
              <a:t>s</a:t>
            </a:r>
            <a:r>
              <a:rPr dirty="0"/>
              <a:t>witchi</a:t>
            </a:r>
            <a:r>
              <a:rPr spc="-15" dirty="0"/>
              <a:t>ng</a:t>
            </a:r>
            <a:r>
              <a:rPr spc="-5" dirty="0"/>
              <a:t> </a:t>
            </a:r>
            <a:r>
              <a:rPr spc="-10" dirty="0"/>
              <a:t>f</a:t>
            </a:r>
            <a:r>
              <a:rPr spc="-70" dirty="0"/>
              <a:t>r</a:t>
            </a:r>
            <a:r>
              <a:rPr spc="-20" dirty="0"/>
              <a:t>om</a:t>
            </a:r>
            <a:r>
              <a:rPr spc="-5" dirty="0"/>
              <a:t> </a:t>
            </a:r>
            <a:r>
              <a:rPr spc="-10" dirty="0"/>
              <a:t>a</a:t>
            </a:r>
            <a:r>
              <a:rPr spc="-5" dirty="0"/>
              <a:t> </a:t>
            </a:r>
            <a:r>
              <a:rPr spc="-10" dirty="0"/>
              <a:t>s</a:t>
            </a:r>
            <a:r>
              <a:rPr dirty="0"/>
              <a:t>i</a:t>
            </a:r>
            <a:r>
              <a:rPr spc="-15" dirty="0"/>
              <a:t>ng</a:t>
            </a:r>
            <a:r>
              <a:rPr dirty="0"/>
              <a:t>le</a:t>
            </a:r>
            <a:r>
              <a:rPr spc="-5" dirty="0"/>
              <a:t> </a:t>
            </a:r>
            <a:r>
              <a:rPr spc="-10" dirty="0"/>
              <a:t>ag</a:t>
            </a:r>
            <a:r>
              <a:rPr dirty="0"/>
              <a:t>ent</a:t>
            </a:r>
            <a:r>
              <a:rPr spc="-185" dirty="0"/>
              <a:t>’</a:t>
            </a:r>
            <a:r>
              <a:rPr spc="-10" dirty="0"/>
              <a:t>s</a:t>
            </a:r>
            <a:r>
              <a:rPr spc="-5" dirty="0"/>
              <a:t> </a:t>
            </a:r>
            <a:r>
              <a:rPr spc="-10" dirty="0"/>
              <a:t>a</a:t>
            </a:r>
            <a:r>
              <a:rPr dirty="0"/>
              <a:t>ct</a:t>
            </a:r>
            <a:r>
              <a:rPr spc="-5" dirty="0"/>
              <a:t>i</a:t>
            </a:r>
            <a:r>
              <a:rPr spc="-15" dirty="0"/>
              <a:t>o</a:t>
            </a:r>
            <a:r>
              <a:rPr dirty="0"/>
              <a:t>n </a:t>
            </a:r>
            <a:r>
              <a:rPr spc="-15" dirty="0"/>
              <a:t>to</a:t>
            </a:r>
            <a:r>
              <a:rPr spc="-5" dirty="0"/>
              <a:t> </a:t>
            </a:r>
            <a:r>
              <a:rPr dirty="0"/>
              <a:t>the</a:t>
            </a:r>
            <a:r>
              <a:rPr spc="-5" dirty="0"/>
              <a:t> </a:t>
            </a:r>
            <a:r>
              <a:rPr dirty="0"/>
              <a:t>j</a:t>
            </a:r>
            <a:r>
              <a:rPr spc="-15" dirty="0"/>
              <a:t>o</a:t>
            </a:r>
            <a:r>
              <a:rPr dirty="0"/>
              <a:t>int</a:t>
            </a:r>
            <a:r>
              <a:rPr spc="-5" dirty="0"/>
              <a:t> </a:t>
            </a:r>
            <a:r>
              <a:rPr spc="-10" dirty="0"/>
              <a:t>a</a:t>
            </a:r>
            <a:r>
              <a:rPr dirty="0"/>
              <a:t>ct</a:t>
            </a:r>
            <a:r>
              <a:rPr spc="-5" dirty="0"/>
              <a:t>i</a:t>
            </a:r>
            <a:r>
              <a:rPr spc="-15" dirty="0"/>
              <a:t>o</a:t>
            </a:r>
            <a:r>
              <a:rPr dirty="0"/>
              <a:t>n</a:t>
            </a:r>
            <a:r>
              <a:rPr spc="120" dirty="0"/>
              <a:t>.</a:t>
            </a:r>
            <a:r>
              <a:rPr dirty="0"/>
              <a:t>Thi</a:t>
            </a:r>
            <a:r>
              <a:rPr spc="-10" dirty="0"/>
              <a:t>s</a:t>
            </a:r>
            <a:r>
              <a:rPr spc="-5" dirty="0"/>
              <a:t> </a:t>
            </a:r>
            <a:r>
              <a:rPr spc="-15" dirty="0"/>
              <a:t>means</a:t>
            </a:r>
            <a:r>
              <a:rPr spc="-5" dirty="0"/>
              <a:t> </a:t>
            </a:r>
            <a:r>
              <a:rPr spc="-10" dirty="0"/>
              <a:t>tha</a:t>
            </a:r>
            <a:r>
              <a:rPr dirty="0"/>
              <a:t>t</a:t>
            </a:r>
            <a:r>
              <a:rPr spc="-5" dirty="0"/>
              <a:t> </a:t>
            </a:r>
            <a:r>
              <a:rPr dirty="0"/>
              <a:t>the</a:t>
            </a:r>
            <a:r>
              <a:rPr spc="-5" dirty="0"/>
              <a:t> </a:t>
            </a:r>
            <a:r>
              <a:rPr dirty="0"/>
              <a:t>pl</a:t>
            </a:r>
            <a:r>
              <a:rPr spc="-105" dirty="0"/>
              <a:t>a</a:t>
            </a:r>
            <a:r>
              <a:rPr spc="-60" dirty="0"/>
              <a:t>y</a:t>
            </a:r>
            <a:r>
              <a:rPr dirty="0"/>
              <a:t>er</a:t>
            </a:r>
            <a:r>
              <a:rPr spc="-5" dirty="0"/>
              <a:t> </a:t>
            </a:r>
            <a:r>
              <a:rPr spc="-15" dirty="0"/>
              <a:t>needs</a:t>
            </a:r>
            <a:r>
              <a:rPr spc="-5" dirty="0"/>
              <a:t> </a:t>
            </a:r>
            <a:r>
              <a:rPr spc="-15" dirty="0"/>
              <a:t>to</a:t>
            </a:r>
            <a:r>
              <a:rPr spc="-5" dirty="0"/>
              <a:t> </a:t>
            </a:r>
            <a:r>
              <a:rPr spc="-15" dirty="0"/>
              <a:t>kn</a:t>
            </a:r>
            <a:r>
              <a:rPr spc="-40" dirty="0"/>
              <a:t>o</a:t>
            </a:r>
            <a:r>
              <a:rPr dirty="0"/>
              <a:t>w</a:t>
            </a:r>
            <a:r>
              <a:rPr spc="-5" dirty="0"/>
              <a:t> </a:t>
            </a:r>
            <a:r>
              <a:rPr dirty="0"/>
              <a:t>the</a:t>
            </a:r>
            <a:r>
              <a:rPr spc="-5" dirty="0"/>
              <a:t> </a:t>
            </a:r>
            <a:r>
              <a:rPr spc="-15" dirty="0"/>
              <a:t>o</a:t>
            </a:r>
            <a:r>
              <a:rPr dirty="0"/>
              <a:t>ther pl</a:t>
            </a:r>
            <a:r>
              <a:rPr spc="-105" dirty="0"/>
              <a:t>a</a:t>
            </a:r>
            <a:r>
              <a:rPr spc="-60" dirty="0"/>
              <a:t>y</a:t>
            </a:r>
            <a:r>
              <a:rPr dirty="0"/>
              <a:t>er</a:t>
            </a:r>
            <a:r>
              <a:rPr spc="-185" dirty="0"/>
              <a:t>’</a:t>
            </a:r>
            <a:r>
              <a:rPr spc="-10" dirty="0"/>
              <a:t>s</a:t>
            </a:r>
            <a:r>
              <a:rPr spc="-5" dirty="0"/>
              <a:t> </a:t>
            </a:r>
            <a:r>
              <a:rPr spc="-10" dirty="0"/>
              <a:t>a</a:t>
            </a:r>
            <a:r>
              <a:rPr dirty="0"/>
              <a:t>ct</a:t>
            </a:r>
            <a:r>
              <a:rPr spc="-5" dirty="0"/>
              <a:t>i</a:t>
            </a:r>
            <a:r>
              <a:rPr spc="-15" dirty="0"/>
              <a:t>o</a:t>
            </a:r>
            <a:r>
              <a:rPr dirty="0"/>
              <a:t>n</a:t>
            </a:r>
            <a:r>
              <a:rPr spc="-5" dirty="0"/>
              <a:t> </a:t>
            </a:r>
            <a:r>
              <a:rPr spc="-15" dirty="0"/>
              <a:t>to</a:t>
            </a:r>
            <a:r>
              <a:rPr spc="-5" dirty="0"/>
              <a:t> </a:t>
            </a:r>
            <a:r>
              <a:rPr dirty="0"/>
              <a:t>per</a:t>
            </a:r>
            <a:r>
              <a:rPr spc="-25" dirty="0"/>
              <a:t>f</a:t>
            </a:r>
            <a:r>
              <a:rPr spc="-15" dirty="0"/>
              <a:t>orm</a:t>
            </a:r>
            <a:r>
              <a:rPr spc="-5" dirty="0"/>
              <a:t> </a:t>
            </a:r>
            <a:r>
              <a:rPr lang="en-MY" spc="-20" dirty="0" err="1"/>
              <a:t>MiniMax</a:t>
            </a:r>
            <a:r>
              <a:rPr dirty="0"/>
              <a:t>-Q.</a:t>
            </a:r>
          </a:p>
        </p:txBody>
      </p:sp>
      <p:sp>
        <p:nvSpPr>
          <p:cNvPr id="5" name="object 5"/>
          <p:cNvSpPr txBox="1"/>
          <p:nvPr/>
        </p:nvSpPr>
        <p:spPr>
          <a:xfrm>
            <a:off x="388329" y="5602168"/>
            <a:ext cx="7687309" cy="215900"/>
          </a:xfrm>
          <a:prstGeom prst="rect">
            <a:avLst/>
          </a:prstGeom>
        </p:spPr>
        <p:txBody>
          <a:bodyPr vert="horz" wrap="square" lIns="0" tIns="0" rIns="0" bIns="0" rtlCol="0">
            <a:spAutoFit/>
          </a:bodyPr>
          <a:lstStyle/>
          <a:p>
            <a:pPr marL="12700">
              <a:lnSpc>
                <a:spcPct val="100000"/>
              </a:lnSpc>
            </a:pPr>
            <a:r>
              <a:rPr sz="1500" spc="-10" dirty="0">
                <a:latin typeface="Gill Sans MT"/>
                <a:cs typeface="Gill Sans MT"/>
              </a:rPr>
              <a:t>Note</a:t>
            </a:r>
            <a:r>
              <a:rPr sz="1500" spc="-5" dirty="0">
                <a:latin typeface="Gill Sans MT"/>
                <a:cs typeface="Gill Sans MT"/>
              </a:rPr>
              <a:t> </a:t>
            </a:r>
            <a:r>
              <a:rPr sz="1500" spc="-10" dirty="0">
                <a:latin typeface="Gill Sans MT"/>
                <a:cs typeface="Gill Sans MT"/>
              </a:rPr>
              <a:t>tha</a:t>
            </a:r>
            <a:r>
              <a:rPr sz="1500" dirty="0">
                <a:latin typeface="Gill Sans MT"/>
                <a:cs typeface="Gill Sans MT"/>
              </a:rPr>
              <a:t>t</a:t>
            </a:r>
            <a:r>
              <a:rPr sz="1500" spc="-5" dirty="0">
                <a:latin typeface="Gill Sans MT"/>
                <a:cs typeface="Gill Sans MT"/>
              </a:rPr>
              <a:t> </a:t>
            </a:r>
            <a:r>
              <a:rPr sz="1500" dirty="0">
                <a:latin typeface="Gill Sans MT"/>
                <a:cs typeface="Gill Sans MT"/>
              </a:rPr>
              <a:t>thi</a:t>
            </a:r>
            <a:r>
              <a:rPr sz="1500" spc="-10" dirty="0">
                <a:latin typeface="Gill Sans MT"/>
                <a:cs typeface="Gill Sans MT"/>
              </a:rPr>
              <a:t>s</a:t>
            </a:r>
            <a:r>
              <a:rPr sz="1500" spc="-5" dirty="0">
                <a:latin typeface="Gill Sans MT"/>
                <a:cs typeface="Gill Sans MT"/>
              </a:rPr>
              <a:t> </a:t>
            </a:r>
            <a:r>
              <a:rPr sz="1500" dirty="0">
                <a:latin typeface="Gill Sans MT"/>
                <a:cs typeface="Gill Sans MT"/>
              </a:rPr>
              <a:t>i</a:t>
            </a:r>
            <a:r>
              <a:rPr sz="1500" spc="-10" dirty="0">
                <a:latin typeface="Gill Sans MT"/>
                <a:cs typeface="Gill Sans MT"/>
              </a:rPr>
              <a:t>s</a:t>
            </a:r>
            <a:r>
              <a:rPr sz="1500" spc="-5" dirty="0">
                <a:latin typeface="Gill Sans MT"/>
                <a:cs typeface="Gill Sans MT"/>
              </a:rPr>
              <a:t> </a:t>
            </a:r>
            <a:r>
              <a:rPr sz="1500" spc="-10" dirty="0">
                <a:latin typeface="Gill Sans MT"/>
                <a:cs typeface="Gill Sans MT"/>
              </a:rPr>
              <a:t>d</a:t>
            </a:r>
            <a:r>
              <a:rPr sz="1500" dirty="0">
                <a:latin typeface="Gill Sans MT"/>
                <a:cs typeface="Gill Sans MT"/>
              </a:rPr>
              <a:t>if</a:t>
            </a:r>
            <a:r>
              <a:rPr sz="1500" spc="-15" dirty="0">
                <a:latin typeface="Gill Sans MT"/>
                <a:cs typeface="Gill Sans MT"/>
              </a:rPr>
              <a:t>f</a:t>
            </a:r>
            <a:r>
              <a:rPr sz="1500" dirty="0">
                <a:latin typeface="Gill Sans MT"/>
                <a:cs typeface="Gill Sans MT"/>
              </a:rPr>
              <a:t>e</a:t>
            </a:r>
            <a:r>
              <a:rPr sz="1500" spc="-30" dirty="0">
                <a:latin typeface="Gill Sans MT"/>
                <a:cs typeface="Gill Sans MT"/>
              </a:rPr>
              <a:t>r</a:t>
            </a:r>
            <a:r>
              <a:rPr sz="1500" dirty="0">
                <a:latin typeface="Gill Sans MT"/>
                <a:cs typeface="Gill Sans MT"/>
              </a:rPr>
              <a:t>ent</a:t>
            </a:r>
            <a:r>
              <a:rPr sz="1500" spc="-5" dirty="0">
                <a:latin typeface="Gill Sans MT"/>
                <a:cs typeface="Gill Sans MT"/>
              </a:rPr>
              <a:t> f</a:t>
            </a:r>
            <a:r>
              <a:rPr sz="1500" spc="-50" dirty="0">
                <a:latin typeface="Gill Sans MT"/>
                <a:cs typeface="Gill Sans MT"/>
              </a:rPr>
              <a:t>r</a:t>
            </a:r>
            <a:r>
              <a:rPr sz="1500" spc="-10" dirty="0">
                <a:latin typeface="Gill Sans MT"/>
                <a:cs typeface="Gill Sans MT"/>
              </a:rPr>
              <a:t>om</a:t>
            </a:r>
            <a:r>
              <a:rPr sz="1500" spc="-5" dirty="0">
                <a:latin typeface="Gill Sans MT"/>
                <a:cs typeface="Gill Sans MT"/>
              </a:rPr>
              <a:t> </a:t>
            </a:r>
            <a:r>
              <a:rPr sz="1500" dirty="0">
                <a:latin typeface="Gill Sans MT"/>
                <a:cs typeface="Gill Sans MT"/>
              </a:rPr>
              <a:t>Repli</a:t>
            </a:r>
            <a:r>
              <a:rPr sz="1500" spc="-10" dirty="0">
                <a:latin typeface="Gill Sans MT"/>
                <a:cs typeface="Gill Sans MT"/>
              </a:rPr>
              <a:t>cator</a:t>
            </a:r>
            <a:r>
              <a:rPr sz="1500" spc="-5" dirty="0">
                <a:latin typeface="Gill Sans MT"/>
                <a:cs typeface="Gill Sans MT"/>
              </a:rPr>
              <a:t> </a:t>
            </a:r>
            <a:r>
              <a:rPr sz="1500" spc="-10" dirty="0">
                <a:latin typeface="Gill Sans MT"/>
                <a:cs typeface="Gill Sans MT"/>
              </a:rPr>
              <a:t>dyna</a:t>
            </a:r>
            <a:r>
              <a:rPr sz="1500" dirty="0">
                <a:latin typeface="Gill Sans MT"/>
                <a:cs typeface="Gill Sans MT"/>
              </a:rPr>
              <a:t>mi</a:t>
            </a:r>
            <a:r>
              <a:rPr sz="1500" spc="-10" dirty="0">
                <a:latin typeface="Gill Sans MT"/>
                <a:cs typeface="Gill Sans MT"/>
              </a:rPr>
              <a:t>cs</a:t>
            </a:r>
            <a:r>
              <a:rPr sz="1500" spc="-5" dirty="0">
                <a:latin typeface="Gill Sans MT"/>
                <a:cs typeface="Gill Sans MT"/>
              </a:rPr>
              <a:t> </a:t>
            </a:r>
            <a:r>
              <a:rPr sz="1500" spc="-10" dirty="0">
                <a:latin typeface="Gill Sans MT"/>
                <a:cs typeface="Gill Sans MT"/>
              </a:rPr>
              <a:t>and/or</a:t>
            </a:r>
            <a:r>
              <a:rPr sz="1500" spc="-5" dirty="0">
                <a:latin typeface="Gill Sans MT"/>
                <a:cs typeface="Gill Sans MT"/>
              </a:rPr>
              <a:t> </a:t>
            </a:r>
            <a:r>
              <a:rPr sz="1500" dirty="0">
                <a:latin typeface="Gill Sans MT"/>
                <a:cs typeface="Gill Sans MT"/>
              </a:rPr>
              <a:t>C</a:t>
            </a:r>
            <a:r>
              <a:rPr sz="1500" spc="-40" dirty="0">
                <a:latin typeface="Gill Sans MT"/>
                <a:cs typeface="Gill Sans MT"/>
              </a:rPr>
              <a:t>r</a:t>
            </a:r>
            <a:r>
              <a:rPr sz="1500" spc="-10" dirty="0">
                <a:latin typeface="Gill Sans MT"/>
                <a:cs typeface="Gill Sans MT"/>
              </a:rPr>
              <a:t>oss</a:t>
            </a:r>
            <a:r>
              <a:rPr sz="1500" spc="-5" dirty="0">
                <a:latin typeface="Gill Sans MT"/>
                <a:cs typeface="Gill Sans MT"/>
              </a:rPr>
              <a:t> </a:t>
            </a:r>
            <a:r>
              <a:rPr sz="1500" dirty="0">
                <a:latin typeface="Gill Sans MT"/>
                <a:cs typeface="Gill Sans MT"/>
              </a:rPr>
              <a:t>L</a:t>
            </a:r>
            <a:r>
              <a:rPr sz="1500" spc="-10" dirty="0">
                <a:latin typeface="Gill Sans MT"/>
                <a:cs typeface="Gill Sans MT"/>
              </a:rPr>
              <a:t>ea</a:t>
            </a:r>
            <a:r>
              <a:rPr sz="1500" dirty="0">
                <a:latin typeface="Gill Sans MT"/>
                <a:cs typeface="Gill Sans MT"/>
              </a:rPr>
              <a:t>rni</a:t>
            </a:r>
            <a:r>
              <a:rPr sz="1500" spc="-10" dirty="0">
                <a:latin typeface="Gill Sans MT"/>
                <a:cs typeface="Gill Sans MT"/>
              </a:rPr>
              <a:t>ng</a:t>
            </a:r>
            <a:r>
              <a:rPr sz="1500" spc="-5" dirty="0">
                <a:latin typeface="Gill Sans MT"/>
                <a:cs typeface="Gill Sans MT"/>
              </a:rPr>
              <a:t> </a:t>
            </a:r>
            <a:r>
              <a:rPr sz="1500" dirty="0">
                <a:latin typeface="Gill Sans MT"/>
                <a:cs typeface="Gill Sans MT"/>
              </a:rPr>
              <a:t>(but</a:t>
            </a:r>
            <a:r>
              <a:rPr sz="1500" spc="-5" dirty="0">
                <a:latin typeface="Gill Sans MT"/>
                <a:cs typeface="Gill Sans MT"/>
              </a:rPr>
              <a:t> </a:t>
            </a:r>
            <a:r>
              <a:rPr sz="1500" spc="-10" dirty="0">
                <a:latin typeface="Gill Sans MT"/>
                <a:cs typeface="Gill Sans MT"/>
              </a:rPr>
              <a:t>thes</a:t>
            </a:r>
            <a:r>
              <a:rPr sz="1500" dirty="0">
                <a:latin typeface="Gill Sans MT"/>
                <a:cs typeface="Gill Sans MT"/>
              </a:rPr>
              <a:t>e</a:t>
            </a:r>
            <a:r>
              <a:rPr sz="1500" spc="-5" dirty="0">
                <a:latin typeface="Gill Sans MT"/>
                <a:cs typeface="Gill Sans MT"/>
              </a:rPr>
              <a:t> </a:t>
            </a:r>
            <a:r>
              <a:rPr sz="1500" spc="-10" dirty="0">
                <a:latin typeface="Gill Sans MT"/>
                <a:cs typeface="Gill Sans MT"/>
              </a:rPr>
              <a:t>a</a:t>
            </a:r>
            <a:r>
              <a:rPr sz="1500" spc="-40" dirty="0">
                <a:latin typeface="Gill Sans MT"/>
                <a:cs typeface="Gill Sans MT"/>
              </a:rPr>
              <a:t>r</a:t>
            </a:r>
            <a:r>
              <a:rPr sz="1500" dirty="0">
                <a:latin typeface="Gill Sans MT"/>
                <a:cs typeface="Gill Sans MT"/>
              </a:rPr>
              <a:t>e</a:t>
            </a:r>
            <a:r>
              <a:rPr sz="1500" spc="-5" dirty="0">
                <a:latin typeface="Gill Sans MT"/>
                <a:cs typeface="Gill Sans MT"/>
              </a:rPr>
              <a:t> </a:t>
            </a:r>
            <a:r>
              <a:rPr sz="1500" spc="-10" dirty="0">
                <a:latin typeface="Gill Sans MT"/>
                <a:cs typeface="Gill Sans MT"/>
              </a:rPr>
              <a:t>sta</a:t>
            </a:r>
            <a:r>
              <a:rPr sz="1500" dirty="0">
                <a:latin typeface="Gill Sans MT"/>
                <a:cs typeface="Gill Sans MT"/>
              </a:rPr>
              <a:t>tel</a:t>
            </a:r>
            <a:r>
              <a:rPr sz="1500" spc="-10" dirty="0">
                <a:latin typeface="Gill Sans MT"/>
                <a:cs typeface="Gill Sans MT"/>
              </a:rPr>
              <a:t>ess</a:t>
            </a:r>
            <a:r>
              <a:rPr sz="1500" dirty="0">
                <a:latin typeface="Gill Sans MT"/>
                <a:cs typeface="Gill Sans MT"/>
              </a:rPr>
              <a:t>)</a:t>
            </a:r>
            <a:endParaRPr sz="1500">
              <a:latin typeface="Gill Sans MT"/>
              <a:cs typeface="Gill Sans MT"/>
            </a:endParaRPr>
          </a:p>
        </p:txBody>
      </p:sp>
      <p:sp>
        <p:nvSpPr>
          <p:cNvPr id="6" name="Rectangle 5">
            <a:extLst>
              <a:ext uri="{FF2B5EF4-FFF2-40B4-BE49-F238E27FC236}">
                <a16:creationId xmlns:a16="http://schemas.microsoft.com/office/drawing/2014/main" id="{0108627D-5C5B-029C-ADB7-61E8E803DF6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7" name="Rectangle 6">
            <a:extLst>
              <a:ext uri="{FF2B5EF4-FFF2-40B4-BE49-F238E27FC236}">
                <a16:creationId xmlns:a16="http://schemas.microsoft.com/office/drawing/2014/main" id="{39A802C2-9060-C6D0-19E3-35342BB9A932}"/>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8" name="Rectangle 7">
            <a:extLst>
              <a:ext uri="{FF2B5EF4-FFF2-40B4-BE49-F238E27FC236}">
                <a16:creationId xmlns:a16="http://schemas.microsoft.com/office/drawing/2014/main" id="{01870255-5587-B1D5-4874-976C9B3D11F7}"/>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9">
            <a:extLst>
              <a:ext uri="{FF2B5EF4-FFF2-40B4-BE49-F238E27FC236}">
                <a16:creationId xmlns:a16="http://schemas.microsoft.com/office/drawing/2014/main" id="{E9C48574-5379-40C1-D380-97647467EB4A}"/>
              </a:ext>
            </a:extLst>
          </p:cNvPr>
          <p:cNvSpPr>
            <a:spLocks noGrp="1"/>
          </p:cNvSpPr>
          <p:nvPr>
            <p:ph type="sldNum" sz="quarter" idx="7"/>
          </p:nvPr>
        </p:nvSpPr>
        <p:spPr/>
        <p:txBody>
          <a:bodyPr/>
          <a:lstStyle/>
          <a:p>
            <a:fld id="{B6F15528-21DE-4FAA-801E-634DDDAF4B2B}" type="slidenum">
              <a:rPr lang="en-US" smtClean="0"/>
              <a:pPr/>
              <a:t>9</a:t>
            </a:fld>
            <a:r>
              <a:rPr lang="en-US" dirty="0"/>
              <a:t>/14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3227" y="320571"/>
            <a:ext cx="8297544" cy="492443"/>
          </a:xfrm>
          <a:prstGeom prst="rect">
            <a:avLst/>
          </a:prstGeom>
        </p:spPr>
        <p:txBody>
          <a:bodyPr vert="horz" wrap="square" lIns="0" tIns="0" rIns="0" bIns="0" rtlCol="0">
            <a:spAutoFit/>
          </a:bodyPr>
          <a:lstStyle/>
          <a:p>
            <a:pPr marL="12700">
              <a:lnSpc>
                <a:spcPct val="100000"/>
              </a:lnSpc>
            </a:pPr>
            <a:r>
              <a:rPr spc="-25" dirty="0"/>
              <a:t>S</a:t>
            </a:r>
            <a:r>
              <a:rPr spc="-15" dirty="0"/>
              <a:t>t</a:t>
            </a:r>
            <a:r>
              <a:rPr dirty="0"/>
              <a:t>a</a:t>
            </a:r>
            <a:r>
              <a:rPr spc="-15" dirty="0"/>
              <a:t>t</a:t>
            </a:r>
            <a:r>
              <a:rPr dirty="0"/>
              <a:t>e</a:t>
            </a:r>
            <a:r>
              <a:rPr spc="-5" dirty="0"/>
              <a:t> </a:t>
            </a:r>
            <a:r>
              <a:rPr dirty="0"/>
              <a:t>value</a:t>
            </a:r>
            <a:r>
              <a:rPr spc="-5" dirty="0"/>
              <a:t> </a:t>
            </a:r>
            <a:r>
              <a:rPr dirty="0"/>
              <a:t>upda</a:t>
            </a:r>
            <a:r>
              <a:rPr spc="-15" dirty="0"/>
              <a:t>t</a:t>
            </a:r>
            <a:r>
              <a:rPr dirty="0"/>
              <a:t>e</a:t>
            </a:r>
            <a:r>
              <a:rPr spc="-5" dirty="0"/>
              <a:t> </a:t>
            </a:r>
            <a:r>
              <a:rPr dirty="0"/>
              <a:t>according</a:t>
            </a:r>
            <a:r>
              <a:rPr spc="-5" dirty="0"/>
              <a:t> </a:t>
            </a:r>
            <a:r>
              <a:rPr spc="-15" dirty="0"/>
              <a:t>t</a:t>
            </a:r>
            <a:r>
              <a:rPr dirty="0"/>
              <a:t>o</a:t>
            </a:r>
            <a:r>
              <a:rPr spc="-5" dirty="0"/>
              <a:t> </a:t>
            </a:r>
            <a:r>
              <a:rPr lang="en-MY" dirty="0" err="1"/>
              <a:t>MiniMax</a:t>
            </a:r>
            <a:endParaRPr dirty="0"/>
          </a:p>
        </p:txBody>
      </p:sp>
      <p:sp>
        <p:nvSpPr>
          <p:cNvPr id="3" name="object 3"/>
          <p:cNvSpPr/>
          <p:nvPr/>
        </p:nvSpPr>
        <p:spPr>
          <a:xfrm>
            <a:off x="514350" y="3374628"/>
            <a:ext cx="4533900" cy="81280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472454" y="1462569"/>
            <a:ext cx="6474460" cy="1154162"/>
          </a:xfrm>
          <a:prstGeom prst="rect">
            <a:avLst/>
          </a:prstGeom>
        </p:spPr>
        <p:txBody>
          <a:bodyPr vert="horz" wrap="square" lIns="0" tIns="0" rIns="0" bIns="0" rtlCol="0">
            <a:spAutoFit/>
          </a:bodyPr>
          <a:lstStyle/>
          <a:p>
            <a:pPr marL="12700" marR="5080">
              <a:lnSpc>
                <a:spcPts val="3000"/>
              </a:lnSpc>
            </a:pPr>
            <a:r>
              <a:rPr sz="2600" dirty="0">
                <a:latin typeface="Gill Sans MT"/>
                <a:cs typeface="Gill Sans MT"/>
              </a:rPr>
              <a:t>The</a:t>
            </a:r>
            <a:r>
              <a:rPr sz="2600" spc="-5" dirty="0">
                <a:latin typeface="Gill Sans MT"/>
                <a:cs typeface="Gill Sans MT"/>
              </a:rPr>
              <a:t> </a:t>
            </a:r>
            <a:r>
              <a:rPr sz="2600" spc="-15" dirty="0">
                <a:solidFill>
                  <a:srgbClr val="C82506"/>
                </a:solidFill>
                <a:latin typeface="Gill Sans MT"/>
                <a:cs typeface="Gill Sans MT"/>
              </a:rPr>
              <a:t>co</a:t>
            </a:r>
            <a:r>
              <a:rPr sz="2600" spc="-70" dirty="0">
                <a:solidFill>
                  <a:srgbClr val="C82506"/>
                </a:solidFill>
                <a:latin typeface="Gill Sans MT"/>
                <a:cs typeface="Gill Sans MT"/>
              </a:rPr>
              <a:t>r</a:t>
            </a:r>
            <a:r>
              <a:rPr sz="2600" dirty="0">
                <a:solidFill>
                  <a:srgbClr val="C82506"/>
                </a:solidFill>
                <a:latin typeface="Gill Sans MT"/>
                <a:cs typeface="Gill Sans MT"/>
              </a:rPr>
              <a:t>e</a:t>
            </a:r>
            <a:r>
              <a:rPr sz="2600" spc="-5" dirty="0">
                <a:solidFill>
                  <a:srgbClr val="C82506"/>
                </a:solidFill>
                <a:latin typeface="Gill Sans MT"/>
                <a:cs typeface="Gill Sans MT"/>
              </a:rPr>
              <a:t> </a:t>
            </a:r>
            <a:r>
              <a:rPr sz="2600" spc="-15" dirty="0">
                <a:solidFill>
                  <a:srgbClr val="C82506"/>
                </a:solidFill>
                <a:latin typeface="Gill Sans MT"/>
                <a:cs typeface="Gill Sans MT"/>
              </a:rPr>
              <a:t>o</a:t>
            </a:r>
            <a:r>
              <a:rPr sz="2600" dirty="0">
                <a:solidFill>
                  <a:srgbClr val="C82506"/>
                </a:solidFill>
                <a:latin typeface="Gill Sans MT"/>
                <a:cs typeface="Gill Sans MT"/>
              </a:rPr>
              <a:t>f</a:t>
            </a:r>
            <a:r>
              <a:rPr sz="2600" spc="-5" dirty="0">
                <a:solidFill>
                  <a:srgbClr val="C82506"/>
                </a:solidFill>
                <a:latin typeface="Gill Sans MT"/>
                <a:cs typeface="Gill Sans MT"/>
              </a:rPr>
              <a:t> </a:t>
            </a:r>
            <a:r>
              <a:rPr sz="2600" dirty="0">
                <a:solidFill>
                  <a:srgbClr val="C82506"/>
                </a:solidFill>
                <a:latin typeface="Gill Sans MT"/>
                <a:cs typeface="Gill Sans MT"/>
              </a:rPr>
              <a:t>the</a:t>
            </a:r>
            <a:r>
              <a:rPr sz="2600" spc="-5" dirty="0">
                <a:solidFill>
                  <a:srgbClr val="C82506"/>
                </a:solidFill>
                <a:latin typeface="Gill Sans MT"/>
                <a:cs typeface="Gill Sans MT"/>
              </a:rPr>
              <a:t> </a:t>
            </a:r>
            <a:r>
              <a:rPr sz="2600" spc="-15" dirty="0">
                <a:solidFill>
                  <a:srgbClr val="C82506"/>
                </a:solidFill>
                <a:latin typeface="Gill Sans MT"/>
                <a:cs typeface="Gill Sans MT"/>
              </a:rPr>
              <a:t>method</a:t>
            </a:r>
            <a:r>
              <a:rPr sz="2600" spc="-5" dirty="0">
                <a:solidFill>
                  <a:srgbClr val="C82506"/>
                </a:solidFill>
                <a:latin typeface="Gill Sans MT"/>
                <a:cs typeface="Gill Sans MT"/>
              </a:rPr>
              <a:t> </a:t>
            </a:r>
            <a:r>
              <a:rPr sz="2600" dirty="0">
                <a:latin typeface="Gill Sans MT"/>
                <a:cs typeface="Gill Sans MT"/>
              </a:rPr>
              <a:t>i</a:t>
            </a:r>
            <a:r>
              <a:rPr sz="2600" spc="-10" dirty="0">
                <a:latin typeface="Gill Sans MT"/>
                <a:cs typeface="Gill Sans MT"/>
              </a:rPr>
              <a:t>s</a:t>
            </a:r>
            <a:r>
              <a:rPr sz="2600" spc="-5" dirty="0">
                <a:latin typeface="Gill Sans MT"/>
                <a:cs typeface="Gill Sans MT"/>
              </a:rPr>
              <a:t> </a:t>
            </a:r>
            <a:r>
              <a:rPr sz="2600" spc="-15" dirty="0">
                <a:latin typeface="Gill Sans MT"/>
                <a:cs typeface="Gill Sans MT"/>
              </a:rPr>
              <a:t>to</a:t>
            </a:r>
            <a:r>
              <a:rPr sz="2600" spc="-5" dirty="0">
                <a:latin typeface="Gill Sans MT"/>
                <a:cs typeface="Gill Sans MT"/>
              </a:rPr>
              <a:t> </a:t>
            </a:r>
            <a:r>
              <a:rPr sz="2600" spc="-15" dirty="0">
                <a:latin typeface="Gill Sans MT"/>
                <a:cs typeface="Gill Sans MT"/>
              </a:rPr>
              <a:t>ca</a:t>
            </a:r>
            <a:r>
              <a:rPr sz="2600" dirty="0">
                <a:latin typeface="Gill Sans MT"/>
                <a:cs typeface="Gill Sans MT"/>
              </a:rPr>
              <a:t>lcu</a:t>
            </a:r>
            <a:r>
              <a:rPr sz="2600" spc="-5" dirty="0">
                <a:latin typeface="Gill Sans MT"/>
                <a:cs typeface="Gill Sans MT"/>
              </a:rPr>
              <a:t>l</a:t>
            </a:r>
            <a:r>
              <a:rPr sz="2600" spc="-15" dirty="0">
                <a:latin typeface="Gill Sans MT"/>
                <a:cs typeface="Gill Sans MT"/>
              </a:rPr>
              <a:t>a</a:t>
            </a:r>
            <a:r>
              <a:rPr sz="2600" dirty="0">
                <a:latin typeface="Gill Sans MT"/>
                <a:cs typeface="Gill Sans MT"/>
              </a:rPr>
              <a:t>te</a:t>
            </a:r>
            <a:r>
              <a:rPr sz="2600" spc="-5" dirty="0">
                <a:latin typeface="Gill Sans MT"/>
                <a:cs typeface="Gill Sans MT"/>
              </a:rPr>
              <a:t> </a:t>
            </a:r>
            <a:r>
              <a:rPr sz="2600" dirty="0">
                <a:latin typeface="Gill Sans MT"/>
                <a:cs typeface="Gill Sans MT"/>
              </a:rPr>
              <a:t>the</a:t>
            </a:r>
            <a:r>
              <a:rPr sz="2600" spc="-5" dirty="0">
                <a:latin typeface="Gill Sans MT"/>
                <a:cs typeface="Gill Sans MT"/>
              </a:rPr>
              <a:t> </a:t>
            </a:r>
            <a:r>
              <a:rPr sz="2600" spc="-15" dirty="0">
                <a:latin typeface="Gill Sans MT"/>
                <a:cs typeface="Gill Sans MT"/>
              </a:rPr>
              <a:t>va</a:t>
            </a:r>
            <a:r>
              <a:rPr sz="2600" dirty="0">
                <a:latin typeface="Gill Sans MT"/>
                <a:cs typeface="Gill Sans MT"/>
              </a:rPr>
              <a:t>lue </a:t>
            </a:r>
            <a:r>
              <a:rPr sz="2600" spc="-15" dirty="0">
                <a:latin typeface="Gill Sans MT"/>
                <a:cs typeface="Gill Sans MT"/>
              </a:rPr>
              <a:t>acco</a:t>
            </a:r>
            <a:r>
              <a:rPr sz="2600" spc="-55" dirty="0">
                <a:latin typeface="Gill Sans MT"/>
                <a:cs typeface="Gill Sans MT"/>
              </a:rPr>
              <a:t>r</a:t>
            </a:r>
            <a:r>
              <a:rPr sz="2600" spc="-15" dirty="0">
                <a:latin typeface="Gill Sans MT"/>
                <a:cs typeface="Gill Sans MT"/>
              </a:rPr>
              <a:t>d</a:t>
            </a:r>
            <a:r>
              <a:rPr sz="2600" dirty="0">
                <a:latin typeface="Gill Sans MT"/>
                <a:cs typeface="Gill Sans MT"/>
              </a:rPr>
              <a:t>i</a:t>
            </a:r>
            <a:r>
              <a:rPr sz="2600" spc="-15" dirty="0">
                <a:latin typeface="Gill Sans MT"/>
                <a:cs typeface="Gill Sans MT"/>
              </a:rPr>
              <a:t>ng</a:t>
            </a:r>
            <a:r>
              <a:rPr sz="2600" spc="-5" dirty="0">
                <a:latin typeface="Gill Sans MT"/>
                <a:cs typeface="Gill Sans MT"/>
              </a:rPr>
              <a:t> </a:t>
            </a:r>
            <a:r>
              <a:rPr sz="2600" spc="-15" dirty="0">
                <a:latin typeface="Gill Sans MT"/>
                <a:cs typeface="Gill Sans MT"/>
              </a:rPr>
              <a:t>to</a:t>
            </a:r>
            <a:r>
              <a:rPr sz="2600" spc="-5" dirty="0">
                <a:latin typeface="Gill Sans MT"/>
                <a:cs typeface="Gill Sans MT"/>
              </a:rPr>
              <a:t> </a:t>
            </a:r>
            <a:r>
              <a:rPr sz="2600" dirty="0">
                <a:latin typeface="Gill Sans MT"/>
                <a:cs typeface="Gill Sans MT"/>
              </a:rPr>
              <a:t>the</a:t>
            </a:r>
            <a:r>
              <a:rPr sz="2600" spc="-5" dirty="0">
                <a:latin typeface="Gill Sans MT"/>
                <a:cs typeface="Gill Sans MT"/>
              </a:rPr>
              <a:t> </a:t>
            </a:r>
            <a:r>
              <a:rPr sz="2600" spc="-15" dirty="0">
                <a:latin typeface="Gill Sans MT"/>
                <a:cs typeface="Gill Sans MT"/>
              </a:rPr>
              <a:t>standa</a:t>
            </a:r>
            <a:r>
              <a:rPr sz="2600" spc="-55" dirty="0">
                <a:latin typeface="Gill Sans MT"/>
                <a:cs typeface="Gill Sans MT"/>
              </a:rPr>
              <a:t>r</a:t>
            </a:r>
            <a:r>
              <a:rPr sz="2600" spc="-15" dirty="0">
                <a:latin typeface="Gill Sans MT"/>
                <a:cs typeface="Gill Sans MT"/>
              </a:rPr>
              <a:t>d</a:t>
            </a:r>
            <a:r>
              <a:rPr sz="2600" spc="-5" dirty="0">
                <a:latin typeface="Gill Sans MT"/>
                <a:cs typeface="Gill Sans MT"/>
              </a:rPr>
              <a:t> </a:t>
            </a:r>
            <a:r>
              <a:rPr lang="en-MY" sz="2600" spc="-25" dirty="0" err="1">
                <a:latin typeface="Gill Sans MT"/>
                <a:cs typeface="Gill Sans MT"/>
              </a:rPr>
              <a:t>MiniMax</a:t>
            </a:r>
            <a:r>
              <a:rPr sz="2600" spc="-5" dirty="0">
                <a:latin typeface="Gill Sans MT"/>
                <a:cs typeface="Gill Sans MT"/>
              </a:rPr>
              <a:t> </a:t>
            </a:r>
            <a:r>
              <a:rPr sz="2600" spc="-15" dirty="0">
                <a:latin typeface="Gill Sans MT"/>
                <a:cs typeface="Gill Sans MT"/>
              </a:rPr>
              <a:t>method</a:t>
            </a:r>
            <a:r>
              <a:rPr sz="2600" spc="-5" dirty="0">
                <a:latin typeface="Gill Sans MT"/>
                <a:cs typeface="Gill Sans MT"/>
              </a:rPr>
              <a:t> </a:t>
            </a:r>
            <a:r>
              <a:rPr sz="2600" spc="-30" dirty="0">
                <a:latin typeface="Gill Sans MT"/>
                <a:cs typeface="Gill Sans MT"/>
              </a:rPr>
              <a:t>f</a:t>
            </a:r>
            <a:r>
              <a:rPr sz="2600" spc="-15" dirty="0">
                <a:latin typeface="Gill Sans MT"/>
                <a:cs typeface="Gill Sans MT"/>
              </a:rPr>
              <a:t>or</a:t>
            </a:r>
            <a:r>
              <a:rPr sz="2600" spc="-10" dirty="0">
                <a:latin typeface="Gill Sans MT"/>
                <a:cs typeface="Gill Sans MT"/>
              </a:rPr>
              <a:t> </a:t>
            </a:r>
            <a:r>
              <a:rPr sz="2600" dirty="0">
                <a:latin typeface="Gill Sans MT"/>
                <a:cs typeface="Gill Sans MT"/>
              </a:rPr>
              <a:t>2</a:t>
            </a:r>
            <a:r>
              <a:rPr sz="2600" spc="-5" dirty="0">
                <a:latin typeface="Gill Sans MT"/>
                <a:cs typeface="Gill Sans MT"/>
              </a:rPr>
              <a:t>-</a:t>
            </a:r>
            <a:r>
              <a:rPr sz="2600" dirty="0">
                <a:latin typeface="Gill Sans MT"/>
                <a:cs typeface="Gill Sans MT"/>
              </a:rPr>
              <a:t>pl</a:t>
            </a:r>
            <a:r>
              <a:rPr sz="2600" spc="-120" dirty="0">
                <a:latin typeface="Gill Sans MT"/>
                <a:cs typeface="Gill Sans MT"/>
              </a:rPr>
              <a:t>a</a:t>
            </a:r>
            <a:r>
              <a:rPr sz="2600" spc="-70" dirty="0">
                <a:latin typeface="Gill Sans MT"/>
                <a:cs typeface="Gill Sans MT"/>
              </a:rPr>
              <a:t>y</a:t>
            </a:r>
            <a:r>
              <a:rPr sz="2600" dirty="0">
                <a:latin typeface="Gill Sans MT"/>
                <a:cs typeface="Gill Sans MT"/>
              </a:rPr>
              <a:t>er</a:t>
            </a:r>
            <a:r>
              <a:rPr sz="2600" spc="-5" dirty="0">
                <a:latin typeface="Gill Sans MT"/>
                <a:cs typeface="Gill Sans MT"/>
              </a:rPr>
              <a:t> </a:t>
            </a:r>
            <a:r>
              <a:rPr sz="2600" spc="-15" dirty="0">
                <a:latin typeface="Gill Sans MT"/>
                <a:cs typeface="Gill Sans MT"/>
              </a:rPr>
              <a:t>ze</a:t>
            </a:r>
            <a:r>
              <a:rPr sz="2600" spc="-80" dirty="0">
                <a:latin typeface="Gill Sans MT"/>
                <a:cs typeface="Gill Sans MT"/>
              </a:rPr>
              <a:t>r</a:t>
            </a:r>
            <a:r>
              <a:rPr sz="2600" spc="-15" dirty="0">
                <a:latin typeface="Gill Sans MT"/>
                <a:cs typeface="Gill Sans MT"/>
              </a:rPr>
              <a:t>o</a:t>
            </a:r>
            <a:r>
              <a:rPr sz="2600" spc="-5" dirty="0">
                <a:latin typeface="Gill Sans MT"/>
                <a:cs typeface="Gill Sans MT"/>
              </a:rPr>
              <a:t>-</a:t>
            </a:r>
            <a:r>
              <a:rPr sz="2600" spc="-15" dirty="0">
                <a:latin typeface="Gill Sans MT"/>
                <a:cs typeface="Gill Sans MT"/>
              </a:rPr>
              <a:t>sum</a:t>
            </a:r>
            <a:r>
              <a:rPr sz="2600" spc="-5" dirty="0">
                <a:latin typeface="Gill Sans MT"/>
                <a:cs typeface="Gill Sans MT"/>
              </a:rPr>
              <a:t> </a:t>
            </a:r>
            <a:r>
              <a:rPr sz="2600" spc="-15" dirty="0">
                <a:latin typeface="Gill Sans MT"/>
                <a:cs typeface="Gill Sans MT"/>
              </a:rPr>
              <a:t>games</a:t>
            </a:r>
            <a:r>
              <a:rPr sz="2600" dirty="0">
                <a:latin typeface="Gill Sans MT"/>
                <a:cs typeface="Gill Sans MT"/>
              </a:rPr>
              <a:t>.</a:t>
            </a:r>
          </a:p>
        </p:txBody>
      </p:sp>
      <p:sp>
        <p:nvSpPr>
          <p:cNvPr id="5" name="object 5"/>
          <p:cNvSpPr txBox="1"/>
          <p:nvPr/>
        </p:nvSpPr>
        <p:spPr>
          <a:xfrm>
            <a:off x="483852" y="4990262"/>
            <a:ext cx="7125334" cy="266700"/>
          </a:xfrm>
          <a:prstGeom prst="rect">
            <a:avLst/>
          </a:prstGeom>
        </p:spPr>
        <p:txBody>
          <a:bodyPr vert="horz" wrap="square" lIns="0" tIns="0" rIns="0" bIns="0" rtlCol="0">
            <a:spAutoFit/>
          </a:bodyPr>
          <a:lstStyle/>
          <a:p>
            <a:pPr marL="12700">
              <a:lnSpc>
                <a:spcPct val="100000"/>
              </a:lnSpc>
            </a:pPr>
            <a:r>
              <a:rPr sz="1900" dirty="0">
                <a:latin typeface="Gill Sans MT"/>
                <a:cs typeface="Gill Sans MT"/>
              </a:rPr>
              <a:t>In</a:t>
            </a:r>
            <a:r>
              <a:rPr sz="1900" spc="-5" dirty="0">
                <a:latin typeface="Gill Sans MT"/>
                <a:cs typeface="Gill Sans MT"/>
              </a:rPr>
              <a:t> </a:t>
            </a:r>
            <a:r>
              <a:rPr sz="1900" spc="-10" dirty="0">
                <a:latin typeface="Gill Sans MT"/>
                <a:cs typeface="Gill Sans MT"/>
              </a:rPr>
              <a:t>pra</a:t>
            </a:r>
            <a:r>
              <a:rPr sz="1900" dirty="0">
                <a:latin typeface="Gill Sans MT"/>
                <a:cs typeface="Gill Sans MT"/>
              </a:rPr>
              <a:t>ct</a:t>
            </a:r>
            <a:r>
              <a:rPr sz="1900" spc="-5" dirty="0">
                <a:latin typeface="Gill Sans MT"/>
                <a:cs typeface="Gill Sans MT"/>
              </a:rPr>
              <a:t>i</a:t>
            </a:r>
            <a:r>
              <a:rPr sz="1900" spc="-10" dirty="0">
                <a:latin typeface="Gill Sans MT"/>
                <a:cs typeface="Gill Sans MT"/>
              </a:rPr>
              <a:t>c</a:t>
            </a:r>
            <a:r>
              <a:rPr sz="1900" spc="25" dirty="0">
                <a:latin typeface="Gill Sans MT"/>
                <a:cs typeface="Gill Sans MT"/>
              </a:rPr>
              <a:t>e</a:t>
            </a:r>
            <a:r>
              <a:rPr sz="1900" dirty="0">
                <a:latin typeface="Gill Sans MT"/>
                <a:cs typeface="Gill Sans MT"/>
              </a:rPr>
              <a:t>,</a:t>
            </a:r>
            <a:r>
              <a:rPr sz="1900" spc="-195" dirty="0">
                <a:latin typeface="Gill Sans MT"/>
                <a:cs typeface="Gill Sans MT"/>
              </a:rPr>
              <a:t> </a:t>
            </a:r>
            <a:r>
              <a:rPr sz="1900" dirty="0">
                <a:latin typeface="Gill Sans MT"/>
                <a:cs typeface="Gill Sans MT"/>
              </a:rPr>
              <a:t>thi</a:t>
            </a:r>
            <a:r>
              <a:rPr sz="1900" spc="-10" dirty="0">
                <a:latin typeface="Gill Sans MT"/>
                <a:cs typeface="Gill Sans MT"/>
              </a:rPr>
              <a:t>s</a:t>
            </a:r>
            <a:r>
              <a:rPr sz="1900" spc="-5" dirty="0">
                <a:latin typeface="Gill Sans MT"/>
                <a:cs typeface="Gill Sans MT"/>
              </a:rPr>
              <a:t> </a:t>
            </a:r>
            <a:r>
              <a:rPr sz="1900" spc="-50" dirty="0">
                <a:latin typeface="Gill Sans MT"/>
                <a:cs typeface="Gill Sans MT"/>
              </a:rPr>
              <a:t>r</a:t>
            </a:r>
            <a:r>
              <a:rPr sz="1900" dirty="0">
                <a:latin typeface="Gill Sans MT"/>
                <a:cs typeface="Gill Sans MT"/>
              </a:rPr>
              <a:t>equi</a:t>
            </a:r>
            <a:r>
              <a:rPr sz="1900" spc="-50" dirty="0">
                <a:latin typeface="Gill Sans MT"/>
                <a:cs typeface="Gill Sans MT"/>
              </a:rPr>
              <a:t>r</a:t>
            </a:r>
            <a:r>
              <a:rPr sz="1900" spc="-10" dirty="0">
                <a:latin typeface="Gill Sans MT"/>
                <a:cs typeface="Gill Sans MT"/>
              </a:rPr>
              <a:t>es</a:t>
            </a:r>
            <a:r>
              <a:rPr sz="1900" spc="-5" dirty="0">
                <a:latin typeface="Gill Sans MT"/>
                <a:cs typeface="Gill Sans MT"/>
              </a:rPr>
              <a:t> </a:t>
            </a:r>
            <a:r>
              <a:rPr sz="1900" dirty="0">
                <a:latin typeface="Gill Sans MT"/>
                <a:cs typeface="Gill Sans MT"/>
              </a:rPr>
              <a:t>the</a:t>
            </a:r>
            <a:r>
              <a:rPr sz="1900" spc="-5" dirty="0">
                <a:latin typeface="Gill Sans MT"/>
                <a:cs typeface="Gill Sans MT"/>
              </a:rPr>
              <a:t> </a:t>
            </a:r>
            <a:r>
              <a:rPr sz="1900" spc="-10" dirty="0">
                <a:latin typeface="Gill Sans MT"/>
                <a:cs typeface="Gill Sans MT"/>
              </a:rPr>
              <a:t>us</a:t>
            </a:r>
            <a:r>
              <a:rPr sz="1900" dirty="0">
                <a:latin typeface="Gill Sans MT"/>
                <a:cs typeface="Gill Sans MT"/>
              </a:rPr>
              <a:t>e</a:t>
            </a:r>
            <a:r>
              <a:rPr sz="1900" spc="-5" dirty="0">
                <a:latin typeface="Gill Sans MT"/>
                <a:cs typeface="Gill Sans MT"/>
              </a:rPr>
              <a:t> </a:t>
            </a:r>
            <a:r>
              <a:rPr sz="1900" spc="-15" dirty="0">
                <a:latin typeface="Gill Sans MT"/>
                <a:cs typeface="Gill Sans MT"/>
              </a:rPr>
              <a:t>o</a:t>
            </a:r>
            <a:r>
              <a:rPr sz="1900" dirty="0">
                <a:latin typeface="Gill Sans MT"/>
                <a:cs typeface="Gill Sans MT"/>
              </a:rPr>
              <a:t>f</a:t>
            </a:r>
            <a:r>
              <a:rPr sz="1900" spc="-5" dirty="0">
                <a:latin typeface="Gill Sans MT"/>
                <a:cs typeface="Gill Sans MT"/>
              </a:rPr>
              <a:t> </a:t>
            </a:r>
            <a:r>
              <a:rPr sz="1900" spc="-10" dirty="0">
                <a:latin typeface="Gill Sans MT"/>
                <a:cs typeface="Gill Sans MT"/>
              </a:rPr>
              <a:t>a</a:t>
            </a:r>
            <a:r>
              <a:rPr sz="1900" spc="-5" dirty="0">
                <a:latin typeface="Gill Sans MT"/>
                <a:cs typeface="Gill Sans MT"/>
              </a:rPr>
              <a:t> </a:t>
            </a:r>
            <a:r>
              <a:rPr sz="1900" dirty="0">
                <a:latin typeface="Gill Sans MT"/>
                <a:cs typeface="Gill Sans MT"/>
              </a:rPr>
              <a:t>li</a:t>
            </a:r>
            <a:r>
              <a:rPr sz="1900" spc="-10" dirty="0">
                <a:latin typeface="Gill Sans MT"/>
                <a:cs typeface="Gill Sans MT"/>
              </a:rPr>
              <a:t>near</a:t>
            </a:r>
            <a:r>
              <a:rPr sz="1900" spc="-5" dirty="0">
                <a:latin typeface="Gill Sans MT"/>
                <a:cs typeface="Gill Sans MT"/>
              </a:rPr>
              <a:t> </a:t>
            </a:r>
            <a:r>
              <a:rPr sz="1900" spc="-10" dirty="0">
                <a:latin typeface="Gill Sans MT"/>
                <a:cs typeface="Gill Sans MT"/>
              </a:rPr>
              <a:t>so</a:t>
            </a:r>
            <a:r>
              <a:rPr sz="1900" dirty="0">
                <a:latin typeface="Gill Sans MT"/>
                <a:cs typeface="Gill Sans MT"/>
              </a:rPr>
              <a:t>l</a:t>
            </a:r>
            <a:r>
              <a:rPr sz="1900" spc="-50" dirty="0">
                <a:latin typeface="Gill Sans MT"/>
                <a:cs typeface="Gill Sans MT"/>
              </a:rPr>
              <a:t>v</a:t>
            </a:r>
            <a:r>
              <a:rPr sz="1900" dirty="0">
                <a:latin typeface="Gill Sans MT"/>
                <a:cs typeface="Gill Sans MT"/>
              </a:rPr>
              <a:t>er</a:t>
            </a:r>
            <a:r>
              <a:rPr sz="1900" spc="-5" dirty="0">
                <a:latin typeface="Gill Sans MT"/>
                <a:cs typeface="Gill Sans MT"/>
              </a:rPr>
              <a:t> </a:t>
            </a:r>
            <a:r>
              <a:rPr sz="1900" dirty="0">
                <a:latin typeface="Gill Sans MT"/>
                <a:cs typeface="Gill Sans MT"/>
              </a:rPr>
              <a:t>within</a:t>
            </a:r>
            <a:r>
              <a:rPr sz="1900" spc="-5" dirty="0">
                <a:latin typeface="Gill Sans MT"/>
                <a:cs typeface="Gill Sans MT"/>
              </a:rPr>
              <a:t> </a:t>
            </a:r>
            <a:r>
              <a:rPr sz="1900" dirty="0">
                <a:latin typeface="Gill Sans MT"/>
                <a:cs typeface="Gill Sans MT"/>
              </a:rPr>
              <a:t>the</a:t>
            </a:r>
            <a:r>
              <a:rPr sz="1900" spc="-5" dirty="0">
                <a:latin typeface="Gill Sans MT"/>
                <a:cs typeface="Gill Sans MT"/>
              </a:rPr>
              <a:t> </a:t>
            </a:r>
            <a:r>
              <a:rPr sz="1900" dirty="0">
                <a:latin typeface="Gill Sans MT"/>
                <a:cs typeface="Gill Sans MT"/>
              </a:rPr>
              <a:t>Q-i</a:t>
            </a:r>
            <a:r>
              <a:rPr sz="1900" spc="-10" dirty="0">
                <a:latin typeface="Gill Sans MT"/>
                <a:cs typeface="Gill Sans MT"/>
              </a:rPr>
              <a:t>tera</a:t>
            </a:r>
            <a:r>
              <a:rPr sz="1900" dirty="0">
                <a:latin typeface="Gill Sans MT"/>
                <a:cs typeface="Gill Sans MT"/>
              </a:rPr>
              <a:t>ti</a:t>
            </a:r>
            <a:r>
              <a:rPr sz="1900" spc="-15" dirty="0">
                <a:latin typeface="Gill Sans MT"/>
                <a:cs typeface="Gill Sans MT"/>
              </a:rPr>
              <a:t>o</a:t>
            </a:r>
            <a:r>
              <a:rPr sz="1900" dirty="0">
                <a:latin typeface="Gill Sans MT"/>
                <a:cs typeface="Gill Sans MT"/>
              </a:rPr>
              <a:t>n.</a:t>
            </a:r>
          </a:p>
        </p:txBody>
      </p:sp>
      <p:sp>
        <p:nvSpPr>
          <p:cNvPr id="6" name="Rectangle 5">
            <a:extLst>
              <a:ext uri="{FF2B5EF4-FFF2-40B4-BE49-F238E27FC236}">
                <a16:creationId xmlns:a16="http://schemas.microsoft.com/office/drawing/2014/main" id="{499B045F-6C80-E7C9-C1BB-1F7402C80D3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7" name="Rectangle 6">
            <a:extLst>
              <a:ext uri="{FF2B5EF4-FFF2-40B4-BE49-F238E27FC236}">
                <a16:creationId xmlns:a16="http://schemas.microsoft.com/office/drawing/2014/main" id="{FFF8A03E-B424-E0BF-6F77-FBBDA99C7AD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8" name="Rectangle 7">
            <a:extLst>
              <a:ext uri="{FF2B5EF4-FFF2-40B4-BE49-F238E27FC236}">
                <a16:creationId xmlns:a16="http://schemas.microsoft.com/office/drawing/2014/main" id="{8939FAA9-C06C-9D8E-97F1-6ECEAA2D5E9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Slide Number Placeholder 9">
            <a:extLst>
              <a:ext uri="{FF2B5EF4-FFF2-40B4-BE49-F238E27FC236}">
                <a16:creationId xmlns:a16="http://schemas.microsoft.com/office/drawing/2014/main" id="{553DEDE6-381B-94EE-9F35-901D2E3AF0BD}"/>
              </a:ext>
            </a:extLst>
          </p:cNvPr>
          <p:cNvSpPr>
            <a:spLocks noGrp="1"/>
          </p:cNvSpPr>
          <p:nvPr>
            <p:ph type="sldNum" sz="quarter" idx="7"/>
          </p:nvPr>
        </p:nvSpPr>
        <p:spPr/>
        <p:txBody>
          <a:bodyPr/>
          <a:lstStyle/>
          <a:p>
            <a:fld id="{B6F15528-21DE-4FAA-801E-634DDDAF4B2B}" type="slidenum">
              <a:rPr lang="en-US" smtClean="0"/>
              <a:pPr/>
              <a:t>10</a:t>
            </a:fld>
            <a:r>
              <a:rPr lang="en-US" dirty="0"/>
              <a:t>/14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57187" y="1066800"/>
            <a:ext cx="7401913" cy="5443429"/>
          </a:xfrm>
          <a:prstGeom prst="rect">
            <a:avLst/>
          </a:prstGeom>
          <a:blipFill>
            <a:blip r:embed="rId3" cstate="print"/>
            <a:stretch>
              <a:fillRect/>
            </a:stretch>
          </a:blipFill>
        </p:spPr>
        <p:txBody>
          <a:bodyPr wrap="square" lIns="0" tIns="0" rIns="0" bIns="0" rtlCol="0"/>
          <a:lstStyle/>
          <a:p>
            <a:endParaRPr/>
          </a:p>
        </p:txBody>
      </p:sp>
      <p:sp>
        <p:nvSpPr>
          <p:cNvPr id="2" name="object 2"/>
          <p:cNvSpPr txBox="1">
            <a:spLocks noGrp="1"/>
          </p:cNvSpPr>
          <p:nvPr>
            <p:ph type="title"/>
          </p:nvPr>
        </p:nvSpPr>
        <p:spPr>
          <a:xfrm>
            <a:off x="423227" y="320571"/>
            <a:ext cx="8297544" cy="492443"/>
          </a:xfrm>
          <a:prstGeom prst="rect">
            <a:avLst/>
          </a:prstGeom>
        </p:spPr>
        <p:txBody>
          <a:bodyPr vert="horz" wrap="square" lIns="0" tIns="0" rIns="0" bIns="0" rtlCol="0">
            <a:spAutoFit/>
          </a:bodyPr>
          <a:lstStyle/>
          <a:p>
            <a:pPr marL="12700">
              <a:lnSpc>
                <a:spcPct val="100000"/>
              </a:lnSpc>
            </a:pPr>
            <a:r>
              <a:rPr spc="-25" dirty="0"/>
              <a:t>T</a:t>
            </a:r>
            <a:r>
              <a:rPr dirty="0"/>
              <a:t>he</a:t>
            </a:r>
            <a:r>
              <a:rPr spc="-5" dirty="0"/>
              <a:t> </a:t>
            </a:r>
            <a:r>
              <a:rPr lang="en-MY" dirty="0" err="1"/>
              <a:t>MiniMax</a:t>
            </a:r>
            <a:r>
              <a:rPr spc="-20" dirty="0"/>
              <a:t>-Q</a:t>
            </a:r>
            <a:r>
              <a:rPr spc="-5" dirty="0"/>
              <a:t> </a:t>
            </a:r>
            <a:r>
              <a:rPr dirty="0"/>
              <a:t>algori</a:t>
            </a:r>
            <a:r>
              <a:rPr spc="-15" dirty="0"/>
              <a:t>t</a:t>
            </a:r>
            <a:r>
              <a:rPr dirty="0"/>
              <a:t>hm</a:t>
            </a:r>
          </a:p>
        </p:txBody>
      </p:sp>
      <p:sp>
        <p:nvSpPr>
          <p:cNvPr id="4" name="Rectangle 3">
            <a:extLst>
              <a:ext uri="{FF2B5EF4-FFF2-40B4-BE49-F238E27FC236}">
                <a16:creationId xmlns:a16="http://schemas.microsoft.com/office/drawing/2014/main" id="{A04D9817-F429-44B3-3105-55273778BF2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5" name="Rectangle 4">
            <a:extLst>
              <a:ext uri="{FF2B5EF4-FFF2-40B4-BE49-F238E27FC236}">
                <a16:creationId xmlns:a16="http://schemas.microsoft.com/office/drawing/2014/main" id="{B4AC4982-0D9F-B92D-3E8E-8DF5DCEC000D}"/>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6" name="Rectangle 5">
            <a:extLst>
              <a:ext uri="{FF2B5EF4-FFF2-40B4-BE49-F238E27FC236}">
                <a16:creationId xmlns:a16="http://schemas.microsoft.com/office/drawing/2014/main" id="{96DDAA03-5A1C-E870-6B54-74D30C50648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Slide Number Placeholder 7">
            <a:extLst>
              <a:ext uri="{FF2B5EF4-FFF2-40B4-BE49-F238E27FC236}">
                <a16:creationId xmlns:a16="http://schemas.microsoft.com/office/drawing/2014/main" id="{0252E553-E12B-E08B-D356-83D48E91D37C}"/>
              </a:ext>
            </a:extLst>
          </p:cNvPr>
          <p:cNvSpPr>
            <a:spLocks noGrp="1"/>
          </p:cNvSpPr>
          <p:nvPr>
            <p:ph type="sldNum" sz="quarter" idx="7"/>
          </p:nvPr>
        </p:nvSpPr>
        <p:spPr/>
        <p:txBody>
          <a:bodyPr/>
          <a:lstStyle/>
          <a:p>
            <a:fld id="{B6F15528-21DE-4FAA-801E-634DDDAF4B2B}" type="slidenum">
              <a:rPr lang="en-US" smtClean="0"/>
              <a:pPr/>
              <a:t>11</a:t>
            </a:fld>
            <a:r>
              <a:rPr lang="en-US" dirty="0"/>
              <a:t>/14</a:t>
            </a:r>
          </a:p>
        </p:txBody>
      </p:sp>
      <p:graphicFrame>
        <p:nvGraphicFramePr>
          <p:cNvPr id="9" name="Table 8">
            <a:extLst>
              <a:ext uri="{FF2B5EF4-FFF2-40B4-BE49-F238E27FC236}">
                <a16:creationId xmlns:a16="http://schemas.microsoft.com/office/drawing/2014/main" id="{4CDB7B00-E474-C16C-764F-3B29B1D34C1A}"/>
              </a:ext>
            </a:extLst>
          </p:cNvPr>
          <p:cNvGraphicFramePr>
            <a:graphicFrameLocks noGrp="1"/>
          </p:cNvGraphicFramePr>
          <p:nvPr>
            <p:extLst>
              <p:ext uri="{D42A27DB-BD31-4B8C-83A1-F6EECF244321}">
                <p14:modId xmlns:p14="http://schemas.microsoft.com/office/powerpoint/2010/main" val="3928261960"/>
              </p:ext>
            </p:extLst>
          </p:nvPr>
        </p:nvGraphicFramePr>
        <p:xfrm>
          <a:off x="533400" y="1143000"/>
          <a:ext cx="7225700" cy="2133600"/>
        </p:xfrm>
        <a:graphic>
          <a:graphicData uri="http://schemas.openxmlformats.org/drawingml/2006/table">
            <a:tbl>
              <a:tblPr firstRow="1" bandRow="1">
                <a:tableStyleId>{5940675A-B579-460E-94D1-54222C63F5DA}</a:tableStyleId>
              </a:tblPr>
              <a:tblGrid>
                <a:gridCol w="6759526">
                  <a:extLst>
                    <a:ext uri="{9D8B030D-6E8A-4147-A177-3AD203B41FA5}">
                      <a16:colId xmlns:a16="http://schemas.microsoft.com/office/drawing/2014/main" val="3487272622"/>
                    </a:ext>
                  </a:extLst>
                </a:gridCol>
                <a:gridCol w="466174">
                  <a:extLst>
                    <a:ext uri="{9D8B030D-6E8A-4147-A177-3AD203B41FA5}">
                      <a16:colId xmlns:a16="http://schemas.microsoft.com/office/drawing/2014/main" val="3128815375"/>
                    </a:ext>
                  </a:extLst>
                </a:gridCol>
              </a:tblGrid>
              <a:tr h="2133600">
                <a:tc>
                  <a:txBody>
                    <a:bodyPr/>
                    <a:lstStyle/>
                    <a:p>
                      <a:endParaRPr lang="en-MY"/>
                    </a:p>
                  </a:txBody>
                  <a:tcPr/>
                </a:tc>
                <a:tc>
                  <a:txBody>
                    <a:bodyPr/>
                    <a:lstStyle/>
                    <a:p>
                      <a:pPr algn="ctr"/>
                      <a:r>
                        <a:rPr lang="en-US" sz="1400" dirty="0"/>
                        <a:t>Initialization</a:t>
                      </a:r>
                      <a:endParaRPr lang="en-MY" sz="1400" dirty="0"/>
                    </a:p>
                  </a:txBody>
                  <a:tcPr vert="vert270" anchor="ctr"/>
                </a:tc>
                <a:extLst>
                  <a:ext uri="{0D108BD9-81ED-4DB2-BD59-A6C34878D82A}">
                    <a16:rowId xmlns:a16="http://schemas.microsoft.com/office/drawing/2014/main" val="1105597711"/>
                  </a:ext>
                </a:extLst>
              </a:tr>
            </a:tbl>
          </a:graphicData>
        </a:graphic>
      </p:graphicFrame>
      <p:graphicFrame>
        <p:nvGraphicFramePr>
          <p:cNvPr id="10" name="Table 9">
            <a:extLst>
              <a:ext uri="{FF2B5EF4-FFF2-40B4-BE49-F238E27FC236}">
                <a16:creationId xmlns:a16="http://schemas.microsoft.com/office/drawing/2014/main" id="{2667A0A7-7985-BA2A-BA16-390B4FA79341}"/>
              </a:ext>
            </a:extLst>
          </p:cNvPr>
          <p:cNvGraphicFramePr>
            <a:graphicFrameLocks noGrp="1"/>
          </p:cNvGraphicFramePr>
          <p:nvPr>
            <p:extLst>
              <p:ext uri="{D42A27DB-BD31-4B8C-83A1-F6EECF244321}">
                <p14:modId xmlns:p14="http://schemas.microsoft.com/office/powerpoint/2010/main" val="530162756"/>
              </p:ext>
            </p:extLst>
          </p:nvPr>
        </p:nvGraphicFramePr>
        <p:xfrm>
          <a:off x="533400" y="3276600"/>
          <a:ext cx="7225700" cy="762000"/>
        </p:xfrm>
        <a:graphic>
          <a:graphicData uri="http://schemas.openxmlformats.org/drawingml/2006/table">
            <a:tbl>
              <a:tblPr firstRow="1" bandRow="1">
                <a:tableStyleId>{5940675A-B579-460E-94D1-54222C63F5DA}</a:tableStyleId>
              </a:tblPr>
              <a:tblGrid>
                <a:gridCol w="6759526">
                  <a:extLst>
                    <a:ext uri="{9D8B030D-6E8A-4147-A177-3AD203B41FA5}">
                      <a16:colId xmlns:a16="http://schemas.microsoft.com/office/drawing/2014/main" val="3487272622"/>
                    </a:ext>
                  </a:extLst>
                </a:gridCol>
                <a:gridCol w="466174">
                  <a:extLst>
                    <a:ext uri="{9D8B030D-6E8A-4147-A177-3AD203B41FA5}">
                      <a16:colId xmlns:a16="http://schemas.microsoft.com/office/drawing/2014/main" val="3128815375"/>
                    </a:ext>
                  </a:extLst>
                </a:gridCol>
              </a:tblGrid>
              <a:tr h="762000">
                <a:tc>
                  <a:txBody>
                    <a:bodyPr/>
                    <a:lstStyle/>
                    <a:p>
                      <a:endParaRPr lang="en-MY"/>
                    </a:p>
                  </a:txBody>
                  <a:tcPr/>
                </a:tc>
                <a:tc>
                  <a:txBody>
                    <a:bodyPr/>
                    <a:lstStyle/>
                    <a:p>
                      <a:pPr algn="ctr"/>
                      <a:r>
                        <a:rPr lang="en-US" sz="1400" dirty="0"/>
                        <a:t>Action Selection</a:t>
                      </a:r>
                      <a:endParaRPr lang="en-MY" sz="1400" dirty="0"/>
                    </a:p>
                  </a:txBody>
                  <a:tcPr vert="vert270" anchor="ctr"/>
                </a:tc>
                <a:extLst>
                  <a:ext uri="{0D108BD9-81ED-4DB2-BD59-A6C34878D82A}">
                    <a16:rowId xmlns:a16="http://schemas.microsoft.com/office/drawing/2014/main" val="1105597711"/>
                  </a:ext>
                </a:extLst>
              </a:tr>
            </a:tbl>
          </a:graphicData>
        </a:graphic>
      </p:graphicFrame>
      <p:graphicFrame>
        <p:nvGraphicFramePr>
          <p:cNvPr id="11" name="Table 10">
            <a:extLst>
              <a:ext uri="{FF2B5EF4-FFF2-40B4-BE49-F238E27FC236}">
                <a16:creationId xmlns:a16="http://schemas.microsoft.com/office/drawing/2014/main" id="{A42EB8E7-E7E0-D58D-AE75-315FAC2E8757}"/>
              </a:ext>
            </a:extLst>
          </p:cNvPr>
          <p:cNvGraphicFramePr>
            <a:graphicFrameLocks noGrp="1"/>
          </p:cNvGraphicFramePr>
          <p:nvPr>
            <p:extLst>
              <p:ext uri="{D42A27DB-BD31-4B8C-83A1-F6EECF244321}">
                <p14:modId xmlns:p14="http://schemas.microsoft.com/office/powerpoint/2010/main" val="1725384376"/>
              </p:ext>
            </p:extLst>
          </p:nvPr>
        </p:nvGraphicFramePr>
        <p:xfrm>
          <a:off x="533400" y="4038600"/>
          <a:ext cx="7225700" cy="914395"/>
        </p:xfrm>
        <a:graphic>
          <a:graphicData uri="http://schemas.openxmlformats.org/drawingml/2006/table">
            <a:tbl>
              <a:tblPr firstRow="1" bandRow="1">
                <a:tableStyleId>{5940675A-B579-460E-94D1-54222C63F5DA}</a:tableStyleId>
              </a:tblPr>
              <a:tblGrid>
                <a:gridCol w="6759526">
                  <a:extLst>
                    <a:ext uri="{9D8B030D-6E8A-4147-A177-3AD203B41FA5}">
                      <a16:colId xmlns:a16="http://schemas.microsoft.com/office/drawing/2014/main" val="3487272622"/>
                    </a:ext>
                  </a:extLst>
                </a:gridCol>
                <a:gridCol w="466174">
                  <a:extLst>
                    <a:ext uri="{9D8B030D-6E8A-4147-A177-3AD203B41FA5}">
                      <a16:colId xmlns:a16="http://schemas.microsoft.com/office/drawing/2014/main" val="3128815375"/>
                    </a:ext>
                  </a:extLst>
                </a:gridCol>
              </a:tblGrid>
              <a:tr h="914395">
                <a:tc>
                  <a:txBody>
                    <a:bodyPr/>
                    <a:lstStyle/>
                    <a:p>
                      <a:endParaRPr lang="en-MY" sz="1600" dirty="0"/>
                    </a:p>
                  </a:txBody>
                  <a:tcPr marT="41564" marB="41564"/>
                </a:tc>
                <a:tc>
                  <a:txBody>
                    <a:bodyPr/>
                    <a:lstStyle/>
                    <a:p>
                      <a:pPr algn="ctr"/>
                      <a:r>
                        <a:rPr lang="en-US" sz="1400" dirty="0"/>
                        <a:t>Learning</a:t>
                      </a:r>
                      <a:endParaRPr lang="en-MY" sz="1400" dirty="0"/>
                    </a:p>
                  </a:txBody>
                  <a:tcPr marT="41564" marB="41564" vert="vert270" anchor="ctr"/>
                </a:tc>
                <a:extLst>
                  <a:ext uri="{0D108BD9-81ED-4DB2-BD59-A6C34878D82A}">
                    <a16:rowId xmlns:a16="http://schemas.microsoft.com/office/drawing/2014/main" val="1105597711"/>
                  </a:ext>
                </a:extLst>
              </a:tr>
            </a:tbl>
          </a:graphicData>
        </a:graphic>
      </p:graphicFrame>
      <p:graphicFrame>
        <p:nvGraphicFramePr>
          <p:cNvPr id="12" name="Table 11">
            <a:extLst>
              <a:ext uri="{FF2B5EF4-FFF2-40B4-BE49-F238E27FC236}">
                <a16:creationId xmlns:a16="http://schemas.microsoft.com/office/drawing/2014/main" id="{68685F6C-6BAF-C56B-CCF6-C440745ACEBD}"/>
              </a:ext>
            </a:extLst>
          </p:cNvPr>
          <p:cNvGraphicFramePr>
            <a:graphicFrameLocks noGrp="1"/>
          </p:cNvGraphicFramePr>
          <p:nvPr>
            <p:extLst>
              <p:ext uri="{D42A27DB-BD31-4B8C-83A1-F6EECF244321}">
                <p14:modId xmlns:p14="http://schemas.microsoft.com/office/powerpoint/2010/main" val="1766464790"/>
              </p:ext>
            </p:extLst>
          </p:nvPr>
        </p:nvGraphicFramePr>
        <p:xfrm>
          <a:off x="533400" y="4953000"/>
          <a:ext cx="7225700" cy="990598"/>
        </p:xfrm>
        <a:graphic>
          <a:graphicData uri="http://schemas.openxmlformats.org/drawingml/2006/table">
            <a:tbl>
              <a:tblPr firstRow="1" bandRow="1">
                <a:tableStyleId>{5940675A-B579-460E-94D1-54222C63F5DA}</a:tableStyleId>
              </a:tblPr>
              <a:tblGrid>
                <a:gridCol w="6759526">
                  <a:extLst>
                    <a:ext uri="{9D8B030D-6E8A-4147-A177-3AD203B41FA5}">
                      <a16:colId xmlns:a16="http://schemas.microsoft.com/office/drawing/2014/main" val="3487272622"/>
                    </a:ext>
                  </a:extLst>
                </a:gridCol>
                <a:gridCol w="466174">
                  <a:extLst>
                    <a:ext uri="{9D8B030D-6E8A-4147-A177-3AD203B41FA5}">
                      <a16:colId xmlns:a16="http://schemas.microsoft.com/office/drawing/2014/main" val="3128815375"/>
                    </a:ext>
                  </a:extLst>
                </a:gridCol>
              </a:tblGrid>
              <a:tr h="990598">
                <a:tc>
                  <a:txBody>
                    <a:bodyPr/>
                    <a:lstStyle/>
                    <a:p>
                      <a:endParaRPr lang="en-MY" sz="1600" dirty="0"/>
                    </a:p>
                  </a:txBody>
                  <a:tcPr marT="41564" marB="41564"/>
                </a:tc>
                <a:tc>
                  <a:txBody>
                    <a:bodyPr/>
                    <a:lstStyle/>
                    <a:p>
                      <a:pPr algn="ctr"/>
                      <a:r>
                        <a:rPr lang="en-US" sz="1400" dirty="0"/>
                        <a:t>Updating</a:t>
                      </a:r>
                      <a:endParaRPr lang="en-MY" sz="1400" dirty="0"/>
                    </a:p>
                  </a:txBody>
                  <a:tcPr marT="41564" marB="41564" vert="vert270" anchor="ctr">
                    <a:solidFill>
                      <a:schemeClr val="accent2">
                        <a:lumMod val="60000"/>
                        <a:lumOff val="40000"/>
                      </a:schemeClr>
                    </a:solidFill>
                  </a:tcPr>
                </a:tc>
                <a:extLst>
                  <a:ext uri="{0D108BD9-81ED-4DB2-BD59-A6C34878D82A}">
                    <a16:rowId xmlns:a16="http://schemas.microsoft.com/office/drawing/2014/main" val="110559771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Example</a:t>
            </a:r>
            <a:r>
              <a:rPr spc="-10" dirty="0"/>
              <a:t>:</a:t>
            </a:r>
            <a:r>
              <a:rPr spc="-5" dirty="0"/>
              <a:t> </a:t>
            </a:r>
            <a:r>
              <a:rPr spc="-30" dirty="0"/>
              <a:t>G</a:t>
            </a:r>
            <a:r>
              <a:rPr dirty="0"/>
              <a:t>rid</a:t>
            </a:r>
            <a:r>
              <a:rPr spc="-5" dirty="0"/>
              <a:t> </a:t>
            </a:r>
            <a:r>
              <a:rPr dirty="0"/>
              <a:t>Soccer</a:t>
            </a:r>
            <a:r>
              <a:rPr spc="-5" dirty="0"/>
              <a:t> </a:t>
            </a:r>
            <a:r>
              <a:rPr dirty="0"/>
              <a:t>De</a:t>
            </a:r>
            <a:r>
              <a:rPr spc="-15" dirty="0"/>
              <a:t>f</a:t>
            </a:r>
            <a:r>
              <a:rPr dirty="0"/>
              <a:t>ense</a:t>
            </a:r>
          </a:p>
        </p:txBody>
      </p:sp>
      <p:sp>
        <p:nvSpPr>
          <p:cNvPr id="5" name="Rectangle 4">
            <a:extLst>
              <a:ext uri="{FF2B5EF4-FFF2-40B4-BE49-F238E27FC236}">
                <a16:creationId xmlns:a16="http://schemas.microsoft.com/office/drawing/2014/main" id="{A23FA5FE-2C4D-6E0A-E4AF-929E6158BCE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6" name="Rectangle 5">
            <a:extLst>
              <a:ext uri="{FF2B5EF4-FFF2-40B4-BE49-F238E27FC236}">
                <a16:creationId xmlns:a16="http://schemas.microsoft.com/office/drawing/2014/main" id="{DB05AD3D-0EEC-D637-D7CE-1EFBBDB58BCF}"/>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7" name="Rectangle 6">
            <a:extLst>
              <a:ext uri="{FF2B5EF4-FFF2-40B4-BE49-F238E27FC236}">
                <a16:creationId xmlns:a16="http://schemas.microsoft.com/office/drawing/2014/main" id="{97A21ADE-8E0D-3A23-D967-5A2157060FF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56A32D41-A45A-8210-B4A1-361CE27CB4F2}"/>
              </a:ext>
            </a:extLst>
          </p:cNvPr>
          <p:cNvSpPr>
            <a:spLocks noGrp="1"/>
          </p:cNvSpPr>
          <p:nvPr>
            <p:ph type="sldNum" sz="quarter" idx="7"/>
          </p:nvPr>
        </p:nvSpPr>
        <p:spPr/>
        <p:txBody>
          <a:bodyPr/>
          <a:lstStyle/>
          <a:p>
            <a:fld id="{B6F15528-21DE-4FAA-801E-634DDDAF4B2B}" type="slidenum">
              <a:rPr lang="en-US" smtClean="0"/>
              <a:pPr/>
              <a:t>12</a:t>
            </a:fld>
            <a:r>
              <a:rPr lang="en-US" dirty="0"/>
              <a:t>/14</a:t>
            </a:r>
          </a:p>
        </p:txBody>
      </p:sp>
      <p:pic>
        <p:nvPicPr>
          <p:cNvPr id="8" name="Picture 7">
            <a:extLst>
              <a:ext uri="{FF2B5EF4-FFF2-40B4-BE49-F238E27FC236}">
                <a16:creationId xmlns:a16="http://schemas.microsoft.com/office/drawing/2014/main" id="{A011DFC3-CE52-E06A-E968-073034968E62}"/>
              </a:ext>
            </a:extLst>
          </p:cNvPr>
          <p:cNvPicPr>
            <a:picLocks noChangeAspect="1"/>
          </p:cNvPicPr>
          <p:nvPr/>
        </p:nvPicPr>
        <p:blipFill>
          <a:blip r:embed="rId3"/>
          <a:srcRect t="58626"/>
          <a:stretch/>
        </p:blipFill>
        <p:spPr>
          <a:xfrm>
            <a:off x="385178" y="4114800"/>
            <a:ext cx="8373644" cy="2286000"/>
          </a:xfrm>
          <a:prstGeom prst="rect">
            <a:avLst/>
          </a:prstGeom>
        </p:spPr>
      </p:pic>
      <p:sp>
        <p:nvSpPr>
          <p:cNvPr id="10" name="object 3">
            <a:extLst>
              <a:ext uri="{FF2B5EF4-FFF2-40B4-BE49-F238E27FC236}">
                <a16:creationId xmlns:a16="http://schemas.microsoft.com/office/drawing/2014/main" id="{1801FCD8-A927-BB88-AADC-56A38A9D9AFA}"/>
              </a:ext>
            </a:extLst>
          </p:cNvPr>
          <p:cNvSpPr/>
          <p:nvPr/>
        </p:nvSpPr>
        <p:spPr>
          <a:xfrm>
            <a:off x="6284358" y="1165318"/>
            <a:ext cx="2707242" cy="2035082"/>
          </a:xfrm>
          <a:prstGeom prst="rect">
            <a:avLst/>
          </a:prstGeom>
          <a:blipFill>
            <a:blip r:embed="rId4" cstate="print"/>
            <a:stretch>
              <a:fillRect l="-212587" t="-7491" r="-5629" b="-13716"/>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F80B0586-EF03-AC99-5578-E6EAD617E15F}"/>
              </a:ext>
            </a:extLst>
          </p:cNvPr>
          <p:cNvSpPr txBox="1"/>
          <p:nvPr/>
        </p:nvSpPr>
        <p:spPr>
          <a:xfrm>
            <a:off x="304800" y="1036412"/>
            <a:ext cx="3074881" cy="1200329"/>
          </a:xfrm>
          <a:prstGeom prst="rect">
            <a:avLst/>
          </a:prstGeom>
          <a:noFill/>
        </p:spPr>
        <p:txBody>
          <a:bodyPr wrap="none" rtlCol="0">
            <a:spAutoFit/>
          </a:bodyPr>
          <a:lstStyle/>
          <a:p>
            <a:r>
              <a:rPr lang="en-US" b="1" dirty="0"/>
              <a:t>Game Setup:</a:t>
            </a:r>
          </a:p>
          <a:p>
            <a:pPr marL="742950" lvl="1" indent="-285750">
              <a:buFont typeface="Arial" panose="020B0604020202020204" pitchFamily="34" charset="0"/>
              <a:buChar char="•"/>
            </a:pPr>
            <a:r>
              <a:rPr lang="en-US" dirty="0"/>
              <a:t>2-player soccer</a:t>
            </a:r>
          </a:p>
          <a:p>
            <a:pPr marL="742950" lvl="1" indent="-285750">
              <a:buFont typeface="Arial" panose="020B0604020202020204" pitchFamily="34" charset="0"/>
              <a:buChar char="•"/>
            </a:pPr>
            <a:r>
              <a:rPr lang="en-US" dirty="0"/>
              <a:t>4 x 5 grid</a:t>
            </a:r>
          </a:p>
          <a:p>
            <a:pPr marL="742950" lvl="1" indent="-285750">
              <a:buFont typeface="Arial" panose="020B0604020202020204" pitchFamily="34" charset="0"/>
              <a:buChar char="•"/>
            </a:pPr>
            <a:r>
              <a:rPr lang="en-US" dirty="0"/>
              <a:t>5 actions (N, S, E, </a:t>
            </a:r>
            <a:r>
              <a:rPr lang="en-MY" dirty="0"/>
              <a:t>stop)</a:t>
            </a:r>
          </a:p>
        </p:txBody>
      </p:sp>
      <p:sp>
        <p:nvSpPr>
          <p:cNvPr id="12" name="TextBox 11">
            <a:extLst>
              <a:ext uri="{FF2B5EF4-FFF2-40B4-BE49-F238E27FC236}">
                <a16:creationId xmlns:a16="http://schemas.microsoft.com/office/drawing/2014/main" id="{2133C858-AF25-6455-BB49-4E75CB422B8A}"/>
              </a:ext>
            </a:extLst>
          </p:cNvPr>
          <p:cNvSpPr txBox="1"/>
          <p:nvPr/>
        </p:nvSpPr>
        <p:spPr>
          <a:xfrm>
            <a:off x="304800" y="2484212"/>
            <a:ext cx="6107441" cy="1477328"/>
          </a:xfrm>
          <a:prstGeom prst="rect">
            <a:avLst/>
          </a:prstGeom>
          <a:noFill/>
        </p:spPr>
        <p:txBody>
          <a:bodyPr wrap="none" rtlCol="0">
            <a:spAutoFit/>
          </a:bodyPr>
          <a:lstStyle/>
          <a:p>
            <a:r>
              <a:rPr lang="en-US" b="1" dirty="0"/>
              <a:t>Four policies (trained):</a:t>
            </a:r>
          </a:p>
          <a:p>
            <a:pPr marL="742950" lvl="1" indent="-285750">
              <a:buFont typeface="Arial" panose="020B0604020202020204" pitchFamily="34" charset="0"/>
              <a:buChar char="•"/>
            </a:pPr>
            <a:r>
              <a:rPr lang="en-US" dirty="0" err="1"/>
              <a:t>MiniMax</a:t>
            </a:r>
            <a:r>
              <a:rPr lang="en-US" dirty="0"/>
              <a:t>-Q trained against random opponent (MR)</a:t>
            </a:r>
          </a:p>
          <a:p>
            <a:pPr marL="742950" lvl="1" indent="-285750">
              <a:buFont typeface="Arial" panose="020B0604020202020204" pitchFamily="34" charset="0"/>
              <a:buChar char="•"/>
            </a:pPr>
            <a:r>
              <a:rPr lang="en-US" dirty="0" err="1"/>
              <a:t>MiniMax</a:t>
            </a:r>
            <a:r>
              <a:rPr lang="en-US" dirty="0"/>
              <a:t>-Q trained against </a:t>
            </a:r>
            <a:r>
              <a:rPr lang="en-US" dirty="0" err="1"/>
              <a:t>MiniMax</a:t>
            </a:r>
            <a:r>
              <a:rPr lang="en-US" dirty="0"/>
              <a:t>-Q opponent (MM)</a:t>
            </a:r>
          </a:p>
          <a:p>
            <a:pPr marL="742950" lvl="1" indent="-285750">
              <a:buFont typeface="Arial" panose="020B0604020202020204" pitchFamily="34" charset="0"/>
              <a:buChar char="•"/>
            </a:pPr>
            <a:r>
              <a:rPr lang="en-US" dirty="0"/>
              <a:t>Q trained against random opponent (QR)</a:t>
            </a:r>
          </a:p>
          <a:p>
            <a:pPr marL="742950" lvl="1" indent="-285750">
              <a:buFont typeface="Arial" panose="020B0604020202020204" pitchFamily="34" charset="0"/>
              <a:buChar char="•"/>
            </a:pPr>
            <a:r>
              <a:rPr lang="en-US" dirty="0"/>
              <a:t>Q trained against Q opponent (QQ)</a:t>
            </a:r>
            <a:endParaRPr lang="en-MY"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Convergence</a:t>
            </a:r>
            <a:r>
              <a:rPr spc="-5" dirty="0"/>
              <a:t> </a:t>
            </a:r>
            <a:r>
              <a:rPr dirty="0"/>
              <a:t>and</a:t>
            </a:r>
            <a:r>
              <a:rPr spc="-5" dirty="0"/>
              <a:t> </a:t>
            </a:r>
            <a:r>
              <a:rPr dirty="0"/>
              <a:t>Limi</a:t>
            </a:r>
            <a:r>
              <a:rPr spc="-15" dirty="0"/>
              <a:t>t</a:t>
            </a:r>
            <a:r>
              <a:rPr dirty="0"/>
              <a:t>a</a:t>
            </a:r>
            <a:r>
              <a:rPr spc="-15" dirty="0"/>
              <a:t>t</a:t>
            </a:r>
            <a:r>
              <a:rPr dirty="0"/>
              <a:t>ions</a:t>
            </a:r>
          </a:p>
        </p:txBody>
      </p:sp>
      <p:sp>
        <p:nvSpPr>
          <p:cNvPr id="3" name="object 3"/>
          <p:cNvSpPr/>
          <p:nvPr/>
        </p:nvSpPr>
        <p:spPr>
          <a:xfrm>
            <a:off x="393700" y="1481625"/>
            <a:ext cx="7835163" cy="1120848"/>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406400" y="3139907"/>
            <a:ext cx="7708265" cy="3293209"/>
          </a:xfrm>
          <a:prstGeom prst="rect">
            <a:avLst/>
          </a:prstGeom>
        </p:spPr>
        <p:txBody>
          <a:bodyPr vert="horz" wrap="square" lIns="0" tIns="0" rIns="0" bIns="0" rtlCol="0">
            <a:spAutoFit/>
          </a:bodyPr>
          <a:lstStyle/>
          <a:p>
            <a:pPr marL="241300" indent="-228600">
              <a:lnSpc>
                <a:spcPct val="100000"/>
              </a:lnSpc>
              <a:buFont typeface="Gill Sans MT"/>
              <a:buChar char="•"/>
              <a:tabLst>
                <a:tab pos="241300" algn="l"/>
              </a:tabLst>
            </a:pPr>
            <a:r>
              <a:rPr lang="en-MY" sz="2000" b="1" spc="-20" dirty="0" err="1">
                <a:latin typeface="Gill Sans MT"/>
                <a:cs typeface="Gill Sans MT"/>
              </a:rPr>
              <a:t>MiniMax</a:t>
            </a:r>
            <a:r>
              <a:rPr sz="2000" b="1" spc="-15" dirty="0">
                <a:latin typeface="Gill Sans MT"/>
                <a:cs typeface="Gill Sans MT"/>
              </a:rPr>
              <a:t>-Q</a:t>
            </a:r>
            <a:r>
              <a:rPr sz="2000" spc="-5" dirty="0">
                <a:latin typeface="Gill Sans MT"/>
                <a:cs typeface="Gill Sans MT"/>
              </a:rPr>
              <a:t> </a:t>
            </a:r>
            <a:r>
              <a:rPr sz="2000" spc="-10" dirty="0">
                <a:latin typeface="Gill Sans MT"/>
                <a:cs typeface="Gill Sans MT"/>
              </a:rPr>
              <a:t>co</a:t>
            </a:r>
            <a:r>
              <a:rPr sz="2000" spc="-35" dirty="0">
                <a:latin typeface="Gill Sans MT"/>
                <a:cs typeface="Gill Sans MT"/>
              </a:rPr>
              <a:t>n</a:t>
            </a:r>
            <a:r>
              <a:rPr sz="2000" spc="-50" dirty="0">
                <a:latin typeface="Gill Sans MT"/>
                <a:cs typeface="Gill Sans MT"/>
              </a:rPr>
              <a:t>v</a:t>
            </a:r>
            <a:r>
              <a:rPr sz="2000" spc="-10" dirty="0">
                <a:latin typeface="Gill Sans MT"/>
                <a:cs typeface="Gill Sans MT"/>
              </a:rPr>
              <a:t>erges</a:t>
            </a:r>
            <a:r>
              <a:rPr sz="2000" spc="-5" dirty="0">
                <a:latin typeface="Gill Sans MT"/>
                <a:cs typeface="Gill Sans MT"/>
              </a:rPr>
              <a:t> </a:t>
            </a:r>
            <a:r>
              <a:rPr sz="2000" dirty="0">
                <a:latin typeface="Gill Sans MT"/>
                <a:cs typeface="Gill Sans MT"/>
              </a:rPr>
              <a:t>but</a:t>
            </a:r>
            <a:r>
              <a:rPr sz="2000" spc="-5" dirty="0">
                <a:latin typeface="Gill Sans MT"/>
                <a:cs typeface="Gill Sans MT"/>
              </a:rPr>
              <a:t> </a:t>
            </a:r>
            <a:r>
              <a:rPr sz="2000" spc="-15" dirty="0">
                <a:latin typeface="Gill Sans MT"/>
                <a:cs typeface="Gill Sans MT"/>
              </a:rPr>
              <a:t>o</a:t>
            </a:r>
            <a:r>
              <a:rPr sz="2000" dirty="0">
                <a:latin typeface="Gill Sans MT"/>
                <a:cs typeface="Gill Sans MT"/>
              </a:rPr>
              <a:t>n</a:t>
            </a:r>
            <a:r>
              <a:rPr sz="2000" spc="-20" dirty="0">
                <a:latin typeface="Gill Sans MT"/>
                <a:cs typeface="Gill Sans MT"/>
              </a:rPr>
              <a:t>l</a:t>
            </a:r>
            <a:r>
              <a:rPr sz="2000" spc="-10" dirty="0">
                <a:latin typeface="Gill Sans MT"/>
                <a:cs typeface="Gill Sans MT"/>
              </a:rPr>
              <a:t>y</a:t>
            </a:r>
            <a:r>
              <a:rPr sz="2000" spc="-5" dirty="0">
                <a:latin typeface="Gill Sans MT"/>
                <a:cs typeface="Gill Sans MT"/>
              </a:rPr>
              <a:t> </a:t>
            </a:r>
            <a:r>
              <a:rPr sz="2000" dirty="0">
                <a:latin typeface="Gill Sans MT"/>
                <a:cs typeface="Gill Sans MT"/>
              </a:rPr>
              <a:t>in</a:t>
            </a:r>
            <a:r>
              <a:rPr sz="2000" spc="-5" dirty="0">
                <a:latin typeface="Gill Sans MT"/>
                <a:cs typeface="Gill Sans MT"/>
              </a:rPr>
              <a:t> </a:t>
            </a:r>
            <a:r>
              <a:rPr sz="2000" dirty="0">
                <a:latin typeface="Gill Sans MT"/>
                <a:cs typeface="Gill Sans MT"/>
              </a:rPr>
              <a:t>2-pl</a:t>
            </a:r>
            <a:r>
              <a:rPr sz="2000" spc="-95" dirty="0">
                <a:latin typeface="Gill Sans MT"/>
                <a:cs typeface="Gill Sans MT"/>
              </a:rPr>
              <a:t>a</a:t>
            </a:r>
            <a:r>
              <a:rPr sz="2000" spc="-50" dirty="0">
                <a:latin typeface="Gill Sans MT"/>
                <a:cs typeface="Gill Sans MT"/>
              </a:rPr>
              <a:t>y</a:t>
            </a:r>
            <a:r>
              <a:rPr sz="2000" dirty="0">
                <a:latin typeface="Gill Sans MT"/>
                <a:cs typeface="Gill Sans MT"/>
              </a:rPr>
              <a:t>er</a:t>
            </a:r>
            <a:r>
              <a:rPr sz="2000" spc="-5" dirty="0">
                <a:latin typeface="Gill Sans MT"/>
                <a:cs typeface="Gill Sans MT"/>
              </a:rPr>
              <a:t> </a:t>
            </a:r>
            <a:r>
              <a:rPr sz="2000" spc="-10" dirty="0">
                <a:latin typeface="Gill Sans MT"/>
                <a:cs typeface="Gill Sans MT"/>
              </a:rPr>
              <a:t>ze</a:t>
            </a:r>
            <a:r>
              <a:rPr sz="2000" spc="-60" dirty="0">
                <a:latin typeface="Gill Sans MT"/>
                <a:cs typeface="Gill Sans MT"/>
              </a:rPr>
              <a:t>r</a:t>
            </a:r>
            <a:r>
              <a:rPr sz="2000" spc="-15" dirty="0">
                <a:latin typeface="Gill Sans MT"/>
                <a:cs typeface="Gill Sans MT"/>
              </a:rPr>
              <a:t>o</a:t>
            </a:r>
            <a:r>
              <a:rPr sz="2000" dirty="0">
                <a:latin typeface="Gill Sans MT"/>
                <a:cs typeface="Gill Sans MT"/>
              </a:rPr>
              <a:t>-</a:t>
            </a:r>
            <a:r>
              <a:rPr sz="2000" spc="-15" dirty="0">
                <a:latin typeface="Gill Sans MT"/>
                <a:cs typeface="Gill Sans MT"/>
              </a:rPr>
              <a:t>sum</a:t>
            </a:r>
            <a:r>
              <a:rPr sz="2000" spc="-5" dirty="0">
                <a:latin typeface="Gill Sans MT"/>
                <a:cs typeface="Gill Sans MT"/>
              </a:rPr>
              <a:t> </a:t>
            </a:r>
            <a:r>
              <a:rPr sz="2000" dirty="0">
                <a:latin typeface="Gill Sans MT"/>
                <a:cs typeface="Gill Sans MT"/>
              </a:rPr>
              <a:t>G</a:t>
            </a:r>
            <a:r>
              <a:rPr sz="2000" spc="-15" dirty="0">
                <a:latin typeface="Gill Sans MT"/>
                <a:cs typeface="Gill Sans MT"/>
              </a:rPr>
              <a:t>ames</a:t>
            </a:r>
            <a:endParaRPr sz="2000" dirty="0">
              <a:latin typeface="Gill Sans MT"/>
              <a:cs typeface="Gill Sans MT"/>
            </a:endParaRPr>
          </a:p>
          <a:p>
            <a:pPr>
              <a:lnSpc>
                <a:spcPct val="100000"/>
              </a:lnSpc>
              <a:spcBef>
                <a:spcPts val="2"/>
              </a:spcBef>
              <a:buFont typeface="Gill Sans MT"/>
              <a:buChar char="•"/>
            </a:pPr>
            <a:endParaRPr sz="2050" dirty="0">
              <a:latin typeface="Times New Roman"/>
              <a:cs typeface="Times New Roman"/>
            </a:endParaRPr>
          </a:p>
          <a:p>
            <a:pPr marL="241300" marR="5080" indent="-228600">
              <a:lnSpc>
                <a:spcPts val="2300"/>
              </a:lnSpc>
              <a:buFont typeface="Gill Sans MT"/>
              <a:buChar char="•"/>
              <a:tabLst>
                <a:tab pos="241300" algn="l"/>
              </a:tabLst>
            </a:pPr>
            <a:r>
              <a:rPr sz="2000" b="1" dirty="0">
                <a:latin typeface="Gill Sans MT"/>
                <a:cs typeface="Gill Sans MT"/>
              </a:rPr>
              <a:t>Fri</a:t>
            </a:r>
            <a:r>
              <a:rPr sz="2000" b="1" spc="-10" dirty="0">
                <a:latin typeface="Gill Sans MT"/>
                <a:cs typeface="Gill Sans MT"/>
              </a:rPr>
              <a:t>end-</a:t>
            </a:r>
            <a:r>
              <a:rPr sz="2000" b="1" spc="-15" dirty="0">
                <a:latin typeface="Gill Sans MT"/>
                <a:cs typeface="Gill Sans MT"/>
              </a:rPr>
              <a:t>o</a:t>
            </a:r>
            <a:r>
              <a:rPr sz="2000" b="1" spc="-175" dirty="0">
                <a:latin typeface="Gill Sans MT"/>
                <a:cs typeface="Gill Sans MT"/>
              </a:rPr>
              <a:t>r</a:t>
            </a:r>
            <a:r>
              <a:rPr sz="2000" b="1" dirty="0">
                <a:latin typeface="Gill Sans MT"/>
                <a:cs typeface="Gill Sans MT"/>
              </a:rPr>
              <a:t>-</a:t>
            </a:r>
            <a:r>
              <a:rPr sz="2000" b="1" spc="-35" dirty="0">
                <a:latin typeface="Gill Sans MT"/>
                <a:cs typeface="Gill Sans MT"/>
              </a:rPr>
              <a:t>F</a:t>
            </a:r>
            <a:r>
              <a:rPr sz="2000" b="1" spc="-15" dirty="0">
                <a:latin typeface="Gill Sans MT"/>
                <a:cs typeface="Gill Sans MT"/>
              </a:rPr>
              <a:t>o</a:t>
            </a:r>
            <a:r>
              <a:rPr sz="2000" b="1" dirty="0">
                <a:latin typeface="Gill Sans MT"/>
                <a:cs typeface="Gill Sans MT"/>
              </a:rPr>
              <a:t>e-Q</a:t>
            </a:r>
            <a:r>
              <a:rPr sz="2000" spc="-5" dirty="0">
                <a:latin typeface="Gill Sans MT"/>
                <a:cs typeface="Gill Sans MT"/>
              </a:rPr>
              <a:t> </a:t>
            </a:r>
            <a:r>
              <a:rPr sz="2000" spc="-10" dirty="0">
                <a:latin typeface="Gill Sans MT"/>
                <a:cs typeface="Gill Sans MT"/>
              </a:rPr>
              <a:t>extends</a:t>
            </a:r>
            <a:r>
              <a:rPr sz="2000" spc="-5" dirty="0">
                <a:latin typeface="Gill Sans MT"/>
                <a:cs typeface="Gill Sans MT"/>
              </a:rPr>
              <a:t> </a:t>
            </a:r>
            <a:r>
              <a:rPr sz="2000" dirty="0">
                <a:latin typeface="Gill Sans MT"/>
                <a:cs typeface="Gill Sans MT"/>
              </a:rPr>
              <a:t>thi</a:t>
            </a:r>
            <a:r>
              <a:rPr sz="2000" spc="-10" dirty="0">
                <a:latin typeface="Gill Sans MT"/>
                <a:cs typeface="Gill Sans MT"/>
              </a:rPr>
              <a:t>s</a:t>
            </a:r>
            <a:r>
              <a:rPr sz="2000" spc="-5" dirty="0">
                <a:latin typeface="Gill Sans MT"/>
                <a:cs typeface="Gill Sans MT"/>
              </a:rPr>
              <a:t> </a:t>
            </a:r>
            <a:r>
              <a:rPr sz="2000" spc="-10" dirty="0">
                <a:latin typeface="Gill Sans MT"/>
                <a:cs typeface="Gill Sans MT"/>
              </a:rPr>
              <a:t>to</a:t>
            </a:r>
            <a:r>
              <a:rPr sz="2000" spc="-5" dirty="0">
                <a:latin typeface="Gill Sans MT"/>
                <a:cs typeface="Gill Sans MT"/>
              </a:rPr>
              <a:t> </a:t>
            </a:r>
            <a:r>
              <a:rPr sz="2000" spc="-10" dirty="0">
                <a:latin typeface="Gill Sans MT"/>
                <a:cs typeface="Gill Sans MT"/>
              </a:rPr>
              <a:t>genera</a:t>
            </a:r>
            <a:r>
              <a:rPr sz="2000" dirty="0">
                <a:latin typeface="Gill Sans MT"/>
                <a:cs typeface="Gill Sans MT"/>
              </a:rPr>
              <a:t>l</a:t>
            </a:r>
            <a:r>
              <a:rPr sz="2000" spc="-5" dirty="0">
                <a:latin typeface="Gill Sans MT"/>
                <a:cs typeface="Gill Sans MT"/>
              </a:rPr>
              <a:t> </a:t>
            </a:r>
            <a:r>
              <a:rPr sz="2000" spc="-15" dirty="0">
                <a:latin typeface="Gill Sans MT"/>
                <a:cs typeface="Gill Sans MT"/>
              </a:rPr>
              <a:t>sum</a:t>
            </a:r>
            <a:r>
              <a:rPr sz="2000" spc="-5" dirty="0">
                <a:latin typeface="Gill Sans MT"/>
                <a:cs typeface="Gill Sans MT"/>
              </a:rPr>
              <a:t> </a:t>
            </a:r>
            <a:r>
              <a:rPr sz="2000" dirty="0">
                <a:latin typeface="Gill Sans MT"/>
                <a:cs typeface="Gill Sans MT"/>
              </a:rPr>
              <a:t>n-pl</a:t>
            </a:r>
            <a:r>
              <a:rPr sz="2000" spc="-95" dirty="0">
                <a:latin typeface="Gill Sans MT"/>
                <a:cs typeface="Gill Sans MT"/>
              </a:rPr>
              <a:t>a</a:t>
            </a:r>
            <a:r>
              <a:rPr sz="2000" spc="-50" dirty="0">
                <a:latin typeface="Gill Sans MT"/>
                <a:cs typeface="Gill Sans MT"/>
              </a:rPr>
              <a:t>y</a:t>
            </a:r>
            <a:r>
              <a:rPr sz="2000" dirty="0">
                <a:latin typeface="Gill Sans MT"/>
                <a:cs typeface="Gill Sans MT"/>
              </a:rPr>
              <a:t>er</a:t>
            </a:r>
            <a:r>
              <a:rPr sz="2000" spc="-5" dirty="0">
                <a:latin typeface="Gill Sans MT"/>
                <a:cs typeface="Gill Sans MT"/>
              </a:rPr>
              <a:t> </a:t>
            </a:r>
            <a:r>
              <a:rPr sz="2000" spc="-10" dirty="0">
                <a:latin typeface="Gill Sans MT"/>
                <a:cs typeface="Gill Sans MT"/>
              </a:rPr>
              <a:t>games</a:t>
            </a:r>
            <a:r>
              <a:rPr sz="2000" dirty="0">
                <a:latin typeface="Gill Sans MT"/>
                <a:cs typeface="Gill Sans MT"/>
              </a:rPr>
              <a:t>,</a:t>
            </a:r>
            <a:r>
              <a:rPr sz="2000" spc="-204" dirty="0">
                <a:latin typeface="Gill Sans MT"/>
                <a:cs typeface="Gill Sans MT"/>
              </a:rPr>
              <a:t> </a:t>
            </a:r>
            <a:r>
              <a:rPr sz="2000" dirty="0">
                <a:latin typeface="Gill Sans MT"/>
                <a:cs typeface="Gill Sans MT"/>
              </a:rPr>
              <a:t>but</a:t>
            </a:r>
            <a:r>
              <a:rPr sz="2000" spc="-5" dirty="0">
                <a:latin typeface="Gill Sans MT"/>
                <a:cs typeface="Gill Sans MT"/>
              </a:rPr>
              <a:t> </a:t>
            </a:r>
            <a:r>
              <a:rPr sz="2000" dirty="0">
                <a:latin typeface="Gill Sans MT"/>
                <a:cs typeface="Gill Sans MT"/>
              </a:rPr>
              <a:t>the </a:t>
            </a:r>
            <a:r>
              <a:rPr sz="2000" spc="-15" dirty="0">
                <a:latin typeface="Gill Sans MT"/>
                <a:cs typeface="Gill Sans MT"/>
              </a:rPr>
              <a:t>o</a:t>
            </a:r>
            <a:r>
              <a:rPr sz="2000" dirty="0">
                <a:latin typeface="Gill Sans MT"/>
                <a:cs typeface="Gill Sans MT"/>
              </a:rPr>
              <a:t>ther</a:t>
            </a:r>
            <a:r>
              <a:rPr sz="2000" spc="-5" dirty="0">
                <a:latin typeface="Gill Sans MT"/>
                <a:cs typeface="Gill Sans MT"/>
              </a:rPr>
              <a:t> </a:t>
            </a:r>
            <a:r>
              <a:rPr sz="2000" dirty="0">
                <a:latin typeface="Gill Sans MT"/>
                <a:cs typeface="Gill Sans MT"/>
              </a:rPr>
              <a:t>pl</a:t>
            </a:r>
            <a:r>
              <a:rPr sz="2000" spc="-95" dirty="0">
                <a:latin typeface="Gill Sans MT"/>
                <a:cs typeface="Gill Sans MT"/>
              </a:rPr>
              <a:t>a</a:t>
            </a:r>
            <a:r>
              <a:rPr sz="2000" spc="-50" dirty="0">
                <a:latin typeface="Gill Sans MT"/>
                <a:cs typeface="Gill Sans MT"/>
              </a:rPr>
              <a:t>y</a:t>
            </a:r>
            <a:r>
              <a:rPr sz="2000" spc="-10" dirty="0">
                <a:latin typeface="Gill Sans MT"/>
                <a:cs typeface="Gill Sans MT"/>
              </a:rPr>
              <a:t>ers</a:t>
            </a:r>
            <a:r>
              <a:rPr sz="2000" spc="-5" dirty="0">
                <a:latin typeface="Gill Sans MT"/>
                <a:cs typeface="Gill Sans MT"/>
              </a:rPr>
              <a:t> </a:t>
            </a:r>
            <a:r>
              <a:rPr sz="2000" spc="-40" dirty="0">
                <a:latin typeface="Gill Sans MT"/>
                <a:cs typeface="Gill Sans MT"/>
              </a:rPr>
              <a:t>m</a:t>
            </a:r>
            <a:r>
              <a:rPr sz="2000" spc="-10" dirty="0">
                <a:latin typeface="Gill Sans MT"/>
                <a:cs typeface="Gill Sans MT"/>
              </a:rPr>
              <a:t>us</a:t>
            </a:r>
            <a:r>
              <a:rPr sz="2000" dirty="0">
                <a:latin typeface="Gill Sans MT"/>
                <a:cs typeface="Gill Sans MT"/>
              </a:rPr>
              <a:t>t</a:t>
            </a:r>
            <a:r>
              <a:rPr sz="2000" spc="-5" dirty="0">
                <a:latin typeface="Gill Sans MT"/>
                <a:cs typeface="Gill Sans MT"/>
              </a:rPr>
              <a:t> </a:t>
            </a:r>
            <a:r>
              <a:rPr sz="2000" dirty="0">
                <a:latin typeface="Gill Sans MT"/>
                <a:cs typeface="Gill Sans MT"/>
              </a:rPr>
              <a:t>be</a:t>
            </a:r>
            <a:r>
              <a:rPr sz="2000" spc="-5" dirty="0">
                <a:latin typeface="Gill Sans MT"/>
                <a:cs typeface="Gill Sans MT"/>
              </a:rPr>
              <a:t> </a:t>
            </a:r>
            <a:r>
              <a:rPr sz="2000" spc="-10" dirty="0">
                <a:latin typeface="Gill Sans MT"/>
                <a:cs typeface="Gill Sans MT"/>
              </a:rPr>
              <a:t>kn</a:t>
            </a:r>
            <a:r>
              <a:rPr sz="2000" spc="-35" dirty="0">
                <a:latin typeface="Gill Sans MT"/>
                <a:cs typeface="Gill Sans MT"/>
              </a:rPr>
              <a:t>o</a:t>
            </a:r>
            <a:r>
              <a:rPr sz="2000" dirty="0">
                <a:latin typeface="Gill Sans MT"/>
                <a:cs typeface="Gill Sans MT"/>
              </a:rPr>
              <a:t>wn</a:t>
            </a:r>
            <a:r>
              <a:rPr sz="2000" spc="-5" dirty="0">
                <a:latin typeface="Gill Sans MT"/>
                <a:cs typeface="Gill Sans MT"/>
              </a:rPr>
              <a:t> </a:t>
            </a:r>
            <a:r>
              <a:rPr sz="2000" spc="-10" dirty="0">
                <a:latin typeface="Gill Sans MT"/>
                <a:cs typeface="Gill Sans MT"/>
              </a:rPr>
              <a:t>to</a:t>
            </a:r>
            <a:r>
              <a:rPr sz="2000" spc="-5" dirty="0">
                <a:latin typeface="Gill Sans MT"/>
                <a:cs typeface="Gill Sans MT"/>
              </a:rPr>
              <a:t> </a:t>
            </a:r>
            <a:r>
              <a:rPr sz="2000" dirty="0">
                <a:latin typeface="Gill Sans MT"/>
                <a:cs typeface="Gill Sans MT"/>
              </a:rPr>
              <a:t>the</a:t>
            </a:r>
            <a:r>
              <a:rPr sz="2000" spc="-5" dirty="0">
                <a:latin typeface="Gill Sans MT"/>
                <a:cs typeface="Gill Sans MT"/>
              </a:rPr>
              <a:t> </a:t>
            </a:r>
            <a:r>
              <a:rPr sz="2000" spc="-10" dirty="0">
                <a:latin typeface="Gill Sans MT"/>
                <a:cs typeface="Gill Sans MT"/>
              </a:rPr>
              <a:t>ag</a:t>
            </a:r>
            <a:r>
              <a:rPr sz="2000" dirty="0">
                <a:latin typeface="Gill Sans MT"/>
                <a:cs typeface="Gill Sans MT"/>
              </a:rPr>
              <a:t>ent</a:t>
            </a:r>
            <a:r>
              <a:rPr sz="2000" spc="-5" dirty="0">
                <a:latin typeface="Gill Sans MT"/>
                <a:cs typeface="Gill Sans MT"/>
              </a:rPr>
              <a:t> </a:t>
            </a:r>
            <a:r>
              <a:rPr sz="2000" spc="-10" dirty="0">
                <a:latin typeface="Gill Sans MT"/>
                <a:cs typeface="Gill Sans MT"/>
              </a:rPr>
              <a:t>as</a:t>
            </a:r>
            <a:r>
              <a:rPr sz="2000" spc="-5" dirty="0">
                <a:latin typeface="Gill Sans MT"/>
                <a:cs typeface="Gill Sans MT"/>
              </a:rPr>
              <a:t> </a:t>
            </a:r>
            <a:r>
              <a:rPr sz="2000" dirty="0">
                <a:latin typeface="Gill Sans MT"/>
                <a:cs typeface="Gill Sans MT"/>
              </a:rPr>
              <a:t>either</a:t>
            </a:r>
            <a:r>
              <a:rPr sz="2000" spc="-204" dirty="0">
                <a:latin typeface="Gill Sans MT"/>
                <a:cs typeface="Gill Sans MT"/>
              </a:rPr>
              <a:t> </a:t>
            </a:r>
            <a:r>
              <a:rPr sz="2000" spc="-10" dirty="0">
                <a:latin typeface="Gill Sans MT"/>
                <a:cs typeface="Gill Sans MT"/>
              </a:rPr>
              <a:t>“</a:t>
            </a:r>
            <a:r>
              <a:rPr sz="2000" dirty="0">
                <a:latin typeface="Gill Sans MT"/>
                <a:cs typeface="Gill Sans MT"/>
              </a:rPr>
              <a:t>fri</a:t>
            </a:r>
            <a:r>
              <a:rPr sz="2000" spc="-10" dirty="0">
                <a:latin typeface="Gill Sans MT"/>
                <a:cs typeface="Gill Sans MT"/>
              </a:rPr>
              <a:t>end”</a:t>
            </a:r>
            <a:r>
              <a:rPr sz="2000" spc="-5" dirty="0">
                <a:latin typeface="Gill Sans MT"/>
                <a:cs typeface="Gill Sans MT"/>
              </a:rPr>
              <a:t> </a:t>
            </a:r>
            <a:r>
              <a:rPr sz="2000" dirty="0">
                <a:latin typeface="Gill Sans MT"/>
                <a:cs typeface="Gill Sans MT"/>
              </a:rPr>
              <a:t>(pl</a:t>
            </a:r>
            <a:r>
              <a:rPr sz="2000" spc="-95" dirty="0">
                <a:latin typeface="Gill Sans MT"/>
                <a:cs typeface="Gill Sans MT"/>
              </a:rPr>
              <a:t>a</a:t>
            </a:r>
            <a:r>
              <a:rPr sz="2000" dirty="0">
                <a:latin typeface="Gill Sans MT"/>
                <a:cs typeface="Gill Sans MT"/>
              </a:rPr>
              <a:t>yi</a:t>
            </a:r>
            <a:r>
              <a:rPr sz="2000" spc="-10" dirty="0">
                <a:latin typeface="Gill Sans MT"/>
                <a:cs typeface="Gill Sans MT"/>
              </a:rPr>
              <a:t>ng</a:t>
            </a:r>
            <a:r>
              <a:rPr sz="2000" spc="-5" dirty="0">
                <a:latin typeface="Gill Sans MT"/>
                <a:cs typeface="Gill Sans MT"/>
              </a:rPr>
              <a:t> </a:t>
            </a:r>
            <a:r>
              <a:rPr sz="2000" spc="-20" dirty="0">
                <a:latin typeface="Gill Sans MT"/>
                <a:cs typeface="Gill Sans MT"/>
              </a:rPr>
              <a:t>f</a:t>
            </a:r>
            <a:r>
              <a:rPr sz="2000" spc="-10" dirty="0">
                <a:latin typeface="Gill Sans MT"/>
                <a:cs typeface="Gill Sans MT"/>
              </a:rPr>
              <a:t>or coo</a:t>
            </a:r>
            <a:r>
              <a:rPr sz="2000" spc="-45" dirty="0">
                <a:latin typeface="Gill Sans MT"/>
                <a:cs typeface="Gill Sans MT"/>
              </a:rPr>
              <a:t>r</a:t>
            </a:r>
            <a:r>
              <a:rPr sz="2000" spc="-15" dirty="0">
                <a:latin typeface="Gill Sans MT"/>
                <a:cs typeface="Gill Sans MT"/>
              </a:rPr>
              <a:t>d</a:t>
            </a:r>
            <a:r>
              <a:rPr sz="2000" dirty="0">
                <a:latin typeface="Gill Sans MT"/>
                <a:cs typeface="Gill Sans MT"/>
              </a:rPr>
              <a:t>i</a:t>
            </a:r>
            <a:r>
              <a:rPr sz="2000" spc="-10" dirty="0">
                <a:latin typeface="Gill Sans MT"/>
                <a:cs typeface="Gill Sans MT"/>
              </a:rPr>
              <a:t>nated</a:t>
            </a:r>
            <a:r>
              <a:rPr sz="2000" spc="-5" dirty="0">
                <a:latin typeface="Gill Sans MT"/>
                <a:cs typeface="Gill Sans MT"/>
              </a:rPr>
              <a:t> </a:t>
            </a:r>
            <a:r>
              <a:rPr sz="2000" dirty="0">
                <a:latin typeface="Gill Sans MT"/>
                <a:cs typeface="Gill Sans MT"/>
              </a:rPr>
              <a:t>equilibrium)</a:t>
            </a:r>
            <a:r>
              <a:rPr sz="2000" spc="-5" dirty="0">
                <a:latin typeface="Gill Sans MT"/>
                <a:cs typeface="Gill Sans MT"/>
              </a:rPr>
              <a:t> </a:t>
            </a:r>
            <a:r>
              <a:rPr sz="2000" spc="-10" dirty="0">
                <a:latin typeface="Gill Sans MT"/>
                <a:cs typeface="Gill Sans MT"/>
              </a:rPr>
              <a:t>or</a:t>
            </a:r>
            <a:r>
              <a:rPr sz="2000" spc="-204" dirty="0">
                <a:latin typeface="Gill Sans MT"/>
                <a:cs typeface="Gill Sans MT"/>
              </a:rPr>
              <a:t> </a:t>
            </a:r>
            <a:r>
              <a:rPr sz="2000" spc="-10" dirty="0">
                <a:latin typeface="Gill Sans MT"/>
                <a:cs typeface="Gill Sans MT"/>
              </a:rPr>
              <a:t>“</a:t>
            </a:r>
            <a:r>
              <a:rPr sz="2000" spc="-20" dirty="0">
                <a:latin typeface="Gill Sans MT"/>
                <a:cs typeface="Gill Sans MT"/>
              </a:rPr>
              <a:t>f</a:t>
            </a:r>
            <a:r>
              <a:rPr sz="2000" spc="-10" dirty="0">
                <a:latin typeface="Gill Sans MT"/>
                <a:cs typeface="Gill Sans MT"/>
              </a:rPr>
              <a:t>oe”</a:t>
            </a:r>
            <a:r>
              <a:rPr sz="2000" spc="-5" dirty="0">
                <a:latin typeface="Gill Sans MT"/>
                <a:cs typeface="Gill Sans MT"/>
              </a:rPr>
              <a:t> </a:t>
            </a:r>
            <a:r>
              <a:rPr sz="2000" dirty="0">
                <a:latin typeface="Gill Sans MT"/>
                <a:cs typeface="Gill Sans MT"/>
              </a:rPr>
              <a:t>(pl</a:t>
            </a:r>
            <a:r>
              <a:rPr sz="2000" spc="-95" dirty="0">
                <a:latin typeface="Gill Sans MT"/>
                <a:cs typeface="Gill Sans MT"/>
              </a:rPr>
              <a:t>a</a:t>
            </a:r>
            <a:r>
              <a:rPr sz="2000" dirty="0">
                <a:latin typeface="Gill Sans MT"/>
                <a:cs typeface="Gill Sans MT"/>
              </a:rPr>
              <a:t>yi</a:t>
            </a:r>
            <a:r>
              <a:rPr sz="2000" spc="-10" dirty="0">
                <a:latin typeface="Gill Sans MT"/>
                <a:cs typeface="Gill Sans MT"/>
              </a:rPr>
              <a:t>ng</a:t>
            </a:r>
            <a:r>
              <a:rPr sz="2000" spc="-5" dirty="0">
                <a:latin typeface="Gill Sans MT"/>
                <a:cs typeface="Gill Sans MT"/>
              </a:rPr>
              <a:t> </a:t>
            </a:r>
            <a:r>
              <a:rPr sz="2000" spc="-20" dirty="0">
                <a:latin typeface="Gill Sans MT"/>
                <a:cs typeface="Gill Sans MT"/>
              </a:rPr>
              <a:t>f</a:t>
            </a:r>
            <a:r>
              <a:rPr sz="2000" spc="-10" dirty="0">
                <a:latin typeface="Gill Sans MT"/>
                <a:cs typeface="Gill Sans MT"/>
              </a:rPr>
              <a:t>or</a:t>
            </a:r>
            <a:r>
              <a:rPr sz="2000" spc="-5" dirty="0">
                <a:latin typeface="Gill Sans MT"/>
                <a:cs typeface="Gill Sans MT"/>
              </a:rPr>
              <a:t> </a:t>
            </a:r>
            <a:r>
              <a:rPr sz="2000" spc="-10" dirty="0">
                <a:latin typeface="Gill Sans MT"/>
                <a:cs typeface="Gill Sans MT"/>
              </a:rPr>
              <a:t>ad</a:t>
            </a:r>
            <a:r>
              <a:rPr sz="2000" spc="-50" dirty="0">
                <a:latin typeface="Gill Sans MT"/>
                <a:cs typeface="Gill Sans MT"/>
              </a:rPr>
              <a:t>v</a:t>
            </a:r>
            <a:r>
              <a:rPr sz="2000" spc="-10" dirty="0">
                <a:latin typeface="Gill Sans MT"/>
                <a:cs typeface="Gill Sans MT"/>
              </a:rPr>
              <a:t>ersa</a:t>
            </a:r>
            <a:r>
              <a:rPr sz="2000" dirty="0">
                <a:latin typeface="Gill Sans MT"/>
                <a:cs typeface="Gill Sans MT"/>
              </a:rPr>
              <a:t>ri</a:t>
            </a:r>
            <a:r>
              <a:rPr sz="2000" spc="-10" dirty="0">
                <a:latin typeface="Gill Sans MT"/>
                <a:cs typeface="Gill Sans MT"/>
              </a:rPr>
              <a:t>a</a:t>
            </a:r>
            <a:r>
              <a:rPr sz="2000" dirty="0">
                <a:latin typeface="Gill Sans MT"/>
                <a:cs typeface="Gill Sans MT"/>
              </a:rPr>
              <a:t>l</a:t>
            </a:r>
            <a:r>
              <a:rPr sz="2000" spc="-5" dirty="0">
                <a:latin typeface="Gill Sans MT"/>
                <a:cs typeface="Gill Sans MT"/>
              </a:rPr>
              <a:t> </a:t>
            </a:r>
            <a:r>
              <a:rPr sz="2000" dirty="0">
                <a:latin typeface="Gill Sans MT"/>
                <a:cs typeface="Gill Sans MT"/>
              </a:rPr>
              <a:t>equilibrium),</a:t>
            </a:r>
            <a:r>
              <a:rPr sz="2000" spc="-204" dirty="0">
                <a:latin typeface="Gill Sans MT"/>
                <a:cs typeface="Gill Sans MT"/>
              </a:rPr>
              <a:t> </a:t>
            </a:r>
            <a:r>
              <a:rPr sz="2000" spc="-10" dirty="0">
                <a:latin typeface="Gill Sans MT"/>
                <a:cs typeface="Gill Sans MT"/>
              </a:rPr>
              <a:t>so </a:t>
            </a:r>
            <a:r>
              <a:rPr sz="2000" dirty="0">
                <a:latin typeface="Gill Sans MT"/>
                <a:cs typeface="Gill Sans MT"/>
              </a:rPr>
              <a:t>in</a:t>
            </a:r>
            <a:r>
              <a:rPr sz="2000" spc="-5" dirty="0">
                <a:latin typeface="Gill Sans MT"/>
                <a:cs typeface="Gill Sans MT"/>
              </a:rPr>
              <a:t> </a:t>
            </a:r>
            <a:r>
              <a:rPr sz="2000" spc="-10" dirty="0">
                <a:latin typeface="Gill Sans MT"/>
                <a:cs typeface="Gill Sans MT"/>
              </a:rPr>
              <a:t>a</a:t>
            </a:r>
            <a:r>
              <a:rPr sz="2000" spc="-5" dirty="0">
                <a:latin typeface="Gill Sans MT"/>
                <a:cs typeface="Gill Sans MT"/>
              </a:rPr>
              <a:t> </a:t>
            </a:r>
            <a:r>
              <a:rPr sz="2000" spc="-10" dirty="0">
                <a:latin typeface="Gill Sans MT"/>
                <a:cs typeface="Gill Sans MT"/>
              </a:rPr>
              <a:t>sens</a:t>
            </a:r>
            <a:r>
              <a:rPr sz="2000" dirty="0">
                <a:latin typeface="Gill Sans MT"/>
                <a:cs typeface="Gill Sans MT"/>
              </a:rPr>
              <a:t>e</a:t>
            </a:r>
            <a:r>
              <a:rPr sz="2000" spc="-5" dirty="0">
                <a:latin typeface="Gill Sans MT"/>
                <a:cs typeface="Gill Sans MT"/>
              </a:rPr>
              <a:t> </a:t>
            </a:r>
            <a:r>
              <a:rPr sz="2000" dirty="0">
                <a:latin typeface="Gill Sans MT"/>
                <a:cs typeface="Gill Sans MT"/>
              </a:rPr>
              <a:t>thi</a:t>
            </a:r>
            <a:r>
              <a:rPr sz="2000" spc="-10" dirty="0">
                <a:latin typeface="Gill Sans MT"/>
                <a:cs typeface="Gill Sans MT"/>
              </a:rPr>
              <a:t>s</a:t>
            </a:r>
            <a:r>
              <a:rPr sz="2000" spc="-5" dirty="0">
                <a:latin typeface="Gill Sans MT"/>
                <a:cs typeface="Gill Sans MT"/>
              </a:rPr>
              <a:t> </a:t>
            </a:r>
            <a:r>
              <a:rPr sz="2000" dirty="0">
                <a:latin typeface="Gill Sans MT"/>
                <a:cs typeface="Gill Sans MT"/>
              </a:rPr>
              <a:t>i</a:t>
            </a:r>
            <a:r>
              <a:rPr sz="2000" spc="-10" dirty="0">
                <a:latin typeface="Gill Sans MT"/>
                <a:cs typeface="Gill Sans MT"/>
              </a:rPr>
              <a:t>s</a:t>
            </a:r>
            <a:r>
              <a:rPr sz="2000" spc="-5" dirty="0">
                <a:latin typeface="Gill Sans MT"/>
                <a:cs typeface="Gill Sans MT"/>
              </a:rPr>
              <a:t> </a:t>
            </a:r>
            <a:r>
              <a:rPr sz="2000" spc="-10" dirty="0">
                <a:latin typeface="Gill Sans MT"/>
                <a:cs typeface="Gill Sans MT"/>
              </a:rPr>
              <a:t>a</a:t>
            </a:r>
            <a:r>
              <a:rPr sz="2000" spc="-5" dirty="0">
                <a:latin typeface="Gill Sans MT"/>
                <a:cs typeface="Gill Sans MT"/>
              </a:rPr>
              <a:t> </a:t>
            </a:r>
            <a:r>
              <a:rPr sz="2000" dirty="0">
                <a:latin typeface="Gill Sans MT"/>
                <a:cs typeface="Gill Sans MT"/>
              </a:rPr>
              <a:t>2-pl</a:t>
            </a:r>
            <a:r>
              <a:rPr sz="2000" spc="-95" dirty="0">
                <a:latin typeface="Gill Sans MT"/>
                <a:cs typeface="Gill Sans MT"/>
              </a:rPr>
              <a:t>a</a:t>
            </a:r>
            <a:r>
              <a:rPr sz="2000" spc="-50" dirty="0">
                <a:latin typeface="Gill Sans MT"/>
                <a:cs typeface="Gill Sans MT"/>
              </a:rPr>
              <a:t>y</a:t>
            </a:r>
            <a:r>
              <a:rPr sz="2000" dirty="0">
                <a:latin typeface="Gill Sans MT"/>
                <a:cs typeface="Gill Sans MT"/>
              </a:rPr>
              <a:t>er</a:t>
            </a:r>
            <a:r>
              <a:rPr sz="2000" spc="-5" dirty="0">
                <a:latin typeface="Gill Sans MT"/>
                <a:cs typeface="Gill Sans MT"/>
              </a:rPr>
              <a:t> </a:t>
            </a:r>
            <a:r>
              <a:rPr sz="2000" spc="-10" dirty="0">
                <a:latin typeface="Gill Sans MT"/>
                <a:cs typeface="Gill Sans MT"/>
              </a:rPr>
              <a:t>ga</a:t>
            </a:r>
            <a:r>
              <a:rPr sz="2000" dirty="0">
                <a:latin typeface="Gill Sans MT"/>
                <a:cs typeface="Gill Sans MT"/>
              </a:rPr>
              <a:t>me</a:t>
            </a:r>
            <a:r>
              <a:rPr sz="2000" spc="-5" dirty="0">
                <a:latin typeface="Gill Sans MT"/>
                <a:cs typeface="Gill Sans MT"/>
              </a:rPr>
              <a:t> </a:t>
            </a:r>
            <a:r>
              <a:rPr sz="2000" spc="-10" dirty="0">
                <a:latin typeface="Gill Sans MT"/>
                <a:cs typeface="Gill Sans MT"/>
              </a:rPr>
              <a:t>aga</a:t>
            </a:r>
            <a:r>
              <a:rPr sz="2000" dirty="0">
                <a:latin typeface="Gill Sans MT"/>
                <a:cs typeface="Gill Sans MT"/>
              </a:rPr>
              <a:t>in,</a:t>
            </a:r>
            <a:r>
              <a:rPr sz="2000" spc="-204" dirty="0">
                <a:latin typeface="Gill Sans MT"/>
                <a:cs typeface="Gill Sans MT"/>
              </a:rPr>
              <a:t> </a:t>
            </a:r>
            <a:r>
              <a:rPr sz="2000" dirty="0">
                <a:latin typeface="Gill Sans MT"/>
                <a:cs typeface="Gill Sans MT"/>
              </a:rPr>
              <a:t>j</a:t>
            </a:r>
            <a:r>
              <a:rPr sz="2000" spc="-10" dirty="0">
                <a:latin typeface="Gill Sans MT"/>
                <a:cs typeface="Gill Sans MT"/>
              </a:rPr>
              <a:t>us</a:t>
            </a:r>
            <a:r>
              <a:rPr sz="2000" dirty="0">
                <a:latin typeface="Gill Sans MT"/>
                <a:cs typeface="Gill Sans MT"/>
              </a:rPr>
              <a:t>t</a:t>
            </a:r>
            <a:r>
              <a:rPr sz="2000" spc="-5" dirty="0">
                <a:latin typeface="Gill Sans MT"/>
                <a:cs typeface="Gill Sans MT"/>
              </a:rPr>
              <a:t> </a:t>
            </a:r>
            <a:r>
              <a:rPr sz="2000" dirty="0">
                <a:latin typeface="Gill Sans MT"/>
                <a:cs typeface="Gill Sans MT"/>
              </a:rPr>
              <a:t>in</a:t>
            </a:r>
            <a:r>
              <a:rPr sz="2000" spc="-5" dirty="0">
                <a:latin typeface="Gill Sans MT"/>
                <a:cs typeface="Gill Sans MT"/>
              </a:rPr>
              <a:t> </a:t>
            </a:r>
            <a:r>
              <a:rPr sz="2000" spc="-10" dirty="0">
                <a:latin typeface="Gill Sans MT"/>
                <a:cs typeface="Gill Sans MT"/>
              </a:rPr>
              <a:t>teams</a:t>
            </a:r>
            <a:r>
              <a:rPr sz="2000" dirty="0">
                <a:latin typeface="Gill Sans MT"/>
                <a:cs typeface="Gill Sans MT"/>
              </a:rPr>
              <a:t>.</a:t>
            </a:r>
          </a:p>
          <a:p>
            <a:pPr>
              <a:lnSpc>
                <a:spcPct val="100000"/>
              </a:lnSpc>
              <a:spcBef>
                <a:spcPts val="0"/>
              </a:spcBef>
              <a:buFont typeface="Gill Sans MT"/>
              <a:buChar char="•"/>
            </a:pPr>
            <a:endParaRPr sz="2000" dirty="0">
              <a:latin typeface="Times New Roman"/>
              <a:cs typeface="Times New Roman"/>
            </a:endParaRPr>
          </a:p>
          <a:p>
            <a:pPr marL="241300" marR="64135" indent="-228600">
              <a:lnSpc>
                <a:spcPts val="2300"/>
              </a:lnSpc>
              <a:buFont typeface="Gill Sans MT"/>
              <a:buChar char="•"/>
              <a:tabLst>
                <a:tab pos="241300" algn="l"/>
              </a:tabLst>
            </a:pPr>
            <a:r>
              <a:rPr sz="2000" spc="-15" dirty="0">
                <a:latin typeface="Gill Sans MT"/>
                <a:cs typeface="Gill Sans MT"/>
              </a:rPr>
              <a:t>Mo</a:t>
            </a:r>
            <a:r>
              <a:rPr sz="2000" spc="-50" dirty="0">
                <a:latin typeface="Gill Sans MT"/>
                <a:cs typeface="Gill Sans MT"/>
              </a:rPr>
              <a:t>r</a:t>
            </a:r>
            <a:r>
              <a:rPr sz="2000" dirty="0">
                <a:latin typeface="Gill Sans MT"/>
                <a:cs typeface="Gill Sans MT"/>
              </a:rPr>
              <a:t>e</a:t>
            </a:r>
            <a:r>
              <a:rPr sz="2000" spc="-5" dirty="0">
                <a:latin typeface="Gill Sans MT"/>
                <a:cs typeface="Gill Sans MT"/>
              </a:rPr>
              <a:t> </a:t>
            </a:r>
            <a:r>
              <a:rPr sz="2000" spc="-10" dirty="0">
                <a:latin typeface="Gill Sans MT"/>
                <a:cs typeface="Gill Sans MT"/>
              </a:rPr>
              <a:t>genera</a:t>
            </a:r>
            <a:r>
              <a:rPr sz="2000" dirty="0">
                <a:latin typeface="Gill Sans MT"/>
                <a:cs typeface="Gill Sans MT"/>
              </a:rPr>
              <a:t>l</a:t>
            </a:r>
            <a:r>
              <a:rPr sz="2000" spc="-5" dirty="0">
                <a:latin typeface="Gill Sans MT"/>
                <a:cs typeface="Gill Sans MT"/>
              </a:rPr>
              <a:t> </a:t>
            </a:r>
            <a:r>
              <a:rPr sz="2000" spc="-10" dirty="0">
                <a:latin typeface="Gill Sans MT"/>
                <a:cs typeface="Gill Sans MT"/>
              </a:rPr>
              <a:t>a</a:t>
            </a:r>
            <a:r>
              <a:rPr sz="2000" dirty="0">
                <a:latin typeface="Gill Sans MT"/>
                <a:cs typeface="Gill Sans MT"/>
              </a:rPr>
              <a:t>l</a:t>
            </a:r>
            <a:r>
              <a:rPr sz="2000" spc="-30" dirty="0">
                <a:latin typeface="Gill Sans MT"/>
                <a:cs typeface="Gill Sans MT"/>
              </a:rPr>
              <a:t>g</a:t>
            </a:r>
            <a:r>
              <a:rPr sz="2000" spc="-15" dirty="0">
                <a:latin typeface="Gill Sans MT"/>
                <a:cs typeface="Gill Sans MT"/>
              </a:rPr>
              <a:t>o</a:t>
            </a:r>
            <a:r>
              <a:rPr sz="2000" dirty="0">
                <a:latin typeface="Gill Sans MT"/>
                <a:cs typeface="Gill Sans MT"/>
              </a:rPr>
              <a:t>ri</a:t>
            </a:r>
            <a:r>
              <a:rPr sz="2000" spc="-10" dirty="0">
                <a:latin typeface="Gill Sans MT"/>
                <a:cs typeface="Gill Sans MT"/>
              </a:rPr>
              <a:t>thms</a:t>
            </a:r>
            <a:r>
              <a:rPr sz="2000" spc="-5" dirty="0">
                <a:latin typeface="Gill Sans MT"/>
                <a:cs typeface="Gill Sans MT"/>
              </a:rPr>
              <a:t> </a:t>
            </a:r>
            <a:r>
              <a:rPr sz="2000" dirty="0">
                <a:latin typeface="Gill Sans MT"/>
                <a:cs typeface="Gill Sans MT"/>
              </a:rPr>
              <a:t>exi</a:t>
            </a:r>
            <a:r>
              <a:rPr sz="2000" spc="-10" dirty="0">
                <a:latin typeface="Gill Sans MT"/>
                <a:cs typeface="Gill Sans MT"/>
              </a:rPr>
              <a:t>s</a:t>
            </a:r>
            <a:r>
              <a:rPr sz="2000" dirty="0">
                <a:latin typeface="Gill Sans MT"/>
                <a:cs typeface="Gill Sans MT"/>
              </a:rPr>
              <a:t>t</a:t>
            </a:r>
            <a:r>
              <a:rPr sz="2000" spc="-5" dirty="0">
                <a:latin typeface="Gill Sans MT"/>
                <a:cs typeface="Gill Sans MT"/>
              </a:rPr>
              <a:t> </a:t>
            </a:r>
            <a:r>
              <a:rPr sz="2000" dirty="0">
                <a:latin typeface="Gill Sans MT"/>
                <a:cs typeface="Gill Sans MT"/>
              </a:rPr>
              <a:t>but</a:t>
            </a:r>
            <a:r>
              <a:rPr sz="2000" spc="-5" dirty="0">
                <a:latin typeface="Gill Sans MT"/>
                <a:cs typeface="Gill Sans MT"/>
              </a:rPr>
              <a:t> </a:t>
            </a:r>
            <a:r>
              <a:rPr sz="2000" dirty="0">
                <a:latin typeface="Gill Sans MT"/>
                <a:cs typeface="Gill Sans MT"/>
              </a:rPr>
              <a:t>th</a:t>
            </a:r>
            <a:r>
              <a:rPr sz="2000" spc="-35" dirty="0">
                <a:latin typeface="Gill Sans MT"/>
                <a:cs typeface="Gill Sans MT"/>
              </a:rPr>
              <a:t>e</a:t>
            </a:r>
            <a:r>
              <a:rPr sz="2000" spc="-10" dirty="0">
                <a:latin typeface="Gill Sans MT"/>
                <a:cs typeface="Gill Sans MT"/>
              </a:rPr>
              <a:t>y</a:t>
            </a:r>
            <a:r>
              <a:rPr sz="2000" spc="-5" dirty="0">
                <a:latin typeface="Gill Sans MT"/>
                <a:cs typeface="Gill Sans MT"/>
              </a:rPr>
              <a:t> </a:t>
            </a:r>
            <a:r>
              <a:rPr sz="2000" spc="-10" dirty="0">
                <a:latin typeface="Gill Sans MT"/>
                <a:cs typeface="Gill Sans MT"/>
              </a:rPr>
              <a:t>a</a:t>
            </a:r>
            <a:r>
              <a:rPr sz="2000" spc="-50" dirty="0">
                <a:latin typeface="Gill Sans MT"/>
                <a:cs typeface="Gill Sans MT"/>
              </a:rPr>
              <a:t>r</a:t>
            </a:r>
            <a:r>
              <a:rPr sz="2000" dirty="0">
                <a:latin typeface="Gill Sans MT"/>
                <a:cs typeface="Gill Sans MT"/>
              </a:rPr>
              <a:t>e</a:t>
            </a:r>
            <a:r>
              <a:rPr sz="2000" spc="-5" dirty="0">
                <a:latin typeface="Gill Sans MT"/>
                <a:cs typeface="Gill Sans MT"/>
              </a:rPr>
              <a:t> </a:t>
            </a:r>
            <a:r>
              <a:rPr sz="2000" spc="-15" dirty="0">
                <a:latin typeface="Gill Sans MT"/>
                <a:cs typeface="Gill Sans MT"/>
              </a:rPr>
              <a:t>o</a:t>
            </a:r>
            <a:r>
              <a:rPr sz="2000" dirty="0">
                <a:latin typeface="Gill Sans MT"/>
                <a:cs typeface="Gill Sans MT"/>
              </a:rPr>
              <a:t>n</a:t>
            </a:r>
            <a:r>
              <a:rPr sz="2000" spc="-20" dirty="0">
                <a:latin typeface="Gill Sans MT"/>
                <a:cs typeface="Gill Sans MT"/>
              </a:rPr>
              <a:t>l</a:t>
            </a:r>
            <a:r>
              <a:rPr sz="2000" spc="-10" dirty="0">
                <a:latin typeface="Gill Sans MT"/>
                <a:cs typeface="Gill Sans MT"/>
              </a:rPr>
              <a:t>y</a:t>
            </a:r>
            <a:r>
              <a:rPr sz="2000" spc="-5" dirty="0">
                <a:latin typeface="Gill Sans MT"/>
                <a:cs typeface="Gill Sans MT"/>
              </a:rPr>
              <a:t> </a:t>
            </a:r>
            <a:r>
              <a:rPr sz="2000" spc="-10" dirty="0">
                <a:latin typeface="Gill Sans MT"/>
                <a:cs typeface="Gill Sans MT"/>
              </a:rPr>
              <a:t>guaranteed</a:t>
            </a:r>
            <a:r>
              <a:rPr sz="2000" spc="-5" dirty="0">
                <a:latin typeface="Gill Sans MT"/>
                <a:cs typeface="Gill Sans MT"/>
              </a:rPr>
              <a:t> </a:t>
            </a:r>
            <a:r>
              <a:rPr sz="2000" spc="-10" dirty="0">
                <a:latin typeface="Gill Sans MT"/>
                <a:cs typeface="Gill Sans MT"/>
              </a:rPr>
              <a:t>to</a:t>
            </a:r>
            <a:r>
              <a:rPr sz="2000" spc="-5" dirty="0">
                <a:latin typeface="Gill Sans MT"/>
                <a:cs typeface="Gill Sans MT"/>
              </a:rPr>
              <a:t> </a:t>
            </a:r>
            <a:r>
              <a:rPr sz="2000" spc="-10" dirty="0">
                <a:latin typeface="Gill Sans MT"/>
                <a:cs typeface="Gill Sans MT"/>
              </a:rPr>
              <a:t>co</a:t>
            </a:r>
            <a:r>
              <a:rPr sz="2000" spc="-35" dirty="0">
                <a:latin typeface="Gill Sans MT"/>
                <a:cs typeface="Gill Sans MT"/>
              </a:rPr>
              <a:t>n</a:t>
            </a:r>
            <a:r>
              <a:rPr sz="2000" spc="-50" dirty="0">
                <a:latin typeface="Gill Sans MT"/>
                <a:cs typeface="Gill Sans MT"/>
              </a:rPr>
              <a:t>v</a:t>
            </a:r>
            <a:r>
              <a:rPr sz="2000" spc="-10" dirty="0">
                <a:latin typeface="Gill Sans MT"/>
                <a:cs typeface="Gill Sans MT"/>
              </a:rPr>
              <a:t>erg</a:t>
            </a:r>
            <a:r>
              <a:rPr sz="2000" dirty="0">
                <a:latin typeface="Gill Sans MT"/>
                <a:cs typeface="Gill Sans MT"/>
              </a:rPr>
              <a:t>e </a:t>
            </a:r>
            <a:r>
              <a:rPr sz="2000" spc="-15" dirty="0">
                <a:latin typeface="Gill Sans MT"/>
                <a:cs typeface="Gill Sans MT"/>
              </a:rPr>
              <a:t>o</a:t>
            </a:r>
            <a:r>
              <a:rPr sz="2000" dirty="0">
                <a:latin typeface="Gill Sans MT"/>
                <a:cs typeface="Gill Sans MT"/>
              </a:rPr>
              <a:t>n</a:t>
            </a:r>
            <a:r>
              <a:rPr sz="2000" spc="-20" dirty="0">
                <a:latin typeface="Gill Sans MT"/>
                <a:cs typeface="Gill Sans MT"/>
              </a:rPr>
              <a:t>l</a:t>
            </a:r>
            <a:r>
              <a:rPr sz="2000" spc="-10" dirty="0">
                <a:latin typeface="Gill Sans MT"/>
                <a:cs typeface="Gill Sans MT"/>
              </a:rPr>
              <a:t>y</a:t>
            </a:r>
            <a:r>
              <a:rPr sz="2000" spc="-5" dirty="0">
                <a:latin typeface="Gill Sans MT"/>
                <a:cs typeface="Gill Sans MT"/>
              </a:rPr>
              <a:t> </a:t>
            </a:r>
            <a:r>
              <a:rPr sz="2000" spc="-10" dirty="0">
                <a:latin typeface="Gill Sans MT"/>
                <a:cs typeface="Gill Sans MT"/>
              </a:rPr>
              <a:t>und</a:t>
            </a:r>
            <a:r>
              <a:rPr sz="2000" dirty="0">
                <a:latin typeface="Gill Sans MT"/>
                <a:cs typeface="Gill Sans MT"/>
              </a:rPr>
              <a:t>er</a:t>
            </a:r>
            <a:r>
              <a:rPr sz="2000" spc="-5" dirty="0">
                <a:latin typeface="Gill Sans MT"/>
                <a:cs typeface="Gill Sans MT"/>
              </a:rPr>
              <a:t> </a:t>
            </a:r>
            <a:r>
              <a:rPr sz="2000" spc="-50" dirty="0">
                <a:latin typeface="Gill Sans MT"/>
                <a:cs typeface="Gill Sans MT"/>
              </a:rPr>
              <a:t>v</a:t>
            </a:r>
            <a:r>
              <a:rPr sz="2000" dirty="0">
                <a:latin typeface="Gill Sans MT"/>
                <a:cs typeface="Gill Sans MT"/>
              </a:rPr>
              <a:t>e</a:t>
            </a:r>
            <a:r>
              <a:rPr sz="2000" spc="55" dirty="0">
                <a:latin typeface="Gill Sans MT"/>
                <a:cs typeface="Gill Sans MT"/>
              </a:rPr>
              <a:t>r</a:t>
            </a:r>
            <a:r>
              <a:rPr sz="2000" spc="-10" dirty="0">
                <a:latin typeface="Gill Sans MT"/>
                <a:cs typeface="Gill Sans MT"/>
              </a:rPr>
              <a:t>y</a:t>
            </a:r>
            <a:r>
              <a:rPr sz="2000" spc="-5" dirty="0">
                <a:latin typeface="Gill Sans MT"/>
                <a:cs typeface="Gill Sans MT"/>
              </a:rPr>
              <a:t> </a:t>
            </a:r>
            <a:r>
              <a:rPr sz="2000" spc="-10" dirty="0">
                <a:latin typeface="Gill Sans MT"/>
                <a:cs typeface="Gill Sans MT"/>
              </a:rPr>
              <a:t>s</a:t>
            </a:r>
            <a:r>
              <a:rPr sz="2000" dirty="0">
                <a:latin typeface="Gill Sans MT"/>
                <a:cs typeface="Gill Sans MT"/>
              </a:rPr>
              <a:t>tri</a:t>
            </a:r>
            <a:r>
              <a:rPr sz="2000" spc="-10" dirty="0">
                <a:latin typeface="Gill Sans MT"/>
                <a:cs typeface="Gill Sans MT"/>
              </a:rPr>
              <a:t>ct</a:t>
            </a:r>
            <a:r>
              <a:rPr sz="2000" spc="-5" dirty="0">
                <a:latin typeface="Gill Sans MT"/>
                <a:cs typeface="Gill Sans MT"/>
              </a:rPr>
              <a:t> </a:t>
            </a:r>
            <a:r>
              <a:rPr sz="2000" spc="-10" dirty="0">
                <a:latin typeface="Gill Sans MT"/>
                <a:cs typeface="Gill Sans MT"/>
              </a:rPr>
              <a:t>cond</a:t>
            </a:r>
            <a:r>
              <a:rPr sz="2000" dirty="0">
                <a:latin typeface="Gill Sans MT"/>
                <a:cs typeface="Gill Sans MT"/>
              </a:rPr>
              <a:t>iti</a:t>
            </a:r>
            <a:r>
              <a:rPr sz="2000" spc="-10" dirty="0">
                <a:latin typeface="Gill Sans MT"/>
                <a:cs typeface="Gill Sans MT"/>
              </a:rPr>
              <a:t>ons</a:t>
            </a:r>
            <a:endParaRPr sz="2000" dirty="0">
              <a:latin typeface="Gill Sans MT"/>
              <a:cs typeface="Gill Sans MT"/>
            </a:endParaRPr>
          </a:p>
          <a:p>
            <a:pPr>
              <a:lnSpc>
                <a:spcPct val="100000"/>
              </a:lnSpc>
              <a:spcBef>
                <a:spcPts val="12"/>
              </a:spcBef>
              <a:buFont typeface="Gill Sans MT"/>
              <a:buChar char="•"/>
            </a:pPr>
            <a:endParaRPr sz="1850" dirty="0">
              <a:latin typeface="Times New Roman"/>
              <a:cs typeface="Times New Roman"/>
            </a:endParaRPr>
          </a:p>
          <a:p>
            <a:pPr marL="241300" indent="-228600">
              <a:lnSpc>
                <a:spcPct val="100000"/>
              </a:lnSpc>
              <a:buFont typeface="Gill Sans MT"/>
              <a:buChar char="•"/>
              <a:tabLst>
                <a:tab pos="241300" algn="l"/>
              </a:tabLst>
            </a:pPr>
            <a:r>
              <a:rPr sz="2000" spc="-15" dirty="0">
                <a:latin typeface="Gill Sans MT"/>
                <a:cs typeface="Gill Sans MT"/>
              </a:rPr>
              <a:t>No</a:t>
            </a:r>
            <a:r>
              <a:rPr sz="2000" spc="-5" dirty="0">
                <a:latin typeface="Gill Sans MT"/>
                <a:cs typeface="Gill Sans MT"/>
              </a:rPr>
              <a:t> </a:t>
            </a:r>
            <a:r>
              <a:rPr sz="2000" spc="-10" dirty="0">
                <a:latin typeface="Gill Sans MT"/>
                <a:cs typeface="Gill Sans MT"/>
              </a:rPr>
              <a:t>kn</a:t>
            </a:r>
            <a:r>
              <a:rPr sz="2000" spc="-35" dirty="0">
                <a:latin typeface="Gill Sans MT"/>
                <a:cs typeface="Gill Sans MT"/>
              </a:rPr>
              <a:t>o</a:t>
            </a:r>
            <a:r>
              <a:rPr sz="2000" dirty="0">
                <a:latin typeface="Gill Sans MT"/>
                <a:cs typeface="Gill Sans MT"/>
              </a:rPr>
              <a:t>wn</a:t>
            </a:r>
            <a:r>
              <a:rPr sz="2000" spc="-5" dirty="0">
                <a:latin typeface="Gill Sans MT"/>
                <a:cs typeface="Gill Sans MT"/>
              </a:rPr>
              <a:t> </a:t>
            </a:r>
            <a:r>
              <a:rPr sz="2000" spc="-10" dirty="0">
                <a:latin typeface="Gill Sans MT"/>
                <a:cs typeface="Gill Sans MT"/>
              </a:rPr>
              <a:t>so</a:t>
            </a:r>
            <a:r>
              <a:rPr sz="2000" dirty="0">
                <a:latin typeface="Gill Sans MT"/>
                <a:cs typeface="Gill Sans MT"/>
              </a:rPr>
              <a:t>luti</a:t>
            </a:r>
            <a:r>
              <a:rPr sz="2000" spc="-15" dirty="0">
                <a:latin typeface="Gill Sans MT"/>
                <a:cs typeface="Gill Sans MT"/>
              </a:rPr>
              <a:t>o</a:t>
            </a:r>
            <a:r>
              <a:rPr sz="2000" dirty="0">
                <a:latin typeface="Gill Sans MT"/>
                <a:cs typeface="Gill Sans MT"/>
              </a:rPr>
              <a:t>n</a:t>
            </a:r>
            <a:r>
              <a:rPr sz="2000" spc="-5" dirty="0">
                <a:latin typeface="Gill Sans MT"/>
                <a:cs typeface="Gill Sans MT"/>
              </a:rPr>
              <a:t> </a:t>
            </a:r>
            <a:r>
              <a:rPr sz="2000" spc="-20" dirty="0">
                <a:latin typeface="Gill Sans MT"/>
                <a:cs typeface="Gill Sans MT"/>
              </a:rPr>
              <a:t>f</a:t>
            </a:r>
            <a:r>
              <a:rPr sz="2000" spc="-10" dirty="0">
                <a:latin typeface="Gill Sans MT"/>
                <a:cs typeface="Gill Sans MT"/>
              </a:rPr>
              <a:t>or</a:t>
            </a:r>
            <a:r>
              <a:rPr sz="2000" spc="-5" dirty="0">
                <a:latin typeface="Gill Sans MT"/>
                <a:cs typeface="Gill Sans MT"/>
              </a:rPr>
              <a:t> </a:t>
            </a:r>
            <a:r>
              <a:rPr sz="2000" spc="-10" dirty="0">
                <a:latin typeface="Gill Sans MT"/>
                <a:cs typeface="Gill Sans MT"/>
              </a:rPr>
              <a:t>genera</a:t>
            </a:r>
            <a:r>
              <a:rPr sz="2000" dirty="0">
                <a:latin typeface="Gill Sans MT"/>
                <a:cs typeface="Gill Sans MT"/>
              </a:rPr>
              <a:t>l-</a:t>
            </a:r>
            <a:r>
              <a:rPr sz="2000" spc="-10" dirty="0">
                <a:latin typeface="Gill Sans MT"/>
                <a:cs typeface="Gill Sans MT"/>
              </a:rPr>
              <a:t>s</a:t>
            </a:r>
            <a:r>
              <a:rPr sz="2000" dirty="0">
                <a:latin typeface="Gill Sans MT"/>
                <a:cs typeface="Gill Sans MT"/>
              </a:rPr>
              <a:t>um,</a:t>
            </a:r>
            <a:r>
              <a:rPr sz="2000" spc="-204" dirty="0">
                <a:latin typeface="Gill Sans MT"/>
                <a:cs typeface="Gill Sans MT"/>
              </a:rPr>
              <a:t> </a:t>
            </a:r>
            <a:r>
              <a:rPr sz="2000" dirty="0">
                <a:latin typeface="Gill Sans MT"/>
                <a:cs typeface="Gill Sans MT"/>
              </a:rPr>
              <a:t>n-pl</a:t>
            </a:r>
            <a:r>
              <a:rPr sz="2000" spc="-95" dirty="0">
                <a:latin typeface="Gill Sans MT"/>
                <a:cs typeface="Gill Sans MT"/>
              </a:rPr>
              <a:t>a</a:t>
            </a:r>
            <a:r>
              <a:rPr sz="2000" spc="-50" dirty="0">
                <a:latin typeface="Gill Sans MT"/>
                <a:cs typeface="Gill Sans MT"/>
              </a:rPr>
              <a:t>y</a:t>
            </a:r>
            <a:r>
              <a:rPr sz="2000" dirty="0">
                <a:latin typeface="Gill Sans MT"/>
                <a:cs typeface="Gill Sans MT"/>
              </a:rPr>
              <a:t>er</a:t>
            </a:r>
            <a:r>
              <a:rPr sz="2000" spc="-5" dirty="0">
                <a:latin typeface="Gill Sans MT"/>
                <a:cs typeface="Gill Sans MT"/>
              </a:rPr>
              <a:t> </a:t>
            </a:r>
            <a:r>
              <a:rPr sz="2000" spc="-10" dirty="0">
                <a:latin typeface="Gill Sans MT"/>
                <a:cs typeface="Gill Sans MT"/>
              </a:rPr>
              <a:t>games</a:t>
            </a:r>
            <a:endParaRPr sz="2000" dirty="0">
              <a:latin typeface="Gill Sans MT"/>
              <a:cs typeface="Gill Sans MT"/>
            </a:endParaRPr>
          </a:p>
        </p:txBody>
      </p:sp>
      <p:sp>
        <p:nvSpPr>
          <p:cNvPr id="5" name="Rectangle 4">
            <a:extLst>
              <a:ext uri="{FF2B5EF4-FFF2-40B4-BE49-F238E27FC236}">
                <a16:creationId xmlns:a16="http://schemas.microsoft.com/office/drawing/2014/main" id="{F6DE8CB2-8096-97C0-9B99-7C0276E483A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6" name="Rectangle 5">
            <a:extLst>
              <a:ext uri="{FF2B5EF4-FFF2-40B4-BE49-F238E27FC236}">
                <a16:creationId xmlns:a16="http://schemas.microsoft.com/office/drawing/2014/main" id="{646EE9AE-442F-D51F-C343-44FAB9A9750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7" name="Rectangle 6">
            <a:extLst>
              <a:ext uri="{FF2B5EF4-FFF2-40B4-BE49-F238E27FC236}">
                <a16:creationId xmlns:a16="http://schemas.microsoft.com/office/drawing/2014/main" id="{2FC950A9-AA52-8AD2-6A4A-3BDA4657D3E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D9C1FE95-B42C-B3B1-C704-CC58E2E926ED}"/>
              </a:ext>
            </a:extLst>
          </p:cNvPr>
          <p:cNvSpPr>
            <a:spLocks noGrp="1"/>
          </p:cNvSpPr>
          <p:nvPr>
            <p:ph type="sldNum" sz="quarter" idx="7"/>
          </p:nvPr>
        </p:nvSpPr>
        <p:spPr/>
        <p:txBody>
          <a:bodyPr/>
          <a:lstStyle/>
          <a:p>
            <a:fld id="{B6F15528-21DE-4FAA-801E-634DDDAF4B2B}" type="slidenum">
              <a:rPr lang="en-US" smtClean="0"/>
              <a:pPr/>
              <a:t>13</a:t>
            </a:fld>
            <a:r>
              <a:rPr lang="en-US" dirty="0"/>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3227" y="320571"/>
            <a:ext cx="8297544" cy="492443"/>
          </a:xfrm>
          <a:prstGeom prst="rect">
            <a:avLst/>
          </a:prstGeom>
        </p:spPr>
        <p:txBody>
          <a:bodyPr vert="horz" wrap="square" lIns="0" tIns="0" rIns="0" bIns="0" rtlCol="0">
            <a:spAutoFit/>
          </a:bodyPr>
          <a:lstStyle/>
          <a:p>
            <a:pPr marL="12700">
              <a:lnSpc>
                <a:spcPct val="100000"/>
              </a:lnSpc>
            </a:pPr>
            <a:r>
              <a:rPr lang="en-US" dirty="0"/>
              <a:t>Q- vs </a:t>
            </a:r>
            <a:r>
              <a:rPr lang="en-US" dirty="0" err="1"/>
              <a:t>MiniMax</a:t>
            </a:r>
            <a:r>
              <a:rPr lang="en-US" dirty="0"/>
              <a:t>-Q Learning</a:t>
            </a:r>
            <a:endParaRPr dirty="0"/>
          </a:p>
        </p:txBody>
      </p:sp>
      <p:sp>
        <p:nvSpPr>
          <p:cNvPr id="5" name="Rectangle 4">
            <a:extLst>
              <a:ext uri="{FF2B5EF4-FFF2-40B4-BE49-F238E27FC236}">
                <a16:creationId xmlns:a16="http://schemas.microsoft.com/office/drawing/2014/main" id="{F6DE8CB2-8096-97C0-9B99-7C0276E483A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FIT3155-S2-2024</a:t>
            </a:r>
          </a:p>
        </p:txBody>
      </p:sp>
      <p:sp>
        <p:nvSpPr>
          <p:cNvPr id="6" name="Rectangle 5">
            <a:extLst>
              <a:ext uri="{FF2B5EF4-FFF2-40B4-BE49-F238E27FC236}">
                <a16:creationId xmlns:a16="http://schemas.microsoft.com/office/drawing/2014/main" id="{646EE9AE-442F-D51F-C343-44FAB9A9750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a:ea typeface="+mn-ea"/>
                <a:cs typeface="+mn-cs"/>
              </a:rPr>
              <a:t>Week-9</a:t>
            </a:r>
          </a:p>
        </p:txBody>
      </p:sp>
      <p:sp>
        <p:nvSpPr>
          <p:cNvPr id="7" name="Rectangle 6">
            <a:extLst>
              <a:ext uri="{FF2B5EF4-FFF2-40B4-BE49-F238E27FC236}">
                <a16:creationId xmlns:a16="http://schemas.microsoft.com/office/drawing/2014/main" id="{2FC950A9-AA52-8AD2-6A4A-3BDA4657D3E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id="{D9C1FE95-B42C-B3B1-C704-CC58E2E926ED}"/>
              </a:ext>
            </a:extLst>
          </p:cNvPr>
          <p:cNvSpPr>
            <a:spLocks noGrp="1"/>
          </p:cNvSpPr>
          <p:nvPr>
            <p:ph type="sldNum" sz="quarter" idx="7"/>
          </p:nvPr>
        </p:nvSpPr>
        <p:spPr/>
        <p:txBody>
          <a:bodyPr/>
          <a:lstStyle/>
          <a:p>
            <a:fld id="{B6F15528-21DE-4FAA-801E-634DDDAF4B2B}" type="slidenum">
              <a:rPr lang="en-US" smtClean="0"/>
              <a:pPr/>
              <a:t>14</a:t>
            </a:fld>
            <a:r>
              <a:rPr lang="en-US" dirty="0"/>
              <a:t>/14</a:t>
            </a:r>
          </a:p>
        </p:txBody>
      </p:sp>
      <mc:AlternateContent xmlns:mc="http://schemas.openxmlformats.org/markup-compatibility/2006">
        <mc:Choice xmlns:a14="http://schemas.microsoft.com/office/drawing/2010/main" Requires="a14">
          <p:graphicFrame>
            <p:nvGraphicFramePr>
              <p:cNvPr id="17" name="Table 16">
                <a:extLst>
                  <a:ext uri="{FF2B5EF4-FFF2-40B4-BE49-F238E27FC236}">
                    <a16:creationId xmlns:a16="http://schemas.microsoft.com/office/drawing/2014/main" id="{74877D73-E003-F82B-23A9-4C14516C22CD}"/>
                  </a:ext>
                </a:extLst>
              </p:cNvPr>
              <p:cNvGraphicFramePr>
                <a:graphicFrameLocks noGrp="1"/>
              </p:cNvGraphicFramePr>
              <p:nvPr>
                <p:extLst>
                  <p:ext uri="{D42A27DB-BD31-4B8C-83A1-F6EECF244321}">
                    <p14:modId xmlns:p14="http://schemas.microsoft.com/office/powerpoint/2010/main" val="3870395905"/>
                  </p:ext>
                </p:extLst>
              </p:nvPr>
            </p:nvGraphicFramePr>
            <p:xfrm>
              <a:off x="533400" y="1397000"/>
              <a:ext cx="8297544" cy="4587240"/>
            </p:xfrm>
            <a:graphic>
              <a:graphicData uri="http://schemas.openxmlformats.org/drawingml/2006/table">
                <a:tbl>
                  <a:tblPr firstRow="1" bandRow="1">
                    <a:tableStyleId>{793D81CF-94F2-401A-BA57-92F5A7B2D0C5}</a:tableStyleId>
                  </a:tblPr>
                  <a:tblGrid>
                    <a:gridCol w="1905000">
                      <a:extLst>
                        <a:ext uri="{9D8B030D-6E8A-4147-A177-3AD203B41FA5}">
                          <a16:colId xmlns:a16="http://schemas.microsoft.com/office/drawing/2014/main" val="1413441990"/>
                        </a:ext>
                      </a:extLst>
                    </a:gridCol>
                    <a:gridCol w="2895600">
                      <a:extLst>
                        <a:ext uri="{9D8B030D-6E8A-4147-A177-3AD203B41FA5}">
                          <a16:colId xmlns:a16="http://schemas.microsoft.com/office/drawing/2014/main" val="2896092057"/>
                        </a:ext>
                      </a:extLst>
                    </a:gridCol>
                    <a:gridCol w="3496944">
                      <a:extLst>
                        <a:ext uri="{9D8B030D-6E8A-4147-A177-3AD203B41FA5}">
                          <a16:colId xmlns:a16="http://schemas.microsoft.com/office/drawing/2014/main" val="1808137374"/>
                        </a:ext>
                      </a:extLst>
                    </a:gridCol>
                  </a:tblGrid>
                  <a:tr h="370840">
                    <a:tc>
                      <a:txBody>
                        <a:bodyPr/>
                        <a:lstStyle/>
                        <a:p>
                          <a:endParaRPr lang="en-MY" dirty="0"/>
                        </a:p>
                      </a:txBody>
                      <a:tcPr/>
                    </a:tc>
                    <a:tc>
                      <a:txBody>
                        <a:bodyPr/>
                        <a:lstStyle/>
                        <a:p>
                          <a:r>
                            <a:rPr lang="en-US" dirty="0"/>
                            <a:t>Q-learning</a:t>
                          </a:r>
                          <a:endParaRPr lang="en-MY" dirty="0"/>
                        </a:p>
                      </a:txBody>
                      <a:tcPr/>
                    </a:tc>
                    <a:tc>
                      <a:txBody>
                        <a:bodyPr/>
                        <a:lstStyle/>
                        <a:p>
                          <a:r>
                            <a:rPr lang="en-US" dirty="0" err="1"/>
                            <a:t>MiniMax</a:t>
                          </a:r>
                          <a:r>
                            <a:rPr lang="en-US" dirty="0"/>
                            <a:t> Q-learning</a:t>
                          </a:r>
                          <a:endParaRPr lang="en-MY" dirty="0"/>
                        </a:p>
                      </a:txBody>
                      <a:tcPr/>
                    </a:tc>
                    <a:extLst>
                      <a:ext uri="{0D108BD9-81ED-4DB2-BD59-A6C34878D82A}">
                        <a16:rowId xmlns:a16="http://schemas.microsoft.com/office/drawing/2014/main" val="373254476"/>
                      </a:ext>
                    </a:extLst>
                  </a:tr>
                  <a:tr h="370840">
                    <a:tc>
                      <a:txBody>
                        <a:bodyPr/>
                        <a:lstStyle/>
                        <a:p>
                          <a:r>
                            <a:rPr lang="en-US" b="1" dirty="0"/>
                            <a:t>Game Type</a:t>
                          </a:r>
                          <a:endParaRPr lang="en-MY" b="1" dirty="0"/>
                        </a:p>
                      </a:txBody>
                      <a:tcPr/>
                    </a:tc>
                    <a:tc>
                      <a:txBody>
                        <a:bodyPr/>
                        <a:lstStyle/>
                        <a:p>
                          <a:r>
                            <a:rPr lang="en-US" dirty="0"/>
                            <a:t>Single-agent</a:t>
                          </a:r>
                          <a:endParaRPr lang="en-MY" dirty="0"/>
                        </a:p>
                      </a:txBody>
                      <a:tcPr/>
                    </a:tc>
                    <a:tc>
                      <a:txBody>
                        <a:bodyPr/>
                        <a:lstStyle/>
                        <a:p>
                          <a:r>
                            <a:rPr lang="en-US" dirty="0"/>
                            <a:t>Two-player zero-sum</a:t>
                          </a:r>
                          <a:endParaRPr lang="en-MY" dirty="0"/>
                        </a:p>
                      </a:txBody>
                      <a:tcPr/>
                    </a:tc>
                    <a:extLst>
                      <a:ext uri="{0D108BD9-81ED-4DB2-BD59-A6C34878D82A}">
                        <a16:rowId xmlns:a16="http://schemas.microsoft.com/office/drawing/2014/main" val="3735380986"/>
                      </a:ext>
                    </a:extLst>
                  </a:tr>
                  <a:tr h="370840">
                    <a:tc>
                      <a:txBody>
                        <a:bodyPr/>
                        <a:lstStyle/>
                        <a:p>
                          <a:r>
                            <a:rPr lang="en-US" b="1" dirty="0"/>
                            <a:t>Objective</a:t>
                          </a:r>
                          <a:endParaRPr lang="en-MY" b="1" dirty="0"/>
                        </a:p>
                      </a:txBody>
                      <a:tcPr/>
                    </a:tc>
                    <a:tc>
                      <a:txBody>
                        <a:bodyPr/>
                        <a:lstStyle/>
                        <a:p>
                          <a:r>
                            <a:rPr lang="en-US" dirty="0"/>
                            <a:t>Maximize agent’s reward</a:t>
                          </a:r>
                          <a:endParaRPr lang="en-MY" dirty="0"/>
                        </a:p>
                      </a:txBody>
                      <a:tcPr/>
                    </a:tc>
                    <a:tc>
                      <a:txBody>
                        <a:bodyPr/>
                        <a:lstStyle/>
                        <a:p>
                          <a:r>
                            <a:rPr lang="en-US" dirty="0"/>
                            <a:t>Maximize agent's reward while minimizing opponent’s reward (Nash equilibrium)</a:t>
                          </a:r>
                          <a:endParaRPr lang="en-MY" dirty="0"/>
                        </a:p>
                      </a:txBody>
                      <a:tcPr/>
                    </a:tc>
                    <a:extLst>
                      <a:ext uri="{0D108BD9-81ED-4DB2-BD59-A6C34878D82A}">
                        <a16:rowId xmlns:a16="http://schemas.microsoft.com/office/drawing/2014/main" val="100538635"/>
                      </a:ext>
                    </a:extLst>
                  </a:tr>
                  <a:tr h="370840">
                    <a:tc>
                      <a:txBody>
                        <a:bodyPr/>
                        <a:lstStyle/>
                        <a:p>
                          <a:r>
                            <a:rPr lang="en-US" b="1" dirty="0"/>
                            <a:t>Q-value Update</a:t>
                          </a:r>
                          <a:endParaRPr lang="en-MY" b="1" dirty="0"/>
                        </a:p>
                      </a:txBody>
                      <a:tcPr/>
                    </a:tc>
                    <a:tc>
                      <a:txBody>
                        <a:bodyPr/>
                        <a:lstStyle/>
                        <a:p>
                          <a:r>
                            <a:rPr lang="en-US" dirty="0"/>
                            <a:t>Based on reward and future max Q-value</a:t>
                          </a:r>
                          <a:endParaRPr lang="en-MY" dirty="0"/>
                        </a:p>
                      </a:txBody>
                      <a:tcPr/>
                    </a:tc>
                    <a:tc>
                      <a:txBody>
                        <a:bodyPr/>
                        <a:lstStyle/>
                        <a:p>
                          <a:r>
                            <a:rPr lang="en-US" dirty="0"/>
                            <a:t>Based on reward and future </a:t>
                          </a:r>
                          <a:r>
                            <a:rPr lang="en-US" dirty="0" err="1"/>
                            <a:t>MiniMax</a:t>
                          </a:r>
                          <a:r>
                            <a:rPr lang="en-US" dirty="0"/>
                            <a:t> value</a:t>
                          </a:r>
                          <a:endParaRPr lang="en-MY" dirty="0"/>
                        </a:p>
                      </a:txBody>
                      <a:tcPr/>
                    </a:tc>
                    <a:extLst>
                      <a:ext uri="{0D108BD9-81ED-4DB2-BD59-A6C34878D82A}">
                        <a16:rowId xmlns:a16="http://schemas.microsoft.com/office/drawing/2014/main" val="2223081549"/>
                      </a:ext>
                    </a:extLst>
                  </a:tr>
                  <a:tr h="370840">
                    <a:tc>
                      <a:txBody>
                        <a:bodyPr/>
                        <a:lstStyle/>
                        <a:p>
                          <a:r>
                            <a:rPr lang="en-US" b="1" dirty="0"/>
                            <a:t>Exploration </a:t>
                          </a:r>
                          <a:endParaRPr lang="en-MY" b="1" dirty="0"/>
                        </a:p>
                      </a:txBody>
                      <a:tcPr/>
                    </a:tc>
                    <a:tc>
                      <a:txBody>
                        <a:bodyPr/>
                        <a:lstStyle/>
                        <a:p>
                          <a14:m>
                            <m:oMath xmlns:m="http://schemas.openxmlformats.org/officeDocument/2006/math">
                              <m:r>
                                <a:rPr lang="en-US" b="0" smtClean="0"/>
                                <m:t>𝜖</m:t>
                              </m:r>
                            </m:oMath>
                          </a14:m>
                          <a:r>
                            <a:rPr lang="en-MY" dirty="0"/>
                            <a:t>-greedy for exploitation vs</a:t>
                          </a:r>
                          <a:r>
                            <a:rPr lang="en-MY" baseline="0" dirty="0"/>
                            <a:t> exploration</a:t>
                          </a:r>
                          <a:endParaRPr lang="en-MY" dirty="0"/>
                        </a:p>
                      </a:txBody>
                      <a:tcPr/>
                    </a:tc>
                    <a:tc>
                      <a:txBody>
                        <a:bodyPr/>
                        <a:lstStyle/>
                        <a:p>
                          <a:r>
                            <a:rPr lang="en-US" dirty="0"/>
                            <a:t>More complex exploration to handle adversarial behavior</a:t>
                          </a:r>
                          <a:endParaRPr lang="en-MY" dirty="0"/>
                        </a:p>
                      </a:txBody>
                      <a:tcPr/>
                    </a:tc>
                    <a:extLst>
                      <a:ext uri="{0D108BD9-81ED-4DB2-BD59-A6C34878D82A}">
                        <a16:rowId xmlns:a16="http://schemas.microsoft.com/office/drawing/2014/main" val="2085295445"/>
                      </a:ext>
                    </a:extLst>
                  </a:tr>
                  <a:tr h="370840">
                    <a:tc>
                      <a:txBody>
                        <a:bodyPr/>
                        <a:lstStyle/>
                        <a:p>
                          <a:r>
                            <a:rPr lang="en-US" b="1" dirty="0"/>
                            <a:t>Convergence</a:t>
                          </a:r>
                          <a:endParaRPr lang="en-MY" b="1" dirty="0"/>
                        </a:p>
                      </a:txBody>
                      <a:tcPr/>
                    </a:tc>
                    <a:tc>
                      <a:txBody>
                        <a:bodyPr/>
                        <a:lstStyle/>
                        <a:p>
                          <a:r>
                            <a:rPr lang="en-US" dirty="0"/>
                            <a:t>Converges to optimal policy in MDPs</a:t>
                          </a:r>
                          <a:endParaRPr lang="en-MY" dirty="0"/>
                        </a:p>
                      </a:txBody>
                      <a:tcPr/>
                    </a:tc>
                    <a:tc>
                      <a:txBody>
                        <a:bodyPr/>
                        <a:lstStyle/>
                        <a:p>
                          <a:r>
                            <a:rPr lang="en-MY" dirty="0"/>
                            <a:t>Converges to Nash equilibrium in zero-sum games</a:t>
                          </a:r>
                        </a:p>
                      </a:txBody>
                      <a:tcPr/>
                    </a:tc>
                    <a:extLst>
                      <a:ext uri="{0D108BD9-81ED-4DB2-BD59-A6C34878D82A}">
                        <a16:rowId xmlns:a16="http://schemas.microsoft.com/office/drawing/2014/main" val="1909683825"/>
                      </a:ext>
                    </a:extLst>
                  </a:tr>
                  <a:tr h="370840">
                    <a:tc>
                      <a:txBody>
                        <a:bodyPr/>
                        <a:lstStyle/>
                        <a:p>
                          <a:r>
                            <a:rPr lang="en-US" b="1" dirty="0"/>
                            <a:t>Action Selection</a:t>
                          </a:r>
                          <a:endParaRPr lang="en-MY" b="1" dirty="0"/>
                        </a:p>
                      </a:txBody>
                      <a:tcPr/>
                    </a:tc>
                    <a:tc>
                      <a:txBody>
                        <a:bodyPr/>
                        <a:lstStyle/>
                        <a:p>
                          <a:r>
                            <a:rPr lang="en-US" dirty="0"/>
                            <a:t>Highest Q-value</a:t>
                          </a:r>
                          <a:endParaRPr lang="en-MY" dirty="0"/>
                        </a:p>
                      </a:txBody>
                      <a:tcPr/>
                    </a:tc>
                    <a:tc>
                      <a:txBody>
                        <a:bodyPr/>
                        <a:lstStyle/>
                        <a:p>
                          <a:r>
                            <a:rPr lang="en-MY" dirty="0" err="1"/>
                            <a:t>MiniMax</a:t>
                          </a:r>
                          <a:r>
                            <a:rPr lang="en-MY" dirty="0"/>
                            <a:t> strategy</a:t>
                          </a:r>
                        </a:p>
                      </a:txBody>
                      <a:tcPr/>
                    </a:tc>
                    <a:extLst>
                      <a:ext uri="{0D108BD9-81ED-4DB2-BD59-A6C34878D82A}">
                        <a16:rowId xmlns:a16="http://schemas.microsoft.com/office/drawing/2014/main" val="2817734351"/>
                      </a:ext>
                    </a:extLst>
                  </a:tr>
                  <a:tr h="370840">
                    <a:tc>
                      <a:txBody>
                        <a:bodyPr/>
                        <a:lstStyle/>
                        <a:p>
                          <a:r>
                            <a:rPr lang="en-US" b="1" dirty="0"/>
                            <a:t>Use Cases</a:t>
                          </a:r>
                          <a:endParaRPr lang="en-MY" b="1" dirty="0"/>
                        </a:p>
                      </a:txBody>
                      <a:tcPr/>
                    </a:tc>
                    <a:tc>
                      <a:txBody>
                        <a:bodyPr/>
                        <a:lstStyle/>
                        <a:p>
                          <a:r>
                            <a:rPr lang="en-US" dirty="0"/>
                            <a:t>Single-agent  RL tasks</a:t>
                          </a:r>
                          <a:endParaRPr lang="en-MY" dirty="0"/>
                        </a:p>
                      </a:txBody>
                      <a:tcPr/>
                    </a:tc>
                    <a:tc>
                      <a:txBody>
                        <a:bodyPr/>
                        <a:lstStyle/>
                        <a:p>
                          <a:r>
                            <a:rPr lang="en-US" dirty="0"/>
                            <a:t>Adversarial settings, game theory, security</a:t>
                          </a:r>
                          <a:endParaRPr lang="en-MY" dirty="0"/>
                        </a:p>
                      </a:txBody>
                      <a:tcPr/>
                    </a:tc>
                    <a:extLst>
                      <a:ext uri="{0D108BD9-81ED-4DB2-BD59-A6C34878D82A}">
                        <a16:rowId xmlns:a16="http://schemas.microsoft.com/office/drawing/2014/main" val="4042814025"/>
                      </a:ext>
                    </a:extLst>
                  </a:tr>
                </a:tbl>
              </a:graphicData>
            </a:graphic>
          </p:graphicFrame>
        </mc:Choice>
        <mc:Fallback>
          <p:graphicFrame>
            <p:nvGraphicFramePr>
              <p:cNvPr id="17" name="Table 16">
                <a:extLst>
                  <a:ext uri="{FF2B5EF4-FFF2-40B4-BE49-F238E27FC236}">
                    <a16:creationId xmlns:a16="http://schemas.microsoft.com/office/drawing/2014/main" id="{74877D73-E003-F82B-23A9-4C14516C22CD}"/>
                  </a:ext>
                </a:extLst>
              </p:cNvPr>
              <p:cNvGraphicFramePr>
                <a:graphicFrameLocks noGrp="1"/>
              </p:cNvGraphicFramePr>
              <p:nvPr>
                <p:extLst>
                  <p:ext uri="{D42A27DB-BD31-4B8C-83A1-F6EECF244321}">
                    <p14:modId xmlns:p14="http://schemas.microsoft.com/office/powerpoint/2010/main" val="3870395905"/>
                  </p:ext>
                </p:extLst>
              </p:nvPr>
            </p:nvGraphicFramePr>
            <p:xfrm>
              <a:off x="533400" y="1397000"/>
              <a:ext cx="8297544" cy="4587240"/>
            </p:xfrm>
            <a:graphic>
              <a:graphicData uri="http://schemas.openxmlformats.org/drawingml/2006/table">
                <a:tbl>
                  <a:tblPr firstRow="1" bandRow="1">
                    <a:tableStyleId>{793D81CF-94F2-401A-BA57-92F5A7B2D0C5}</a:tableStyleId>
                  </a:tblPr>
                  <a:tblGrid>
                    <a:gridCol w="1905000">
                      <a:extLst>
                        <a:ext uri="{9D8B030D-6E8A-4147-A177-3AD203B41FA5}">
                          <a16:colId xmlns:a16="http://schemas.microsoft.com/office/drawing/2014/main" val="1413441990"/>
                        </a:ext>
                      </a:extLst>
                    </a:gridCol>
                    <a:gridCol w="2895600">
                      <a:extLst>
                        <a:ext uri="{9D8B030D-6E8A-4147-A177-3AD203B41FA5}">
                          <a16:colId xmlns:a16="http://schemas.microsoft.com/office/drawing/2014/main" val="2896092057"/>
                        </a:ext>
                      </a:extLst>
                    </a:gridCol>
                    <a:gridCol w="3496944">
                      <a:extLst>
                        <a:ext uri="{9D8B030D-6E8A-4147-A177-3AD203B41FA5}">
                          <a16:colId xmlns:a16="http://schemas.microsoft.com/office/drawing/2014/main" val="1808137374"/>
                        </a:ext>
                      </a:extLst>
                    </a:gridCol>
                  </a:tblGrid>
                  <a:tr h="370840">
                    <a:tc>
                      <a:txBody>
                        <a:bodyPr/>
                        <a:lstStyle/>
                        <a:p>
                          <a:endParaRPr lang="en-MY" dirty="0"/>
                        </a:p>
                      </a:txBody>
                      <a:tcPr/>
                    </a:tc>
                    <a:tc>
                      <a:txBody>
                        <a:bodyPr/>
                        <a:lstStyle/>
                        <a:p>
                          <a:r>
                            <a:rPr lang="en-US" dirty="0"/>
                            <a:t>Q-learning</a:t>
                          </a:r>
                          <a:endParaRPr lang="en-MY" dirty="0"/>
                        </a:p>
                      </a:txBody>
                      <a:tcPr/>
                    </a:tc>
                    <a:tc>
                      <a:txBody>
                        <a:bodyPr/>
                        <a:lstStyle/>
                        <a:p>
                          <a:r>
                            <a:rPr lang="en-US" dirty="0" err="1"/>
                            <a:t>MiniMax</a:t>
                          </a:r>
                          <a:r>
                            <a:rPr lang="en-US" dirty="0"/>
                            <a:t> Q-learning</a:t>
                          </a:r>
                          <a:endParaRPr lang="en-MY" dirty="0"/>
                        </a:p>
                      </a:txBody>
                      <a:tcPr/>
                    </a:tc>
                    <a:extLst>
                      <a:ext uri="{0D108BD9-81ED-4DB2-BD59-A6C34878D82A}">
                        <a16:rowId xmlns:a16="http://schemas.microsoft.com/office/drawing/2014/main" val="373254476"/>
                      </a:ext>
                    </a:extLst>
                  </a:tr>
                  <a:tr h="370840">
                    <a:tc>
                      <a:txBody>
                        <a:bodyPr/>
                        <a:lstStyle/>
                        <a:p>
                          <a:r>
                            <a:rPr lang="en-US" b="1" dirty="0"/>
                            <a:t>Game Type</a:t>
                          </a:r>
                          <a:endParaRPr lang="en-MY" b="1" dirty="0"/>
                        </a:p>
                      </a:txBody>
                      <a:tcPr/>
                    </a:tc>
                    <a:tc>
                      <a:txBody>
                        <a:bodyPr/>
                        <a:lstStyle/>
                        <a:p>
                          <a:r>
                            <a:rPr lang="en-US" dirty="0"/>
                            <a:t>Single-agent</a:t>
                          </a:r>
                          <a:endParaRPr lang="en-MY" dirty="0"/>
                        </a:p>
                      </a:txBody>
                      <a:tcPr/>
                    </a:tc>
                    <a:tc>
                      <a:txBody>
                        <a:bodyPr/>
                        <a:lstStyle/>
                        <a:p>
                          <a:r>
                            <a:rPr lang="en-US" dirty="0"/>
                            <a:t>Two-player zero-sum</a:t>
                          </a:r>
                          <a:endParaRPr lang="en-MY" dirty="0"/>
                        </a:p>
                      </a:txBody>
                      <a:tcPr/>
                    </a:tc>
                    <a:extLst>
                      <a:ext uri="{0D108BD9-81ED-4DB2-BD59-A6C34878D82A}">
                        <a16:rowId xmlns:a16="http://schemas.microsoft.com/office/drawing/2014/main" val="3735380986"/>
                      </a:ext>
                    </a:extLst>
                  </a:tr>
                  <a:tr h="914400">
                    <a:tc>
                      <a:txBody>
                        <a:bodyPr/>
                        <a:lstStyle/>
                        <a:p>
                          <a:r>
                            <a:rPr lang="en-US" b="1" dirty="0"/>
                            <a:t>Objective</a:t>
                          </a:r>
                          <a:endParaRPr lang="en-MY" b="1" dirty="0"/>
                        </a:p>
                      </a:txBody>
                      <a:tcPr/>
                    </a:tc>
                    <a:tc>
                      <a:txBody>
                        <a:bodyPr/>
                        <a:lstStyle/>
                        <a:p>
                          <a:r>
                            <a:rPr lang="en-US" dirty="0"/>
                            <a:t>Maximize agent’s reward</a:t>
                          </a:r>
                          <a:endParaRPr lang="en-MY" dirty="0"/>
                        </a:p>
                      </a:txBody>
                      <a:tcPr/>
                    </a:tc>
                    <a:tc>
                      <a:txBody>
                        <a:bodyPr/>
                        <a:lstStyle/>
                        <a:p>
                          <a:r>
                            <a:rPr lang="en-US" dirty="0"/>
                            <a:t>Maximize agent's reward while minimizing opponent’s reward (Nash equilibrium)</a:t>
                          </a:r>
                          <a:endParaRPr lang="en-MY" dirty="0"/>
                        </a:p>
                      </a:txBody>
                      <a:tcPr/>
                    </a:tc>
                    <a:extLst>
                      <a:ext uri="{0D108BD9-81ED-4DB2-BD59-A6C34878D82A}">
                        <a16:rowId xmlns:a16="http://schemas.microsoft.com/office/drawing/2014/main" val="100538635"/>
                      </a:ext>
                    </a:extLst>
                  </a:tr>
                  <a:tr h="640080">
                    <a:tc>
                      <a:txBody>
                        <a:bodyPr/>
                        <a:lstStyle/>
                        <a:p>
                          <a:r>
                            <a:rPr lang="en-US" b="1" dirty="0"/>
                            <a:t>Q-value Update</a:t>
                          </a:r>
                          <a:endParaRPr lang="en-MY" b="1" dirty="0"/>
                        </a:p>
                      </a:txBody>
                      <a:tcPr/>
                    </a:tc>
                    <a:tc>
                      <a:txBody>
                        <a:bodyPr/>
                        <a:lstStyle/>
                        <a:p>
                          <a:r>
                            <a:rPr lang="en-US" dirty="0"/>
                            <a:t>Based on reward and future max Q-value</a:t>
                          </a:r>
                          <a:endParaRPr lang="en-MY" dirty="0"/>
                        </a:p>
                      </a:txBody>
                      <a:tcPr/>
                    </a:tc>
                    <a:tc>
                      <a:txBody>
                        <a:bodyPr/>
                        <a:lstStyle/>
                        <a:p>
                          <a:r>
                            <a:rPr lang="en-US" dirty="0"/>
                            <a:t>Based on reward and future </a:t>
                          </a:r>
                          <a:r>
                            <a:rPr lang="en-US" dirty="0" err="1"/>
                            <a:t>MiniMax</a:t>
                          </a:r>
                          <a:r>
                            <a:rPr lang="en-US" dirty="0"/>
                            <a:t> value</a:t>
                          </a:r>
                          <a:endParaRPr lang="en-MY" dirty="0"/>
                        </a:p>
                      </a:txBody>
                      <a:tcPr/>
                    </a:tc>
                    <a:extLst>
                      <a:ext uri="{0D108BD9-81ED-4DB2-BD59-A6C34878D82A}">
                        <a16:rowId xmlns:a16="http://schemas.microsoft.com/office/drawing/2014/main" val="2223081549"/>
                      </a:ext>
                    </a:extLst>
                  </a:tr>
                  <a:tr h="640080">
                    <a:tc>
                      <a:txBody>
                        <a:bodyPr/>
                        <a:lstStyle/>
                        <a:p>
                          <a:r>
                            <a:rPr lang="en-US" b="1" dirty="0"/>
                            <a:t>Exploration </a:t>
                          </a:r>
                          <a:endParaRPr lang="en-MY" b="1" dirty="0"/>
                        </a:p>
                      </a:txBody>
                      <a:tcPr/>
                    </a:tc>
                    <a:tc>
                      <a:txBody>
                        <a:bodyPr/>
                        <a:lstStyle/>
                        <a:p>
                          <a:endParaRPr lang="en-US"/>
                        </a:p>
                      </a:txBody>
                      <a:tcPr>
                        <a:blipFill>
                          <a:blip r:embed="rId3"/>
                          <a:stretch>
                            <a:fillRect l="-66105" t="-363810" r="-121263" b="-273333"/>
                          </a:stretch>
                        </a:blipFill>
                      </a:tcPr>
                    </a:tc>
                    <a:tc>
                      <a:txBody>
                        <a:bodyPr/>
                        <a:lstStyle/>
                        <a:p>
                          <a:r>
                            <a:rPr lang="en-US" dirty="0"/>
                            <a:t>More complex exploration to handle adversarial behavior</a:t>
                          </a:r>
                          <a:endParaRPr lang="en-MY" dirty="0"/>
                        </a:p>
                      </a:txBody>
                      <a:tcPr/>
                    </a:tc>
                    <a:extLst>
                      <a:ext uri="{0D108BD9-81ED-4DB2-BD59-A6C34878D82A}">
                        <a16:rowId xmlns:a16="http://schemas.microsoft.com/office/drawing/2014/main" val="2085295445"/>
                      </a:ext>
                    </a:extLst>
                  </a:tr>
                  <a:tr h="640080">
                    <a:tc>
                      <a:txBody>
                        <a:bodyPr/>
                        <a:lstStyle/>
                        <a:p>
                          <a:r>
                            <a:rPr lang="en-US" b="1" dirty="0"/>
                            <a:t>Convergence</a:t>
                          </a:r>
                          <a:endParaRPr lang="en-MY" b="1" dirty="0"/>
                        </a:p>
                      </a:txBody>
                      <a:tcPr/>
                    </a:tc>
                    <a:tc>
                      <a:txBody>
                        <a:bodyPr/>
                        <a:lstStyle/>
                        <a:p>
                          <a:r>
                            <a:rPr lang="en-US" dirty="0"/>
                            <a:t>Converges to optimal policy in MDPs</a:t>
                          </a:r>
                          <a:endParaRPr lang="en-MY" dirty="0"/>
                        </a:p>
                      </a:txBody>
                      <a:tcPr/>
                    </a:tc>
                    <a:tc>
                      <a:txBody>
                        <a:bodyPr/>
                        <a:lstStyle/>
                        <a:p>
                          <a:r>
                            <a:rPr lang="en-MY" dirty="0"/>
                            <a:t>Converges to Nash equilibrium in zero-sum games</a:t>
                          </a:r>
                        </a:p>
                      </a:txBody>
                      <a:tcPr/>
                    </a:tc>
                    <a:extLst>
                      <a:ext uri="{0D108BD9-81ED-4DB2-BD59-A6C34878D82A}">
                        <a16:rowId xmlns:a16="http://schemas.microsoft.com/office/drawing/2014/main" val="1909683825"/>
                      </a:ext>
                    </a:extLst>
                  </a:tr>
                  <a:tr h="370840">
                    <a:tc>
                      <a:txBody>
                        <a:bodyPr/>
                        <a:lstStyle/>
                        <a:p>
                          <a:r>
                            <a:rPr lang="en-US" b="1" dirty="0"/>
                            <a:t>Action Selection</a:t>
                          </a:r>
                          <a:endParaRPr lang="en-MY" b="1" dirty="0"/>
                        </a:p>
                      </a:txBody>
                      <a:tcPr/>
                    </a:tc>
                    <a:tc>
                      <a:txBody>
                        <a:bodyPr/>
                        <a:lstStyle/>
                        <a:p>
                          <a:r>
                            <a:rPr lang="en-US" dirty="0"/>
                            <a:t>Highest Q-value</a:t>
                          </a:r>
                          <a:endParaRPr lang="en-MY" dirty="0"/>
                        </a:p>
                      </a:txBody>
                      <a:tcPr/>
                    </a:tc>
                    <a:tc>
                      <a:txBody>
                        <a:bodyPr/>
                        <a:lstStyle/>
                        <a:p>
                          <a:r>
                            <a:rPr lang="en-MY" dirty="0" err="1"/>
                            <a:t>MiniMax</a:t>
                          </a:r>
                          <a:r>
                            <a:rPr lang="en-MY" dirty="0"/>
                            <a:t> strategy</a:t>
                          </a:r>
                        </a:p>
                      </a:txBody>
                      <a:tcPr/>
                    </a:tc>
                    <a:extLst>
                      <a:ext uri="{0D108BD9-81ED-4DB2-BD59-A6C34878D82A}">
                        <a16:rowId xmlns:a16="http://schemas.microsoft.com/office/drawing/2014/main" val="2817734351"/>
                      </a:ext>
                    </a:extLst>
                  </a:tr>
                  <a:tr h="640080">
                    <a:tc>
                      <a:txBody>
                        <a:bodyPr/>
                        <a:lstStyle/>
                        <a:p>
                          <a:r>
                            <a:rPr lang="en-US" b="1" dirty="0"/>
                            <a:t>Use Cases</a:t>
                          </a:r>
                          <a:endParaRPr lang="en-MY" b="1" dirty="0"/>
                        </a:p>
                      </a:txBody>
                      <a:tcPr/>
                    </a:tc>
                    <a:tc>
                      <a:txBody>
                        <a:bodyPr/>
                        <a:lstStyle/>
                        <a:p>
                          <a:r>
                            <a:rPr lang="en-US" dirty="0"/>
                            <a:t>Single-agent  RL tasks</a:t>
                          </a:r>
                          <a:endParaRPr lang="en-MY" dirty="0"/>
                        </a:p>
                      </a:txBody>
                      <a:tcPr/>
                    </a:tc>
                    <a:tc>
                      <a:txBody>
                        <a:bodyPr/>
                        <a:lstStyle/>
                        <a:p>
                          <a:r>
                            <a:rPr lang="en-US" dirty="0"/>
                            <a:t>Adversarial settings, game theory, security</a:t>
                          </a:r>
                          <a:endParaRPr lang="en-MY" dirty="0"/>
                        </a:p>
                      </a:txBody>
                      <a:tcPr/>
                    </a:tc>
                    <a:extLst>
                      <a:ext uri="{0D108BD9-81ED-4DB2-BD59-A6C34878D82A}">
                        <a16:rowId xmlns:a16="http://schemas.microsoft.com/office/drawing/2014/main" val="4042814025"/>
                      </a:ext>
                    </a:extLst>
                  </a:tr>
                </a:tbl>
              </a:graphicData>
            </a:graphic>
          </p:graphicFrame>
        </mc:Fallback>
      </mc:AlternateContent>
    </p:spTree>
    <p:extLst>
      <p:ext uri="{BB962C8B-B14F-4D97-AF65-F5344CB8AC3E}">
        <p14:creationId xmlns:p14="http://schemas.microsoft.com/office/powerpoint/2010/main" val="167210766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4779</TotalTime>
  <Words>5300</Words>
  <Application>Microsoft Office PowerPoint</Application>
  <PresentationFormat>On-screen Show (4:3)</PresentationFormat>
  <Paragraphs>366</Paragraphs>
  <Slides>14</Slides>
  <Notes>14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14</vt:i4>
      </vt:variant>
    </vt:vector>
  </HeadingPairs>
  <TitlesOfParts>
    <vt:vector size="26" baseType="lpstr">
      <vt:lpstr>Arial</vt:lpstr>
      <vt:lpstr>Arial Narrow</vt:lpstr>
      <vt:lpstr>Calibri</vt:lpstr>
      <vt:lpstr>Cambria Math</vt:lpstr>
      <vt:lpstr>Comic Sans MS</vt:lpstr>
      <vt:lpstr>Gill Sans</vt:lpstr>
      <vt:lpstr>Gill Sans MT</vt:lpstr>
      <vt:lpstr>Helvetica</vt:lpstr>
      <vt:lpstr>Helvetica Light</vt:lpstr>
      <vt:lpstr>Times New Roman</vt:lpstr>
      <vt:lpstr>Office Theme</vt:lpstr>
      <vt:lpstr>White</vt:lpstr>
      <vt:lpstr>PowerPoint Presentation</vt:lpstr>
      <vt:lpstr>Example: Robo Soccer Game</vt:lpstr>
      <vt:lpstr>Multi-Agent-Environment Interaction</vt:lpstr>
      <vt:lpstr>Markov Games</vt:lpstr>
      <vt:lpstr>Example of a Markov Game</vt:lpstr>
      <vt:lpstr>Markov Game: Definition</vt:lpstr>
      <vt:lpstr>Nash in Markov Games</vt:lpstr>
      <vt:lpstr>Standard Q-Learning</vt:lpstr>
      <vt:lpstr>Q-value derivation for known joint action</vt:lpstr>
      <vt:lpstr>State value update according to MiniMax</vt:lpstr>
      <vt:lpstr>The MiniMax-Q algorithm</vt:lpstr>
      <vt:lpstr>Example: Grid Soccer Defense</vt:lpstr>
      <vt:lpstr>Convergence and Limitations</vt:lpstr>
      <vt:lpstr>Q- vs MiniMax-Q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 6 - 2 MinMax Q-Learning</dc:title>
  <cp:lastModifiedBy>Fuad Noman</cp:lastModifiedBy>
  <cp:revision>23</cp:revision>
  <dcterms:created xsi:type="dcterms:W3CDTF">2023-09-01T09:44:25Z</dcterms:created>
  <dcterms:modified xsi:type="dcterms:W3CDTF">2024-09-18T09:29:45Z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2022-08-27T00:00:00Z</vt:filetime>
  </property>
  <property fmtid="{D5CDD505-2E9C-101B-9397-08002B2CF9AE}" pid="3" name="LastSaved">
    <vt:filetime>2023-09-01T00:00:00Z</vt:filetime>
  </property>
</Properties>
</file>